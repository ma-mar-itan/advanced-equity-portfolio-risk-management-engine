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2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c2032ccc4ed4e22" /><Relationship Type="http://schemas.openxmlformats.org/officeDocument/2006/relationships/extended-properties" Target="/docProps/app.xml" Id="Re7c633939e3f4845" /><Relationship Type="http://schemas.openxmlformats.org/officeDocument/2006/relationships/officeDocument" Target="/ppt/presentation.xml" Id="R3975dd5244314cd1" /></Relationships>
</file>

<file path=ppt/presentation.xml><?xml version="1.0" encoding="utf-8"?>
<p:presentation xmlns:p="http://schemas.openxmlformats.org/presentationml/2006/main">
  <p:sldMasterIdLst>
    <p:sldMasterId xmlns:r="http://schemas.openxmlformats.org/officeDocument/2006/relationships" id="2147483648" r:id="R3bfe3a2bd6ba43f3"/>
  </p:sldMasterIdLst>
  <p:notesMasterIdLst>
    <p:notesMasterId xmlns:r="http://schemas.openxmlformats.org/officeDocument/2006/relationships" r:id="R6f9ea5363ba54695"/>
  </p:notesMasterIdLst>
  <p:sldIdLst>
    <p:sldId xmlns:r="http://schemas.openxmlformats.org/officeDocument/2006/relationships" id="256" r:id="R3c495d8443294ed6"/>
    <p:sldId xmlns:r="http://schemas.openxmlformats.org/officeDocument/2006/relationships" id="257" r:id="R72efa8a392844161"/>
    <p:sldId xmlns:r="http://schemas.openxmlformats.org/officeDocument/2006/relationships" id="258" r:id="Rf86a419e2ce6482b"/>
    <p:sldId xmlns:r="http://schemas.openxmlformats.org/officeDocument/2006/relationships" id="259" r:id="Ra103638918e54eaf"/>
    <p:sldId xmlns:r="http://schemas.openxmlformats.org/officeDocument/2006/relationships" id="260" r:id="R6b6587b0e0ed49ff"/>
    <p:sldId xmlns:r="http://schemas.openxmlformats.org/officeDocument/2006/relationships" id="261" r:id="Rb6e0917d0ef347b0"/>
    <p:sldId xmlns:r="http://schemas.openxmlformats.org/officeDocument/2006/relationships" id="262" r:id="R0c2828d8d2574c7d"/>
    <p:sldId xmlns:r="http://schemas.openxmlformats.org/officeDocument/2006/relationships" id="263" r:id="R3eccff4ba90a4a50"/>
    <p:sldId xmlns:r="http://schemas.openxmlformats.org/officeDocument/2006/relationships" id="264" r:id="R9733db0861d2476f"/>
    <p:sldId xmlns:r="http://schemas.openxmlformats.org/officeDocument/2006/relationships" id="265" r:id="Rf18a18157fc24cf8"/>
    <p:sldId xmlns:r="http://schemas.openxmlformats.org/officeDocument/2006/relationships" id="266" r:id="Rac1e884bdf764c1a"/>
    <p:sldId xmlns:r="http://schemas.openxmlformats.org/officeDocument/2006/relationships" id="267" r:id="R9fced66e38c24e50"/>
    <p:sldId xmlns:r="http://schemas.openxmlformats.org/officeDocument/2006/relationships" id="268" r:id="R2ae02bc8cfc34d41"/>
    <p:sldId xmlns:r="http://schemas.openxmlformats.org/officeDocument/2006/relationships" id="269" r:id="Rb5b95a215e2b4f5b"/>
    <p:sldId xmlns:r="http://schemas.openxmlformats.org/officeDocument/2006/relationships" id="270" r:id="Rf731e356ca104297"/>
    <p:sldId xmlns:r="http://schemas.openxmlformats.org/officeDocument/2006/relationships" id="271" r:id="R64ddcfddc6134ffa"/>
    <p:sldId xmlns:r="http://schemas.openxmlformats.org/officeDocument/2006/relationships" id="272" r:id="Raffed03597c74715"/>
    <p:sldId xmlns:r="http://schemas.openxmlformats.org/officeDocument/2006/relationships" id="273" r:id="R475a4345580045ac"/>
    <p:sldId xmlns:r="http://schemas.openxmlformats.org/officeDocument/2006/relationships" id="274" r:id="R3fb67ed017804128"/>
    <p:sldId xmlns:r="http://schemas.openxmlformats.org/officeDocument/2006/relationships" id="275" r:id="Raff4f3df9145493a"/>
    <p:sldId xmlns:r="http://schemas.openxmlformats.org/officeDocument/2006/relationships" id="276" r:id="Rcc628c74908e42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99f538d3d24fbc" /><Relationship Type="http://schemas.openxmlformats.org/officeDocument/2006/relationships/slideMaster" Target="/ppt/slideMasters/slideMaster1.xml" Id="R3bfe3a2bd6ba43f3" /><Relationship Type="http://schemas.openxmlformats.org/officeDocument/2006/relationships/notesMaster" Target="/ppt/notesMasters/notesMaster1.xml" Id="R6f9ea5363ba54695" /><Relationship Type="http://schemas.openxmlformats.org/officeDocument/2006/relationships/presProps" Target="/ppt/presProps.xml" Id="R3b66745906c14b57" /><Relationship Type="http://schemas.openxmlformats.org/officeDocument/2006/relationships/tableStyles" Target="/ppt/tableStyles.xml" Id="Rc5167bcc98024d45" /><Relationship Type="http://schemas.openxmlformats.org/officeDocument/2006/relationships/slide" Target="/ppt/slides/slide1.xml" Id="R3c495d8443294ed6" /><Relationship Type="http://schemas.openxmlformats.org/officeDocument/2006/relationships/slide" Target="/ppt/slides/slide2.xml" Id="R72efa8a392844161" /><Relationship Type="http://schemas.openxmlformats.org/officeDocument/2006/relationships/slide" Target="/ppt/slides/slide3.xml" Id="Rf86a419e2ce6482b" /><Relationship Type="http://schemas.openxmlformats.org/officeDocument/2006/relationships/slide" Target="/ppt/slides/slide4.xml" Id="Ra103638918e54eaf" /><Relationship Type="http://schemas.openxmlformats.org/officeDocument/2006/relationships/slide" Target="/ppt/slides/slide5.xml" Id="R6b6587b0e0ed49ff" /><Relationship Type="http://schemas.openxmlformats.org/officeDocument/2006/relationships/slide" Target="/ppt/slides/slide6.xml" Id="Rb6e0917d0ef347b0" /><Relationship Type="http://schemas.openxmlformats.org/officeDocument/2006/relationships/slide" Target="/ppt/slides/slide7.xml" Id="R0c2828d8d2574c7d" /><Relationship Type="http://schemas.openxmlformats.org/officeDocument/2006/relationships/slide" Target="/ppt/slides/slide8.xml" Id="R3eccff4ba90a4a50" /><Relationship Type="http://schemas.openxmlformats.org/officeDocument/2006/relationships/slide" Target="/ppt/slides/slide9.xml" Id="R9733db0861d2476f" /><Relationship Type="http://schemas.openxmlformats.org/officeDocument/2006/relationships/slide" Target="/ppt/slides/slide10.xml" Id="Rf18a18157fc24cf8" /><Relationship Type="http://schemas.openxmlformats.org/officeDocument/2006/relationships/slide" Target="/ppt/slides/slide11.xml" Id="Rac1e884bdf764c1a" /><Relationship Type="http://schemas.openxmlformats.org/officeDocument/2006/relationships/slide" Target="/ppt/slides/slide12.xml" Id="R9fced66e38c24e50" /><Relationship Type="http://schemas.openxmlformats.org/officeDocument/2006/relationships/slide" Target="/ppt/slides/slide13.xml" Id="R2ae02bc8cfc34d41" /><Relationship Type="http://schemas.openxmlformats.org/officeDocument/2006/relationships/slide" Target="/ppt/slides/slide14.xml" Id="Rb5b95a215e2b4f5b" /><Relationship Type="http://schemas.openxmlformats.org/officeDocument/2006/relationships/slide" Target="/ppt/slides/slide15.xml" Id="Rf731e356ca104297" /><Relationship Type="http://schemas.openxmlformats.org/officeDocument/2006/relationships/slide" Target="/ppt/slides/slide16.xml" Id="R64ddcfddc6134ffa" /><Relationship Type="http://schemas.openxmlformats.org/officeDocument/2006/relationships/slide" Target="/ppt/slides/slide17.xml" Id="Raffed03597c74715" /><Relationship Type="http://schemas.openxmlformats.org/officeDocument/2006/relationships/slide" Target="/ppt/slides/slide18.xml" Id="R475a4345580045ac" /><Relationship Type="http://schemas.openxmlformats.org/officeDocument/2006/relationships/slide" Target="/ppt/slides/slide19.xml" Id="R3fb67ed017804128" /><Relationship Type="http://schemas.openxmlformats.org/officeDocument/2006/relationships/slide" Target="/ppt/slides/slide20.xml" Id="Raff4f3df9145493a" /><Relationship Type="http://schemas.openxmlformats.org/officeDocument/2006/relationships/slide" Target="/ppt/slides/slide21.xml" Id="Rcc628c74908e42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5eb05e1d694b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QFI Swiss Monochrome">
      <a:dk1>
        <a:srgbClr val="111111"/>
      </a:dk1>
      <a:lt1>
        <a:srgbClr val="FFFFFF"/>
      </a:lt1>
      <a:dk2>
        <a:srgbClr val="353535"/>
      </a:dk2>
      <a:lt2>
        <a:srgbClr val="F5F5F2"/>
      </a:lt2>
      <a:accent1>
        <a:srgbClr val="155E63"/>
      </a:accent1>
      <a:accent2>
        <a:srgbClr val="B42318"/>
      </a:accent2>
      <a:accent3>
        <a:srgbClr val="1B6B50"/>
      </a:accent3>
      <a:accent4>
        <a:srgbClr val="8C8C8C"/>
      </a:accent4>
      <a:accent5>
        <a:srgbClr val="B0B0B0"/>
      </a:accent5>
      <a:accent6>
        <a:srgbClr val="D0D0D0"/>
      </a:accent6>
      <a:hlink>
        <a:srgbClr val="155E63"/>
      </a:hlink>
      <a:folHlink>
        <a:srgbClr val="B42318"/>
      </a:folHlink>
    </a:clrScheme>
    <a:fontScheme name="">
      <a:majorFont>
        <a:latin typeface="Aptos"/>
        <a:ea typeface=""/>
        <a:cs typeface=""/>
      </a:majorFont>
      <a:minorFont>
        <a:latin typeface="Aptos"/>
        <a:ea typeface=""/>
        <a:cs typeface=""/>
      </a:minorFont>
    </a:fontScheme>
    <a:fmtScheme name="QFI Swiss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7cffe7500f4267" /><Relationship Type="http://schemas.openxmlformats.org/officeDocument/2006/relationships/notesMaster" Target="/ppt/notesMasters/notesMaster1.xml" Id="Rf80e93f4ffec49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76be3fc71b4e2c" /><Relationship Type="http://schemas.openxmlformats.org/officeDocument/2006/relationships/notesMaster" Target="/ppt/notesMasters/notesMaster1.xml" Id="R6da1c88c622c4d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e4477d4fe94ff6" /><Relationship Type="http://schemas.openxmlformats.org/officeDocument/2006/relationships/notesMaster" Target="/ppt/notesMasters/notesMaster1.xml" Id="Rd022f311f92141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d052d574bf4ecd" /><Relationship Type="http://schemas.openxmlformats.org/officeDocument/2006/relationships/notesMaster" Target="/ppt/notesMasters/notesMaster1.xml" Id="R7cf488bb45e940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7e9186c0314e1d" /><Relationship Type="http://schemas.openxmlformats.org/officeDocument/2006/relationships/notesMaster" Target="/ppt/notesMasters/notesMaster1.xml" Id="R0972a096df3640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ec6bb212284c9f" /><Relationship Type="http://schemas.openxmlformats.org/officeDocument/2006/relationships/notesMaster" Target="/ppt/notesMasters/notesMaster1.xml" Id="Re5b870dab34a41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97988a55c04d89" /><Relationship Type="http://schemas.openxmlformats.org/officeDocument/2006/relationships/notesMaster" Target="/ppt/notesMasters/notesMaster1.xml" Id="R11499b60d0324d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aff806460d4ff0" /><Relationship Type="http://schemas.openxmlformats.org/officeDocument/2006/relationships/notesMaster" Target="/ppt/notesMasters/notesMaster1.xml" Id="Rc07eec9a2cf64f9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01b2becaad54b1e" /><Relationship Type="http://schemas.openxmlformats.org/officeDocument/2006/relationships/notesMaster" Target="/ppt/notesMasters/notesMaster1.xml" Id="R8c9d8a9fbdfa45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a2b0ddc3f64ac2" /><Relationship Type="http://schemas.openxmlformats.org/officeDocument/2006/relationships/notesMaster" Target="/ppt/notesMasters/notesMaster1.xml" Id="R58945f48f94c42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9cdd96712b4128" /><Relationship Type="http://schemas.openxmlformats.org/officeDocument/2006/relationships/notesMaster" Target="/ppt/notesMasters/notesMaster1.xml" Id="R90327873439a4e2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ac24531f3224865" /><Relationship Type="http://schemas.openxmlformats.org/officeDocument/2006/relationships/notesMaster" Target="/ppt/notesMasters/notesMaster1.xml" Id="R7af6aa1385534e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7d60259a569442e" /><Relationship Type="http://schemas.openxmlformats.org/officeDocument/2006/relationships/notesMaster" Target="/ppt/notesMasters/notesMaster1.xml" Id="R160da6d36d73462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f0d32a93b4e4243" /><Relationship Type="http://schemas.openxmlformats.org/officeDocument/2006/relationships/notesMaster" Target="/ppt/notesMasters/notesMaster1.xml" Id="R8e9623a331cc4a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9138494e0ee4505" /><Relationship Type="http://schemas.openxmlformats.org/officeDocument/2006/relationships/notesMaster" Target="/ppt/notesMasters/notesMaster1.xml" Id="R9eccdbf6603a462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a93fa1fdf61450a" /><Relationship Type="http://schemas.openxmlformats.org/officeDocument/2006/relationships/notesMaster" Target="/ppt/notesMasters/notesMaster1.xml" Id="R4b8c6383ca8a435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beb9ff712ed426a" /><Relationship Type="http://schemas.openxmlformats.org/officeDocument/2006/relationships/notesMaster" Target="/ppt/notesMasters/notesMaster1.xml" Id="Rd44550270afe4b4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783782b0a5a4b71" /><Relationship Type="http://schemas.openxmlformats.org/officeDocument/2006/relationships/notesMaster" Target="/ppt/notesMasters/notesMaster1.xml" Id="Rface25eb8aca481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5a72533d3574297" /><Relationship Type="http://schemas.openxmlformats.org/officeDocument/2006/relationships/notesMaster" Target="/ppt/notesMasters/notesMaster1.xml" Id="Rf55b30741d1e400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d96c5b50aab4532" /><Relationship Type="http://schemas.openxmlformats.org/officeDocument/2006/relationships/notesMaster" Target="/ppt/notesMasters/notesMaster1.xml" Id="Rcbe21ef4866e4ee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65f5d73670843fb" /><Relationship Type="http://schemas.openxmlformats.org/officeDocument/2006/relationships/notesMaster" Target="/ppt/notesMasters/notesMaster1.xml" Id="R765ac63821c241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everyone. Today I will present a risk engine built for a ten-stock equity portfolio. The central question is simple: how much can the portfolio lose, how reliable is that estimate, and what should a risk manager do with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portfolio is a collection of investments. Risk management does not remove all risk; it measures possible losses, checks whether they are acceptable, and defines what to do when they become too large. VaR marks a warning line, while Expected Shortfall describes the average loss beyond that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1 collects adjusted daily prices for Apple, Microsoft, Nvidia, JPMorgan, ExxonMobil, Amazon, Meta, Alphabet, Tesla and UnitedHealth, plus SPY and the risk-free rate. Adjusted prices prevent splits and dividends from becoming false losses. The local cache keeps the process reproducible when a provider is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2 aligns the trading calendar, checks missing and stale prices, and converts prices into log returns. Winsorization is reserved for verified errors because genuine market crashes belong in the risk sample. The output is a clean price matrix, return matrix, portfolio return series and rolling volatility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3 combines the cleaned returns into one portfolio. The engine supports equal, user-defined, market-cap and optional long-short weights. Daily return is the percentage movement, daily value compounds that movement, and daily P&amp;L expresses it in dollars. The two lower charts show P&amp;L and returns at the same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Simulation uses actual past portfolio outcomes. A 99 percent one-day VaR of about 337 thousand dollars marks the start of the worst one percent of days in the selected 500-day window. Expected Shortfall is larger because it averages the losses beyond that threshold. VaR is not a maximum possible loss.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EWMA stands for Exponentially Weighted Moving Average. Lambda equals 0.94 for daily data, so the model remembers most of yesterday's variance while giving the newest observation meaningful weight. The model standardizes old returns by their historical volatility and rescales them by today's volatility.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GARCH models volatility clustering: large moves tend to be followed by large moves. The model estimates conditional volatility for each day and a one-day forecast for tomorrow. Persistence close to one means a shock fades gradually, and the estimated half-life is about one trading month.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GJR-GARCH extends GARCH with an asymmetric response. The positive leverage parameter indicates that negative returns increased later volatility more strongly in this sample. A lower AIC supports the relative fit, but the model only becomes useful if its forecasts also perform well out of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Backtesting compares each forecast with the loss that occurred afterward. An exception occurs when the actual loss exceeds VaR. Kupiec checks frequency, Christoffersen checks clustering, and conditional coverage checks both. A green traffic-light result is useful, but it does not replace the statistical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Phase 9 compares all four models using exception counts, clustering, average risk, stability and Expected Shortfall. GJR-HS ranks first because it passes frequency, independence and joint coverage at the selected level. EWMA remains a fast challenger, and Historical Simulation remains the simplest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Stress testing asks what would happen to today's portfolio if a severe historical or hypothetical shock occurred. It is not a forecast and it assigns no probability. The 2008 replay produces the largest tested loss, about 4.40 million dollars, far beyond ordinary one-day VaR.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portfolio delivered strong historical returns, but it also experienced a drawdown close to 35 percent. Beta above one and a 0.90 correlation with SPY show that broad market stress still reaches most holdings at the same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filtered models currently produce lower VaR than unscaled Historical Simulation because recent volatility is below the longer-window level. This difference is model risk. The selected number must therefore be accompanied by a challenger, a benchmark and regular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volatility models capture the main regime changes and the slower decay of shocks. GJR-GARCH adds the stronger response after negative returns. Standardization improves the residual distribution, but it does not make extreme tail risk disappear.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GJR-HS produces 34 exceptions against 31.2 expected. Its p-values do not reject frequency, independence or joint coverage at the five percent level. The model earns the primary role, but the pass is conditional on this sample and must be monitored.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stress tests answer a different question from daily VaR. The 2008 replay removes about 44 percent of portfolio value. Tail attribution also shows that Tesla and Amazon contribute about 39 percent of Expected Shortfall from roughly 21 percent of capital.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 supports two possible responses. A broad-market hedge can cut systematic risk, while reallocation can reduce tail contribution from the riskiest positions. Both examples are analytical scenarios, not trade instructions, and both need cost and implementation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becomes a control only when the organization defines who monitors it, who investigates exceptions, who approves action and how the decision is recorded. These are proposed governance steps for approval, not existing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recommendation is to use GJR-HS as the primary daily model, EWMA-HS as the challenger and Historical Simulation as the transparent benchmark. Expected Shortfall, stress testing and risk contribution must remain beside VaR. If the 44 percent crisis loss or the concentration in Tesla and Amazon does not fit the risk appetite, management must reduce it, hedge it or explicitly accept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hypothetical ten-million-dollar investment at the beginning of the sample grows to about $513.4M, creating about $503.4M of cumulative simulated profit. Nvidia contributes the most, followed by Tesla and Alphabet. The worst drawdown occurred during the COVID shock, when the portfolio fell -34.9% from its previous peak. These figures are historical, before transaction costs and taxes, and do not forecast future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b7ba9052f04c9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33e6d9733f949b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88a3f4d12554b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88c3749905411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c5c7bc879c541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d0389236674d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1B8133-5DAF-4D96-8AB4-11F3749E5E0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C58EF0A-3385-4403-BE34-6CBEA6544B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FA7B764-8A53-4A07-9FCD-C52DC5C0C91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57B48F-08E7-4766-8363-DA83A8B0B7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83BC1A7-0E33-42B0-AABD-8EA78E21878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915EDAD-4910-4E1A-A160-2CEA02B8FAC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B3695B-4513-44DA-832E-306CD4BBAA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2457C0D-B94F-4CE1-B28B-917D9DB5E31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F00CCD-7D03-4D40-93C5-1AB2EECE7C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D643C0-2DBE-4ED5-9225-2AC5B3FD8FB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b57370ab55493f" /><Relationship Type="http://schemas.openxmlformats.org/officeDocument/2006/relationships/slideLayout" Target="/ppt/slideLayouts/slideLayout1.xml" Id="Rd537f0676fcf44ed" /><Relationship Type="http://schemas.openxmlformats.org/officeDocument/2006/relationships/slideLayout" Target="/ppt/slideLayouts/slideLayout2.xml" Id="Rc2cdbd05423b452f" /><Relationship Type="http://schemas.openxmlformats.org/officeDocument/2006/relationships/slideLayout" Target="/ppt/slideLayouts/slideLayout3.xml" Id="Ree49c72c4754483e" /><Relationship Type="http://schemas.openxmlformats.org/officeDocument/2006/relationships/slideLayout" Target="/ppt/slideLayouts/slideLayout4.xml" Id="R6499ca37f25b4aae" /><Relationship Type="http://schemas.openxmlformats.org/officeDocument/2006/relationships/slideLayout" Target="/ppt/slideLayouts/slideLayout5.xml" Id="R196c203e67d740a9" /><Relationship Type="http://schemas.openxmlformats.org/officeDocument/2006/relationships/slideLayout" Target="/ppt/slideLayouts/slideLayout6.xml" Id="Rdb5d448b6df948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37f0676fcf44ed"/>
    <p:sldLayoutId xmlns:r="http://schemas.openxmlformats.org/officeDocument/2006/relationships" id="2147483650" r:id="Rc2cdbd05423b452f"/>
    <p:sldLayoutId xmlns:r="http://schemas.openxmlformats.org/officeDocument/2006/relationships" id="2147483651" r:id="Ree49c72c4754483e"/>
    <p:sldLayoutId xmlns:r="http://schemas.openxmlformats.org/officeDocument/2006/relationships" id="2147483652" r:id="R6499ca37f25b4aae"/>
    <p:sldLayoutId xmlns:r="http://schemas.openxmlformats.org/officeDocument/2006/relationships" id="2147483653" r:id="R196c203e67d740a9"/>
    <p:sldLayoutId xmlns:r="http://schemas.openxmlformats.org/officeDocument/2006/relationships" id="2147483654" r:id="Rdb5d448b6df948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QFI Swiss Monochrome">
      <a:dk1>
        <a:srgbClr val="111111"/>
      </a:dk1>
      <a:lt1>
        <a:srgbClr val="FFFFFF"/>
      </a:lt1>
      <a:dk2>
        <a:srgbClr val="353535"/>
      </a:dk2>
      <a:lt2>
        <a:srgbClr val="F5F5F2"/>
      </a:lt2>
      <a:accent1>
        <a:srgbClr val="155E63"/>
      </a:accent1>
      <a:accent2>
        <a:srgbClr val="B42318"/>
      </a:accent2>
      <a:accent3>
        <a:srgbClr val="1B6B50"/>
      </a:accent3>
      <a:accent4>
        <a:srgbClr val="8C8C8C"/>
      </a:accent4>
      <a:accent5>
        <a:srgbClr val="B0B0B0"/>
      </a:accent5>
      <a:accent6>
        <a:srgbClr val="D0D0D0"/>
      </a:accent6>
      <a:hlink>
        <a:srgbClr val="155E63"/>
      </a:hlink>
      <a:folHlink>
        <a:srgbClr val="B42318"/>
      </a:folHlink>
    </a:clrScheme>
    <a:fontScheme name="">
      <a:majorFont>
        <a:latin typeface="Aptos"/>
        <a:ea typeface=""/>
        <a:cs typeface=""/>
      </a:majorFont>
      <a:minorFont>
        <a:latin typeface="Aptos"/>
        <a:ea typeface=""/>
        <a:cs typeface=""/>
      </a:minorFont>
    </a:fontScheme>
    <a:fmtScheme name="QFI Swiss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56ed023d7ad4484" /><Relationship Type="http://schemas.openxmlformats.org/officeDocument/2006/relationships/notesSlide" Target="/ppt/notesSlides/notesSlide1.xml" Id="Rbf7a9e3c7d2c42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f9893076acc4ac5" /><Relationship Type="http://schemas.openxmlformats.org/officeDocument/2006/relationships/notesSlide" Target="/ppt/notesSlides/notesSlide2.xml" Id="R939da2eafcf94a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2bec276392c4f01" /><Relationship Type="http://schemas.openxmlformats.org/officeDocument/2006/relationships/image" Target="/ppt/media/image.png" Id="R3a6faac904b84c34" /><Relationship Type="http://schemas.openxmlformats.org/officeDocument/2006/relationships/notesSlide" Target="/ppt/notesSlides/notesSlide3.xml" Id="R6d39b6c528894f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134d0acda344cee" /><Relationship Type="http://schemas.openxmlformats.org/officeDocument/2006/relationships/image" Target="/ppt/media/image2.png" Id="Ra414479da37f4204" /><Relationship Type="http://schemas.openxmlformats.org/officeDocument/2006/relationships/image" Target="/ppt/media/image3.png" Id="R236ed76275b3445c" /><Relationship Type="http://schemas.openxmlformats.org/officeDocument/2006/relationships/notesSlide" Target="/ppt/notesSlides/notesSlide4.xml" Id="Rada51cbb94204a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bf2d41943804a71" /><Relationship Type="http://schemas.openxmlformats.org/officeDocument/2006/relationships/image" Target="/ppt/media/image4.png" Id="R37c77b315446454e" /><Relationship Type="http://schemas.openxmlformats.org/officeDocument/2006/relationships/image" Target="/ppt/media/image5.png" Id="R28caeb2e902d449e" /><Relationship Type="http://schemas.openxmlformats.org/officeDocument/2006/relationships/image" Target="/ppt/media/image6.png" Id="Rcf5593f69cc9499c" /><Relationship Type="http://schemas.openxmlformats.org/officeDocument/2006/relationships/notesSlide" Target="/ppt/notesSlides/notesSlide5.xml" Id="Rff473b3b7a2b4e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8bca0c77a9d4fc3" /><Relationship Type="http://schemas.openxmlformats.org/officeDocument/2006/relationships/image" Target="/ppt/media/image7.png" Id="Rc071cae01a0a47c3" /><Relationship Type="http://schemas.openxmlformats.org/officeDocument/2006/relationships/notesSlide" Target="/ppt/notesSlides/notesSlide6.xml" Id="R9c5154adeaf94b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cc182bddb9d434f" /><Relationship Type="http://schemas.openxmlformats.org/officeDocument/2006/relationships/image" Target="/ppt/media/image8.png" Id="Re96289fe7e9549c6" /><Relationship Type="http://schemas.openxmlformats.org/officeDocument/2006/relationships/notesSlide" Target="/ppt/notesSlides/notesSlide7.xml" Id="R6a544f441cca4d0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c6786a3b6564ec2" /><Relationship Type="http://schemas.openxmlformats.org/officeDocument/2006/relationships/image" Target="/ppt/media/image9.png" Id="R6171719944294487" /><Relationship Type="http://schemas.openxmlformats.org/officeDocument/2006/relationships/notesSlide" Target="/ppt/notesSlides/notesSlide8.xml" Id="R65c1bec70b774f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936b03edb5b4fd9" /><Relationship Type="http://schemas.openxmlformats.org/officeDocument/2006/relationships/image" Target="/ppt/media/image10.png" Id="R38abccf9b6ad4202" /><Relationship Type="http://schemas.openxmlformats.org/officeDocument/2006/relationships/notesSlide" Target="/ppt/notesSlides/notesSlide9.xml" Id="Re098288fa23b4e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9b5604f22fc4fa9" /><Relationship Type="http://schemas.openxmlformats.org/officeDocument/2006/relationships/image" Target="/ppt/media/image11.png" Id="Rb31d6710819d482c" /><Relationship Type="http://schemas.openxmlformats.org/officeDocument/2006/relationships/notesSlide" Target="/ppt/notesSlides/notesSlide10.xml" Id="R8980f9ec43e6471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65719bda94d4b3d" /><Relationship Type="http://schemas.openxmlformats.org/officeDocument/2006/relationships/image" Target="/ppt/media/image12.png" Id="R9274bf9876d7480f" /><Relationship Type="http://schemas.openxmlformats.org/officeDocument/2006/relationships/notesSlide" Target="/ppt/notesSlides/notesSlide11.xml" Id="R547336d95d004d3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a9de7db356f4c57" /><Relationship Type="http://schemas.openxmlformats.org/officeDocument/2006/relationships/image" Target="/ppt/media/image13.png" Id="R42adf58d478b45b1" /><Relationship Type="http://schemas.openxmlformats.org/officeDocument/2006/relationships/notesSlide" Target="/ppt/notesSlides/notesSlide12.xml" Id="R3033a04b7c4543a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b8f6f9658e5459a" /><Relationship Type="http://schemas.openxmlformats.org/officeDocument/2006/relationships/image" Target="/ppt/media/image14.png" Id="Rbba50454960d48e2" /><Relationship Type="http://schemas.openxmlformats.org/officeDocument/2006/relationships/notesSlide" Target="/ppt/notesSlides/notesSlide13.xml" Id="R92b07cda38ff4a7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9158aa9bf4d4eae" /><Relationship Type="http://schemas.openxmlformats.org/officeDocument/2006/relationships/image" Target="/ppt/media/image15.png" Id="Re6114f0290194b88" /><Relationship Type="http://schemas.openxmlformats.org/officeDocument/2006/relationships/notesSlide" Target="/ppt/notesSlides/notesSlide14.xml" Id="R00ed4f44e1a94dc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31a1427aef84cb4" /><Relationship Type="http://schemas.openxmlformats.org/officeDocument/2006/relationships/image" Target="/ppt/media/image16.png" Id="R47247a771a274d9f" /><Relationship Type="http://schemas.openxmlformats.org/officeDocument/2006/relationships/image" Target="/ppt/media/image17.png" Id="R6edcd7d7eeb448ec" /><Relationship Type="http://schemas.openxmlformats.org/officeDocument/2006/relationships/notesSlide" Target="/ppt/notesSlides/notesSlide15.xml" Id="Rdfd41576feb547a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484258d6a1243fa" /><Relationship Type="http://schemas.openxmlformats.org/officeDocument/2006/relationships/image" Target="/ppt/media/image18.png" Id="R528f822a72024492" /><Relationship Type="http://schemas.openxmlformats.org/officeDocument/2006/relationships/notesSlide" Target="/ppt/notesSlides/notesSlide16.xml" Id="R15be51d9d22948b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2b5dcdf7288436b" /><Relationship Type="http://schemas.openxmlformats.org/officeDocument/2006/relationships/image" Target="/ppt/media/image19.png" Id="Rabefd15e268549bf" /><Relationship Type="http://schemas.openxmlformats.org/officeDocument/2006/relationships/image" Target="/ppt/media/image20.png" Id="R1b965c84da1d482a" /><Relationship Type="http://schemas.openxmlformats.org/officeDocument/2006/relationships/notesSlide" Target="/ppt/notesSlides/notesSlide17.xml" Id="R926ae439090f487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4f0684eff874126" /><Relationship Type="http://schemas.openxmlformats.org/officeDocument/2006/relationships/image" Target="/ppt/media/image21.png" Id="Racb9acdc848d4a5c" /><Relationship Type="http://schemas.openxmlformats.org/officeDocument/2006/relationships/notesSlide" Target="/ppt/notesSlides/notesSlide18.xml" Id="Rb58d1253bbff4a4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2e007df02454001" /><Relationship Type="http://schemas.openxmlformats.org/officeDocument/2006/relationships/notesSlide" Target="/ppt/notesSlides/notesSlide19.xml" Id="R1c48883a3567456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e3c2e0e25bc4c96" /><Relationship Type="http://schemas.openxmlformats.org/officeDocument/2006/relationships/notesSlide" Target="/ppt/notesSlides/notesSlide20.xml" Id="R7f92ab0ced174b7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c19f1f48cf14409" /><Relationship Type="http://schemas.openxmlformats.org/officeDocument/2006/relationships/chart" Target="/ppt/slides/charts/chart1.xml" Id="R0c3b268b73984437" /><Relationship Type="http://schemas.openxmlformats.org/officeDocument/2006/relationships/chart" Target="/ppt/slides/charts/chart2.xml" Id="Ra0334f97db7e4945" /><Relationship Type="http://schemas.openxmlformats.org/officeDocument/2006/relationships/chart" Target="/ppt/slides/charts/chart3.xml" Id="Rd8f2412b389b444c" /><Relationship Type="http://schemas.openxmlformats.org/officeDocument/2006/relationships/notesSlide" Target="/ppt/notesSlides/notesSlide21.xml" Id="R379a8c0c3abf425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Portfolio value ($M)</c:v>
          </c:tx>
          <c:spPr>
            <a:ln xmlns:a="http://schemas.openxmlformats.org/drawingml/2006/main" w="28575">
              <a:solidFill>
                <a:srgbClr val="155E63"/>
              </a:solidFill>
            </a:ln>
          </c:spPr>
          <c:marker>
            <c:symbol val="none"/>
          </c:marker>
          <c:cat>
            <c:numRef>
              <c:f>'Chart Data'!$A$2:$A$17</c:f>
              <c:numCache>
                <c:formatCode>General</c:formatCode>
                <c:ptCount val="16"/>
                <c:pt idx="0">
                  <c:v>2012</c:v>
                </c:pt>
                <c:pt idx="1">
                  <c:v>2013</c:v>
                </c:pt>
                <c:pt idx="2">
                  <c:v>2014</c:v>
                </c:pt>
                <c:pt idx="3">
                  <c:v>2015</c:v>
                </c:pt>
                <c:pt idx="4">
                  <c:v>2016</c:v>
                </c:pt>
                <c:pt idx="5">
                  <c:v>2017</c:v>
                </c:pt>
                <c:pt idx="6">
                  <c:v>2018</c:v>
                </c:pt>
                <c:pt idx="7">
                  <c:v>2019</c:v>
                </c:pt>
                <c:pt idx="8">
                  <c:v>2020</c:v>
                </c:pt>
                <c:pt idx="9">
                  <c:v>2021</c:v>
                </c:pt>
                <c:pt idx="10">
                  <c:v>2022</c:v>
                </c:pt>
                <c:pt idx="11">
                  <c:v>2023</c:v>
                </c:pt>
                <c:pt idx="12">
                  <c:v>2024</c:v>
                </c:pt>
                <c:pt idx="13">
                  <c:v>2025</c:v>
                </c:pt>
                <c:pt idx="14">
                  <c:v>2026</c:v>
                </c:pt>
                <c:pt idx="15">
                  <c:v>2026</c:v>
                </c:pt>
              </c:numCache>
            </c:numRef>
          </c:cat>
          <c:val>
            <c:numRef>
              <c:f>'Chart Data'!$B$2:$B$17</c:f>
              <c:numCache>
                <c:formatCode>$0</c:formatCode>
                <c:ptCount val="16"/>
                <c:pt idx="0">
                  <c:v>10.9</c:v>
                </c:pt>
                <c:pt idx="1">
                  <c:v>14.2</c:v>
                </c:pt>
                <c:pt idx="2">
                  <c:v>21.5</c:v>
                </c:pt>
                <c:pt idx="3">
                  <c:v>25.4</c:v>
                </c:pt>
                <c:pt idx="4">
                  <c:v>31.4</c:v>
                </c:pt>
                <c:pt idx="5">
                  <c:v>47.3</c:v>
                </c:pt>
                <c:pt idx="6">
                  <c:v>62.4</c:v>
                </c:pt>
                <c:pt idx="7">
                  <c:v>63.3</c:v>
                </c:pt>
                <c:pt idx="8">
                  <c:v>96.9</c:v>
                </c:pt>
                <c:pt idx="9">
                  <c:v>167.4</c:v>
                </c:pt>
                <c:pt idx="10">
                  <c:v>152.2</c:v>
                </c:pt>
                <c:pt idx="11">
                  <c:v>223.9</c:v>
                </c:pt>
                <c:pt idx="12">
                  <c:v>313.4</c:v>
                </c:pt>
                <c:pt idx="13">
                  <c:v>368.7</c:v>
                </c:pt>
                <c:pt idx="14">
                  <c:v>459.9</c:v>
                </c:pt>
                <c:pt idx="15">
                  <c:v>513.4</c:v>
                </c:pt>
              </c:numCache>
            </c:numRef>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75">
                <a:solidFill>
                  <a:srgbClr val="707070"/>
                </a:solidFill>
              </a:defRPr>
            </a:pPr>
          </a:p>
        </c:txPr>
        <c:crossAx val="48672768"/>
      </c:catAx>
      <c:valAx>
        <c:axId val="48672768"/>
        <c:scaling>
          <c:orientation val="minMax"/>
          <c:min val="0"/>
        </c:scaling>
        <c:delete val="0"/>
        <c:axPos val="l"/>
        <c:majorGridlines>
          <c:spPr>
            <a:ln xmlns:a="http://schemas.openxmlformats.org/drawingml/2006/main" w="9525">
              <a:solidFill>
                <a:srgbClr val="EEEEEA"/>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75">
                <a:solidFill>
                  <a:srgbClr val="707070"/>
                </a:solidFill>
              </a:defRPr>
            </a:pPr>
          </a:p>
        </c:txPr>
        <c:crossAx val="48650112"/>
        <c:crossBetween val="between"/>
      </c:valAx>
      <c:spPr>
        <a:solidFill xmlns:a="http://schemas.openxmlformats.org/drawingml/2006/main">
          <a:srgbClr val="FFFFFF"/>
        </a:solidFill>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353535"/>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Contribution ($M)</c:v>
          </c:tx>
          <c:spPr>
            <a:solidFill xmlns:a="http://schemas.openxmlformats.org/drawingml/2006/main">
              <a:srgbClr val="155E63"/>
            </a:solidFill>
          </c:spPr>
          <c:invertIfNegative val="0"/>
          <c:cat>
            <c:strRef>
              <c:f>'Chart Data'!$A$2:$A$11</c:f>
              <c:strCache>
                <c:ptCount val="10"/>
                <c:pt idx="0">
                  <c:v>NVDA</c:v>
                </c:pt>
                <c:pt idx="1">
                  <c:v>TSLA</c:v>
                </c:pt>
                <c:pt idx="2">
                  <c:v>GOOGL</c:v>
                </c:pt>
                <c:pt idx="3">
                  <c:v>AAPL</c:v>
                </c:pt>
                <c:pt idx="4">
                  <c:v>META</c:v>
                </c:pt>
                <c:pt idx="5">
                  <c:v>XOM</c:v>
                </c:pt>
                <c:pt idx="6">
                  <c:v>JPM</c:v>
                </c:pt>
                <c:pt idx="7">
                  <c:v>MSFT</c:v>
                </c:pt>
                <c:pt idx="8">
                  <c:v>AMZN</c:v>
                </c:pt>
                <c:pt idx="9">
                  <c:v>UNH</c:v>
                </c:pt>
              </c:strCache>
            </c:strRef>
          </c:cat>
          <c:val>
            <c:numRef>
              <c:f>'Chart Data'!$B$2:$B$11</c:f>
              <c:numCache>
                <c:formatCode>$0</c:formatCode>
                <c:ptCount val="10"/>
                <c:pt idx="0">
                  <c:v>100.6</c:v>
                </c:pt>
                <c:pt idx="1">
                  <c:v>70.3</c:v>
                </c:pt>
                <c:pt idx="2">
                  <c:v>54.8</c:v>
                </c:pt>
                <c:pt idx="3">
                  <c:v>48.9</c:v>
                </c:pt>
                <c:pt idx="4">
                  <c:v>46.7</c:v>
                </c:pt>
                <c:pt idx="5">
                  <c:v>46.2</c:v>
                </c:pt>
                <c:pt idx="6">
                  <c:v>41.8</c:v>
                </c:pt>
                <c:pt idx="7">
                  <c:v>37.5</c:v>
                </c:pt>
                <c:pt idx="8">
                  <c:v>34.1</c:v>
                </c:pt>
                <c:pt idx="9">
                  <c:v>22.4</c:v>
                </c:pt>
              </c:numCache>
            </c:numRef>
          </c:val>
        </c:ser>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75">
                <a:solidFill>
                  <a:srgbClr val="353535"/>
                </a:solidFill>
              </a:defRPr>
            </a:pPr>
          </a:p>
        </c:txPr>
        <c:crossAx val="48672768"/>
      </c:catAx>
      <c:valAx>
        <c:axId val="48672768"/>
        <c:scaling>
          <c:orientation val="minMax"/>
          <c:min val="0"/>
        </c:scaling>
        <c:delete val="0"/>
        <c:axPos val="b"/>
        <c:majorGridlines>
          <c:spPr>
            <a:ln xmlns:a="http://schemas.openxmlformats.org/drawingml/2006/main" w="9525">
              <a:solidFill>
                <a:srgbClr val="EEEEEA"/>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75">
                <a:solidFill>
                  <a:srgbClr val="707070"/>
                </a:solidFill>
              </a:defRPr>
            </a:pPr>
          </a:p>
        </c:txPr>
        <c:crossAx val="48650112"/>
        <c:crossBetween val="between"/>
      </c:valAx>
      <c:spPr>
        <a:solidFill xmlns:a="http://schemas.openxmlformats.org/drawingml/2006/main">
          <a:srgbClr val="FFFFFF"/>
        </a:solidFill>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a:solidFill>
                <a:srgbClr val="353535"/>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Drawdown (%)</c:v>
          </c:tx>
          <c:spPr>
            <a:ln xmlns:a="http://schemas.openxmlformats.org/drawingml/2006/main" w="19050">
              <a:solidFill>
                <a:srgbClr val="B42318"/>
              </a:solidFill>
            </a:ln>
          </c:spPr>
          <c:marker>
            <c:symbol val="none"/>
          </c:marker>
          <c:cat>
            <c:strRef>
              <c:f>'Chart Data'!$A$2:$A$60</c:f>
              <c:strCache>
                <c:ptCount val="59"/>
                <c:pt idx="0">
                  <c:v>2012-06</c:v>
                </c:pt>
                <c:pt idx="1">
                  <c:v>2012-09</c:v>
                </c:pt>
                <c:pt idx="2">
                  <c:v>2012-12</c:v>
                </c:pt>
                <c:pt idx="3">
                  <c:v>2013-03</c:v>
                </c:pt>
                <c:pt idx="4">
                  <c:v>2013-06</c:v>
                </c:pt>
                <c:pt idx="5">
                  <c:v>2013-09</c:v>
                </c:pt>
                <c:pt idx="6">
                  <c:v>2013-12</c:v>
                </c:pt>
                <c:pt idx="7">
                  <c:v>2014-03</c:v>
                </c:pt>
                <c:pt idx="8">
                  <c:v>2014-06</c:v>
                </c:pt>
                <c:pt idx="9">
                  <c:v>2014-09</c:v>
                </c:pt>
                <c:pt idx="10">
                  <c:v>2014-12</c:v>
                </c:pt>
                <c:pt idx="11">
                  <c:v>2015-03</c:v>
                </c:pt>
                <c:pt idx="12">
                  <c:v>2015-06</c:v>
                </c:pt>
                <c:pt idx="13">
                  <c:v>2015-09</c:v>
                </c:pt>
                <c:pt idx="14">
                  <c:v>2015-12</c:v>
                </c:pt>
                <c:pt idx="15">
                  <c:v>2016-03</c:v>
                </c:pt>
                <c:pt idx="16">
                  <c:v>2016-06</c:v>
                </c:pt>
                <c:pt idx="17">
                  <c:v>2016-09</c:v>
                </c:pt>
                <c:pt idx="18">
                  <c:v>2016-12</c:v>
                </c:pt>
                <c:pt idx="19">
                  <c:v>2017-03</c:v>
                </c:pt>
                <c:pt idx="20">
                  <c:v>2017-06</c:v>
                </c:pt>
                <c:pt idx="21">
                  <c:v>2017-09</c:v>
                </c:pt>
                <c:pt idx="22">
                  <c:v>2017-12</c:v>
                </c:pt>
                <c:pt idx="23">
                  <c:v>2018-03</c:v>
                </c:pt>
                <c:pt idx="24">
                  <c:v>2018-06</c:v>
                </c:pt>
                <c:pt idx="25">
                  <c:v>2018-09</c:v>
                </c:pt>
                <c:pt idx="26">
                  <c:v>2018-12</c:v>
                </c:pt>
                <c:pt idx="27">
                  <c:v>2019-03</c:v>
                </c:pt>
                <c:pt idx="28">
                  <c:v>2019-06</c:v>
                </c:pt>
                <c:pt idx="29">
                  <c:v>2019-09</c:v>
                </c:pt>
                <c:pt idx="30">
                  <c:v>2019-12</c:v>
                </c:pt>
                <c:pt idx="31">
                  <c:v>2020-03</c:v>
                </c:pt>
                <c:pt idx="32">
                  <c:v>2020-06</c:v>
                </c:pt>
                <c:pt idx="33">
                  <c:v>2020-09</c:v>
                </c:pt>
                <c:pt idx="34">
                  <c:v>2020-12</c:v>
                </c:pt>
                <c:pt idx="35">
                  <c:v>2021-03</c:v>
                </c:pt>
                <c:pt idx="36">
                  <c:v>2021-06</c:v>
                </c:pt>
                <c:pt idx="37">
                  <c:v>2021-09</c:v>
                </c:pt>
                <c:pt idx="38">
                  <c:v>2021-12</c:v>
                </c:pt>
                <c:pt idx="39">
                  <c:v>2022-03</c:v>
                </c:pt>
                <c:pt idx="40">
                  <c:v>2022-06</c:v>
                </c:pt>
                <c:pt idx="41">
                  <c:v>2022-09</c:v>
                </c:pt>
                <c:pt idx="42">
                  <c:v>2022-12</c:v>
                </c:pt>
                <c:pt idx="43">
                  <c:v>2023-03</c:v>
                </c:pt>
                <c:pt idx="44">
                  <c:v>2023-06</c:v>
                </c:pt>
                <c:pt idx="45">
                  <c:v>2023-09</c:v>
                </c:pt>
                <c:pt idx="46">
                  <c:v>2023-12</c:v>
                </c:pt>
                <c:pt idx="47">
                  <c:v>2024-03</c:v>
                </c:pt>
                <c:pt idx="48">
                  <c:v>2024-06</c:v>
                </c:pt>
                <c:pt idx="49">
                  <c:v>2024-09</c:v>
                </c:pt>
                <c:pt idx="50">
                  <c:v>2024-12</c:v>
                </c:pt>
                <c:pt idx="51">
                  <c:v>2025-03</c:v>
                </c:pt>
                <c:pt idx="52">
                  <c:v>2025-06</c:v>
                </c:pt>
                <c:pt idx="53">
                  <c:v>2025-09</c:v>
                </c:pt>
                <c:pt idx="54">
                  <c:v>2025-12</c:v>
                </c:pt>
                <c:pt idx="55">
                  <c:v>2026-03</c:v>
                </c:pt>
                <c:pt idx="56">
                  <c:v>2026-06</c:v>
                </c:pt>
                <c:pt idx="57">
                  <c:v>2026-09</c:v>
                </c:pt>
                <c:pt idx="58">
                  <c:v>2026-10</c:v>
                </c:pt>
              </c:strCache>
            </c:strRef>
          </c:cat>
          <c:val>
            <c:numRef>
              <c:f>'Chart Data'!$B$2:$B$60</c:f>
              <c:numCache>
                <c:formatCode>0.0</c:formatCode>
                <c:ptCount val="59"/>
                <c:pt idx="0">
                  <c:v>-2.8</c:v>
                </c:pt>
                <c:pt idx="1">
                  <c:v>-3.8</c:v>
                </c:pt>
                <c:pt idx="2">
                  <c:v>-4.5</c:v>
                </c:pt>
                <c:pt idx="3">
                  <c:v>-3.2</c:v>
                </c:pt>
                <c:pt idx="4">
                  <c:v>-4.1</c:v>
                </c:pt>
                <c:pt idx="5">
                  <c:v>-1</c:v>
                </c:pt>
                <c:pt idx="6">
                  <c:v>-1.5</c:v>
                </c:pt>
                <c:pt idx="7">
                  <c:v>-4.2</c:v>
                </c:pt>
                <c:pt idx="8">
                  <c:v>-2.4</c:v>
                </c:pt>
                <c:pt idx="9">
                  <c:v>-3.5</c:v>
                </c:pt>
                <c:pt idx="10">
                  <c:v>-8.1</c:v>
                </c:pt>
                <c:pt idx="11">
                  <c:v>-3.2</c:v>
                </c:pt>
                <c:pt idx="12">
                  <c:v>-3</c:v>
                </c:pt>
                <c:pt idx="13">
                  <c:v>-8.6</c:v>
                </c:pt>
                <c:pt idx="14">
                  <c:v>-4.4</c:v>
                </c:pt>
                <c:pt idx="15">
                  <c:v>-6.8</c:v>
                </c:pt>
                <c:pt idx="16">
                  <c:v>-6.9</c:v>
                </c:pt>
                <c:pt idx="17">
                  <c:v>-3.4</c:v>
                </c:pt>
                <c:pt idx="18">
                  <c:v>-2.7</c:v>
                </c:pt>
                <c:pt idx="19">
                  <c:v>-1.8</c:v>
                </c:pt>
                <c:pt idx="20">
                  <c:v>-2.8</c:v>
                </c:pt>
                <c:pt idx="21">
                  <c:v>-3.6</c:v>
                </c:pt>
                <c:pt idx="22">
                  <c:v>-2.7</c:v>
                </c:pt>
                <c:pt idx="23">
                  <c:v>-11</c:v>
                </c:pt>
                <c:pt idx="24">
                  <c:v>-4.2</c:v>
                </c:pt>
                <c:pt idx="25">
                  <c:v>-3.6</c:v>
                </c:pt>
                <c:pt idx="26">
                  <c:v>-24.7</c:v>
                </c:pt>
                <c:pt idx="27">
                  <c:v>-12.6</c:v>
                </c:pt>
                <c:pt idx="28">
                  <c:v>-16.9</c:v>
                </c:pt>
                <c:pt idx="29">
                  <c:v>-8</c:v>
                </c:pt>
                <c:pt idx="30">
                  <c:v>-1.8</c:v>
                </c:pt>
                <c:pt idx="31">
                  <c:v>-34.9</c:v>
                </c:pt>
                <c:pt idx="32">
                  <c:v>-5.9</c:v>
                </c:pt>
                <c:pt idx="33">
                  <c:v>-14.3</c:v>
                </c:pt>
                <c:pt idx="34">
                  <c:v>-2.1</c:v>
                </c:pt>
                <c:pt idx="35">
                  <c:v>-6.7</c:v>
                </c:pt>
                <c:pt idx="36">
                  <c:v>-1.2</c:v>
                </c:pt>
                <c:pt idx="37">
                  <c:v>-4.3</c:v>
                </c:pt>
                <c:pt idx="38">
                  <c:v>-5.4</c:v>
                </c:pt>
                <c:pt idx="39">
                  <c:v>-17.6</c:v>
                </c:pt>
                <c:pt idx="40">
                  <c:v>-28.1</c:v>
                </c:pt>
                <c:pt idx="41">
                  <c:v>-29</c:v>
                </c:pt>
                <c:pt idx="42">
                  <c:v>-32.8</c:v>
                </c:pt>
                <c:pt idx="43">
                  <c:v>-20</c:v>
                </c:pt>
                <c:pt idx="44">
                  <c:v>-2.9</c:v>
                </c:pt>
                <c:pt idx="45">
                  <c:v>-5.4</c:v>
                </c:pt>
                <c:pt idx="46">
                  <c:v>-2.5</c:v>
                </c:pt>
                <c:pt idx="47">
                  <c:v>-2.4</c:v>
                </c:pt>
                <c:pt idx="48">
                  <c:v>-1.1</c:v>
                </c:pt>
                <c:pt idx="49">
                  <c:v>-8.8</c:v>
                </c:pt>
                <c:pt idx="50">
                  <c:v>-3.9</c:v>
                </c:pt>
                <c:pt idx="51">
                  <c:v>-15.1</c:v>
                </c:pt>
                <c:pt idx="52">
                  <c:v>-10.1</c:v>
                </c:pt>
                <c:pt idx="53">
                  <c:v>-1.4</c:v>
                </c:pt>
                <c:pt idx="54">
                  <c:v>-3.6</c:v>
                </c:pt>
                <c:pt idx="55">
                  <c:v>-12.1</c:v>
                </c:pt>
                <c:pt idx="56">
                  <c:v>-8.7</c:v>
                </c:pt>
                <c:pt idx="57">
                  <c:v>-2</c:v>
                </c:pt>
                <c:pt idx="58">
                  <c:v>-2.1</c:v>
                </c:pt>
              </c:numCache>
            </c:numRef>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525">
                <a:solidFill>
                  <a:srgbClr val="707070"/>
                </a:solidFill>
              </a:defRPr>
            </a:pPr>
          </a:p>
        </c:txPr>
        <c:crossAx val="48672768"/>
      </c:catAx>
      <c:valAx>
        <c:axId val="48672768"/>
        <c:scaling>
          <c:orientation val="minMax"/>
          <c:max val="0"/>
        </c:scaling>
        <c:delete val="0"/>
        <c:axPos val="l"/>
        <c:majorGridlines>
          <c:spPr>
            <a:ln xmlns:a="http://schemas.openxmlformats.org/drawingml/2006/main" w="9525">
              <a:solidFill>
                <a:srgbClr val="EEEEEA"/>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707070"/>
                </a:solidFill>
              </a:defRPr>
            </a:pPr>
          </a:p>
        </c:txPr>
        <c:crossAx val="48650112"/>
        <c:crossBetween val="between"/>
      </c:valAx>
      <c:spPr>
        <a:solidFill xmlns:a="http://schemas.openxmlformats.org/drawingml/2006/main">
          <a:srgbClr val="FFFFFF"/>
        </a:solidFill>
        <a:ln xmlns:a="http://schemas.openxmlformats.org/drawingml/2006/main" w="0">
          <a:solidFill>
            <a:srgbClr val="FFFFFF"/>
          </a:solid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675">
              <a:solidFill>
                <a:srgbClr val="353535"/>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E5D1AA8-3129-4657-AD4D-6879DF7D08E9}"/>
              </a:ext>
            </a:extLst>
          </p:cNvPr>
          <p:cNvSpPr>
            <a:spLocks xmlns:a="http://schemas.openxmlformats.org/drawingml/2006/main" noGrp="1"/>
          </p:cNvSpPr>
          <p:nvPr/>
        </p:nvSpPr>
        <p:spPr>
          <a:xfrm xmlns:a="http://schemas.openxmlformats.org/drawingml/2006/main">
            <a:off x="552450" y="3619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B42318"/>
                </a:solidFill>
              </a:defRPr>
            </a:defPPr>
            <a:lvl1pPr algn="l">
              <a:defRPr sz="825" b="1">
                <a:solidFill>
                  <a:srgbClr val="B42318"/>
                </a:solidFill>
              </a:defRPr>
            </a:lvl1pPr>
            <a:lvl2pPr algn="l">
              <a:defRPr sz="825" b="1">
                <a:solidFill>
                  <a:srgbClr val="B42318"/>
                </a:solidFill>
              </a:defRPr>
            </a:lvl2pPr>
            <a:lvl3pPr algn="l">
              <a:defRPr sz="825" b="1">
                <a:solidFill>
                  <a:srgbClr val="B42318"/>
                </a:solidFill>
              </a:defRPr>
            </a:lvl3pPr>
            <a:lvl4pPr algn="l">
              <a:defRPr sz="825" b="1">
                <a:solidFill>
                  <a:srgbClr val="B42318"/>
                </a:solidFill>
              </a:defRPr>
            </a:lvl4pPr>
            <a:lvl5pPr algn="l">
              <a:defRPr sz="825" b="1">
                <a:solidFill>
                  <a:srgbClr val="B42318"/>
                </a:solidFill>
              </a:defRPr>
            </a:lvl5pPr>
            <a:lvl6pPr algn="l">
              <a:defRPr sz="825" b="1">
                <a:solidFill>
                  <a:srgbClr val="B42318"/>
                </a:solidFill>
              </a:defRPr>
            </a:lvl6pPr>
            <a:lvl7pPr algn="l">
              <a:defRPr sz="825" b="1">
                <a:solidFill>
                  <a:srgbClr val="B42318"/>
                </a:solidFill>
              </a:defRPr>
            </a:lvl7pPr>
            <a:lvl8pPr algn="l">
              <a:defRPr sz="825" b="1">
                <a:solidFill>
                  <a:srgbClr val="B42318"/>
                </a:solidFill>
              </a:defRPr>
            </a:lvl8pPr>
            <a:lvl9pPr algn="l">
              <a:defRPr sz="825" b="1">
                <a:solidFill>
                  <a:srgbClr val="B42318"/>
                </a:solidFill>
              </a:defRPr>
            </a:lvl9pPr>
          </a:lstStyle>
          <a:p xmlns:a="http://schemas.openxmlformats.org/drawingml/2006/main">
            <a:pPr algn="l">
              <a:defRPr sz="825" b="1">
                <a:solidFill>
                  <a:srgbClr val="B42318"/>
                </a:solidFill>
              </a:defRPr>
            </a:pPr>
            <a:r>
              <a:rPr sz="825" b="1">
                <a:solidFill>
                  <a:srgbClr val="B42318"/>
                </a:solidFill>
              </a:rPr>
              <a:t>QFI INTERNSHIP PROJECT</a:t>
            </a:r>
          </a:p>
        </p:txBody>
      </p:sp>
      <p:sp>
        <p:nvSpPr>
          <p:cNvPr id="2" name="">
            <a:extLst xmlns:a="http://schemas.openxmlformats.org/drawingml/2006/main">
              <a:ext uri="{FF2B5EF4-FFF2-40B4-BE49-F238E27FC236}">
                <a16:creationId xmlns:a16="http://schemas.microsoft.com/office/drawing/2014/main" id="{715C1452-47F8-4B3D-A30D-ED15862AD92D}"/>
              </a:ext>
            </a:extLst>
          </p:cNvPr>
          <p:cNvSpPr>
            <a:spLocks xmlns:a="http://schemas.openxmlformats.org/drawingml/2006/main" noGrp="1"/>
          </p:cNvSpPr>
          <p:nvPr/>
        </p:nvSpPr>
        <p:spPr>
          <a:xfrm xmlns:a="http://schemas.openxmlformats.org/drawingml/2006/main">
            <a:off x="552450" y="1200150"/>
            <a:ext cx="80010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600" b="1">
                <a:solidFill>
                  <a:srgbClr val="111111"/>
                </a:solidFill>
              </a:defRPr>
            </a:defPPr>
            <a:lvl1pPr algn="l">
              <a:defRPr sz="3600" b="1">
                <a:solidFill>
                  <a:srgbClr val="111111"/>
                </a:solidFill>
              </a:defRPr>
            </a:lvl1pPr>
            <a:lvl2pPr algn="l">
              <a:defRPr sz="3600" b="1">
                <a:solidFill>
                  <a:srgbClr val="111111"/>
                </a:solidFill>
              </a:defRPr>
            </a:lvl2pPr>
            <a:lvl3pPr algn="l">
              <a:defRPr sz="3600" b="1">
                <a:solidFill>
                  <a:srgbClr val="111111"/>
                </a:solidFill>
              </a:defRPr>
            </a:lvl3pPr>
            <a:lvl4pPr algn="l">
              <a:defRPr sz="3600" b="1">
                <a:solidFill>
                  <a:srgbClr val="111111"/>
                </a:solidFill>
              </a:defRPr>
            </a:lvl4pPr>
            <a:lvl5pPr algn="l">
              <a:defRPr sz="3600" b="1">
                <a:solidFill>
                  <a:srgbClr val="111111"/>
                </a:solidFill>
              </a:defRPr>
            </a:lvl5pPr>
            <a:lvl6pPr algn="l">
              <a:defRPr sz="3600" b="1">
                <a:solidFill>
                  <a:srgbClr val="111111"/>
                </a:solidFill>
              </a:defRPr>
            </a:lvl6pPr>
            <a:lvl7pPr algn="l">
              <a:defRPr sz="3600" b="1">
                <a:solidFill>
                  <a:srgbClr val="111111"/>
                </a:solidFill>
              </a:defRPr>
            </a:lvl7pPr>
            <a:lvl8pPr algn="l">
              <a:defRPr sz="3600" b="1">
                <a:solidFill>
                  <a:srgbClr val="111111"/>
                </a:solidFill>
              </a:defRPr>
            </a:lvl8pPr>
            <a:lvl9pPr algn="l">
              <a:defRPr sz="3600" b="1">
                <a:solidFill>
                  <a:srgbClr val="111111"/>
                </a:solidFill>
              </a:defRPr>
            </a:lvl9pPr>
          </a:lstStyle>
          <a:p xmlns:a="http://schemas.openxmlformats.org/drawingml/2006/main">
            <a:pPr algn="l">
              <a:defRPr sz="3600" b="1">
                <a:solidFill>
                  <a:srgbClr val="111111"/>
                </a:solidFill>
              </a:defRPr>
            </a:pPr>
            <a:r>
              <a:rPr sz="3600" b="1">
                <a:solidFill>
                  <a:srgbClr val="111111"/>
                </a:solidFill>
              </a:rPr>
              <a:t>Advanced Equity Portfolio</a:t>
            </a:r>
          </a:p>
          <a:p xmlns:a="http://schemas.openxmlformats.org/drawingml/2006/main">
            <a:pPr algn="l">
              <a:defRPr sz="3600" b="1">
                <a:solidFill>
                  <a:srgbClr val="111111"/>
                </a:solidFill>
              </a:defRPr>
            </a:pPr>
            <a:r>
              <a:rPr sz="3600" b="1">
                <a:solidFill>
                  <a:srgbClr val="111111"/>
                </a:solidFill>
              </a:rPr>
              <a:t>Risk Management</a:t>
            </a:r>
          </a:p>
        </p:txBody>
      </p:sp>
      <p:sp>
        <p:nvSpPr>
          <p:cNvPr id="3" name="">
            <a:extLst xmlns:a="http://schemas.openxmlformats.org/drawingml/2006/main">
              <a:ext uri="{FF2B5EF4-FFF2-40B4-BE49-F238E27FC236}">
                <a16:creationId xmlns:a16="http://schemas.microsoft.com/office/drawing/2014/main" id="{1ADD0BBB-AF63-4866-893A-2B7162CA2F4C}"/>
              </a:ext>
            </a:extLst>
          </p:cNvPr>
          <p:cNvSpPr>
            <a:spLocks xmlns:a="http://schemas.openxmlformats.org/drawingml/2006/main" noGrp="1"/>
          </p:cNvSpPr>
          <p:nvPr/>
        </p:nvSpPr>
        <p:spPr>
          <a:xfrm xmlns:a="http://schemas.openxmlformats.org/drawingml/2006/main">
            <a:off x="552450" y="2667000"/>
            <a:ext cx="11049000" cy="4762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4" name="">
            <a:extLst xmlns:a="http://schemas.openxmlformats.org/drawingml/2006/main">
              <a:ext uri="{FF2B5EF4-FFF2-40B4-BE49-F238E27FC236}">
                <a16:creationId xmlns:a16="http://schemas.microsoft.com/office/drawing/2014/main" id="{ACF71E4D-CB84-4FA6-AD5B-0FEB4036209E}"/>
              </a:ext>
            </a:extLst>
          </p:cNvPr>
          <p:cNvSpPr>
            <a:spLocks xmlns:a="http://schemas.openxmlformats.org/drawingml/2006/main" noGrp="1"/>
          </p:cNvSpPr>
          <p:nvPr/>
        </p:nvSpPr>
        <p:spPr>
          <a:xfrm xmlns:a="http://schemas.openxmlformats.org/drawingml/2006/main">
            <a:off x="552450" y="2933700"/>
            <a:ext cx="923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0">
                <a:solidFill>
                  <a:srgbClr val="353535"/>
                </a:solidFill>
              </a:defRPr>
            </a:defPPr>
            <a:lvl1pPr algn="l">
              <a:defRPr sz="1575" b="0">
                <a:solidFill>
                  <a:srgbClr val="353535"/>
                </a:solidFill>
              </a:defRPr>
            </a:lvl1pPr>
            <a:lvl2pPr algn="l">
              <a:defRPr sz="1575" b="0">
                <a:solidFill>
                  <a:srgbClr val="353535"/>
                </a:solidFill>
              </a:defRPr>
            </a:lvl2pPr>
            <a:lvl3pPr algn="l">
              <a:defRPr sz="1575" b="0">
                <a:solidFill>
                  <a:srgbClr val="353535"/>
                </a:solidFill>
              </a:defRPr>
            </a:lvl3pPr>
            <a:lvl4pPr algn="l">
              <a:defRPr sz="1575" b="0">
                <a:solidFill>
                  <a:srgbClr val="353535"/>
                </a:solidFill>
              </a:defRPr>
            </a:lvl4pPr>
            <a:lvl5pPr algn="l">
              <a:defRPr sz="1575" b="0">
                <a:solidFill>
                  <a:srgbClr val="353535"/>
                </a:solidFill>
              </a:defRPr>
            </a:lvl5pPr>
            <a:lvl6pPr algn="l">
              <a:defRPr sz="1575" b="0">
                <a:solidFill>
                  <a:srgbClr val="353535"/>
                </a:solidFill>
              </a:defRPr>
            </a:lvl6pPr>
            <a:lvl7pPr algn="l">
              <a:defRPr sz="1575" b="0">
                <a:solidFill>
                  <a:srgbClr val="353535"/>
                </a:solidFill>
              </a:defRPr>
            </a:lvl7pPr>
            <a:lvl8pPr algn="l">
              <a:defRPr sz="1575" b="0">
                <a:solidFill>
                  <a:srgbClr val="353535"/>
                </a:solidFill>
              </a:defRPr>
            </a:lvl8pPr>
            <a:lvl9pPr algn="l">
              <a:defRPr sz="1575" b="0">
                <a:solidFill>
                  <a:srgbClr val="353535"/>
                </a:solidFill>
              </a:defRPr>
            </a:lvl9pPr>
          </a:lstStyle>
          <a:p xmlns:a="http://schemas.openxmlformats.org/drawingml/2006/main">
            <a:pPr algn="l">
              <a:defRPr sz="1575" b="0">
                <a:solidFill>
                  <a:srgbClr val="353535"/>
                </a:solidFill>
              </a:defRPr>
            </a:pPr>
            <a:r>
              <a:rPr sz="1575" b="0">
                <a:solidFill>
                  <a:srgbClr val="353535"/>
                </a:solidFill>
              </a:rPr>
              <a:t>VaR, Expected Shortfall, volatility scaling, backtesting and stress testing</a:t>
            </a:r>
          </a:p>
        </p:txBody>
      </p:sp>
      <p:sp>
        <p:nvSpPr>
          <p:cNvPr id="5" name="">
            <a:extLst xmlns:a="http://schemas.openxmlformats.org/drawingml/2006/main">
              <a:ext uri="{FF2B5EF4-FFF2-40B4-BE49-F238E27FC236}">
                <a16:creationId xmlns:a16="http://schemas.microsoft.com/office/drawing/2014/main" id="{7F000026-A426-4532-A726-34ED6F2EDBB4}"/>
              </a:ext>
            </a:extLst>
          </p:cNvPr>
          <p:cNvSpPr>
            <a:spLocks xmlns:a="http://schemas.openxmlformats.org/drawingml/2006/main" noGrp="1"/>
          </p:cNvSpPr>
          <p:nvPr/>
        </p:nvSpPr>
        <p:spPr>
          <a:xfrm xmlns:a="http://schemas.openxmlformats.org/drawingml/2006/main">
            <a:off x="552450" y="4333875"/>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150" b="1">
                <a:solidFill>
                  <a:srgbClr val="155E63"/>
                </a:solidFill>
              </a:defRPr>
            </a:defPPr>
            <a:lvl1pPr algn="l">
              <a:defRPr sz="3150" b="1">
                <a:solidFill>
                  <a:srgbClr val="155E63"/>
                </a:solidFill>
              </a:defRPr>
            </a:lvl1pPr>
            <a:lvl2pPr algn="l">
              <a:defRPr sz="3150" b="1">
                <a:solidFill>
                  <a:srgbClr val="155E63"/>
                </a:solidFill>
              </a:defRPr>
            </a:lvl2pPr>
            <a:lvl3pPr algn="l">
              <a:defRPr sz="3150" b="1">
                <a:solidFill>
                  <a:srgbClr val="155E63"/>
                </a:solidFill>
              </a:defRPr>
            </a:lvl3pPr>
            <a:lvl4pPr algn="l">
              <a:defRPr sz="3150" b="1">
                <a:solidFill>
                  <a:srgbClr val="155E63"/>
                </a:solidFill>
              </a:defRPr>
            </a:lvl4pPr>
            <a:lvl5pPr algn="l">
              <a:defRPr sz="3150" b="1">
                <a:solidFill>
                  <a:srgbClr val="155E63"/>
                </a:solidFill>
              </a:defRPr>
            </a:lvl5pPr>
            <a:lvl6pPr algn="l">
              <a:defRPr sz="3150" b="1">
                <a:solidFill>
                  <a:srgbClr val="155E63"/>
                </a:solidFill>
              </a:defRPr>
            </a:lvl6pPr>
            <a:lvl7pPr algn="l">
              <a:defRPr sz="3150" b="1">
                <a:solidFill>
                  <a:srgbClr val="155E63"/>
                </a:solidFill>
              </a:defRPr>
            </a:lvl7pPr>
            <a:lvl8pPr algn="l">
              <a:defRPr sz="3150" b="1">
                <a:solidFill>
                  <a:srgbClr val="155E63"/>
                </a:solidFill>
              </a:defRPr>
            </a:lvl8pPr>
            <a:lvl9pPr algn="l">
              <a:defRPr sz="3150" b="1">
                <a:solidFill>
                  <a:srgbClr val="155E63"/>
                </a:solidFill>
              </a:defRPr>
            </a:lvl9pPr>
          </a:lstStyle>
          <a:p xmlns:a="http://schemas.openxmlformats.org/drawingml/2006/main">
            <a:pPr algn="l">
              <a:defRPr sz="3150" b="1">
                <a:solidFill>
                  <a:srgbClr val="155E63"/>
                </a:solidFill>
              </a:defRPr>
            </a:pPr>
            <a:r>
              <a:rPr sz="3150" b="1">
                <a:solidFill>
                  <a:srgbClr val="155E63"/>
                </a:solidFill>
              </a:rPr>
              <a:t>$297K</a:t>
            </a:r>
          </a:p>
        </p:txBody>
      </p:sp>
      <p:sp>
        <p:nvSpPr>
          <p:cNvPr id="6" name="">
            <a:extLst xmlns:a="http://schemas.openxmlformats.org/drawingml/2006/main">
              <a:ext uri="{FF2B5EF4-FFF2-40B4-BE49-F238E27FC236}">
                <a16:creationId xmlns:a16="http://schemas.microsoft.com/office/drawing/2014/main" id="{8F971A6C-9AEB-4432-A16E-29BF08300563}"/>
              </a:ext>
            </a:extLst>
          </p:cNvPr>
          <p:cNvSpPr>
            <a:spLocks xmlns:a="http://schemas.openxmlformats.org/drawingml/2006/main" noGrp="1"/>
          </p:cNvSpPr>
          <p:nvPr/>
        </p:nvSpPr>
        <p:spPr>
          <a:xfrm xmlns:a="http://schemas.openxmlformats.org/drawingml/2006/main">
            <a:off x="552450" y="48577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707070"/>
                </a:solidFill>
              </a:defRPr>
            </a:defPPr>
            <a:lvl1pPr algn="l">
              <a:defRPr sz="975" b="0">
                <a:solidFill>
                  <a:srgbClr val="707070"/>
                </a:solidFill>
              </a:defRPr>
            </a:lvl1pPr>
            <a:lvl2pPr algn="l">
              <a:defRPr sz="975" b="0">
                <a:solidFill>
                  <a:srgbClr val="707070"/>
                </a:solidFill>
              </a:defRPr>
            </a:lvl2pPr>
            <a:lvl3pPr algn="l">
              <a:defRPr sz="975" b="0">
                <a:solidFill>
                  <a:srgbClr val="707070"/>
                </a:solidFill>
              </a:defRPr>
            </a:lvl3pPr>
            <a:lvl4pPr algn="l">
              <a:defRPr sz="975" b="0">
                <a:solidFill>
                  <a:srgbClr val="707070"/>
                </a:solidFill>
              </a:defRPr>
            </a:lvl4pPr>
            <a:lvl5pPr algn="l">
              <a:defRPr sz="975" b="0">
                <a:solidFill>
                  <a:srgbClr val="707070"/>
                </a:solidFill>
              </a:defRPr>
            </a:lvl5pPr>
            <a:lvl6pPr algn="l">
              <a:defRPr sz="975" b="0">
                <a:solidFill>
                  <a:srgbClr val="707070"/>
                </a:solidFill>
              </a:defRPr>
            </a:lvl6pPr>
            <a:lvl7pPr algn="l">
              <a:defRPr sz="975" b="0">
                <a:solidFill>
                  <a:srgbClr val="707070"/>
                </a:solidFill>
              </a:defRPr>
            </a:lvl7pPr>
            <a:lvl8pPr algn="l">
              <a:defRPr sz="975" b="0">
                <a:solidFill>
                  <a:srgbClr val="707070"/>
                </a:solidFill>
              </a:defRPr>
            </a:lvl8pPr>
            <a:lvl9pPr algn="l">
              <a:defRPr sz="975" b="0">
                <a:solidFill>
                  <a:srgbClr val="707070"/>
                </a:solidFill>
              </a:defRPr>
            </a:lvl9pPr>
          </a:lstStyle>
          <a:p xmlns:a="http://schemas.openxmlformats.org/drawingml/2006/main">
            <a:pPr algn="l">
              <a:defRPr sz="975" b="0">
                <a:solidFill>
                  <a:srgbClr val="707070"/>
                </a:solidFill>
              </a:defRPr>
            </a:pPr>
            <a:r>
              <a:rPr sz="975" b="0">
                <a:solidFill>
                  <a:srgbClr val="707070"/>
                </a:solidFill>
              </a:rPr>
              <a:t>99% one-day GJR-HS VaR</a:t>
            </a:r>
          </a:p>
        </p:txBody>
      </p:sp>
      <p:sp>
        <p:nvSpPr>
          <p:cNvPr id="7" name="">
            <a:extLst xmlns:a="http://schemas.openxmlformats.org/drawingml/2006/main">
              <a:ext uri="{FF2B5EF4-FFF2-40B4-BE49-F238E27FC236}">
                <a16:creationId xmlns:a16="http://schemas.microsoft.com/office/drawing/2014/main" id="{1A811177-C693-41DE-8B57-EB10C859BB65}"/>
              </a:ext>
            </a:extLst>
          </p:cNvPr>
          <p:cNvSpPr>
            <a:spLocks xmlns:a="http://schemas.openxmlformats.org/drawingml/2006/main" noGrp="1"/>
          </p:cNvSpPr>
          <p:nvPr/>
        </p:nvSpPr>
        <p:spPr>
          <a:xfrm xmlns:a="http://schemas.openxmlformats.org/drawingml/2006/main">
            <a:off x="3714750" y="4333875"/>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150" b="1">
                <a:solidFill>
                  <a:srgbClr val="B42318"/>
                </a:solidFill>
              </a:defRPr>
            </a:defPPr>
            <a:lvl1pPr algn="l">
              <a:defRPr sz="3150" b="1">
                <a:solidFill>
                  <a:srgbClr val="B42318"/>
                </a:solidFill>
              </a:defRPr>
            </a:lvl1pPr>
            <a:lvl2pPr algn="l">
              <a:defRPr sz="3150" b="1">
                <a:solidFill>
                  <a:srgbClr val="B42318"/>
                </a:solidFill>
              </a:defRPr>
            </a:lvl2pPr>
            <a:lvl3pPr algn="l">
              <a:defRPr sz="3150" b="1">
                <a:solidFill>
                  <a:srgbClr val="B42318"/>
                </a:solidFill>
              </a:defRPr>
            </a:lvl3pPr>
            <a:lvl4pPr algn="l">
              <a:defRPr sz="3150" b="1">
                <a:solidFill>
                  <a:srgbClr val="B42318"/>
                </a:solidFill>
              </a:defRPr>
            </a:lvl4pPr>
            <a:lvl5pPr algn="l">
              <a:defRPr sz="3150" b="1">
                <a:solidFill>
                  <a:srgbClr val="B42318"/>
                </a:solidFill>
              </a:defRPr>
            </a:lvl5pPr>
            <a:lvl6pPr algn="l">
              <a:defRPr sz="3150" b="1">
                <a:solidFill>
                  <a:srgbClr val="B42318"/>
                </a:solidFill>
              </a:defRPr>
            </a:lvl6pPr>
            <a:lvl7pPr algn="l">
              <a:defRPr sz="3150" b="1">
                <a:solidFill>
                  <a:srgbClr val="B42318"/>
                </a:solidFill>
              </a:defRPr>
            </a:lvl7pPr>
            <a:lvl8pPr algn="l">
              <a:defRPr sz="3150" b="1">
                <a:solidFill>
                  <a:srgbClr val="B42318"/>
                </a:solidFill>
              </a:defRPr>
            </a:lvl8pPr>
            <a:lvl9pPr algn="l">
              <a:defRPr sz="3150" b="1">
                <a:solidFill>
                  <a:srgbClr val="B42318"/>
                </a:solidFill>
              </a:defRPr>
            </a:lvl9pPr>
          </a:lstStyle>
          <a:p xmlns:a="http://schemas.openxmlformats.org/drawingml/2006/main">
            <a:pPr algn="l">
              <a:defRPr sz="3150" b="1">
                <a:solidFill>
                  <a:srgbClr val="B42318"/>
                </a:solidFill>
              </a:defRPr>
            </a:pPr>
            <a:r>
              <a:rPr sz="3150" b="1">
                <a:solidFill>
                  <a:srgbClr val="B42318"/>
                </a:solidFill>
              </a:rPr>
              <a:t>$4.40M</a:t>
            </a:r>
          </a:p>
        </p:txBody>
      </p:sp>
      <p:sp>
        <p:nvSpPr>
          <p:cNvPr id="8" name="">
            <a:extLst xmlns:a="http://schemas.openxmlformats.org/drawingml/2006/main">
              <a:ext uri="{FF2B5EF4-FFF2-40B4-BE49-F238E27FC236}">
                <a16:creationId xmlns:a16="http://schemas.microsoft.com/office/drawing/2014/main" id="{DB63D57E-D653-44A7-B393-60FFFCA030D8}"/>
              </a:ext>
            </a:extLst>
          </p:cNvPr>
          <p:cNvSpPr>
            <a:spLocks xmlns:a="http://schemas.openxmlformats.org/drawingml/2006/main" noGrp="1"/>
          </p:cNvSpPr>
          <p:nvPr/>
        </p:nvSpPr>
        <p:spPr>
          <a:xfrm xmlns:a="http://schemas.openxmlformats.org/drawingml/2006/main">
            <a:off x="3714750" y="48577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707070"/>
                </a:solidFill>
              </a:defRPr>
            </a:defPPr>
            <a:lvl1pPr algn="l">
              <a:defRPr sz="975" b="0">
                <a:solidFill>
                  <a:srgbClr val="707070"/>
                </a:solidFill>
              </a:defRPr>
            </a:lvl1pPr>
            <a:lvl2pPr algn="l">
              <a:defRPr sz="975" b="0">
                <a:solidFill>
                  <a:srgbClr val="707070"/>
                </a:solidFill>
              </a:defRPr>
            </a:lvl2pPr>
            <a:lvl3pPr algn="l">
              <a:defRPr sz="975" b="0">
                <a:solidFill>
                  <a:srgbClr val="707070"/>
                </a:solidFill>
              </a:defRPr>
            </a:lvl3pPr>
            <a:lvl4pPr algn="l">
              <a:defRPr sz="975" b="0">
                <a:solidFill>
                  <a:srgbClr val="707070"/>
                </a:solidFill>
              </a:defRPr>
            </a:lvl4pPr>
            <a:lvl5pPr algn="l">
              <a:defRPr sz="975" b="0">
                <a:solidFill>
                  <a:srgbClr val="707070"/>
                </a:solidFill>
              </a:defRPr>
            </a:lvl5pPr>
            <a:lvl6pPr algn="l">
              <a:defRPr sz="975" b="0">
                <a:solidFill>
                  <a:srgbClr val="707070"/>
                </a:solidFill>
              </a:defRPr>
            </a:lvl6pPr>
            <a:lvl7pPr algn="l">
              <a:defRPr sz="975" b="0">
                <a:solidFill>
                  <a:srgbClr val="707070"/>
                </a:solidFill>
              </a:defRPr>
            </a:lvl7pPr>
            <a:lvl8pPr algn="l">
              <a:defRPr sz="975" b="0">
                <a:solidFill>
                  <a:srgbClr val="707070"/>
                </a:solidFill>
              </a:defRPr>
            </a:lvl8pPr>
            <a:lvl9pPr algn="l">
              <a:defRPr sz="975" b="0">
                <a:solidFill>
                  <a:srgbClr val="707070"/>
                </a:solidFill>
              </a:defRPr>
            </a:lvl9pPr>
          </a:lstStyle>
          <a:p xmlns:a="http://schemas.openxmlformats.org/drawingml/2006/main">
            <a:pPr algn="l">
              <a:defRPr sz="975" b="0">
                <a:solidFill>
                  <a:srgbClr val="707070"/>
                </a:solidFill>
              </a:defRPr>
            </a:pPr>
            <a:r>
              <a:rPr sz="975" b="0">
                <a:solidFill>
                  <a:srgbClr val="707070"/>
                </a:solidFill>
              </a:rPr>
              <a:t>2008 crisis replay loss</a:t>
            </a:r>
          </a:p>
        </p:txBody>
      </p:sp>
      <p:sp>
        <p:nvSpPr>
          <p:cNvPr id="9" name="">
            <a:extLst xmlns:a="http://schemas.openxmlformats.org/drawingml/2006/main">
              <a:ext uri="{FF2B5EF4-FFF2-40B4-BE49-F238E27FC236}">
                <a16:creationId xmlns:a16="http://schemas.microsoft.com/office/drawing/2014/main" id="{3B31F6E9-72AE-44CC-9B54-B097E5F5651C}"/>
              </a:ext>
            </a:extLst>
          </p:cNvPr>
          <p:cNvSpPr>
            <a:spLocks xmlns:a="http://schemas.openxmlformats.org/drawingml/2006/main" noGrp="1"/>
          </p:cNvSpPr>
          <p:nvPr/>
        </p:nvSpPr>
        <p:spPr>
          <a:xfrm xmlns:a="http://schemas.openxmlformats.org/drawingml/2006/main">
            <a:off x="6934200" y="4333875"/>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150" b="1">
                <a:solidFill>
                  <a:srgbClr val="111111"/>
                </a:solidFill>
              </a:defRPr>
            </a:defPPr>
            <a:lvl1pPr algn="l">
              <a:defRPr sz="3150" b="1">
                <a:solidFill>
                  <a:srgbClr val="111111"/>
                </a:solidFill>
              </a:defRPr>
            </a:lvl1pPr>
            <a:lvl2pPr algn="l">
              <a:defRPr sz="3150" b="1">
                <a:solidFill>
                  <a:srgbClr val="111111"/>
                </a:solidFill>
              </a:defRPr>
            </a:lvl2pPr>
            <a:lvl3pPr algn="l">
              <a:defRPr sz="3150" b="1">
                <a:solidFill>
                  <a:srgbClr val="111111"/>
                </a:solidFill>
              </a:defRPr>
            </a:lvl3pPr>
            <a:lvl4pPr algn="l">
              <a:defRPr sz="3150" b="1">
                <a:solidFill>
                  <a:srgbClr val="111111"/>
                </a:solidFill>
              </a:defRPr>
            </a:lvl4pPr>
            <a:lvl5pPr algn="l">
              <a:defRPr sz="3150" b="1">
                <a:solidFill>
                  <a:srgbClr val="111111"/>
                </a:solidFill>
              </a:defRPr>
            </a:lvl5pPr>
            <a:lvl6pPr algn="l">
              <a:defRPr sz="3150" b="1">
                <a:solidFill>
                  <a:srgbClr val="111111"/>
                </a:solidFill>
              </a:defRPr>
            </a:lvl6pPr>
            <a:lvl7pPr algn="l">
              <a:defRPr sz="3150" b="1">
                <a:solidFill>
                  <a:srgbClr val="111111"/>
                </a:solidFill>
              </a:defRPr>
            </a:lvl7pPr>
            <a:lvl8pPr algn="l">
              <a:defRPr sz="3150" b="1">
                <a:solidFill>
                  <a:srgbClr val="111111"/>
                </a:solidFill>
              </a:defRPr>
            </a:lvl8pPr>
            <a:lvl9pPr algn="l">
              <a:defRPr sz="3150" b="1">
                <a:solidFill>
                  <a:srgbClr val="111111"/>
                </a:solidFill>
              </a:defRPr>
            </a:lvl9pPr>
          </a:lstStyle>
          <a:p xmlns:a="http://schemas.openxmlformats.org/drawingml/2006/main">
            <a:pPr algn="l">
              <a:defRPr sz="3150" b="1">
                <a:solidFill>
                  <a:srgbClr val="111111"/>
                </a:solidFill>
              </a:defRPr>
            </a:pPr>
            <a:r>
              <a:rPr sz="3150" b="1">
                <a:solidFill>
                  <a:srgbClr val="111111"/>
                </a:solidFill>
              </a:rPr>
              <a:t>34 / 31.2</a:t>
            </a:r>
          </a:p>
        </p:txBody>
      </p:sp>
      <p:sp>
        <p:nvSpPr>
          <p:cNvPr id="10" name="">
            <a:extLst xmlns:a="http://schemas.openxmlformats.org/drawingml/2006/main">
              <a:ext uri="{FF2B5EF4-FFF2-40B4-BE49-F238E27FC236}">
                <a16:creationId xmlns:a16="http://schemas.microsoft.com/office/drawing/2014/main" id="{67C8B151-ACA3-4A80-8CFC-FCD5A55A4356}"/>
              </a:ext>
            </a:extLst>
          </p:cNvPr>
          <p:cNvSpPr>
            <a:spLocks xmlns:a="http://schemas.openxmlformats.org/drawingml/2006/main" noGrp="1"/>
          </p:cNvSpPr>
          <p:nvPr/>
        </p:nvSpPr>
        <p:spPr>
          <a:xfrm xmlns:a="http://schemas.openxmlformats.org/drawingml/2006/main">
            <a:off x="6934200" y="48577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707070"/>
                </a:solidFill>
              </a:defRPr>
            </a:defPPr>
            <a:lvl1pPr algn="l">
              <a:defRPr sz="975" b="0">
                <a:solidFill>
                  <a:srgbClr val="707070"/>
                </a:solidFill>
              </a:defRPr>
            </a:lvl1pPr>
            <a:lvl2pPr algn="l">
              <a:defRPr sz="975" b="0">
                <a:solidFill>
                  <a:srgbClr val="707070"/>
                </a:solidFill>
              </a:defRPr>
            </a:lvl2pPr>
            <a:lvl3pPr algn="l">
              <a:defRPr sz="975" b="0">
                <a:solidFill>
                  <a:srgbClr val="707070"/>
                </a:solidFill>
              </a:defRPr>
            </a:lvl3pPr>
            <a:lvl4pPr algn="l">
              <a:defRPr sz="975" b="0">
                <a:solidFill>
                  <a:srgbClr val="707070"/>
                </a:solidFill>
              </a:defRPr>
            </a:lvl4pPr>
            <a:lvl5pPr algn="l">
              <a:defRPr sz="975" b="0">
                <a:solidFill>
                  <a:srgbClr val="707070"/>
                </a:solidFill>
              </a:defRPr>
            </a:lvl5pPr>
            <a:lvl6pPr algn="l">
              <a:defRPr sz="975" b="0">
                <a:solidFill>
                  <a:srgbClr val="707070"/>
                </a:solidFill>
              </a:defRPr>
            </a:lvl6pPr>
            <a:lvl7pPr algn="l">
              <a:defRPr sz="975" b="0">
                <a:solidFill>
                  <a:srgbClr val="707070"/>
                </a:solidFill>
              </a:defRPr>
            </a:lvl7pPr>
            <a:lvl8pPr algn="l">
              <a:defRPr sz="975" b="0">
                <a:solidFill>
                  <a:srgbClr val="707070"/>
                </a:solidFill>
              </a:defRPr>
            </a:lvl8pPr>
            <a:lvl9pPr algn="l">
              <a:defRPr sz="975" b="0">
                <a:solidFill>
                  <a:srgbClr val="707070"/>
                </a:solidFill>
              </a:defRPr>
            </a:lvl9pPr>
          </a:lstStyle>
          <a:p xmlns:a="http://schemas.openxmlformats.org/drawingml/2006/main">
            <a:pPr algn="l">
              <a:defRPr sz="975" b="0">
                <a:solidFill>
                  <a:srgbClr val="707070"/>
                </a:solidFill>
              </a:defRPr>
            </a:pPr>
            <a:r>
              <a:rPr sz="975" b="0">
                <a:solidFill>
                  <a:srgbClr val="707070"/>
                </a:solidFill>
              </a:rPr>
              <a:t>actual / expected exceptions</a:t>
            </a:r>
          </a:p>
        </p:txBody>
      </p:sp>
      <p:sp>
        <p:nvSpPr>
          <p:cNvPr id="11" name="">
            <a:extLst xmlns:a="http://schemas.openxmlformats.org/drawingml/2006/main">
              <a:ext uri="{FF2B5EF4-FFF2-40B4-BE49-F238E27FC236}">
                <a16:creationId xmlns:a16="http://schemas.microsoft.com/office/drawing/2014/main" id="{3C8D7058-2865-4D32-8CDE-008C65EED4CB}"/>
              </a:ext>
            </a:extLst>
          </p:cNvPr>
          <p:cNvSpPr>
            <a:spLocks xmlns:a="http://schemas.openxmlformats.org/drawingml/2006/main" noGrp="1"/>
          </p:cNvSpPr>
          <p:nvPr/>
        </p:nvSpPr>
        <p:spPr>
          <a:xfrm xmlns:a="http://schemas.openxmlformats.org/drawingml/2006/main">
            <a:off x="552450" y="561975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353535"/>
                </a:solidFill>
              </a:defRPr>
            </a:defPPr>
            <a:lvl1pPr algn="l">
              <a:defRPr sz="1425" b="1">
                <a:solidFill>
                  <a:srgbClr val="353535"/>
                </a:solidFill>
              </a:defRPr>
            </a:lvl1pPr>
            <a:lvl2pPr algn="l">
              <a:defRPr sz="1425" b="1">
                <a:solidFill>
                  <a:srgbClr val="353535"/>
                </a:solidFill>
              </a:defRPr>
            </a:lvl2pPr>
            <a:lvl3pPr algn="l">
              <a:defRPr sz="1425" b="1">
                <a:solidFill>
                  <a:srgbClr val="353535"/>
                </a:solidFill>
              </a:defRPr>
            </a:lvl3pPr>
            <a:lvl4pPr algn="l">
              <a:defRPr sz="1425" b="1">
                <a:solidFill>
                  <a:srgbClr val="353535"/>
                </a:solidFill>
              </a:defRPr>
            </a:lvl4pPr>
            <a:lvl5pPr algn="l">
              <a:defRPr sz="1425" b="1">
                <a:solidFill>
                  <a:srgbClr val="353535"/>
                </a:solidFill>
              </a:defRPr>
            </a:lvl5pPr>
            <a:lvl6pPr algn="l">
              <a:defRPr sz="1425" b="1">
                <a:solidFill>
                  <a:srgbClr val="353535"/>
                </a:solidFill>
              </a:defRPr>
            </a:lvl6pPr>
            <a:lvl7pPr algn="l">
              <a:defRPr sz="1425" b="1">
                <a:solidFill>
                  <a:srgbClr val="353535"/>
                </a:solidFill>
              </a:defRPr>
            </a:lvl7pPr>
            <a:lvl8pPr algn="l">
              <a:defRPr sz="1425" b="1">
                <a:solidFill>
                  <a:srgbClr val="353535"/>
                </a:solidFill>
              </a:defRPr>
            </a:lvl8pPr>
            <a:lvl9pPr algn="l">
              <a:defRPr sz="1425" b="1">
                <a:solidFill>
                  <a:srgbClr val="353535"/>
                </a:solidFill>
              </a:defRPr>
            </a:lvl9pPr>
          </a:lstStyle>
          <a:p xmlns:a="http://schemas.openxmlformats.org/drawingml/2006/main">
            <a:pPr algn="l">
              <a:defRPr sz="1425" b="1">
                <a:solidFill>
                  <a:srgbClr val="353535"/>
                </a:solidFill>
              </a:defRPr>
            </a:pPr>
            <a:r>
              <a:rPr sz="1425" b="1">
                <a:solidFill>
                  <a:srgbClr val="353535"/>
                </a:solidFill>
              </a:rPr>
              <a:t>How much can the portfolio lose, how reliable is that estimate, and what should we do about it?</a:t>
            </a:r>
          </a:p>
        </p:txBody>
      </p:sp>
      <p:sp>
        <p:nvSpPr>
          <p:cNvPr id="12" name="">
            <a:extLst xmlns:a="http://schemas.openxmlformats.org/drawingml/2006/main">
              <a:ext uri="{FF2B5EF4-FFF2-40B4-BE49-F238E27FC236}">
                <a16:creationId xmlns:a16="http://schemas.microsoft.com/office/drawing/2014/main" id="{8D19B19C-6844-4810-815C-4F3F49305FE6}"/>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13" name="">
            <a:extLst xmlns:a="http://schemas.openxmlformats.org/drawingml/2006/main">
              <a:ext uri="{FF2B5EF4-FFF2-40B4-BE49-F238E27FC236}">
                <a16:creationId xmlns:a16="http://schemas.microsoft.com/office/drawing/2014/main" id="{E5CA1AF6-CFB6-47B4-A07B-AF9329D4D71E}"/>
              </a:ext>
            </a:extLst>
          </p:cNvPr>
          <p:cNvSpPr>
            <a:spLocks xmlns:a="http://schemas.openxmlformats.org/drawingml/2006/main" noGrp="1"/>
          </p:cNvSpPr>
          <p:nvPr/>
        </p:nvSpPr>
        <p:spPr>
          <a:xfrm xmlns:a="http://schemas.openxmlformats.org/drawingml/2006/main">
            <a:off x="51435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0">
                <a:solidFill>
                  <a:srgbClr val="707070"/>
                </a:solidFill>
              </a:defRPr>
            </a:defPPr>
            <a:lvl1pPr algn="l">
              <a:defRPr sz="600" b="0">
                <a:solidFill>
                  <a:srgbClr val="707070"/>
                </a:solidFill>
              </a:defRPr>
            </a:lvl1pPr>
            <a:lvl2pPr algn="l">
              <a:defRPr sz="600" b="0">
                <a:solidFill>
                  <a:srgbClr val="707070"/>
                </a:solidFill>
              </a:defRPr>
            </a:lvl2pPr>
            <a:lvl3pPr algn="l">
              <a:defRPr sz="600" b="0">
                <a:solidFill>
                  <a:srgbClr val="707070"/>
                </a:solidFill>
              </a:defRPr>
            </a:lvl3pPr>
            <a:lvl4pPr algn="l">
              <a:defRPr sz="600" b="0">
                <a:solidFill>
                  <a:srgbClr val="707070"/>
                </a:solidFill>
              </a:defRPr>
            </a:lvl4pPr>
            <a:lvl5pPr algn="l">
              <a:defRPr sz="600" b="0">
                <a:solidFill>
                  <a:srgbClr val="707070"/>
                </a:solidFill>
              </a:defRPr>
            </a:lvl5pPr>
            <a:lvl6pPr algn="l">
              <a:defRPr sz="600" b="0">
                <a:solidFill>
                  <a:srgbClr val="707070"/>
                </a:solidFill>
              </a:defRPr>
            </a:lvl6pPr>
            <a:lvl7pPr algn="l">
              <a:defRPr sz="600" b="0">
                <a:solidFill>
                  <a:srgbClr val="707070"/>
                </a:solidFill>
              </a:defRPr>
            </a:lvl7pPr>
            <a:lvl8pPr algn="l">
              <a:defRPr sz="600" b="0">
                <a:solidFill>
                  <a:srgbClr val="707070"/>
                </a:solidFill>
              </a:defRPr>
            </a:lvl8pPr>
            <a:lvl9pPr algn="l">
              <a:defRPr sz="600" b="0">
                <a:solidFill>
                  <a:srgbClr val="707070"/>
                </a:solidFill>
              </a:defRPr>
            </a:lvl9pPr>
          </a:lstStyle>
          <a:p xmlns:a="http://schemas.openxmlformats.org/drawingml/2006/main">
            <a:pPr algn="l">
              <a:defRPr sz="600" b="0">
                <a:solidFill>
                  <a:srgbClr val="707070"/>
                </a:solidFill>
              </a:defRPr>
            </a:pPr>
            <a:r>
              <a:rPr sz="600" b="0">
                <a:solidFill>
                  <a:srgbClr val="707070"/>
                </a:solidFill>
              </a:rPr>
              <a:t>QFI risk engine  |  saved data through 23 October 2026</a:t>
            </a:r>
          </a:p>
        </p:txBody>
      </p:sp>
      <p:sp>
        <p:nvSpPr>
          <p:cNvPr id="14" name="">
            <a:extLst xmlns:a="http://schemas.openxmlformats.org/drawingml/2006/main">
              <a:ext uri="{FF2B5EF4-FFF2-40B4-BE49-F238E27FC236}">
                <a16:creationId xmlns:a16="http://schemas.microsoft.com/office/drawing/2014/main" id="{55F6ED87-E7B0-4FDD-8C98-FAC6D70F4E40}"/>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111111"/>
                </a:solidFill>
              </a:defRPr>
            </a:defPPr>
            <a:lvl1pPr algn="r">
              <a:defRPr sz="675" b="1">
                <a:solidFill>
                  <a:srgbClr val="111111"/>
                </a:solidFill>
              </a:defRPr>
            </a:lvl1pPr>
            <a:lvl2pPr algn="r">
              <a:defRPr sz="675" b="1">
                <a:solidFill>
                  <a:srgbClr val="111111"/>
                </a:solidFill>
              </a:defRPr>
            </a:lvl2pPr>
            <a:lvl3pPr algn="r">
              <a:defRPr sz="675" b="1">
                <a:solidFill>
                  <a:srgbClr val="111111"/>
                </a:solidFill>
              </a:defRPr>
            </a:lvl3pPr>
            <a:lvl4pPr algn="r">
              <a:defRPr sz="675" b="1">
                <a:solidFill>
                  <a:srgbClr val="111111"/>
                </a:solidFill>
              </a:defRPr>
            </a:lvl4pPr>
            <a:lvl5pPr algn="r">
              <a:defRPr sz="675" b="1">
                <a:solidFill>
                  <a:srgbClr val="111111"/>
                </a:solidFill>
              </a:defRPr>
            </a:lvl5pPr>
            <a:lvl6pPr algn="r">
              <a:defRPr sz="675" b="1">
                <a:solidFill>
                  <a:srgbClr val="111111"/>
                </a:solidFill>
              </a:defRPr>
            </a:lvl6pPr>
            <a:lvl7pPr algn="r">
              <a:defRPr sz="675" b="1">
                <a:solidFill>
                  <a:srgbClr val="111111"/>
                </a:solidFill>
              </a:defRPr>
            </a:lvl7pPr>
            <a:lvl8pPr algn="r">
              <a:defRPr sz="675" b="1">
                <a:solidFill>
                  <a:srgbClr val="111111"/>
                </a:solidFill>
              </a:defRPr>
            </a:lvl8pPr>
            <a:lvl9pPr algn="r">
              <a:defRPr sz="675" b="1">
                <a:solidFill>
                  <a:srgbClr val="111111"/>
                </a:solidFill>
              </a:defRPr>
            </a:lvl9pPr>
          </a:lstStyle>
          <a:p xmlns:a="http://schemas.openxmlformats.org/drawingml/2006/main">
            <a:pPr algn="r">
              <a:defRPr sz="675" b="1">
                <a:solidFill>
                  <a:srgbClr val="111111"/>
                </a:solidFill>
              </a:defRPr>
            </a:pPr>
            <a:r>
              <a:rPr sz="675" b="1">
                <a:solidFill>
                  <a:srgbClr val="111111"/>
                </a:solidFill>
              </a:rPr>
              <a:t>01</a:t>
            </a:r>
          </a:p>
        </p:txBody>
      </p:sp>
    </p:spTree>
    <p:extLst>
      <p:ext uri="{BB962C8B-B14F-4D97-AF65-F5344CB8AC3E}">
        <p14:creationId xmlns:p14="http://schemas.microsoft.com/office/powerpoint/2010/main" val="10644011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9CBB3FBE-06BA-4540-A6BB-146DCA847A58}"/>
              </a:ext>
            </a:extLst>
          </p:cNvPr>
          <p:cNvSpPr>
            <a:spLocks xmlns:a="http://schemas.openxmlformats.org/drawingml/2006/main" noGrp="1"/>
          </p:cNvSpPr>
          <p:nvPr/>
        </p:nvSpPr>
        <p:spPr>
          <a:xfrm xmlns:a="http://schemas.openxmlformats.org/drawingml/2006/main">
            <a:off x="514350" y="266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OVERVIEW</a:t>
            </a:r>
          </a:p>
        </p:txBody>
      </p:sp>
      <p:sp>
        <p:nvSpPr>
          <p:cNvPr id="2" name="">
            <a:extLst xmlns:a="http://schemas.openxmlformats.org/drawingml/2006/main">
              <a:ext uri="{FF2B5EF4-FFF2-40B4-BE49-F238E27FC236}">
                <a16:creationId xmlns:a16="http://schemas.microsoft.com/office/drawing/2014/main" id="{3EBF0E0A-4CC7-4C1B-B944-6E1EAD938A30}"/>
              </a:ext>
            </a:extLst>
          </p:cNvPr>
          <p:cNvSpPr>
            <a:spLocks xmlns:a="http://schemas.openxmlformats.org/drawingml/2006/main" noGrp="1"/>
          </p:cNvSpPr>
          <p:nvPr/>
        </p:nvSpPr>
        <p:spPr>
          <a:xfrm xmlns:a="http://schemas.openxmlformats.org/drawingml/2006/main">
            <a:off x="514350" y="6096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11111"/>
                </a:solidFill>
              </a:defRPr>
            </a:defPPr>
            <a:lvl1pPr algn="l">
              <a:defRPr sz="2550" b="1">
                <a:solidFill>
                  <a:srgbClr val="111111"/>
                </a:solidFill>
              </a:defRPr>
            </a:lvl1pPr>
            <a:lvl2pPr algn="l">
              <a:defRPr sz="2550" b="1">
                <a:solidFill>
                  <a:srgbClr val="111111"/>
                </a:solidFill>
              </a:defRPr>
            </a:lvl2pPr>
            <a:lvl3pPr algn="l">
              <a:defRPr sz="2550" b="1">
                <a:solidFill>
                  <a:srgbClr val="111111"/>
                </a:solidFill>
              </a:defRPr>
            </a:lvl3pPr>
            <a:lvl4pPr algn="l">
              <a:defRPr sz="2550" b="1">
                <a:solidFill>
                  <a:srgbClr val="111111"/>
                </a:solidFill>
              </a:defRPr>
            </a:lvl4pPr>
            <a:lvl5pPr algn="l">
              <a:defRPr sz="2550" b="1">
                <a:solidFill>
                  <a:srgbClr val="111111"/>
                </a:solidFill>
              </a:defRPr>
            </a:lvl5pPr>
            <a:lvl6pPr algn="l">
              <a:defRPr sz="2550" b="1">
                <a:solidFill>
                  <a:srgbClr val="111111"/>
                </a:solidFill>
              </a:defRPr>
            </a:lvl6pPr>
            <a:lvl7pPr algn="l">
              <a:defRPr sz="2550" b="1">
                <a:solidFill>
                  <a:srgbClr val="111111"/>
                </a:solidFill>
              </a:defRPr>
            </a:lvl7pPr>
            <a:lvl8pPr algn="l">
              <a:defRPr sz="2550" b="1">
                <a:solidFill>
                  <a:srgbClr val="111111"/>
                </a:solidFill>
              </a:defRPr>
            </a:lvl8pPr>
            <a:lvl9pPr algn="l">
              <a:defRPr sz="2550" b="1">
                <a:solidFill>
                  <a:srgbClr val="111111"/>
                </a:solidFill>
              </a:defRPr>
            </a:lvl9pPr>
          </a:lstStyle>
          <a:p xmlns:a="http://schemas.openxmlformats.org/drawingml/2006/main">
            <a:pPr algn="l">
              <a:defRPr sz="2550" b="1">
                <a:solidFill>
                  <a:srgbClr val="111111"/>
                </a:solidFill>
              </a:defRPr>
            </a:pPr>
            <a:r>
              <a:rPr sz="2550" b="1">
                <a:solidFill>
                  <a:srgbClr val="111111"/>
                </a:solidFill>
              </a:rPr>
              <a:t>Project scope and the language of risk</a:t>
            </a:r>
          </a:p>
        </p:txBody>
      </p:sp>
      <p:sp>
        <p:nvSpPr>
          <p:cNvPr id="3" name="">
            <a:extLst xmlns:a="http://schemas.openxmlformats.org/drawingml/2006/main">
              <a:ext uri="{FF2B5EF4-FFF2-40B4-BE49-F238E27FC236}">
                <a16:creationId xmlns:a16="http://schemas.microsoft.com/office/drawing/2014/main" id="{5908567D-2BCF-405E-8739-143DF33C77A9}"/>
              </a:ext>
            </a:extLst>
          </p:cNvPr>
          <p:cNvSpPr>
            <a:spLocks xmlns:a="http://schemas.openxmlformats.org/drawingml/2006/main" noGrp="1"/>
          </p:cNvSpPr>
          <p:nvPr/>
        </p:nvSpPr>
        <p:spPr>
          <a:xfrm xmlns:a="http://schemas.openxmlformats.org/drawingml/2006/main">
            <a:off x="514350" y="11430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A portfolio combines investments; risk management measures and controls the losses that can follow</a:t>
            </a:r>
          </a:p>
        </p:txBody>
      </p:sp>
      <p:sp>
        <p:nvSpPr>
          <p:cNvPr id="4" name="">
            <a:extLst xmlns:a="http://schemas.openxmlformats.org/drawingml/2006/main">
              <a:ext uri="{FF2B5EF4-FFF2-40B4-BE49-F238E27FC236}">
                <a16:creationId xmlns:a16="http://schemas.microsoft.com/office/drawing/2014/main" id="{32DEFF42-A658-4DD3-973E-5F6EC1C2EFE5}"/>
              </a:ext>
            </a:extLst>
          </p:cNvPr>
          <p:cNvSpPr>
            <a:spLocks xmlns:a="http://schemas.openxmlformats.org/drawingml/2006/main" noGrp="1"/>
          </p:cNvSpPr>
          <p:nvPr/>
        </p:nvSpPr>
        <p:spPr>
          <a:xfrm xmlns:a="http://schemas.openxmlformats.org/drawingml/2006/main">
            <a:off x="514350" y="1495425"/>
            <a:ext cx="111633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80398838-09D5-4801-AB31-21339D0BC842}"/>
              </a:ext>
            </a:extLst>
          </p:cNvPr>
          <p:cNvSpPr>
            <a:spLocks xmlns:a="http://schemas.openxmlformats.org/drawingml/2006/main" noGrp="1"/>
          </p:cNvSpPr>
          <p:nvPr/>
        </p:nvSpPr>
        <p:spPr>
          <a:xfrm xmlns:a="http://schemas.openxmlformats.org/drawingml/2006/main">
            <a:off x="552450" y="179070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6" name="">
            <a:extLst xmlns:a="http://schemas.openxmlformats.org/drawingml/2006/main">
              <a:ext uri="{FF2B5EF4-FFF2-40B4-BE49-F238E27FC236}">
                <a16:creationId xmlns:a16="http://schemas.microsoft.com/office/drawing/2014/main" id="{7272778E-3C93-41ED-927B-39BE8D721E32}"/>
              </a:ext>
            </a:extLst>
          </p:cNvPr>
          <p:cNvSpPr>
            <a:spLocks xmlns:a="http://schemas.openxmlformats.org/drawingml/2006/main" noGrp="1"/>
          </p:cNvSpPr>
          <p:nvPr/>
        </p:nvSpPr>
        <p:spPr>
          <a:xfrm xmlns:a="http://schemas.openxmlformats.org/drawingml/2006/main">
            <a:off x="704850" y="1752600"/>
            <a:ext cx="470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Portfolio</a:t>
            </a:r>
          </a:p>
        </p:txBody>
      </p:sp>
      <p:sp>
        <p:nvSpPr>
          <p:cNvPr id="7" name="">
            <a:extLst xmlns:a="http://schemas.openxmlformats.org/drawingml/2006/main">
              <a:ext uri="{FF2B5EF4-FFF2-40B4-BE49-F238E27FC236}">
                <a16:creationId xmlns:a16="http://schemas.microsoft.com/office/drawing/2014/main" id="{71A9B9D5-D806-43D7-8380-89CB477D96EE}"/>
              </a:ext>
            </a:extLst>
          </p:cNvPr>
          <p:cNvSpPr>
            <a:spLocks xmlns:a="http://schemas.openxmlformats.org/drawingml/2006/main" noGrp="1"/>
          </p:cNvSpPr>
          <p:nvPr/>
        </p:nvSpPr>
        <p:spPr>
          <a:xfrm xmlns:a="http://schemas.openxmlformats.org/drawingml/2006/main">
            <a:off x="704850" y="1990725"/>
            <a:ext cx="470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A group of investments held together; each holding has a weight.</a:t>
            </a:r>
          </a:p>
        </p:txBody>
      </p:sp>
      <p:sp>
        <p:nvSpPr>
          <p:cNvPr id="8" name="">
            <a:extLst xmlns:a="http://schemas.openxmlformats.org/drawingml/2006/main">
              <a:ext uri="{FF2B5EF4-FFF2-40B4-BE49-F238E27FC236}">
                <a16:creationId xmlns:a16="http://schemas.microsoft.com/office/drawing/2014/main" id="{C72C4F00-3676-43C7-9BC7-3CB273A12A5E}"/>
              </a:ext>
            </a:extLst>
          </p:cNvPr>
          <p:cNvSpPr>
            <a:spLocks xmlns:a="http://schemas.openxmlformats.org/drawingml/2006/main" noGrp="1"/>
          </p:cNvSpPr>
          <p:nvPr/>
        </p:nvSpPr>
        <p:spPr>
          <a:xfrm xmlns:a="http://schemas.openxmlformats.org/drawingml/2006/main">
            <a:off x="5981700" y="179070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9" name="">
            <a:extLst xmlns:a="http://schemas.openxmlformats.org/drawingml/2006/main">
              <a:ext uri="{FF2B5EF4-FFF2-40B4-BE49-F238E27FC236}">
                <a16:creationId xmlns:a16="http://schemas.microsoft.com/office/drawing/2014/main" id="{27728A77-A06C-4AAD-9C28-61A80E29367B}"/>
              </a:ext>
            </a:extLst>
          </p:cNvPr>
          <p:cNvSpPr>
            <a:spLocks xmlns:a="http://schemas.openxmlformats.org/drawingml/2006/main" noGrp="1"/>
          </p:cNvSpPr>
          <p:nvPr/>
        </p:nvSpPr>
        <p:spPr>
          <a:xfrm xmlns:a="http://schemas.openxmlformats.org/drawingml/2006/main">
            <a:off x="6134100" y="1752600"/>
            <a:ext cx="470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Equity portfolio</a:t>
            </a:r>
          </a:p>
        </p:txBody>
      </p:sp>
      <p:sp>
        <p:nvSpPr>
          <p:cNvPr id="10" name="">
            <a:extLst xmlns:a="http://schemas.openxmlformats.org/drawingml/2006/main">
              <a:ext uri="{FF2B5EF4-FFF2-40B4-BE49-F238E27FC236}">
                <a16:creationId xmlns:a16="http://schemas.microsoft.com/office/drawing/2014/main" id="{147812BD-4A43-4663-93C4-3956ECD3BC5E}"/>
              </a:ext>
            </a:extLst>
          </p:cNvPr>
          <p:cNvSpPr>
            <a:spLocks xmlns:a="http://schemas.openxmlformats.org/drawingml/2006/main" noGrp="1"/>
          </p:cNvSpPr>
          <p:nvPr/>
        </p:nvSpPr>
        <p:spPr>
          <a:xfrm xmlns:a="http://schemas.openxmlformats.org/drawingml/2006/main">
            <a:off x="6134100" y="1990725"/>
            <a:ext cx="470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A portfolio made mainly of listed company shares.</a:t>
            </a:r>
          </a:p>
        </p:txBody>
      </p:sp>
      <p:sp>
        <p:nvSpPr>
          <p:cNvPr id="11" name="">
            <a:extLst xmlns:a="http://schemas.openxmlformats.org/drawingml/2006/main">
              <a:ext uri="{FF2B5EF4-FFF2-40B4-BE49-F238E27FC236}">
                <a16:creationId xmlns:a16="http://schemas.microsoft.com/office/drawing/2014/main" id="{F6C6DE9B-E611-4FF0-96E9-7A62B85C6579}"/>
              </a:ext>
            </a:extLst>
          </p:cNvPr>
          <p:cNvSpPr>
            <a:spLocks xmlns:a="http://schemas.openxmlformats.org/drawingml/2006/main" noGrp="1"/>
          </p:cNvSpPr>
          <p:nvPr/>
        </p:nvSpPr>
        <p:spPr>
          <a:xfrm xmlns:a="http://schemas.openxmlformats.org/drawingml/2006/main">
            <a:off x="552450" y="2857500"/>
            <a:ext cx="38100" cy="4572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12" name="">
            <a:extLst xmlns:a="http://schemas.openxmlformats.org/drawingml/2006/main">
              <a:ext uri="{FF2B5EF4-FFF2-40B4-BE49-F238E27FC236}">
                <a16:creationId xmlns:a16="http://schemas.microsoft.com/office/drawing/2014/main" id="{25D4938B-80F7-4FBE-9190-10F5F0E62504}"/>
              </a:ext>
            </a:extLst>
          </p:cNvPr>
          <p:cNvSpPr>
            <a:spLocks xmlns:a="http://schemas.openxmlformats.org/drawingml/2006/main" noGrp="1"/>
          </p:cNvSpPr>
          <p:nvPr/>
        </p:nvSpPr>
        <p:spPr>
          <a:xfrm xmlns:a="http://schemas.openxmlformats.org/drawingml/2006/main">
            <a:off x="704850" y="2819400"/>
            <a:ext cx="470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VaR</a:t>
            </a:r>
          </a:p>
        </p:txBody>
      </p:sp>
      <p:sp>
        <p:nvSpPr>
          <p:cNvPr id="13" name="">
            <a:extLst xmlns:a="http://schemas.openxmlformats.org/drawingml/2006/main">
              <a:ext uri="{FF2B5EF4-FFF2-40B4-BE49-F238E27FC236}">
                <a16:creationId xmlns:a16="http://schemas.microsoft.com/office/drawing/2014/main" id="{EFA40B45-6A0B-43BB-BA1B-22D2EB058C5E}"/>
              </a:ext>
            </a:extLst>
          </p:cNvPr>
          <p:cNvSpPr>
            <a:spLocks xmlns:a="http://schemas.openxmlformats.org/drawingml/2006/main" noGrp="1"/>
          </p:cNvSpPr>
          <p:nvPr/>
        </p:nvSpPr>
        <p:spPr>
          <a:xfrm xmlns:a="http://schemas.openxmlformats.org/drawingml/2006/main">
            <a:off x="704850" y="3057525"/>
            <a:ext cx="470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A loss threshold for a stated horizon and confidence level, not a maximum loss.</a:t>
            </a:r>
          </a:p>
        </p:txBody>
      </p:sp>
      <p:sp>
        <p:nvSpPr>
          <p:cNvPr id="14" name="">
            <a:extLst xmlns:a="http://schemas.openxmlformats.org/drawingml/2006/main">
              <a:ext uri="{FF2B5EF4-FFF2-40B4-BE49-F238E27FC236}">
                <a16:creationId xmlns:a16="http://schemas.microsoft.com/office/drawing/2014/main" id="{BB678200-FA9A-41FC-8A54-272AA59F0030}"/>
              </a:ext>
            </a:extLst>
          </p:cNvPr>
          <p:cNvSpPr>
            <a:spLocks xmlns:a="http://schemas.openxmlformats.org/drawingml/2006/main" noGrp="1"/>
          </p:cNvSpPr>
          <p:nvPr/>
        </p:nvSpPr>
        <p:spPr>
          <a:xfrm xmlns:a="http://schemas.openxmlformats.org/drawingml/2006/main">
            <a:off x="5981700" y="2857500"/>
            <a:ext cx="38100" cy="4572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15" name="">
            <a:extLst xmlns:a="http://schemas.openxmlformats.org/drawingml/2006/main">
              <a:ext uri="{FF2B5EF4-FFF2-40B4-BE49-F238E27FC236}">
                <a16:creationId xmlns:a16="http://schemas.microsoft.com/office/drawing/2014/main" id="{591F357F-8E1C-4347-B6C2-6970DFA97608}"/>
              </a:ext>
            </a:extLst>
          </p:cNvPr>
          <p:cNvSpPr>
            <a:spLocks xmlns:a="http://schemas.openxmlformats.org/drawingml/2006/main" noGrp="1"/>
          </p:cNvSpPr>
          <p:nvPr/>
        </p:nvSpPr>
        <p:spPr>
          <a:xfrm xmlns:a="http://schemas.openxmlformats.org/drawingml/2006/main">
            <a:off x="6134100" y="2819400"/>
            <a:ext cx="470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Expected Shortfall</a:t>
            </a:r>
          </a:p>
        </p:txBody>
      </p:sp>
      <p:sp>
        <p:nvSpPr>
          <p:cNvPr id="16" name="">
            <a:extLst xmlns:a="http://schemas.openxmlformats.org/drawingml/2006/main">
              <a:ext uri="{FF2B5EF4-FFF2-40B4-BE49-F238E27FC236}">
                <a16:creationId xmlns:a16="http://schemas.microsoft.com/office/drawing/2014/main" id="{CBC76A7F-015C-4FF6-A883-70EF821591EF}"/>
              </a:ext>
            </a:extLst>
          </p:cNvPr>
          <p:cNvSpPr>
            <a:spLocks xmlns:a="http://schemas.openxmlformats.org/drawingml/2006/main" noGrp="1"/>
          </p:cNvSpPr>
          <p:nvPr/>
        </p:nvSpPr>
        <p:spPr>
          <a:xfrm xmlns:a="http://schemas.openxmlformats.org/drawingml/2006/main">
            <a:off x="6134100" y="3057525"/>
            <a:ext cx="470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The average loss after the VaR threshold has been crossed.</a:t>
            </a:r>
          </a:p>
        </p:txBody>
      </p:sp>
      <p:sp>
        <p:nvSpPr>
          <p:cNvPr id="17" name="">
            <a:extLst xmlns:a="http://schemas.openxmlformats.org/drawingml/2006/main">
              <a:ext uri="{FF2B5EF4-FFF2-40B4-BE49-F238E27FC236}">
                <a16:creationId xmlns:a16="http://schemas.microsoft.com/office/drawing/2014/main" id="{A933EDF4-6352-4A94-B1D2-7F251B2EACE7}"/>
              </a:ext>
            </a:extLst>
          </p:cNvPr>
          <p:cNvSpPr>
            <a:spLocks xmlns:a="http://schemas.openxmlformats.org/drawingml/2006/main" noGrp="1"/>
          </p:cNvSpPr>
          <p:nvPr/>
        </p:nvSpPr>
        <p:spPr>
          <a:xfrm xmlns:a="http://schemas.openxmlformats.org/drawingml/2006/main">
            <a:off x="552450" y="3924300"/>
            <a:ext cx="38100" cy="4572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18" name="">
            <a:extLst xmlns:a="http://schemas.openxmlformats.org/drawingml/2006/main">
              <a:ext uri="{FF2B5EF4-FFF2-40B4-BE49-F238E27FC236}">
                <a16:creationId xmlns:a16="http://schemas.microsoft.com/office/drawing/2014/main" id="{6151AEBA-6717-462B-B318-D6B4F8DCBE6A}"/>
              </a:ext>
            </a:extLst>
          </p:cNvPr>
          <p:cNvSpPr>
            <a:spLocks xmlns:a="http://schemas.openxmlformats.org/drawingml/2006/main" noGrp="1"/>
          </p:cNvSpPr>
          <p:nvPr/>
        </p:nvSpPr>
        <p:spPr>
          <a:xfrm xmlns:a="http://schemas.openxmlformats.org/drawingml/2006/main">
            <a:off x="704850" y="3886200"/>
            <a:ext cx="470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Volatility</a:t>
            </a:r>
          </a:p>
        </p:txBody>
      </p:sp>
      <p:sp>
        <p:nvSpPr>
          <p:cNvPr id="19" name="">
            <a:extLst xmlns:a="http://schemas.openxmlformats.org/drawingml/2006/main">
              <a:ext uri="{FF2B5EF4-FFF2-40B4-BE49-F238E27FC236}">
                <a16:creationId xmlns:a16="http://schemas.microsoft.com/office/drawing/2014/main" id="{5873EB32-2D7D-4E1E-A317-02F908132855}"/>
              </a:ext>
            </a:extLst>
          </p:cNvPr>
          <p:cNvSpPr>
            <a:spLocks xmlns:a="http://schemas.openxmlformats.org/drawingml/2006/main" noGrp="1"/>
          </p:cNvSpPr>
          <p:nvPr/>
        </p:nvSpPr>
        <p:spPr>
          <a:xfrm xmlns:a="http://schemas.openxmlformats.org/drawingml/2006/main">
            <a:off x="704850" y="4124325"/>
            <a:ext cx="470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How widely returns move from day to day.</a:t>
            </a:r>
          </a:p>
        </p:txBody>
      </p:sp>
      <p:sp>
        <p:nvSpPr>
          <p:cNvPr id="20" name="">
            <a:extLst xmlns:a="http://schemas.openxmlformats.org/drawingml/2006/main">
              <a:ext uri="{FF2B5EF4-FFF2-40B4-BE49-F238E27FC236}">
                <a16:creationId xmlns:a16="http://schemas.microsoft.com/office/drawing/2014/main" id="{68CBA8EB-1436-495C-904C-62C7947FD629}"/>
              </a:ext>
            </a:extLst>
          </p:cNvPr>
          <p:cNvSpPr>
            <a:spLocks xmlns:a="http://schemas.openxmlformats.org/drawingml/2006/main" noGrp="1"/>
          </p:cNvSpPr>
          <p:nvPr/>
        </p:nvSpPr>
        <p:spPr>
          <a:xfrm xmlns:a="http://schemas.openxmlformats.org/drawingml/2006/main">
            <a:off x="5981700" y="3924300"/>
            <a:ext cx="38100" cy="4572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21" name="">
            <a:extLst xmlns:a="http://schemas.openxmlformats.org/drawingml/2006/main">
              <a:ext uri="{FF2B5EF4-FFF2-40B4-BE49-F238E27FC236}">
                <a16:creationId xmlns:a16="http://schemas.microsoft.com/office/drawing/2014/main" id="{89C24182-0DF1-431D-AFA3-C2BB86B3592D}"/>
              </a:ext>
            </a:extLst>
          </p:cNvPr>
          <p:cNvSpPr>
            <a:spLocks xmlns:a="http://schemas.openxmlformats.org/drawingml/2006/main" noGrp="1"/>
          </p:cNvSpPr>
          <p:nvPr/>
        </p:nvSpPr>
        <p:spPr>
          <a:xfrm xmlns:a="http://schemas.openxmlformats.org/drawingml/2006/main">
            <a:off x="6134100" y="3886200"/>
            <a:ext cx="470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Drawdown</a:t>
            </a:r>
          </a:p>
        </p:txBody>
      </p:sp>
      <p:sp>
        <p:nvSpPr>
          <p:cNvPr id="22" name="">
            <a:extLst xmlns:a="http://schemas.openxmlformats.org/drawingml/2006/main">
              <a:ext uri="{FF2B5EF4-FFF2-40B4-BE49-F238E27FC236}">
                <a16:creationId xmlns:a16="http://schemas.microsoft.com/office/drawing/2014/main" id="{837138EA-5F11-44A6-B999-F15DD1D6C0AF}"/>
              </a:ext>
            </a:extLst>
          </p:cNvPr>
          <p:cNvSpPr>
            <a:spLocks xmlns:a="http://schemas.openxmlformats.org/drawingml/2006/main" noGrp="1"/>
          </p:cNvSpPr>
          <p:nvPr/>
        </p:nvSpPr>
        <p:spPr>
          <a:xfrm xmlns:a="http://schemas.openxmlformats.org/drawingml/2006/main">
            <a:off x="6134100" y="4124325"/>
            <a:ext cx="470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The fall from a previous portfolio peak to a later low.</a:t>
            </a:r>
          </a:p>
        </p:txBody>
      </p:sp>
      <p:sp>
        <p:nvSpPr>
          <p:cNvPr id="23" name="">
            <a:extLst xmlns:a="http://schemas.openxmlformats.org/drawingml/2006/main">
              <a:ext uri="{FF2B5EF4-FFF2-40B4-BE49-F238E27FC236}">
                <a16:creationId xmlns:a16="http://schemas.microsoft.com/office/drawing/2014/main" id="{9753CCCF-6C11-4551-ADE5-C09F9BC33C51}"/>
              </a:ext>
            </a:extLst>
          </p:cNvPr>
          <p:cNvSpPr>
            <a:spLocks xmlns:a="http://schemas.openxmlformats.org/drawingml/2006/main" noGrp="1"/>
          </p:cNvSpPr>
          <p:nvPr/>
        </p:nvSpPr>
        <p:spPr>
          <a:xfrm xmlns:a="http://schemas.openxmlformats.org/drawingml/2006/main">
            <a:off x="552450" y="4972050"/>
            <a:ext cx="1083945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24" name="">
            <a:extLst xmlns:a="http://schemas.openxmlformats.org/drawingml/2006/main">
              <a:ext uri="{FF2B5EF4-FFF2-40B4-BE49-F238E27FC236}">
                <a16:creationId xmlns:a16="http://schemas.microsoft.com/office/drawing/2014/main" id="{05C8B3C7-F202-42D5-8399-B9D7F7DCCBF0}"/>
              </a:ext>
            </a:extLst>
          </p:cNvPr>
          <p:cNvSpPr>
            <a:spLocks xmlns:a="http://schemas.openxmlformats.org/drawingml/2006/main" noGrp="1"/>
          </p:cNvSpPr>
          <p:nvPr/>
        </p:nvSpPr>
        <p:spPr>
          <a:xfrm xmlns:a="http://schemas.openxmlformats.org/drawingml/2006/main">
            <a:off x="552450" y="523875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B42318"/>
                </a:solidFill>
              </a:defRPr>
            </a:defPPr>
            <a:lvl1pPr algn="l">
              <a:defRPr sz="825" b="1">
                <a:solidFill>
                  <a:srgbClr val="B42318"/>
                </a:solidFill>
              </a:defRPr>
            </a:lvl1pPr>
            <a:lvl2pPr algn="l">
              <a:defRPr sz="825" b="1">
                <a:solidFill>
                  <a:srgbClr val="B42318"/>
                </a:solidFill>
              </a:defRPr>
            </a:lvl2pPr>
            <a:lvl3pPr algn="l">
              <a:defRPr sz="825" b="1">
                <a:solidFill>
                  <a:srgbClr val="B42318"/>
                </a:solidFill>
              </a:defRPr>
            </a:lvl3pPr>
            <a:lvl4pPr algn="l">
              <a:defRPr sz="825" b="1">
                <a:solidFill>
                  <a:srgbClr val="B42318"/>
                </a:solidFill>
              </a:defRPr>
            </a:lvl4pPr>
            <a:lvl5pPr algn="l">
              <a:defRPr sz="825" b="1">
                <a:solidFill>
                  <a:srgbClr val="B42318"/>
                </a:solidFill>
              </a:defRPr>
            </a:lvl5pPr>
            <a:lvl6pPr algn="l">
              <a:defRPr sz="825" b="1">
                <a:solidFill>
                  <a:srgbClr val="B42318"/>
                </a:solidFill>
              </a:defRPr>
            </a:lvl6pPr>
            <a:lvl7pPr algn="l">
              <a:defRPr sz="825" b="1">
                <a:solidFill>
                  <a:srgbClr val="B42318"/>
                </a:solidFill>
              </a:defRPr>
            </a:lvl7pPr>
            <a:lvl8pPr algn="l">
              <a:defRPr sz="825" b="1">
                <a:solidFill>
                  <a:srgbClr val="B42318"/>
                </a:solidFill>
              </a:defRPr>
            </a:lvl8pPr>
            <a:lvl9pPr algn="l">
              <a:defRPr sz="825" b="1">
                <a:solidFill>
                  <a:srgbClr val="B42318"/>
                </a:solidFill>
              </a:defRPr>
            </a:lvl9pPr>
          </a:lstStyle>
          <a:p xmlns:a="http://schemas.openxmlformats.org/drawingml/2006/main">
            <a:pPr algn="l">
              <a:defRPr sz="825" b="1">
                <a:solidFill>
                  <a:srgbClr val="B42318"/>
                </a:solidFill>
              </a:defRPr>
            </a:pPr>
            <a:r>
              <a:rPr sz="825" b="1">
                <a:solidFill>
                  <a:srgbClr val="B42318"/>
                </a:solidFill>
              </a:rPr>
              <a:t>01</a:t>
            </a:r>
          </a:p>
        </p:txBody>
      </p:sp>
      <p:sp>
        <p:nvSpPr>
          <p:cNvPr id="25" name="">
            <a:extLst xmlns:a="http://schemas.openxmlformats.org/drawingml/2006/main">
              <a:ext uri="{FF2B5EF4-FFF2-40B4-BE49-F238E27FC236}">
                <a16:creationId xmlns:a16="http://schemas.microsoft.com/office/drawing/2014/main" id="{A1C4A769-4440-4AF5-AF52-871676FEC57A}"/>
              </a:ext>
            </a:extLst>
          </p:cNvPr>
          <p:cNvSpPr>
            <a:spLocks xmlns:a="http://schemas.openxmlformats.org/drawingml/2006/main" noGrp="1"/>
          </p:cNvSpPr>
          <p:nvPr/>
        </p:nvSpPr>
        <p:spPr>
          <a:xfrm xmlns:a="http://schemas.openxmlformats.org/drawingml/2006/main">
            <a:off x="552450" y="5505450"/>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11111"/>
                </a:solidFill>
              </a:defRPr>
            </a:defPPr>
            <a:lvl1pPr algn="l">
              <a:defRPr sz="1050" b="1">
                <a:solidFill>
                  <a:srgbClr val="111111"/>
                </a:solidFill>
              </a:defRPr>
            </a:lvl1pPr>
            <a:lvl2pPr algn="l">
              <a:defRPr sz="1050" b="1">
                <a:solidFill>
                  <a:srgbClr val="111111"/>
                </a:solidFill>
              </a:defRPr>
            </a:lvl2pPr>
            <a:lvl3pPr algn="l">
              <a:defRPr sz="1050" b="1">
                <a:solidFill>
                  <a:srgbClr val="111111"/>
                </a:solidFill>
              </a:defRPr>
            </a:lvl3pPr>
            <a:lvl4pPr algn="l">
              <a:defRPr sz="1050" b="1">
                <a:solidFill>
                  <a:srgbClr val="111111"/>
                </a:solidFill>
              </a:defRPr>
            </a:lvl4pPr>
            <a:lvl5pPr algn="l">
              <a:defRPr sz="1050" b="1">
                <a:solidFill>
                  <a:srgbClr val="111111"/>
                </a:solidFill>
              </a:defRPr>
            </a:lvl5pPr>
            <a:lvl6pPr algn="l">
              <a:defRPr sz="1050" b="1">
                <a:solidFill>
                  <a:srgbClr val="111111"/>
                </a:solidFill>
              </a:defRPr>
            </a:lvl6pPr>
            <a:lvl7pPr algn="l">
              <a:defRPr sz="1050" b="1">
                <a:solidFill>
                  <a:srgbClr val="111111"/>
                </a:solidFill>
              </a:defRPr>
            </a:lvl7pPr>
            <a:lvl8pPr algn="l">
              <a:defRPr sz="1050" b="1">
                <a:solidFill>
                  <a:srgbClr val="111111"/>
                </a:solidFill>
              </a:defRPr>
            </a:lvl8pPr>
            <a:lvl9pPr algn="l">
              <a:defRPr sz="1050" b="1">
                <a:solidFill>
                  <a:srgbClr val="111111"/>
                </a:solidFill>
              </a:defRPr>
            </a:lvl9pPr>
          </a:lstStyle>
          <a:p xmlns:a="http://schemas.openxmlformats.org/drawingml/2006/main">
            <a:pPr algn="l">
              <a:defRPr sz="1050" b="1">
                <a:solidFill>
                  <a:srgbClr val="111111"/>
                </a:solidFill>
              </a:defRPr>
            </a:pPr>
            <a:r>
              <a:rPr sz="1050" b="1">
                <a:solidFill>
                  <a:srgbClr val="111111"/>
                </a:solidFill>
              </a:rPr>
              <a:t>Collect</a:t>
            </a:r>
          </a:p>
        </p:txBody>
      </p:sp>
      <p:sp>
        <p:nvSpPr>
          <p:cNvPr id="26" name="">
            <a:extLst xmlns:a="http://schemas.openxmlformats.org/drawingml/2006/main">
              <a:ext uri="{FF2B5EF4-FFF2-40B4-BE49-F238E27FC236}">
                <a16:creationId xmlns:a16="http://schemas.microsoft.com/office/drawing/2014/main" id="{3E9AFC3D-0856-4E01-A147-F5EF626562C3}"/>
              </a:ext>
            </a:extLst>
          </p:cNvPr>
          <p:cNvSpPr>
            <a:spLocks xmlns:a="http://schemas.openxmlformats.org/drawingml/2006/main" noGrp="1"/>
          </p:cNvSpPr>
          <p:nvPr/>
        </p:nvSpPr>
        <p:spPr>
          <a:xfrm xmlns:a="http://schemas.openxmlformats.org/drawingml/2006/main">
            <a:off x="1628775" y="523875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B42318"/>
                </a:solidFill>
              </a:defRPr>
            </a:defPPr>
            <a:lvl1pPr algn="l">
              <a:defRPr sz="825" b="1">
                <a:solidFill>
                  <a:srgbClr val="B42318"/>
                </a:solidFill>
              </a:defRPr>
            </a:lvl1pPr>
            <a:lvl2pPr algn="l">
              <a:defRPr sz="825" b="1">
                <a:solidFill>
                  <a:srgbClr val="B42318"/>
                </a:solidFill>
              </a:defRPr>
            </a:lvl2pPr>
            <a:lvl3pPr algn="l">
              <a:defRPr sz="825" b="1">
                <a:solidFill>
                  <a:srgbClr val="B42318"/>
                </a:solidFill>
              </a:defRPr>
            </a:lvl3pPr>
            <a:lvl4pPr algn="l">
              <a:defRPr sz="825" b="1">
                <a:solidFill>
                  <a:srgbClr val="B42318"/>
                </a:solidFill>
              </a:defRPr>
            </a:lvl4pPr>
            <a:lvl5pPr algn="l">
              <a:defRPr sz="825" b="1">
                <a:solidFill>
                  <a:srgbClr val="B42318"/>
                </a:solidFill>
              </a:defRPr>
            </a:lvl5pPr>
            <a:lvl6pPr algn="l">
              <a:defRPr sz="825" b="1">
                <a:solidFill>
                  <a:srgbClr val="B42318"/>
                </a:solidFill>
              </a:defRPr>
            </a:lvl6pPr>
            <a:lvl7pPr algn="l">
              <a:defRPr sz="825" b="1">
                <a:solidFill>
                  <a:srgbClr val="B42318"/>
                </a:solidFill>
              </a:defRPr>
            </a:lvl7pPr>
            <a:lvl8pPr algn="l">
              <a:defRPr sz="825" b="1">
                <a:solidFill>
                  <a:srgbClr val="B42318"/>
                </a:solidFill>
              </a:defRPr>
            </a:lvl8pPr>
            <a:lvl9pPr algn="l">
              <a:defRPr sz="825" b="1">
                <a:solidFill>
                  <a:srgbClr val="B42318"/>
                </a:solidFill>
              </a:defRPr>
            </a:lvl9pPr>
          </a:lstStyle>
          <a:p xmlns:a="http://schemas.openxmlformats.org/drawingml/2006/main">
            <a:pPr algn="l">
              <a:defRPr sz="825" b="1">
                <a:solidFill>
                  <a:srgbClr val="B42318"/>
                </a:solidFill>
              </a:defRPr>
            </a:pPr>
            <a:r>
              <a:rPr sz="825" b="1">
                <a:solidFill>
                  <a:srgbClr val="B42318"/>
                </a:solidFill>
              </a:rPr>
              <a:t>02</a:t>
            </a:r>
          </a:p>
        </p:txBody>
      </p:sp>
      <p:sp>
        <p:nvSpPr>
          <p:cNvPr id="27" name="">
            <a:extLst xmlns:a="http://schemas.openxmlformats.org/drawingml/2006/main">
              <a:ext uri="{FF2B5EF4-FFF2-40B4-BE49-F238E27FC236}">
                <a16:creationId xmlns:a16="http://schemas.microsoft.com/office/drawing/2014/main" id="{50E2A90A-492B-4F02-B0A4-704AF1DE424A}"/>
              </a:ext>
            </a:extLst>
          </p:cNvPr>
          <p:cNvSpPr>
            <a:spLocks xmlns:a="http://schemas.openxmlformats.org/drawingml/2006/main" noGrp="1"/>
          </p:cNvSpPr>
          <p:nvPr/>
        </p:nvSpPr>
        <p:spPr>
          <a:xfrm xmlns:a="http://schemas.openxmlformats.org/drawingml/2006/main">
            <a:off x="1628775" y="5505450"/>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11111"/>
                </a:solidFill>
              </a:defRPr>
            </a:defPPr>
            <a:lvl1pPr algn="l">
              <a:defRPr sz="1050" b="1">
                <a:solidFill>
                  <a:srgbClr val="111111"/>
                </a:solidFill>
              </a:defRPr>
            </a:lvl1pPr>
            <a:lvl2pPr algn="l">
              <a:defRPr sz="1050" b="1">
                <a:solidFill>
                  <a:srgbClr val="111111"/>
                </a:solidFill>
              </a:defRPr>
            </a:lvl2pPr>
            <a:lvl3pPr algn="l">
              <a:defRPr sz="1050" b="1">
                <a:solidFill>
                  <a:srgbClr val="111111"/>
                </a:solidFill>
              </a:defRPr>
            </a:lvl3pPr>
            <a:lvl4pPr algn="l">
              <a:defRPr sz="1050" b="1">
                <a:solidFill>
                  <a:srgbClr val="111111"/>
                </a:solidFill>
              </a:defRPr>
            </a:lvl4pPr>
            <a:lvl5pPr algn="l">
              <a:defRPr sz="1050" b="1">
                <a:solidFill>
                  <a:srgbClr val="111111"/>
                </a:solidFill>
              </a:defRPr>
            </a:lvl5pPr>
            <a:lvl6pPr algn="l">
              <a:defRPr sz="1050" b="1">
                <a:solidFill>
                  <a:srgbClr val="111111"/>
                </a:solidFill>
              </a:defRPr>
            </a:lvl6pPr>
            <a:lvl7pPr algn="l">
              <a:defRPr sz="1050" b="1">
                <a:solidFill>
                  <a:srgbClr val="111111"/>
                </a:solidFill>
              </a:defRPr>
            </a:lvl7pPr>
            <a:lvl8pPr algn="l">
              <a:defRPr sz="1050" b="1">
                <a:solidFill>
                  <a:srgbClr val="111111"/>
                </a:solidFill>
              </a:defRPr>
            </a:lvl8pPr>
            <a:lvl9pPr algn="l">
              <a:defRPr sz="1050" b="1">
                <a:solidFill>
                  <a:srgbClr val="111111"/>
                </a:solidFill>
              </a:defRPr>
            </a:lvl9pPr>
          </a:lstStyle>
          <a:p xmlns:a="http://schemas.openxmlformats.org/drawingml/2006/main">
            <a:pPr algn="l">
              <a:defRPr sz="1050" b="1">
                <a:solidFill>
                  <a:srgbClr val="111111"/>
                </a:solidFill>
              </a:defRPr>
            </a:pPr>
            <a:r>
              <a:rPr sz="1050" b="1">
                <a:solidFill>
                  <a:srgbClr val="111111"/>
                </a:solidFill>
              </a:rPr>
              <a:t>Clean</a:t>
            </a:r>
          </a:p>
        </p:txBody>
      </p:sp>
      <p:sp>
        <p:nvSpPr>
          <p:cNvPr id="28" name="">
            <a:extLst xmlns:a="http://schemas.openxmlformats.org/drawingml/2006/main">
              <a:ext uri="{FF2B5EF4-FFF2-40B4-BE49-F238E27FC236}">
                <a16:creationId xmlns:a16="http://schemas.microsoft.com/office/drawing/2014/main" id="{5F619039-B15C-4EC7-9EE7-7FDBE08CC766}"/>
              </a:ext>
            </a:extLst>
          </p:cNvPr>
          <p:cNvSpPr>
            <a:spLocks xmlns:a="http://schemas.openxmlformats.org/drawingml/2006/main" noGrp="1"/>
          </p:cNvSpPr>
          <p:nvPr/>
        </p:nvSpPr>
        <p:spPr>
          <a:xfrm xmlns:a="http://schemas.openxmlformats.org/drawingml/2006/main">
            <a:off x="2705100" y="523875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B42318"/>
                </a:solidFill>
              </a:defRPr>
            </a:defPPr>
            <a:lvl1pPr algn="l">
              <a:defRPr sz="825" b="1">
                <a:solidFill>
                  <a:srgbClr val="B42318"/>
                </a:solidFill>
              </a:defRPr>
            </a:lvl1pPr>
            <a:lvl2pPr algn="l">
              <a:defRPr sz="825" b="1">
                <a:solidFill>
                  <a:srgbClr val="B42318"/>
                </a:solidFill>
              </a:defRPr>
            </a:lvl2pPr>
            <a:lvl3pPr algn="l">
              <a:defRPr sz="825" b="1">
                <a:solidFill>
                  <a:srgbClr val="B42318"/>
                </a:solidFill>
              </a:defRPr>
            </a:lvl3pPr>
            <a:lvl4pPr algn="l">
              <a:defRPr sz="825" b="1">
                <a:solidFill>
                  <a:srgbClr val="B42318"/>
                </a:solidFill>
              </a:defRPr>
            </a:lvl4pPr>
            <a:lvl5pPr algn="l">
              <a:defRPr sz="825" b="1">
                <a:solidFill>
                  <a:srgbClr val="B42318"/>
                </a:solidFill>
              </a:defRPr>
            </a:lvl5pPr>
            <a:lvl6pPr algn="l">
              <a:defRPr sz="825" b="1">
                <a:solidFill>
                  <a:srgbClr val="B42318"/>
                </a:solidFill>
              </a:defRPr>
            </a:lvl6pPr>
            <a:lvl7pPr algn="l">
              <a:defRPr sz="825" b="1">
                <a:solidFill>
                  <a:srgbClr val="B42318"/>
                </a:solidFill>
              </a:defRPr>
            </a:lvl7pPr>
            <a:lvl8pPr algn="l">
              <a:defRPr sz="825" b="1">
                <a:solidFill>
                  <a:srgbClr val="B42318"/>
                </a:solidFill>
              </a:defRPr>
            </a:lvl8pPr>
            <a:lvl9pPr algn="l">
              <a:defRPr sz="825" b="1">
                <a:solidFill>
                  <a:srgbClr val="B42318"/>
                </a:solidFill>
              </a:defRPr>
            </a:lvl9pPr>
          </a:lstStyle>
          <a:p xmlns:a="http://schemas.openxmlformats.org/drawingml/2006/main">
            <a:pPr algn="l">
              <a:defRPr sz="825" b="1">
                <a:solidFill>
                  <a:srgbClr val="B42318"/>
                </a:solidFill>
              </a:defRPr>
            </a:pPr>
            <a:r>
              <a:rPr sz="825" b="1">
                <a:solidFill>
                  <a:srgbClr val="B42318"/>
                </a:solidFill>
              </a:rPr>
              <a:t>03</a:t>
            </a:r>
          </a:p>
        </p:txBody>
      </p:sp>
      <p:sp>
        <p:nvSpPr>
          <p:cNvPr id="29" name="">
            <a:extLst xmlns:a="http://schemas.openxmlformats.org/drawingml/2006/main">
              <a:ext uri="{FF2B5EF4-FFF2-40B4-BE49-F238E27FC236}">
                <a16:creationId xmlns:a16="http://schemas.microsoft.com/office/drawing/2014/main" id="{C9697A4A-52F3-465B-A93B-EFD6FBE434C0}"/>
              </a:ext>
            </a:extLst>
          </p:cNvPr>
          <p:cNvSpPr>
            <a:spLocks xmlns:a="http://schemas.openxmlformats.org/drawingml/2006/main" noGrp="1"/>
          </p:cNvSpPr>
          <p:nvPr/>
        </p:nvSpPr>
        <p:spPr>
          <a:xfrm xmlns:a="http://schemas.openxmlformats.org/drawingml/2006/main">
            <a:off x="2705100" y="5505450"/>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11111"/>
                </a:solidFill>
              </a:defRPr>
            </a:defPPr>
            <a:lvl1pPr algn="l">
              <a:defRPr sz="1050" b="1">
                <a:solidFill>
                  <a:srgbClr val="111111"/>
                </a:solidFill>
              </a:defRPr>
            </a:lvl1pPr>
            <a:lvl2pPr algn="l">
              <a:defRPr sz="1050" b="1">
                <a:solidFill>
                  <a:srgbClr val="111111"/>
                </a:solidFill>
              </a:defRPr>
            </a:lvl2pPr>
            <a:lvl3pPr algn="l">
              <a:defRPr sz="1050" b="1">
                <a:solidFill>
                  <a:srgbClr val="111111"/>
                </a:solidFill>
              </a:defRPr>
            </a:lvl3pPr>
            <a:lvl4pPr algn="l">
              <a:defRPr sz="1050" b="1">
                <a:solidFill>
                  <a:srgbClr val="111111"/>
                </a:solidFill>
              </a:defRPr>
            </a:lvl4pPr>
            <a:lvl5pPr algn="l">
              <a:defRPr sz="1050" b="1">
                <a:solidFill>
                  <a:srgbClr val="111111"/>
                </a:solidFill>
              </a:defRPr>
            </a:lvl5pPr>
            <a:lvl6pPr algn="l">
              <a:defRPr sz="1050" b="1">
                <a:solidFill>
                  <a:srgbClr val="111111"/>
                </a:solidFill>
              </a:defRPr>
            </a:lvl6pPr>
            <a:lvl7pPr algn="l">
              <a:defRPr sz="1050" b="1">
                <a:solidFill>
                  <a:srgbClr val="111111"/>
                </a:solidFill>
              </a:defRPr>
            </a:lvl7pPr>
            <a:lvl8pPr algn="l">
              <a:defRPr sz="1050" b="1">
                <a:solidFill>
                  <a:srgbClr val="111111"/>
                </a:solidFill>
              </a:defRPr>
            </a:lvl8pPr>
            <a:lvl9pPr algn="l">
              <a:defRPr sz="1050" b="1">
                <a:solidFill>
                  <a:srgbClr val="111111"/>
                </a:solidFill>
              </a:defRPr>
            </a:lvl9pPr>
          </a:lstStyle>
          <a:p xmlns:a="http://schemas.openxmlformats.org/drawingml/2006/main">
            <a:pPr algn="l">
              <a:defRPr sz="1050" b="1">
                <a:solidFill>
                  <a:srgbClr val="111111"/>
                </a:solidFill>
              </a:defRPr>
            </a:pPr>
            <a:r>
              <a:rPr sz="1050" b="1">
                <a:solidFill>
                  <a:srgbClr val="111111"/>
                </a:solidFill>
              </a:rPr>
              <a:t>Build</a:t>
            </a:r>
          </a:p>
        </p:txBody>
      </p:sp>
      <p:sp>
        <p:nvSpPr>
          <p:cNvPr id="30" name="">
            <a:extLst xmlns:a="http://schemas.openxmlformats.org/drawingml/2006/main">
              <a:ext uri="{FF2B5EF4-FFF2-40B4-BE49-F238E27FC236}">
                <a16:creationId xmlns:a16="http://schemas.microsoft.com/office/drawing/2014/main" id="{7FD4DD0A-2A6C-421C-A0C9-25B89B24C883}"/>
              </a:ext>
            </a:extLst>
          </p:cNvPr>
          <p:cNvSpPr>
            <a:spLocks xmlns:a="http://schemas.openxmlformats.org/drawingml/2006/main" noGrp="1"/>
          </p:cNvSpPr>
          <p:nvPr/>
        </p:nvSpPr>
        <p:spPr>
          <a:xfrm xmlns:a="http://schemas.openxmlformats.org/drawingml/2006/main">
            <a:off x="3781425" y="523875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B42318"/>
                </a:solidFill>
              </a:defRPr>
            </a:defPPr>
            <a:lvl1pPr algn="l">
              <a:defRPr sz="825" b="1">
                <a:solidFill>
                  <a:srgbClr val="B42318"/>
                </a:solidFill>
              </a:defRPr>
            </a:lvl1pPr>
            <a:lvl2pPr algn="l">
              <a:defRPr sz="825" b="1">
                <a:solidFill>
                  <a:srgbClr val="B42318"/>
                </a:solidFill>
              </a:defRPr>
            </a:lvl2pPr>
            <a:lvl3pPr algn="l">
              <a:defRPr sz="825" b="1">
                <a:solidFill>
                  <a:srgbClr val="B42318"/>
                </a:solidFill>
              </a:defRPr>
            </a:lvl3pPr>
            <a:lvl4pPr algn="l">
              <a:defRPr sz="825" b="1">
                <a:solidFill>
                  <a:srgbClr val="B42318"/>
                </a:solidFill>
              </a:defRPr>
            </a:lvl4pPr>
            <a:lvl5pPr algn="l">
              <a:defRPr sz="825" b="1">
                <a:solidFill>
                  <a:srgbClr val="B42318"/>
                </a:solidFill>
              </a:defRPr>
            </a:lvl5pPr>
            <a:lvl6pPr algn="l">
              <a:defRPr sz="825" b="1">
                <a:solidFill>
                  <a:srgbClr val="B42318"/>
                </a:solidFill>
              </a:defRPr>
            </a:lvl6pPr>
            <a:lvl7pPr algn="l">
              <a:defRPr sz="825" b="1">
                <a:solidFill>
                  <a:srgbClr val="B42318"/>
                </a:solidFill>
              </a:defRPr>
            </a:lvl7pPr>
            <a:lvl8pPr algn="l">
              <a:defRPr sz="825" b="1">
                <a:solidFill>
                  <a:srgbClr val="B42318"/>
                </a:solidFill>
              </a:defRPr>
            </a:lvl8pPr>
            <a:lvl9pPr algn="l">
              <a:defRPr sz="825" b="1">
                <a:solidFill>
                  <a:srgbClr val="B42318"/>
                </a:solidFill>
              </a:defRPr>
            </a:lvl9pPr>
          </a:lstStyle>
          <a:p xmlns:a="http://schemas.openxmlformats.org/drawingml/2006/main">
            <a:pPr algn="l">
              <a:defRPr sz="825" b="1">
                <a:solidFill>
                  <a:srgbClr val="B42318"/>
                </a:solidFill>
              </a:defRPr>
            </a:pPr>
            <a:r>
              <a:rPr sz="825" b="1">
                <a:solidFill>
                  <a:srgbClr val="B42318"/>
                </a:solidFill>
              </a:rPr>
              <a:t>04</a:t>
            </a:r>
          </a:p>
        </p:txBody>
      </p:sp>
      <p:sp>
        <p:nvSpPr>
          <p:cNvPr id="31" name="">
            <a:extLst xmlns:a="http://schemas.openxmlformats.org/drawingml/2006/main">
              <a:ext uri="{FF2B5EF4-FFF2-40B4-BE49-F238E27FC236}">
                <a16:creationId xmlns:a16="http://schemas.microsoft.com/office/drawing/2014/main" id="{070DBD07-039F-4303-916F-11B588792B21}"/>
              </a:ext>
            </a:extLst>
          </p:cNvPr>
          <p:cNvSpPr>
            <a:spLocks xmlns:a="http://schemas.openxmlformats.org/drawingml/2006/main" noGrp="1"/>
          </p:cNvSpPr>
          <p:nvPr/>
        </p:nvSpPr>
        <p:spPr>
          <a:xfrm xmlns:a="http://schemas.openxmlformats.org/drawingml/2006/main">
            <a:off x="3781425" y="5505450"/>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11111"/>
                </a:solidFill>
              </a:defRPr>
            </a:defPPr>
            <a:lvl1pPr algn="l">
              <a:defRPr sz="1050" b="1">
                <a:solidFill>
                  <a:srgbClr val="111111"/>
                </a:solidFill>
              </a:defRPr>
            </a:lvl1pPr>
            <a:lvl2pPr algn="l">
              <a:defRPr sz="1050" b="1">
                <a:solidFill>
                  <a:srgbClr val="111111"/>
                </a:solidFill>
              </a:defRPr>
            </a:lvl2pPr>
            <a:lvl3pPr algn="l">
              <a:defRPr sz="1050" b="1">
                <a:solidFill>
                  <a:srgbClr val="111111"/>
                </a:solidFill>
              </a:defRPr>
            </a:lvl3pPr>
            <a:lvl4pPr algn="l">
              <a:defRPr sz="1050" b="1">
                <a:solidFill>
                  <a:srgbClr val="111111"/>
                </a:solidFill>
              </a:defRPr>
            </a:lvl4pPr>
            <a:lvl5pPr algn="l">
              <a:defRPr sz="1050" b="1">
                <a:solidFill>
                  <a:srgbClr val="111111"/>
                </a:solidFill>
              </a:defRPr>
            </a:lvl5pPr>
            <a:lvl6pPr algn="l">
              <a:defRPr sz="1050" b="1">
                <a:solidFill>
                  <a:srgbClr val="111111"/>
                </a:solidFill>
              </a:defRPr>
            </a:lvl6pPr>
            <a:lvl7pPr algn="l">
              <a:defRPr sz="1050" b="1">
                <a:solidFill>
                  <a:srgbClr val="111111"/>
                </a:solidFill>
              </a:defRPr>
            </a:lvl7pPr>
            <a:lvl8pPr algn="l">
              <a:defRPr sz="1050" b="1">
                <a:solidFill>
                  <a:srgbClr val="111111"/>
                </a:solidFill>
              </a:defRPr>
            </a:lvl8pPr>
            <a:lvl9pPr algn="l">
              <a:defRPr sz="1050" b="1">
                <a:solidFill>
                  <a:srgbClr val="111111"/>
                </a:solidFill>
              </a:defRPr>
            </a:lvl9pPr>
          </a:lstStyle>
          <a:p xmlns:a="http://schemas.openxmlformats.org/drawingml/2006/main">
            <a:pPr algn="l">
              <a:defRPr sz="1050" b="1">
                <a:solidFill>
                  <a:srgbClr val="111111"/>
                </a:solidFill>
              </a:defRPr>
            </a:pPr>
            <a:r>
              <a:rPr sz="1050" b="1">
                <a:solidFill>
                  <a:srgbClr val="111111"/>
                </a:solidFill>
              </a:rPr>
              <a:t>Measure</a:t>
            </a:r>
          </a:p>
        </p:txBody>
      </p:sp>
      <p:sp>
        <p:nvSpPr>
          <p:cNvPr id="32" name="">
            <a:extLst xmlns:a="http://schemas.openxmlformats.org/drawingml/2006/main">
              <a:ext uri="{FF2B5EF4-FFF2-40B4-BE49-F238E27FC236}">
                <a16:creationId xmlns:a16="http://schemas.microsoft.com/office/drawing/2014/main" id="{29F04CB4-75C0-4D68-B622-3E2362DA162A}"/>
              </a:ext>
            </a:extLst>
          </p:cNvPr>
          <p:cNvSpPr>
            <a:spLocks xmlns:a="http://schemas.openxmlformats.org/drawingml/2006/main" noGrp="1"/>
          </p:cNvSpPr>
          <p:nvPr/>
        </p:nvSpPr>
        <p:spPr>
          <a:xfrm xmlns:a="http://schemas.openxmlformats.org/drawingml/2006/main">
            <a:off x="4857750" y="523875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B42318"/>
                </a:solidFill>
              </a:defRPr>
            </a:defPPr>
            <a:lvl1pPr algn="l">
              <a:defRPr sz="825" b="1">
                <a:solidFill>
                  <a:srgbClr val="B42318"/>
                </a:solidFill>
              </a:defRPr>
            </a:lvl1pPr>
            <a:lvl2pPr algn="l">
              <a:defRPr sz="825" b="1">
                <a:solidFill>
                  <a:srgbClr val="B42318"/>
                </a:solidFill>
              </a:defRPr>
            </a:lvl2pPr>
            <a:lvl3pPr algn="l">
              <a:defRPr sz="825" b="1">
                <a:solidFill>
                  <a:srgbClr val="B42318"/>
                </a:solidFill>
              </a:defRPr>
            </a:lvl3pPr>
            <a:lvl4pPr algn="l">
              <a:defRPr sz="825" b="1">
                <a:solidFill>
                  <a:srgbClr val="B42318"/>
                </a:solidFill>
              </a:defRPr>
            </a:lvl4pPr>
            <a:lvl5pPr algn="l">
              <a:defRPr sz="825" b="1">
                <a:solidFill>
                  <a:srgbClr val="B42318"/>
                </a:solidFill>
              </a:defRPr>
            </a:lvl5pPr>
            <a:lvl6pPr algn="l">
              <a:defRPr sz="825" b="1">
                <a:solidFill>
                  <a:srgbClr val="B42318"/>
                </a:solidFill>
              </a:defRPr>
            </a:lvl6pPr>
            <a:lvl7pPr algn="l">
              <a:defRPr sz="825" b="1">
                <a:solidFill>
                  <a:srgbClr val="B42318"/>
                </a:solidFill>
              </a:defRPr>
            </a:lvl7pPr>
            <a:lvl8pPr algn="l">
              <a:defRPr sz="825" b="1">
                <a:solidFill>
                  <a:srgbClr val="B42318"/>
                </a:solidFill>
              </a:defRPr>
            </a:lvl8pPr>
            <a:lvl9pPr algn="l">
              <a:defRPr sz="825" b="1">
                <a:solidFill>
                  <a:srgbClr val="B42318"/>
                </a:solidFill>
              </a:defRPr>
            </a:lvl9pPr>
          </a:lstStyle>
          <a:p xmlns:a="http://schemas.openxmlformats.org/drawingml/2006/main">
            <a:pPr algn="l">
              <a:defRPr sz="825" b="1">
                <a:solidFill>
                  <a:srgbClr val="B42318"/>
                </a:solidFill>
              </a:defRPr>
            </a:pPr>
            <a:r>
              <a:rPr sz="825" b="1">
                <a:solidFill>
                  <a:srgbClr val="B42318"/>
                </a:solidFill>
              </a:rPr>
              <a:t>05</a:t>
            </a:r>
          </a:p>
        </p:txBody>
      </p:sp>
      <p:sp>
        <p:nvSpPr>
          <p:cNvPr id="33" name="">
            <a:extLst xmlns:a="http://schemas.openxmlformats.org/drawingml/2006/main">
              <a:ext uri="{FF2B5EF4-FFF2-40B4-BE49-F238E27FC236}">
                <a16:creationId xmlns:a16="http://schemas.microsoft.com/office/drawing/2014/main" id="{D96184C9-2116-449E-B3A5-7E4F4A93B426}"/>
              </a:ext>
            </a:extLst>
          </p:cNvPr>
          <p:cNvSpPr>
            <a:spLocks xmlns:a="http://schemas.openxmlformats.org/drawingml/2006/main" noGrp="1"/>
          </p:cNvSpPr>
          <p:nvPr/>
        </p:nvSpPr>
        <p:spPr>
          <a:xfrm xmlns:a="http://schemas.openxmlformats.org/drawingml/2006/main">
            <a:off x="4857750" y="5505450"/>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11111"/>
                </a:solidFill>
              </a:defRPr>
            </a:defPPr>
            <a:lvl1pPr algn="l">
              <a:defRPr sz="1050" b="1">
                <a:solidFill>
                  <a:srgbClr val="111111"/>
                </a:solidFill>
              </a:defRPr>
            </a:lvl1pPr>
            <a:lvl2pPr algn="l">
              <a:defRPr sz="1050" b="1">
                <a:solidFill>
                  <a:srgbClr val="111111"/>
                </a:solidFill>
              </a:defRPr>
            </a:lvl2pPr>
            <a:lvl3pPr algn="l">
              <a:defRPr sz="1050" b="1">
                <a:solidFill>
                  <a:srgbClr val="111111"/>
                </a:solidFill>
              </a:defRPr>
            </a:lvl3pPr>
            <a:lvl4pPr algn="l">
              <a:defRPr sz="1050" b="1">
                <a:solidFill>
                  <a:srgbClr val="111111"/>
                </a:solidFill>
              </a:defRPr>
            </a:lvl4pPr>
            <a:lvl5pPr algn="l">
              <a:defRPr sz="1050" b="1">
                <a:solidFill>
                  <a:srgbClr val="111111"/>
                </a:solidFill>
              </a:defRPr>
            </a:lvl5pPr>
            <a:lvl6pPr algn="l">
              <a:defRPr sz="1050" b="1">
                <a:solidFill>
                  <a:srgbClr val="111111"/>
                </a:solidFill>
              </a:defRPr>
            </a:lvl6pPr>
            <a:lvl7pPr algn="l">
              <a:defRPr sz="1050" b="1">
                <a:solidFill>
                  <a:srgbClr val="111111"/>
                </a:solidFill>
              </a:defRPr>
            </a:lvl7pPr>
            <a:lvl8pPr algn="l">
              <a:defRPr sz="1050" b="1">
                <a:solidFill>
                  <a:srgbClr val="111111"/>
                </a:solidFill>
              </a:defRPr>
            </a:lvl8pPr>
            <a:lvl9pPr algn="l">
              <a:defRPr sz="1050" b="1">
                <a:solidFill>
                  <a:srgbClr val="111111"/>
                </a:solidFill>
              </a:defRPr>
            </a:lvl9pPr>
          </a:lstStyle>
          <a:p xmlns:a="http://schemas.openxmlformats.org/drawingml/2006/main">
            <a:pPr algn="l">
              <a:defRPr sz="1050" b="1">
                <a:solidFill>
                  <a:srgbClr val="111111"/>
                </a:solidFill>
              </a:defRPr>
            </a:pPr>
            <a:r>
              <a:rPr sz="1050" b="1">
                <a:solidFill>
                  <a:srgbClr val="111111"/>
                </a:solidFill>
              </a:rPr>
              <a:t>Scale</a:t>
            </a:r>
          </a:p>
        </p:txBody>
      </p:sp>
      <p:sp>
        <p:nvSpPr>
          <p:cNvPr id="34" name="">
            <a:extLst xmlns:a="http://schemas.openxmlformats.org/drawingml/2006/main">
              <a:ext uri="{FF2B5EF4-FFF2-40B4-BE49-F238E27FC236}">
                <a16:creationId xmlns:a16="http://schemas.microsoft.com/office/drawing/2014/main" id="{F7D6371D-5BF1-43A0-ACC8-97CC022A5947}"/>
              </a:ext>
            </a:extLst>
          </p:cNvPr>
          <p:cNvSpPr>
            <a:spLocks xmlns:a="http://schemas.openxmlformats.org/drawingml/2006/main" noGrp="1"/>
          </p:cNvSpPr>
          <p:nvPr/>
        </p:nvSpPr>
        <p:spPr>
          <a:xfrm xmlns:a="http://schemas.openxmlformats.org/drawingml/2006/main">
            <a:off x="5934075" y="523875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B42318"/>
                </a:solidFill>
              </a:defRPr>
            </a:defPPr>
            <a:lvl1pPr algn="l">
              <a:defRPr sz="825" b="1">
                <a:solidFill>
                  <a:srgbClr val="B42318"/>
                </a:solidFill>
              </a:defRPr>
            </a:lvl1pPr>
            <a:lvl2pPr algn="l">
              <a:defRPr sz="825" b="1">
                <a:solidFill>
                  <a:srgbClr val="B42318"/>
                </a:solidFill>
              </a:defRPr>
            </a:lvl2pPr>
            <a:lvl3pPr algn="l">
              <a:defRPr sz="825" b="1">
                <a:solidFill>
                  <a:srgbClr val="B42318"/>
                </a:solidFill>
              </a:defRPr>
            </a:lvl3pPr>
            <a:lvl4pPr algn="l">
              <a:defRPr sz="825" b="1">
                <a:solidFill>
                  <a:srgbClr val="B42318"/>
                </a:solidFill>
              </a:defRPr>
            </a:lvl4pPr>
            <a:lvl5pPr algn="l">
              <a:defRPr sz="825" b="1">
                <a:solidFill>
                  <a:srgbClr val="B42318"/>
                </a:solidFill>
              </a:defRPr>
            </a:lvl5pPr>
            <a:lvl6pPr algn="l">
              <a:defRPr sz="825" b="1">
                <a:solidFill>
                  <a:srgbClr val="B42318"/>
                </a:solidFill>
              </a:defRPr>
            </a:lvl6pPr>
            <a:lvl7pPr algn="l">
              <a:defRPr sz="825" b="1">
                <a:solidFill>
                  <a:srgbClr val="B42318"/>
                </a:solidFill>
              </a:defRPr>
            </a:lvl7pPr>
            <a:lvl8pPr algn="l">
              <a:defRPr sz="825" b="1">
                <a:solidFill>
                  <a:srgbClr val="B42318"/>
                </a:solidFill>
              </a:defRPr>
            </a:lvl8pPr>
            <a:lvl9pPr algn="l">
              <a:defRPr sz="825" b="1">
                <a:solidFill>
                  <a:srgbClr val="B42318"/>
                </a:solidFill>
              </a:defRPr>
            </a:lvl9pPr>
          </a:lstStyle>
          <a:p xmlns:a="http://schemas.openxmlformats.org/drawingml/2006/main">
            <a:pPr algn="l">
              <a:defRPr sz="825" b="1">
                <a:solidFill>
                  <a:srgbClr val="B42318"/>
                </a:solidFill>
              </a:defRPr>
            </a:pPr>
            <a:r>
              <a:rPr sz="825" b="1">
                <a:solidFill>
                  <a:srgbClr val="B42318"/>
                </a:solidFill>
              </a:rPr>
              <a:t>06</a:t>
            </a:r>
          </a:p>
        </p:txBody>
      </p:sp>
      <p:sp>
        <p:nvSpPr>
          <p:cNvPr id="35" name="">
            <a:extLst xmlns:a="http://schemas.openxmlformats.org/drawingml/2006/main">
              <a:ext uri="{FF2B5EF4-FFF2-40B4-BE49-F238E27FC236}">
                <a16:creationId xmlns:a16="http://schemas.microsoft.com/office/drawing/2014/main" id="{BF29539D-3A7B-4E58-ACB7-968C393692E2}"/>
              </a:ext>
            </a:extLst>
          </p:cNvPr>
          <p:cNvSpPr>
            <a:spLocks xmlns:a="http://schemas.openxmlformats.org/drawingml/2006/main" noGrp="1"/>
          </p:cNvSpPr>
          <p:nvPr/>
        </p:nvSpPr>
        <p:spPr>
          <a:xfrm xmlns:a="http://schemas.openxmlformats.org/drawingml/2006/main">
            <a:off x="5934075" y="5505450"/>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11111"/>
                </a:solidFill>
              </a:defRPr>
            </a:defPPr>
            <a:lvl1pPr algn="l">
              <a:defRPr sz="1050" b="1">
                <a:solidFill>
                  <a:srgbClr val="111111"/>
                </a:solidFill>
              </a:defRPr>
            </a:lvl1pPr>
            <a:lvl2pPr algn="l">
              <a:defRPr sz="1050" b="1">
                <a:solidFill>
                  <a:srgbClr val="111111"/>
                </a:solidFill>
              </a:defRPr>
            </a:lvl2pPr>
            <a:lvl3pPr algn="l">
              <a:defRPr sz="1050" b="1">
                <a:solidFill>
                  <a:srgbClr val="111111"/>
                </a:solidFill>
              </a:defRPr>
            </a:lvl3pPr>
            <a:lvl4pPr algn="l">
              <a:defRPr sz="1050" b="1">
                <a:solidFill>
                  <a:srgbClr val="111111"/>
                </a:solidFill>
              </a:defRPr>
            </a:lvl4pPr>
            <a:lvl5pPr algn="l">
              <a:defRPr sz="1050" b="1">
                <a:solidFill>
                  <a:srgbClr val="111111"/>
                </a:solidFill>
              </a:defRPr>
            </a:lvl5pPr>
            <a:lvl6pPr algn="l">
              <a:defRPr sz="1050" b="1">
                <a:solidFill>
                  <a:srgbClr val="111111"/>
                </a:solidFill>
              </a:defRPr>
            </a:lvl6pPr>
            <a:lvl7pPr algn="l">
              <a:defRPr sz="1050" b="1">
                <a:solidFill>
                  <a:srgbClr val="111111"/>
                </a:solidFill>
              </a:defRPr>
            </a:lvl7pPr>
            <a:lvl8pPr algn="l">
              <a:defRPr sz="1050" b="1">
                <a:solidFill>
                  <a:srgbClr val="111111"/>
                </a:solidFill>
              </a:defRPr>
            </a:lvl8pPr>
            <a:lvl9pPr algn="l">
              <a:defRPr sz="1050" b="1">
                <a:solidFill>
                  <a:srgbClr val="111111"/>
                </a:solidFill>
              </a:defRPr>
            </a:lvl9pPr>
          </a:lstStyle>
          <a:p xmlns:a="http://schemas.openxmlformats.org/drawingml/2006/main">
            <a:pPr algn="l">
              <a:defRPr sz="1050" b="1">
                <a:solidFill>
                  <a:srgbClr val="111111"/>
                </a:solidFill>
              </a:defRPr>
            </a:pPr>
            <a:r>
              <a:rPr sz="1050" b="1">
                <a:solidFill>
                  <a:srgbClr val="111111"/>
                </a:solidFill>
              </a:rPr>
              <a:t>Forecast</a:t>
            </a:r>
          </a:p>
        </p:txBody>
      </p:sp>
      <p:sp>
        <p:nvSpPr>
          <p:cNvPr id="36" name="">
            <a:extLst xmlns:a="http://schemas.openxmlformats.org/drawingml/2006/main">
              <a:ext uri="{FF2B5EF4-FFF2-40B4-BE49-F238E27FC236}">
                <a16:creationId xmlns:a16="http://schemas.microsoft.com/office/drawing/2014/main" id="{C6AC6664-AA44-4F08-855A-3ADD51E3796E}"/>
              </a:ext>
            </a:extLst>
          </p:cNvPr>
          <p:cNvSpPr>
            <a:spLocks xmlns:a="http://schemas.openxmlformats.org/drawingml/2006/main" noGrp="1"/>
          </p:cNvSpPr>
          <p:nvPr/>
        </p:nvSpPr>
        <p:spPr>
          <a:xfrm xmlns:a="http://schemas.openxmlformats.org/drawingml/2006/main">
            <a:off x="7010400" y="523875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B42318"/>
                </a:solidFill>
              </a:defRPr>
            </a:defPPr>
            <a:lvl1pPr algn="l">
              <a:defRPr sz="825" b="1">
                <a:solidFill>
                  <a:srgbClr val="B42318"/>
                </a:solidFill>
              </a:defRPr>
            </a:lvl1pPr>
            <a:lvl2pPr algn="l">
              <a:defRPr sz="825" b="1">
                <a:solidFill>
                  <a:srgbClr val="B42318"/>
                </a:solidFill>
              </a:defRPr>
            </a:lvl2pPr>
            <a:lvl3pPr algn="l">
              <a:defRPr sz="825" b="1">
                <a:solidFill>
                  <a:srgbClr val="B42318"/>
                </a:solidFill>
              </a:defRPr>
            </a:lvl3pPr>
            <a:lvl4pPr algn="l">
              <a:defRPr sz="825" b="1">
                <a:solidFill>
                  <a:srgbClr val="B42318"/>
                </a:solidFill>
              </a:defRPr>
            </a:lvl4pPr>
            <a:lvl5pPr algn="l">
              <a:defRPr sz="825" b="1">
                <a:solidFill>
                  <a:srgbClr val="B42318"/>
                </a:solidFill>
              </a:defRPr>
            </a:lvl5pPr>
            <a:lvl6pPr algn="l">
              <a:defRPr sz="825" b="1">
                <a:solidFill>
                  <a:srgbClr val="B42318"/>
                </a:solidFill>
              </a:defRPr>
            </a:lvl6pPr>
            <a:lvl7pPr algn="l">
              <a:defRPr sz="825" b="1">
                <a:solidFill>
                  <a:srgbClr val="B42318"/>
                </a:solidFill>
              </a:defRPr>
            </a:lvl7pPr>
            <a:lvl8pPr algn="l">
              <a:defRPr sz="825" b="1">
                <a:solidFill>
                  <a:srgbClr val="B42318"/>
                </a:solidFill>
              </a:defRPr>
            </a:lvl8pPr>
            <a:lvl9pPr algn="l">
              <a:defRPr sz="825" b="1">
                <a:solidFill>
                  <a:srgbClr val="B42318"/>
                </a:solidFill>
              </a:defRPr>
            </a:lvl9pPr>
          </a:lstStyle>
          <a:p xmlns:a="http://schemas.openxmlformats.org/drawingml/2006/main">
            <a:pPr algn="l">
              <a:defRPr sz="825" b="1">
                <a:solidFill>
                  <a:srgbClr val="B42318"/>
                </a:solidFill>
              </a:defRPr>
            </a:pPr>
            <a:r>
              <a:rPr sz="825" b="1">
                <a:solidFill>
                  <a:srgbClr val="B42318"/>
                </a:solidFill>
              </a:rPr>
              <a:t>07</a:t>
            </a:r>
          </a:p>
        </p:txBody>
      </p:sp>
      <p:sp>
        <p:nvSpPr>
          <p:cNvPr id="37" name="">
            <a:extLst xmlns:a="http://schemas.openxmlformats.org/drawingml/2006/main">
              <a:ext uri="{FF2B5EF4-FFF2-40B4-BE49-F238E27FC236}">
                <a16:creationId xmlns:a16="http://schemas.microsoft.com/office/drawing/2014/main" id="{0564B53F-B319-4ECA-B98C-626C4F6BE91F}"/>
              </a:ext>
            </a:extLst>
          </p:cNvPr>
          <p:cNvSpPr>
            <a:spLocks xmlns:a="http://schemas.openxmlformats.org/drawingml/2006/main" noGrp="1"/>
          </p:cNvSpPr>
          <p:nvPr/>
        </p:nvSpPr>
        <p:spPr>
          <a:xfrm xmlns:a="http://schemas.openxmlformats.org/drawingml/2006/main">
            <a:off x="7010400" y="5505450"/>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11111"/>
                </a:solidFill>
              </a:defRPr>
            </a:defPPr>
            <a:lvl1pPr algn="l">
              <a:defRPr sz="1050" b="1">
                <a:solidFill>
                  <a:srgbClr val="111111"/>
                </a:solidFill>
              </a:defRPr>
            </a:lvl1pPr>
            <a:lvl2pPr algn="l">
              <a:defRPr sz="1050" b="1">
                <a:solidFill>
                  <a:srgbClr val="111111"/>
                </a:solidFill>
              </a:defRPr>
            </a:lvl2pPr>
            <a:lvl3pPr algn="l">
              <a:defRPr sz="1050" b="1">
                <a:solidFill>
                  <a:srgbClr val="111111"/>
                </a:solidFill>
              </a:defRPr>
            </a:lvl3pPr>
            <a:lvl4pPr algn="l">
              <a:defRPr sz="1050" b="1">
                <a:solidFill>
                  <a:srgbClr val="111111"/>
                </a:solidFill>
              </a:defRPr>
            </a:lvl4pPr>
            <a:lvl5pPr algn="l">
              <a:defRPr sz="1050" b="1">
                <a:solidFill>
                  <a:srgbClr val="111111"/>
                </a:solidFill>
              </a:defRPr>
            </a:lvl5pPr>
            <a:lvl6pPr algn="l">
              <a:defRPr sz="1050" b="1">
                <a:solidFill>
                  <a:srgbClr val="111111"/>
                </a:solidFill>
              </a:defRPr>
            </a:lvl6pPr>
            <a:lvl7pPr algn="l">
              <a:defRPr sz="1050" b="1">
                <a:solidFill>
                  <a:srgbClr val="111111"/>
                </a:solidFill>
              </a:defRPr>
            </a:lvl7pPr>
            <a:lvl8pPr algn="l">
              <a:defRPr sz="1050" b="1">
                <a:solidFill>
                  <a:srgbClr val="111111"/>
                </a:solidFill>
              </a:defRPr>
            </a:lvl8pPr>
            <a:lvl9pPr algn="l">
              <a:defRPr sz="1050" b="1">
                <a:solidFill>
                  <a:srgbClr val="111111"/>
                </a:solidFill>
              </a:defRPr>
            </a:lvl9pPr>
          </a:lstStyle>
          <a:p xmlns:a="http://schemas.openxmlformats.org/drawingml/2006/main">
            <a:pPr algn="l">
              <a:defRPr sz="1050" b="1">
                <a:solidFill>
                  <a:srgbClr val="111111"/>
                </a:solidFill>
              </a:defRPr>
            </a:pPr>
            <a:r>
              <a:rPr sz="1050" b="1">
                <a:solidFill>
                  <a:srgbClr val="111111"/>
                </a:solidFill>
              </a:rPr>
              <a:t>Test</a:t>
            </a:r>
          </a:p>
        </p:txBody>
      </p:sp>
      <p:sp>
        <p:nvSpPr>
          <p:cNvPr id="38" name="">
            <a:extLst xmlns:a="http://schemas.openxmlformats.org/drawingml/2006/main">
              <a:ext uri="{FF2B5EF4-FFF2-40B4-BE49-F238E27FC236}">
                <a16:creationId xmlns:a16="http://schemas.microsoft.com/office/drawing/2014/main" id="{80B9D5E2-6891-4ABF-ABBA-36133A6BBA33}"/>
              </a:ext>
            </a:extLst>
          </p:cNvPr>
          <p:cNvSpPr>
            <a:spLocks xmlns:a="http://schemas.openxmlformats.org/drawingml/2006/main" noGrp="1"/>
          </p:cNvSpPr>
          <p:nvPr/>
        </p:nvSpPr>
        <p:spPr>
          <a:xfrm xmlns:a="http://schemas.openxmlformats.org/drawingml/2006/main">
            <a:off x="8086725" y="523875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B42318"/>
                </a:solidFill>
              </a:defRPr>
            </a:defPPr>
            <a:lvl1pPr algn="l">
              <a:defRPr sz="825" b="1">
                <a:solidFill>
                  <a:srgbClr val="B42318"/>
                </a:solidFill>
              </a:defRPr>
            </a:lvl1pPr>
            <a:lvl2pPr algn="l">
              <a:defRPr sz="825" b="1">
                <a:solidFill>
                  <a:srgbClr val="B42318"/>
                </a:solidFill>
              </a:defRPr>
            </a:lvl2pPr>
            <a:lvl3pPr algn="l">
              <a:defRPr sz="825" b="1">
                <a:solidFill>
                  <a:srgbClr val="B42318"/>
                </a:solidFill>
              </a:defRPr>
            </a:lvl3pPr>
            <a:lvl4pPr algn="l">
              <a:defRPr sz="825" b="1">
                <a:solidFill>
                  <a:srgbClr val="B42318"/>
                </a:solidFill>
              </a:defRPr>
            </a:lvl4pPr>
            <a:lvl5pPr algn="l">
              <a:defRPr sz="825" b="1">
                <a:solidFill>
                  <a:srgbClr val="B42318"/>
                </a:solidFill>
              </a:defRPr>
            </a:lvl5pPr>
            <a:lvl6pPr algn="l">
              <a:defRPr sz="825" b="1">
                <a:solidFill>
                  <a:srgbClr val="B42318"/>
                </a:solidFill>
              </a:defRPr>
            </a:lvl6pPr>
            <a:lvl7pPr algn="l">
              <a:defRPr sz="825" b="1">
                <a:solidFill>
                  <a:srgbClr val="B42318"/>
                </a:solidFill>
              </a:defRPr>
            </a:lvl7pPr>
            <a:lvl8pPr algn="l">
              <a:defRPr sz="825" b="1">
                <a:solidFill>
                  <a:srgbClr val="B42318"/>
                </a:solidFill>
              </a:defRPr>
            </a:lvl8pPr>
            <a:lvl9pPr algn="l">
              <a:defRPr sz="825" b="1">
                <a:solidFill>
                  <a:srgbClr val="B42318"/>
                </a:solidFill>
              </a:defRPr>
            </a:lvl9pPr>
          </a:lstStyle>
          <a:p xmlns:a="http://schemas.openxmlformats.org/drawingml/2006/main">
            <a:pPr algn="l">
              <a:defRPr sz="825" b="1">
                <a:solidFill>
                  <a:srgbClr val="B42318"/>
                </a:solidFill>
              </a:defRPr>
            </a:pPr>
            <a:r>
              <a:rPr sz="825" b="1">
                <a:solidFill>
                  <a:srgbClr val="B42318"/>
                </a:solidFill>
              </a:rPr>
              <a:t>08</a:t>
            </a:r>
          </a:p>
        </p:txBody>
      </p:sp>
      <p:sp>
        <p:nvSpPr>
          <p:cNvPr id="39" name="">
            <a:extLst xmlns:a="http://schemas.openxmlformats.org/drawingml/2006/main">
              <a:ext uri="{FF2B5EF4-FFF2-40B4-BE49-F238E27FC236}">
                <a16:creationId xmlns:a16="http://schemas.microsoft.com/office/drawing/2014/main" id="{1863CFF7-2929-46B9-A780-2ED31086F8D9}"/>
              </a:ext>
            </a:extLst>
          </p:cNvPr>
          <p:cNvSpPr>
            <a:spLocks xmlns:a="http://schemas.openxmlformats.org/drawingml/2006/main" noGrp="1"/>
          </p:cNvSpPr>
          <p:nvPr/>
        </p:nvSpPr>
        <p:spPr>
          <a:xfrm xmlns:a="http://schemas.openxmlformats.org/drawingml/2006/main">
            <a:off x="8086725" y="5505450"/>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11111"/>
                </a:solidFill>
              </a:defRPr>
            </a:defPPr>
            <a:lvl1pPr algn="l">
              <a:defRPr sz="1050" b="1">
                <a:solidFill>
                  <a:srgbClr val="111111"/>
                </a:solidFill>
              </a:defRPr>
            </a:lvl1pPr>
            <a:lvl2pPr algn="l">
              <a:defRPr sz="1050" b="1">
                <a:solidFill>
                  <a:srgbClr val="111111"/>
                </a:solidFill>
              </a:defRPr>
            </a:lvl2pPr>
            <a:lvl3pPr algn="l">
              <a:defRPr sz="1050" b="1">
                <a:solidFill>
                  <a:srgbClr val="111111"/>
                </a:solidFill>
              </a:defRPr>
            </a:lvl3pPr>
            <a:lvl4pPr algn="l">
              <a:defRPr sz="1050" b="1">
                <a:solidFill>
                  <a:srgbClr val="111111"/>
                </a:solidFill>
              </a:defRPr>
            </a:lvl4pPr>
            <a:lvl5pPr algn="l">
              <a:defRPr sz="1050" b="1">
                <a:solidFill>
                  <a:srgbClr val="111111"/>
                </a:solidFill>
              </a:defRPr>
            </a:lvl5pPr>
            <a:lvl6pPr algn="l">
              <a:defRPr sz="1050" b="1">
                <a:solidFill>
                  <a:srgbClr val="111111"/>
                </a:solidFill>
              </a:defRPr>
            </a:lvl6pPr>
            <a:lvl7pPr algn="l">
              <a:defRPr sz="1050" b="1">
                <a:solidFill>
                  <a:srgbClr val="111111"/>
                </a:solidFill>
              </a:defRPr>
            </a:lvl7pPr>
            <a:lvl8pPr algn="l">
              <a:defRPr sz="1050" b="1">
                <a:solidFill>
                  <a:srgbClr val="111111"/>
                </a:solidFill>
              </a:defRPr>
            </a:lvl8pPr>
            <a:lvl9pPr algn="l">
              <a:defRPr sz="1050" b="1">
                <a:solidFill>
                  <a:srgbClr val="111111"/>
                </a:solidFill>
              </a:defRPr>
            </a:lvl9pPr>
          </a:lstStyle>
          <a:p xmlns:a="http://schemas.openxmlformats.org/drawingml/2006/main">
            <a:pPr algn="l">
              <a:defRPr sz="1050" b="1">
                <a:solidFill>
                  <a:srgbClr val="111111"/>
                </a:solidFill>
              </a:defRPr>
            </a:pPr>
            <a:r>
              <a:rPr sz="1050" b="1">
                <a:solidFill>
                  <a:srgbClr val="111111"/>
                </a:solidFill>
              </a:rPr>
              <a:t>Compare</a:t>
            </a:r>
          </a:p>
        </p:txBody>
      </p:sp>
      <p:sp>
        <p:nvSpPr>
          <p:cNvPr id="40" name="">
            <a:extLst xmlns:a="http://schemas.openxmlformats.org/drawingml/2006/main">
              <a:ext uri="{FF2B5EF4-FFF2-40B4-BE49-F238E27FC236}">
                <a16:creationId xmlns:a16="http://schemas.microsoft.com/office/drawing/2014/main" id="{77B2CE50-A25A-4EFD-8321-592A53F1001A}"/>
              </a:ext>
            </a:extLst>
          </p:cNvPr>
          <p:cNvSpPr>
            <a:spLocks xmlns:a="http://schemas.openxmlformats.org/drawingml/2006/main" noGrp="1"/>
          </p:cNvSpPr>
          <p:nvPr/>
        </p:nvSpPr>
        <p:spPr>
          <a:xfrm xmlns:a="http://schemas.openxmlformats.org/drawingml/2006/main">
            <a:off x="9163050" y="523875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B42318"/>
                </a:solidFill>
              </a:defRPr>
            </a:defPPr>
            <a:lvl1pPr algn="l">
              <a:defRPr sz="825" b="1">
                <a:solidFill>
                  <a:srgbClr val="B42318"/>
                </a:solidFill>
              </a:defRPr>
            </a:lvl1pPr>
            <a:lvl2pPr algn="l">
              <a:defRPr sz="825" b="1">
                <a:solidFill>
                  <a:srgbClr val="B42318"/>
                </a:solidFill>
              </a:defRPr>
            </a:lvl2pPr>
            <a:lvl3pPr algn="l">
              <a:defRPr sz="825" b="1">
                <a:solidFill>
                  <a:srgbClr val="B42318"/>
                </a:solidFill>
              </a:defRPr>
            </a:lvl3pPr>
            <a:lvl4pPr algn="l">
              <a:defRPr sz="825" b="1">
                <a:solidFill>
                  <a:srgbClr val="B42318"/>
                </a:solidFill>
              </a:defRPr>
            </a:lvl4pPr>
            <a:lvl5pPr algn="l">
              <a:defRPr sz="825" b="1">
                <a:solidFill>
                  <a:srgbClr val="B42318"/>
                </a:solidFill>
              </a:defRPr>
            </a:lvl5pPr>
            <a:lvl6pPr algn="l">
              <a:defRPr sz="825" b="1">
                <a:solidFill>
                  <a:srgbClr val="B42318"/>
                </a:solidFill>
              </a:defRPr>
            </a:lvl6pPr>
            <a:lvl7pPr algn="l">
              <a:defRPr sz="825" b="1">
                <a:solidFill>
                  <a:srgbClr val="B42318"/>
                </a:solidFill>
              </a:defRPr>
            </a:lvl7pPr>
            <a:lvl8pPr algn="l">
              <a:defRPr sz="825" b="1">
                <a:solidFill>
                  <a:srgbClr val="B42318"/>
                </a:solidFill>
              </a:defRPr>
            </a:lvl8pPr>
            <a:lvl9pPr algn="l">
              <a:defRPr sz="825" b="1">
                <a:solidFill>
                  <a:srgbClr val="B42318"/>
                </a:solidFill>
              </a:defRPr>
            </a:lvl9pPr>
          </a:lstStyle>
          <a:p xmlns:a="http://schemas.openxmlformats.org/drawingml/2006/main">
            <a:pPr algn="l">
              <a:defRPr sz="825" b="1">
                <a:solidFill>
                  <a:srgbClr val="B42318"/>
                </a:solidFill>
              </a:defRPr>
            </a:pPr>
            <a:r>
              <a:rPr sz="825" b="1">
                <a:solidFill>
                  <a:srgbClr val="B42318"/>
                </a:solidFill>
              </a:rPr>
              <a:t>09</a:t>
            </a:r>
          </a:p>
        </p:txBody>
      </p:sp>
      <p:sp>
        <p:nvSpPr>
          <p:cNvPr id="41" name="">
            <a:extLst xmlns:a="http://schemas.openxmlformats.org/drawingml/2006/main">
              <a:ext uri="{FF2B5EF4-FFF2-40B4-BE49-F238E27FC236}">
                <a16:creationId xmlns:a16="http://schemas.microsoft.com/office/drawing/2014/main" id="{9335BA35-9127-403E-8750-F9D55F96F106}"/>
              </a:ext>
            </a:extLst>
          </p:cNvPr>
          <p:cNvSpPr>
            <a:spLocks xmlns:a="http://schemas.openxmlformats.org/drawingml/2006/main" noGrp="1"/>
          </p:cNvSpPr>
          <p:nvPr/>
        </p:nvSpPr>
        <p:spPr>
          <a:xfrm xmlns:a="http://schemas.openxmlformats.org/drawingml/2006/main">
            <a:off x="9163050" y="5505450"/>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11111"/>
                </a:solidFill>
              </a:defRPr>
            </a:defPPr>
            <a:lvl1pPr algn="l">
              <a:defRPr sz="1050" b="1">
                <a:solidFill>
                  <a:srgbClr val="111111"/>
                </a:solidFill>
              </a:defRPr>
            </a:lvl1pPr>
            <a:lvl2pPr algn="l">
              <a:defRPr sz="1050" b="1">
                <a:solidFill>
                  <a:srgbClr val="111111"/>
                </a:solidFill>
              </a:defRPr>
            </a:lvl2pPr>
            <a:lvl3pPr algn="l">
              <a:defRPr sz="1050" b="1">
                <a:solidFill>
                  <a:srgbClr val="111111"/>
                </a:solidFill>
              </a:defRPr>
            </a:lvl3pPr>
            <a:lvl4pPr algn="l">
              <a:defRPr sz="1050" b="1">
                <a:solidFill>
                  <a:srgbClr val="111111"/>
                </a:solidFill>
              </a:defRPr>
            </a:lvl4pPr>
            <a:lvl5pPr algn="l">
              <a:defRPr sz="1050" b="1">
                <a:solidFill>
                  <a:srgbClr val="111111"/>
                </a:solidFill>
              </a:defRPr>
            </a:lvl5pPr>
            <a:lvl6pPr algn="l">
              <a:defRPr sz="1050" b="1">
                <a:solidFill>
                  <a:srgbClr val="111111"/>
                </a:solidFill>
              </a:defRPr>
            </a:lvl6pPr>
            <a:lvl7pPr algn="l">
              <a:defRPr sz="1050" b="1">
                <a:solidFill>
                  <a:srgbClr val="111111"/>
                </a:solidFill>
              </a:defRPr>
            </a:lvl7pPr>
            <a:lvl8pPr algn="l">
              <a:defRPr sz="1050" b="1">
                <a:solidFill>
                  <a:srgbClr val="111111"/>
                </a:solidFill>
              </a:defRPr>
            </a:lvl8pPr>
            <a:lvl9pPr algn="l">
              <a:defRPr sz="1050" b="1">
                <a:solidFill>
                  <a:srgbClr val="111111"/>
                </a:solidFill>
              </a:defRPr>
            </a:lvl9pPr>
          </a:lstStyle>
          <a:p xmlns:a="http://schemas.openxmlformats.org/drawingml/2006/main">
            <a:pPr algn="l">
              <a:defRPr sz="1050" b="1">
                <a:solidFill>
                  <a:srgbClr val="111111"/>
                </a:solidFill>
              </a:defRPr>
            </a:pPr>
            <a:r>
              <a:rPr sz="1050" b="1">
                <a:solidFill>
                  <a:srgbClr val="111111"/>
                </a:solidFill>
              </a:rPr>
              <a:t>Stress</a:t>
            </a:r>
          </a:p>
        </p:txBody>
      </p:sp>
      <p:sp>
        <p:nvSpPr>
          <p:cNvPr id="42" name="">
            <a:extLst xmlns:a="http://schemas.openxmlformats.org/drawingml/2006/main">
              <a:ext uri="{FF2B5EF4-FFF2-40B4-BE49-F238E27FC236}">
                <a16:creationId xmlns:a16="http://schemas.microsoft.com/office/drawing/2014/main" id="{117C0AD4-BE1A-4E79-8DA6-6BB6BD0FBF21}"/>
              </a:ext>
            </a:extLst>
          </p:cNvPr>
          <p:cNvSpPr>
            <a:spLocks xmlns:a="http://schemas.openxmlformats.org/drawingml/2006/main" noGrp="1"/>
          </p:cNvSpPr>
          <p:nvPr/>
        </p:nvSpPr>
        <p:spPr>
          <a:xfrm xmlns:a="http://schemas.openxmlformats.org/drawingml/2006/main">
            <a:off x="10239375" y="523875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B42318"/>
                </a:solidFill>
              </a:defRPr>
            </a:defPPr>
            <a:lvl1pPr algn="l">
              <a:defRPr sz="825" b="1">
                <a:solidFill>
                  <a:srgbClr val="B42318"/>
                </a:solidFill>
              </a:defRPr>
            </a:lvl1pPr>
            <a:lvl2pPr algn="l">
              <a:defRPr sz="825" b="1">
                <a:solidFill>
                  <a:srgbClr val="B42318"/>
                </a:solidFill>
              </a:defRPr>
            </a:lvl2pPr>
            <a:lvl3pPr algn="l">
              <a:defRPr sz="825" b="1">
                <a:solidFill>
                  <a:srgbClr val="B42318"/>
                </a:solidFill>
              </a:defRPr>
            </a:lvl3pPr>
            <a:lvl4pPr algn="l">
              <a:defRPr sz="825" b="1">
                <a:solidFill>
                  <a:srgbClr val="B42318"/>
                </a:solidFill>
              </a:defRPr>
            </a:lvl4pPr>
            <a:lvl5pPr algn="l">
              <a:defRPr sz="825" b="1">
                <a:solidFill>
                  <a:srgbClr val="B42318"/>
                </a:solidFill>
              </a:defRPr>
            </a:lvl5pPr>
            <a:lvl6pPr algn="l">
              <a:defRPr sz="825" b="1">
                <a:solidFill>
                  <a:srgbClr val="B42318"/>
                </a:solidFill>
              </a:defRPr>
            </a:lvl6pPr>
            <a:lvl7pPr algn="l">
              <a:defRPr sz="825" b="1">
                <a:solidFill>
                  <a:srgbClr val="B42318"/>
                </a:solidFill>
              </a:defRPr>
            </a:lvl7pPr>
            <a:lvl8pPr algn="l">
              <a:defRPr sz="825" b="1">
                <a:solidFill>
                  <a:srgbClr val="B42318"/>
                </a:solidFill>
              </a:defRPr>
            </a:lvl8pPr>
            <a:lvl9pPr algn="l">
              <a:defRPr sz="825" b="1">
                <a:solidFill>
                  <a:srgbClr val="B42318"/>
                </a:solidFill>
              </a:defRPr>
            </a:lvl9pPr>
          </a:lstStyle>
          <a:p xmlns:a="http://schemas.openxmlformats.org/drawingml/2006/main">
            <a:pPr algn="l">
              <a:defRPr sz="825" b="1">
                <a:solidFill>
                  <a:srgbClr val="B42318"/>
                </a:solidFill>
              </a:defRPr>
            </a:pPr>
            <a:r>
              <a:rPr sz="825" b="1">
                <a:solidFill>
                  <a:srgbClr val="B42318"/>
                </a:solidFill>
              </a:rPr>
              <a:t>10</a:t>
            </a:r>
          </a:p>
        </p:txBody>
      </p:sp>
      <p:sp>
        <p:nvSpPr>
          <p:cNvPr id="43" name="">
            <a:extLst xmlns:a="http://schemas.openxmlformats.org/drawingml/2006/main">
              <a:ext uri="{FF2B5EF4-FFF2-40B4-BE49-F238E27FC236}">
                <a16:creationId xmlns:a16="http://schemas.microsoft.com/office/drawing/2014/main" id="{11105978-DF30-49E0-B6BC-1FA2CAF82311}"/>
              </a:ext>
            </a:extLst>
          </p:cNvPr>
          <p:cNvSpPr>
            <a:spLocks xmlns:a="http://schemas.openxmlformats.org/drawingml/2006/main" noGrp="1"/>
          </p:cNvSpPr>
          <p:nvPr/>
        </p:nvSpPr>
        <p:spPr>
          <a:xfrm xmlns:a="http://schemas.openxmlformats.org/drawingml/2006/main">
            <a:off x="10239375" y="5505450"/>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11111"/>
                </a:solidFill>
              </a:defRPr>
            </a:defPPr>
            <a:lvl1pPr algn="l">
              <a:defRPr sz="1050" b="1">
                <a:solidFill>
                  <a:srgbClr val="111111"/>
                </a:solidFill>
              </a:defRPr>
            </a:lvl1pPr>
            <a:lvl2pPr algn="l">
              <a:defRPr sz="1050" b="1">
                <a:solidFill>
                  <a:srgbClr val="111111"/>
                </a:solidFill>
              </a:defRPr>
            </a:lvl2pPr>
            <a:lvl3pPr algn="l">
              <a:defRPr sz="1050" b="1">
                <a:solidFill>
                  <a:srgbClr val="111111"/>
                </a:solidFill>
              </a:defRPr>
            </a:lvl3pPr>
            <a:lvl4pPr algn="l">
              <a:defRPr sz="1050" b="1">
                <a:solidFill>
                  <a:srgbClr val="111111"/>
                </a:solidFill>
              </a:defRPr>
            </a:lvl4pPr>
            <a:lvl5pPr algn="l">
              <a:defRPr sz="1050" b="1">
                <a:solidFill>
                  <a:srgbClr val="111111"/>
                </a:solidFill>
              </a:defRPr>
            </a:lvl5pPr>
            <a:lvl6pPr algn="l">
              <a:defRPr sz="1050" b="1">
                <a:solidFill>
                  <a:srgbClr val="111111"/>
                </a:solidFill>
              </a:defRPr>
            </a:lvl6pPr>
            <a:lvl7pPr algn="l">
              <a:defRPr sz="1050" b="1">
                <a:solidFill>
                  <a:srgbClr val="111111"/>
                </a:solidFill>
              </a:defRPr>
            </a:lvl7pPr>
            <a:lvl8pPr algn="l">
              <a:defRPr sz="1050" b="1">
                <a:solidFill>
                  <a:srgbClr val="111111"/>
                </a:solidFill>
              </a:defRPr>
            </a:lvl8pPr>
            <a:lvl9pPr algn="l">
              <a:defRPr sz="1050" b="1">
                <a:solidFill>
                  <a:srgbClr val="111111"/>
                </a:solidFill>
              </a:defRPr>
            </a:lvl9pPr>
          </a:lstStyle>
          <a:p xmlns:a="http://schemas.openxmlformats.org/drawingml/2006/main">
            <a:pPr algn="l">
              <a:defRPr sz="1050" b="1">
                <a:solidFill>
                  <a:srgbClr val="111111"/>
                </a:solidFill>
              </a:defRPr>
            </a:pPr>
            <a:r>
              <a:rPr sz="1050" b="1">
                <a:solidFill>
                  <a:srgbClr val="111111"/>
                </a:solidFill>
              </a:rPr>
              <a:t>Decide</a:t>
            </a:r>
          </a:p>
        </p:txBody>
      </p:sp>
      <p:sp>
        <p:nvSpPr>
          <p:cNvPr id="44" name="">
            <a:extLst xmlns:a="http://schemas.openxmlformats.org/drawingml/2006/main">
              <a:ext uri="{FF2B5EF4-FFF2-40B4-BE49-F238E27FC236}">
                <a16:creationId xmlns:a16="http://schemas.microsoft.com/office/drawing/2014/main" id="{12F2E507-A148-4FF2-9DEC-E439EEA37925}"/>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45" name="">
            <a:extLst xmlns:a="http://schemas.openxmlformats.org/drawingml/2006/main">
              <a:ext uri="{FF2B5EF4-FFF2-40B4-BE49-F238E27FC236}">
                <a16:creationId xmlns:a16="http://schemas.microsoft.com/office/drawing/2014/main" id="{1BCC265E-D768-401F-A3A0-AB07765E5D97}"/>
              </a:ext>
            </a:extLst>
          </p:cNvPr>
          <p:cNvSpPr>
            <a:spLocks xmlns:a="http://schemas.openxmlformats.org/drawingml/2006/main" noGrp="1"/>
          </p:cNvSpPr>
          <p:nvPr/>
        </p:nvSpPr>
        <p:spPr>
          <a:xfrm xmlns:a="http://schemas.openxmlformats.org/drawingml/2006/main">
            <a:off x="51435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0">
                <a:solidFill>
                  <a:srgbClr val="707070"/>
                </a:solidFill>
              </a:defRPr>
            </a:defPPr>
            <a:lvl1pPr algn="l">
              <a:defRPr sz="600" b="0">
                <a:solidFill>
                  <a:srgbClr val="707070"/>
                </a:solidFill>
              </a:defRPr>
            </a:lvl1pPr>
            <a:lvl2pPr algn="l">
              <a:defRPr sz="600" b="0">
                <a:solidFill>
                  <a:srgbClr val="707070"/>
                </a:solidFill>
              </a:defRPr>
            </a:lvl2pPr>
            <a:lvl3pPr algn="l">
              <a:defRPr sz="600" b="0">
                <a:solidFill>
                  <a:srgbClr val="707070"/>
                </a:solidFill>
              </a:defRPr>
            </a:lvl3pPr>
            <a:lvl4pPr algn="l">
              <a:defRPr sz="600" b="0">
                <a:solidFill>
                  <a:srgbClr val="707070"/>
                </a:solidFill>
              </a:defRPr>
            </a:lvl4pPr>
            <a:lvl5pPr algn="l">
              <a:defRPr sz="600" b="0">
                <a:solidFill>
                  <a:srgbClr val="707070"/>
                </a:solidFill>
              </a:defRPr>
            </a:lvl5pPr>
            <a:lvl6pPr algn="l">
              <a:defRPr sz="600" b="0">
                <a:solidFill>
                  <a:srgbClr val="707070"/>
                </a:solidFill>
              </a:defRPr>
            </a:lvl6pPr>
            <a:lvl7pPr algn="l">
              <a:defRPr sz="600" b="0">
                <a:solidFill>
                  <a:srgbClr val="707070"/>
                </a:solidFill>
              </a:defRPr>
            </a:lvl7pPr>
            <a:lvl8pPr algn="l">
              <a:defRPr sz="600" b="0">
                <a:solidFill>
                  <a:srgbClr val="707070"/>
                </a:solidFill>
              </a:defRPr>
            </a:lvl8pPr>
            <a:lvl9pPr algn="l">
              <a:defRPr sz="600" b="0">
                <a:solidFill>
                  <a:srgbClr val="707070"/>
                </a:solidFill>
              </a:defRPr>
            </a:lvl9pPr>
          </a:lstStyle>
          <a:p xmlns:a="http://schemas.openxmlformats.org/drawingml/2006/main">
            <a:pPr algn="l">
              <a:defRPr sz="600" b="0">
                <a:solidFill>
                  <a:srgbClr val="707070"/>
                </a:solidFill>
              </a:defRPr>
            </a:pPr>
            <a:r>
              <a:rPr sz="600" b="0">
                <a:solidFill>
                  <a:srgbClr val="707070"/>
                </a:solidFill>
              </a:rPr>
              <a:t>QFI risk engine  |  saved data through 23 October 2026</a:t>
            </a:r>
          </a:p>
        </p:txBody>
      </p:sp>
      <p:sp>
        <p:nvSpPr>
          <p:cNvPr id="46" name="">
            <a:extLst xmlns:a="http://schemas.openxmlformats.org/drawingml/2006/main">
              <a:ext uri="{FF2B5EF4-FFF2-40B4-BE49-F238E27FC236}">
                <a16:creationId xmlns:a16="http://schemas.microsoft.com/office/drawing/2014/main" id="{EDB51A1A-DBE6-4662-9570-BDCBF8EDC98E}"/>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111111"/>
                </a:solidFill>
              </a:defRPr>
            </a:defPPr>
            <a:lvl1pPr algn="r">
              <a:defRPr sz="675" b="1">
                <a:solidFill>
                  <a:srgbClr val="111111"/>
                </a:solidFill>
              </a:defRPr>
            </a:lvl1pPr>
            <a:lvl2pPr algn="r">
              <a:defRPr sz="675" b="1">
                <a:solidFill>
                  <a:srgbClr val="111111"/>
                </a:solidFill>
              </a:defRPr>
            </a:lvl2pPr>
            <a:lvl3pPr algn="r">
              <a:defRPr sz="675" b="1">
                <a:solidFill>
                  <a:srgbClr val="111111"/>
                </a:solidFill>
              </a:defRPr>
            </a:lvl3pPr>
            <a:lvl4pPr algn="r">
              <a:defRPr sz="675" b="1">
                <a:solidFill>
                  <a:srgbClr val="111111"/>
                </a:solidFill>
              </a:defRPr>
            </a:lvl4pPr>
            <a:lvl5pPr algn="r">
              <a:defRPr sz="675" b="1">
                <a:solidFill>
                  <a:srgbClr val="111111"/>
                </a:solidFill>
              </a:defRPr>
            </a:lvl5pPr>
            <a:lvl6pPr algn="r">
              <a:defRPr sz="675" b="1">
                <a:solidFill>
                  <a:srgbClr val="111111"/>
                </a:solidFill>
              </a:defRPr>
            </a:lvl6pPr>
            <a:lvl7pPr algn="r">
              <a:defRPr sz="675" b="1">
                <a:solidFill>
                  <a:srgbClr val="111111"/>
                </a:solidFill>
              </a:defRPr>
            </a:lvl7pPr>
            <a:lvl8pPr algn="r">
              <a:defRPr sz="675" b="1">
                <a:solidFill>
                  <a:srgbClr val="111111"/>
                </a:solidFill>
              </a:defRPr>
            </a:lvl8pPr>
            <a:lvl9pPr algn="r">
              <a:defRPr sz="675" b="1">
                <a:solidFill>
                  <a:srgbClr val="111111"/>
                </a:solidFill>
              </a:defRPr>
            </a:lvl9pPr>
          </a:lstStyle>
          <a:p xmlns:a="http://schemas.openxmlformats.org/drawingml/2006/main">
            <a:pPr algn="r">
              <a:defRPr sz="675" b="1">
                <a:solidFill>
                  <a:srgbClr val="111111"/>
                </a:solidFill>
              </a:defRPr>
            </a:pPr>
            <a:r>
              <a:rPr sz="675" b="1">
                <a:solidFill>
                  <a:srgbClr val="111111"/>
                </a:solidFill>
              </a:rPr>
              <a:t>02</a:t>
            </a:r>
          </a:p>
        </p:txBody>
      </p:sp>
    </p:spTree>
    <p:extLst>
      <p:ext uri="{BB962C8B-B14F-4D97-AF65-F5344CB8AC3E}">
        <p14:creationId xmlns:p14="http://schemas.microsoft.com/office/powerpoint/2010/main" val="7252979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FB4BDB4-6F0B-4174-AEA4-E8A1E789FBE9}"/>
              </a:ext>
            </a:extLst>
          </p:cNvPr>
          <p:cNvSpPr>
            <a:spLocks xmlns:a="http://schemas.openxmlformats.org/drawingml/2006/main" noGrp="1"/>
          </p:cNvSpPr>
          <p:nvPr/>
        </p:nvSpPr>
        <p:spPr>
          <a:xfrm xmlns:a="http://schemas.openxmlformats.org/drawingml/2006/main">
            <a:off x="514350" y="266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PHASE 01</a:t>
            </a:r>
          </a:p>
        </p:txBody>
      </p:sp>
      <p:sp>
        <p:nvSpPr>
          <p:cNvPr id="2" name="">
            <a:extLst xmlns:a="http://schemas.openxmlformats.org/drawingml/2006/main">
              <a:ext uri="{FF2B5EF4-FFF2-40B4-BE49-F238E27FC236}">
                <a16:creationId xmlns:a16="http://schemas.microsoft.com/office/drawing/2014/main" id="{C3BF9E2B-8D20-413D-903F-E7326B633B09}"/>
              </a:ext>
            </a:extLst>
          </p:cNvPr>
          <p:cNvSpPr>
            <a:spLocks xmlns:a="http://schemas.openxmlformats.org/drawingml/2006/main" noGrp="1"/>
          </p:cNvSpPr>
          <p:nvPr/>
        </p:nvSpPr>
        <p:spPr>
          <a:xfrm xmlns:a="http://schemas.openxmlformats.org/drawingml/2006/main">
            <a:off x="514350" y="6096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11111"/>
                </a:solidFill>
              </a:defRPr>
            </a:defPPr>
            <a:lvl1pPr algn="l">
              <a:defRPr sz="2550" b="1">
                <a:solidFill>
                  <a:srgbClr val="111111"/>
                </a:solidFill>
              </a:defRPr>
            </a:lvl1pPr>
            <a:lvl2pPr algn="l">
              <a:defRPr sz="2550" b="1">
                <a:solidFill>
                  <a:srgbClr val="111111"/>
                </a:solidFill>
              </a:defRPr>
            </a:lvl2pPr>
            <a:lvl3pPr algn="l">
              <a:defRPr sz="2550" b="1">
                <a:solidFill>
                  <a:srgbClr val="111111"/>
                </a:solidFill>
              </a:defRPr>
            </a:lvl3pPr>
            <a:lvl4pPr algn="l">
              <a:defRPr sz="2550" b="1">
                <a:solidFill>
                  <a:srgbClr val="111111"/>
                </a:solidFill>
              </a:defRPr>
            </a:lvl4pPr>
            <a:lvl5pPr algn="l">
              <a:defRPr sz="2550" b="1">
                <a:solidFill>
                  <a:srgbClr val="111111"/>
                </a:solidFill>
              </a:defRPr>
            </a:lvl5pPr>
            <a:lvl6pPr algn="l">
              <a:defRPr sz="2550" b="1">
                <a:solidFill>
                  <a:srgbClr val="111111"/>
                </a:solidFill>
              </a:defRPr>
            </a:lvl6pPr>
            <a:lvl7pPr algn="l">
              <a:defRPr sz="2550" b="1">
                <a:solidFill>
                  <a:srgbClr val="111111"/>
                </a:solidFill>
              </a:defRPr>
            </a:lvl7pPr>
            <a:lvl8pPr algn="l">
              <a:defRPr sz="2550" b="1">
                <a:solidFill>
                  <a:srgbClr val="111111"/>
                </a:solidFill>
              </a:defRPr>
            </a:lvl8pPr>
            <a:lvl9pPr algn="l">
              <a:defRPr sz="2550" b="1">
                <a:solidFill>
                  <a:srgbClr val="111111"/>
                </a:solidFill>
              </a:defRPr>
            </a:lvl9pPr>
          </a:lstStyle>
          <a:p xmlns:a="http://schemas.openxmlformats.org/drawingml/2006/main">
            <a:pPr algn="l">
              <a:defRPr sz="2550" b="1">
                <a:solidFill>
                  <a:srgbClr val="111111"/>
                </a:solidFill>
              </a:defRPr>
            </a:pPr>
            <a:r>
              <a:rPr sz="2550" b="1">
                <a:solidFill>
                  <a:srgbClr val="111111"/>
                </a:solidFill>
              </a:rPr>
              <a:t>Phase 1  Data collection</a:t>
            </a:r>
          </a:p>
        </p:txBody>
      </p:sp>
      <p:sp>
        <p:nvSpPr>
          <p:cNvPr id="3" name="">
            <a:extLst xmlns:a="http://schemas.openxmlformats.org/drawingml/2006/main">
              <a:ext uri="{FF2B5EF4-FFF2-40B4-BE49-F238E27FC236}">
                <a16:creationId xmlns:a16="http://schemas.microsoft.com/office/drawing/2014/main" id="{D236AF38-B746-4C07-A105-74896156EB8D}"/>
              </a:ext>
            </a:extLst>
          </p:cNvPr>
          <p:cNvSpPr>
            <a:spLocks xmlns:a="http://schemas.openxmlformats.org/drawingml/2006/main" noGrp="1"/>
          </p:cNvSpPr>
          <p:nvPr/>
        </p:nvSpPr>
        <p:spPr>
          <a:xfrm xmlns:a="http://schemas.openxmlformats.org/drawingml/2006/main">
            <a:off x="514350" y="11430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Adjusted prices, benchmark data, sectors, weights and the risk-free rate create the raw input</a:t>
            </a:r>
          </a:p>
        </p:txBody>
      </p:sp>
      <p:sp>
        <p:nvSpPr>
          <p:cNvPr id="4" name="">
            <a:extLst xmlns:a="http://schemas.openxmlformats.org/drawingml/2006/main">
              <a:ext uri="{FF2B5EF4-FFF2-40B4-BE49-F238E27FC236}">
                <a16:creationId xmlns:a16="http://schemas.microsoft.com/office/drawing/2014/main" id="{1D8FCC9C-05DD-4AB9-9C72-5825AA81CCCB}"/>
              </a:ext>
            </a:extLst>
          </p:cNvPr>
          <p:cNvSpPr>
            <a:spLocks xmlns:a="http://schemas.openxmlformats.org/drawingml/2006/main" noGrp="1"/>
          </p:cNvSpPr>
          <p:nvPr/>
        </p:nvSpPr>
        <p:spPr>
          <a:xfrm xmlns:a="http://schemas.openxmlformats.org/drawingml/2006/main">
            <a:off x="514350" y="1495425"/>
            <a:ext cx="111633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5A26070C-F5B7-4AFB-B3A0-69DCC944046F}"/>
              </a:ext>
            </a:extLst>
          </p:cNvPr>
          <p:cNvSpPr>
            <a:spLocks xmlns:a="http://schemas.openxmlformats.org/drawingml/2006/main" noGrp="1"/>
          </p:cNvSpPr>
          <p:nvPr/>
        </p:nvSpPr>
        <p:spPr>
          <a:xfrm xmlns:a="http://schemas.openxmlformats.org/drawingml/2006/main">
            <a:off x="10496550" y="1657350"/>
            <a:ext cx="1066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3900" b="1">
                <a:solidFill>
                  <a:srgbClr val="111111"/>
                </a:solidFill>
              </a:defRPr>
            </a:defPPr>
            <a:lvl1pPr algn="r">
              <a:defRPr sz="3900" b="1">
                <a:solidFill>
                  <a:srgbClr val="111111"/>
                </a:solidFill>
              </a:defRPr>
            </a:lvl1pPr>
            <a:lvl2pPr algn="r">
              <a:defRPr sz="3900" b="1">
                <a:solidFill>
                  <a:srgbClr val="111111"/>
                </a:solidFill>
              </a:defRPr>
            </a:lvl2pPr>
            <a:lvl3pPr algn="r">
              <a:defRPr sz="3900" b="1">
                <a:solidFill>
                  <a:srgbClr val="111111"/>
                </a:solidFill>
              </a:defRPr>
            </a:lvl3pPr>
            <a:lvl4pPr algn="r">
              <a:defRPr sz="3900" b="1">
                <a:solidFill>
                  <a:srgbClr val="111111"/>
                </a:solidFill>
              </a:defRPr>
            </a:lvl4pPr>
            <a:lvl5pPr algn="r">
              <a:defRPr sz="3900" b="1">
                <a:solidFill>
                  <a:srgbClr val="111111"/>
                </a:solidFill>
              </a:defRPr>
            </a:lvl5pPr>
            <a:lvl6pPr algn="r">
              <a:defRPr sz="3900" b="1">
                <a:solidFill>
                  <a:srgbClr val="111111"/>
                </a:solidFill>
              </a:defRPr>
            </a:lvl6pPr>
            <a:lvl7pPr algn="r">
              <a:defRPr sz="3900" b="1">
                <a:solidFill>
                  <a:srgbClr val="111111"/>
                </a:solidFill>
              </a:defRPr>
            </a:lvl7pPr>
            <a:lvl8pPr algn="r">
              <a:defRPr sz="3900" b="1">
                <a:solidFill>
                  <a:srgbClr val="111111"/>
                </a:solidFill>
              </a:defRPr>
            </a:lvl8pPr>
            <a:lvl9pPr algn="r">
              <a:defRPr sz="3900" b="1">
                <a:solidFill>
                  <a:srgbClr val="111111"/>
                </a:solidFill>
              </a:defRPr>
            </a:lvl9pPr>
          </a:lstStyle>
          <a:p xmlns:a="http://schemas.openxmlformats.org/drawingml/2006/main">
            <a:pPr algn="r">
              <a:defRPr sz="3900" b="1">
                <a:solidFill>
                  <a:srgbClr val="111111"/>
                </a:solidFill>
              </a:defRPr>
            </a:pPr>
            <a:r>
              <a:rPr sz="3900" b="1">
                <a:solidFill>
                  <a:srgbClr val="111111"/>
                </a:solidFill>
              </a:rPr>
              <a:t>01</a:t>
            </a:r>
          </a:p>
        </p:txBody>
      </p:sp>
      <p:sp>
        <p:nvSpPr>
          <p:cNvPr id="6" name="">
            <a:extLst xmlns:a="http://schemas.openxmlformats.org/drawingml/2006/main">
              <a:ext uri="{FF2B5EF4-FFF2-40B4-BE49-F238E27FC236}">
                <a16:creationId xmlns:a16="http://schemas.microsoft.com/office/drawing/2014/main" id="{3376BA27-9B7E-400C-A7C9-B02F68196FA3}"/>
              </a:ext>
            </a:extLst>
          </p:cNvPr>
          <p:cNvSpPr>
            <a:spLocks xmlns:a="http://schemas.openxmlformats.org/drawingml/2006/main" noGrp="1"/>
          </p:cNvSpPr>
          <p:nvPr/>
        </p:nvSpPr>
        <p:spPr>
          <a:xfrm xmlns:a="http://schemas.openxmlformats.org/drawingml/2006/main">
            <a:off x="504825" y="1724025"/>
            <a:ext cx="7448550" cy="281940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7" name="">
            <a:extLst xmlns:a="http://schemas.openxmlformats.org/drawingml/2006/main">
              <a:ext uri="{FF2B5EF4-FFF2-40B4-BE49-F238E27FC236}">
                <a16:creationId xmlns:a16="http://schemas.microsoft.com/office/drawing/2014/main" id="{D69F8D10-3A63-408A-A47E-E40FDD93E376}"/>
              </a:ext>
            </a:extLst>
          </p:cNvPr>
          <p:cNvSpPr>
            <a:spLocks xmlns:a="http://schemas.openxmlformats.org/drawingml/2006/main" noGrp="1"/>
          </p:cNvSpPr>
          <p:nvPr/>
        </p:nvSpPr>
        <p:spPr>
          <a:xfrm xmlns:a="http://schemas.openxmlformats.org/drawingml/2006/main">
            <a:off x="628650" y="1800225"/>
            <a:ext cx="7200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Growth of $1 invested in each stock</a:t>
            </a:r>
          </a:p>
        </p:txBody>
      </p:sp>
      <p:pic>
        <p:nvPicPr>
          <p:cNvPr id="8" name="">
            <a:extLst xmlns:a="http://schemas.openxmlformats.org/drawingml/2006/main">
              <a:ext uri="{FF2B5EF4-FFF2-40B4-BE49-F238E27FC236}">
                <a16:creationId xmlns:a16="http://schemas.microsoft.com/office/drawing/2014/main" id="{D2003640-7C09-44C5-A087-FF5EFD43FE30}"/>
              </a:ext>
            </a:extLst>
          </p:cNvPr>
          <p:cNvPicPr>
            <a:picLocks xmlns:a="http://schemas.openxmlformats.org/drawingml/2006/main" noChangeAspect="1"/>
          </p:cNvPicPr>
          <p:nvPr/>
        </p:nvPicPr>
        <p:blipFill>
          <a:blip xmlns:r="http://schemas.openxmlformats.org/officeDocument/2006/relationships" xmlns:a="http://schemas.openxmlformats.org/drawingml/2006/main" r:embed="R3a6faac904b84c34"/>
          <a:stretch xmlns:a="http://schemas.openxmlformats.org/drawingml/2006/main"/>
        </p:blipFill>
        <p:spPr>
          <a:xfrm xmlns:a="http://schemas.openxmlformats.org/drawingml/2006/main">
            <a:off x="895423" y="2009775"/>
            <a:ext cx="6667353" cy="25050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CD0A789-0B4A-4BFA-83E3-8A68C94803B4}"/>
              </a:ext>
            </a:extLst>
          </p:cNvPr>
          <p:cNvSpPr>
            <a:spLocks xmlns:a="http://schemas.openxmlformats.org/drawingml/2006/main" noGrp="1"/>
          </p:cNvSpPr>
          <p:nvPr/>
        </p:nvSpPr>
        <p:spPr>
          <a:xfrm xmlns:a="http://schemas.openxmlformats.org/drawingml/2006/main">
            <a:off x="8305800" y="249555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55E63"/>
                </a:solidFill>
              </a:defRPr>
            </a:defPPr>
            <a:lvl1pPr algn="l">
              <a:defRPr sz="2100" b="1">
                <a:solidFill>
                  <a:srgbClr val="155E63"/>
                </a:solidFill>
              </a:defRPr>
            </a:lvl1pPr>
            <a:lvl2pPr algn="l">
              <a:defRPr sz="2100" b="1">
                <a:solidFill>
                  <a:srgbClr val="155E63"/>
                </a:solidFill>
              </a:defRPr>
            </a:lvl2pPr>
            <a:lvl3pPr algn="l">
              <a:defRPr sz="2100" b="1">
                <a:solidFill>
                  <a:srgbClr val="155E63"/>
                </a:solidFill>
              </a:defRPr>
            </a:lvl3pPr>
            <a:lvl4pPr algn="l">
              <a:defRPr sz="2100" b="1">
                <a:solidFill>
                  <a:srgbClr val="155E63"/>
                </a:solidFill>
              </a:defRPr>
            </a:lvl4pPr>
            <a:lvl5pPr algn="l">
              <a:defRPr sz="2100" b="1">
                <a:solidFill>
                  <a:srgbClr val="155E63"/>
                </a:solidFill>
              </a:defRPr>
            </a:lvl5pPr>
            <a:lvl6pPr algn="l">
              <a:defRPr sz="2100" b="1">
                <a:solidFill>
                  <a:srgbClr val="155E63"/>
                </a:solidFill>
              </a:defRPr>
            </a:lvl6pPr>
            <a:lvl7pPr algn="l">
              <a:defRPr sz="2100" b="1">
                <a:solidFill>
                  <a:srgbClr val="155E63"/>
                </a:solidFill>
              </a:defRPr>
            </a:lvl7pPr>
            <a:lvl8pPr algn="l">
              <a:defRPr sz="2100" b="1">
                <a:solidFill>
                  <a:srgbClr val="155E63"/>
                </a:solidFill>
              </a:defRPr>
            </a:lvl8pPr>
            <a:lvl9pPr algn="l">
              <a:defRPr sz="2100" b="1">
                <a:solidFill>
                  <a:srgbClr val="155E63"/>
                </a:solidFill>
              </a:defRPr>
            </a:lvl9pPr>
          </a:lstStyle>
          <a:p xmlns:a="http://schemas.openxmlformats.org/drawingml/2006/main">
            <a:pPr algn="l">
              <a:defRPr sz="2100" b="1">
                <a:solidFill>
                  <a:srgbClr val="155E63"/>
                </a:solidFill>
              </a:defRPr>
            </a:pPr>
            <a:r>
              <a:rPr sz="2100" b="1">
                <a:solidFill>
                  <a:srgbClr val="155E63"/>
                </a:solidFill>
              </a:rPr>
              <a:t>3,619</a:t>
            </a:r>
          </a:p>
        </p:txBody>
      </p:sp>
      <p:sp>
        <p:nvSpPr>
          <p:cNvPr id="10" name="">
            <a:extLst xmlns:a="http://schemas.openxmlformats.org/drawingml/2006/main">
              <a:ext uri="{FF2B5EF4-FFF2-40B4-BE49-F238E27FC236}">
                <a16:creationId xmlns:a16="http://schemas.microsoft.com/office/drawing/2014/main" id="{972E2F8E-A12D-44CE-8E5E-2B8FF08575DA}"/>
              </a:ext>
            </a:extLst>
          </p:cNvPr>
          <p:cNvSpPr>
            <a:spLocks xmlns:a="http://schemas.openxmlformats.org/drawingml/2006/main" noGrp="1"/>
          </p:cNvSpPr>
          <p:nvPr/>
        </p:nvSpPr>
        <p:spPr>
          <a:xfrm xmlns:a="http://schemas.openxmlformats.org/drawingml/2006/main">
            <a:off x="8305800" y="289560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shared trading days</a:t>
            </a:r>
          </a:p>
        </p:txBody>
      </p:sp>
      <p:sp>
        <p:nvSpPr>
          <p:cNvPr id="11" name="">
            <a:extLst xmlns:a="http://schemas.openxmlformats.org/drawingml/2006/main">
              <a:ext uri="{FF2B5EF4-FFF2-40B4-BE49-F238E27FC236}">
                <a16:creationId xmlns:a16="http://schemas.microsoft.com/office/drawing/2014/main" id="{3F725BF3-B958-404B-A6E9-C2F4E3C0AD79}"/>
              </a:ext>
            </a:extLst>
          </p:cNvPr>
          <p:cNvSpPr>
            <a:spLocks xmlns:a="http://schemas.openxmlformats.org/drawingml/2006/main" noGrp="1"/>
          </p:cNvSpPr>
          <p:nvPr/>
        </p:nvSpPr>
        <p:spPr>
          <a:xfrm xmlns:a="http://schemas.openxmlformats.org/drawingml/2006/main">
            <a:off x="8305800" y="3105150"/>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0">
                <a:solidFill>
                  <a:srgbClr val="707070"/>
                </a:solidFill>
              </a:defRPr>
            </a:defPPr>
            <a:lvl1pPr algn="l">
              <a:defRPr sz="825" b="0">
                <a:solidFill>
                  <a:srgbClr val="707070"/>
                </a:solidFill>
              </a:defRPr>
            </a:lvl1pPr>
            <a:lvl2pPr algn="l">
              <a:defRPr sz="825" b="0">
                <a:solidFill>
                  <a:srgbClr val="707070"/>
                </a:solidFill>
              </a:defRPr>
            </a:lvl2pPr>
            <a:lvl3pPr algn="l">
              <a:defRPr sz="825" b="0">
                <a:solidFill>
                  <a:srgbClr val="707070"/>
                </a:solidFill>
              </a:defRPr>
            </a:lvl3pPr>
            <a:lvl4pPr algn="l">
              <a:defRPr sz="825" b="0">
                <a:solidFill>
                  <a:srgbClr val="707070"/>
                </a:solidFill>
              </a:defRPr>
            </a:lvl4pPr>
            <a:lvl5pPr algn="l">
              <a:defRPr sz="825" b="0">
                <a:solidFill>
                  <a:srgbClr val="707070"/>
                </a:solidFill>
              </a:defRPr>
            </a:lvl5pPr>
            <a:lvl6pPr algn="l">
              <a:defRPr sz="825" b="0">
                <a:solidFill>
                  <a:srgbClr val="707070"/>
                </a:solidFill>
              </a:defRPr>
            </a:lvl6pPr>
            <a:lvl7pPr algn="l">
              <a:defRPr sz="825" b="0">
                <a:solidFill>
                  <a:srgbClr val="707070"/>
                </a:solidFill>
              </a:defRPr>
            </a:lvl7pPr>
            <a:lvl8pPr algn="l">
              <a:defRPr sz="825" b="0">
                <a:solidFill>
                  <a:srgbClr val="707070"/>
                </a:solidFill>
              </a:defRPr>
            </a:lvl8pPr>
            <a:lvl9pPr algn="l">
              <a:defRPr sz="825" b="0">
                <a:solidFill>
                  <a:srgbClr val="707070"/>
                </a:solidFill>
              </a:defRPr>
            </a:lvl9pPr>
          </a:lstStyle>
          <a:p xmlns:a="http://schemas.openxmlformats.org/drawingml/2006/main">
            <a:pPr algn="l">
              <a:defRPr sz="825" b="0">
                <a:solidFill>
                  <a:srgbClr val="707070"/>
                </a:solidFill>
              </a:defRPr>
            </a:pPr>
            <a:r>
              <a:rPr sz="825" b="0">
                <a:solidFill>
                  <a:srgbClr val="707070"/>
                </a:solidFill>
              </a:rPr>
              <a:t>same dates across every holding</a:t>
            </a:r>
          </a:p>
        </p:txBody>
      </p:sp>
      <p:sp>
        <p:nvSpPr>
          <p:cNvPr id="12" name="">
            <a:extLst xmlns:a="http://schemas.openxmlformats.org/drawingml/2006/main">
              <a:ext uri="{FF2B5EF4-FFF2-40B4-BE49-F238E27FC236}">
                <a16:creationId xmlns:a16="http://schemas.microsoft.com/office/drawing/2014/main" id="{83F9C229-1ABD-40BB-B43A-7337663E01E7}"/>
              </a:ext>
            </a:extLst>
          </p:cNvPr>
          <p:cNvSpPr>
            <a:spLocks xmlns:a="http://schemas.openxmlformats.org/drawingml/2006/main" noGrp="1"/>
          </p:cNvSpPr>
          <p:nvPr/>
        </p:nvSpPr>
        <p:spPr>
          <a:xfrm xmlns:a="http://schemas.openxmlformats.org/drawingml/2006/main">
            <a:off x="8305800" y="34290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11111"/>
                </a:solidFill>
              </a:defRPr>
            </a:defPPr>
            <a:lvl1pPr algn="l">
              <a:defRPr sz="2100" b="1">
                <a:solidFill>
                  <a:srgbClr val="111111"/>
                </a:solidFill>
              </a:defRPr>
            </a:lvl1pPr>
            <a:lvl2pPr algn="l">
              <a:defRPr sz="2100" b="1">
                <a:solidFill>
                  <a:srgbClr val="111111"/>
                </a:solidFill>
              </a:defRPr>
            </a:lvl2pPr>
            <a:lvl3pPr algn="l">
              <a:defRPr sz="2100" b="1">
                <a:solidFill>
                  <a:srgbClr val="111111"/>
                </a:solidFill>
              </a:defRPr>
            </a:lvl3pPr>
            <a:lvl4pPr algn="l">
              <a:defRPr sz="2100" b="1">
                <a:solidFill>
                  <a:srgbClr val="111111"/>
                </a:solidFill>
              </a:defRPr>
            </a:lvl4pPr>
            <a:lvl5pPr algn="l">
              <a:defRPr sz="2100" b="1">
                <a:solidFill>
                  <a:srgbClr val="111111"/>
                </a:solidFill>
              </a:defRPr>
            </a:lvl5pPr>
            <a:lvl6pPr algn="l">
              <a:defRPr sz="2100" b="1">
                <a:solidFill>
                  <a:srgbClr val="111111"/>
                </a:solidFill>
              </a:defRPr>
            </a:lvl6pPr>
            <a:lvl7pPr algn="l">
              <a:defRPr sz="2100" b="1">
                <a:solidFill>
                  <a:srgbClr val="111111"/>
                </a:solidFill>
              </a:defRPr>
            </a:lvl7pPr>
            <a:lvl8pPr algn="l">
              <a:defRPr sz="2100" b="1">
                <a:solidFill>
                  <a:srgbClr val="111111"/>
                </a:solidFill>
              </a:defRPr>
            </a:lvl8pPr>
            <a:lvl9pPr algn="l">
              <a:defRPr sz="2100" b="1">
                <a:solidFill>
                  <a:srgbClr val="111111"/>
                </a:solidFill>
              </a:defRPr>
            </a:lvl9pPr>
          </a:lstStyle>
          <a:p xmlns:a="http://schemas.openxmlformats.org/drawingml/2006/main">
            <a:pPr algn="l">
              <a:defRPr sz="2100" b="1">
                <a:solidFill>
                  <a:srgbClr val="111111"/>
                </a:solidFill>
              </a:defRPr>
            </a:pPr>
            <a:r>
              <a:rPr sz="2100" b="1">
                <a:solidFill>
                  <a:srgbClr val="111111"/>
                </a:solidFill>
              </a:rPr>
              <a:t>10 + SPY</a:t>
            </a:r>
          </a:p>
        </p:txBody>
      </p:sp>
      <p:sp>
        <p:nvSpPr>
          <p:cNvPr id="13" name="">
            <a:extLst xmlns:a="http://schemas.openxmlformats.org/drawingml/2006/main">
              <a:ext uri="{FF2B5EF4-FFF2-40B4-BE49-F238E27FC236}">
                <a16:creationId xmlns:a16="http://schemas.microsoft.com/office/drawing/2014/main" id="{4BECEA64-ACD7-4995-B1E5-9B80D63D5D6A}"/>
              </a:ext>
            </a:extLst>
          </p:cNvPr>
          <p:cNvSpPr>
            <a:spLocks xmlns:a="http://schemas.openxmlformats.org/drawingml/2006/main" noGrp="1"/>
          </p:cNvSpPr>
          <p:nvPr/>
        </p:nvSpPr>
        <p:spPr>
          <a:xfrm xmlns:a="http://schemas.openxmlformats.org/drawingml/2006/main">
            <a:off x="8305800" y="38290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stocks and benchmark</a:t>
            </a:r>
          </a:p>
        </p:txBody>
      </p:sp>
      <p:sp>
        <p:nvSpPr>
          <p:cNvPr id="14" name="">
            <a:extLst xmlns:a="http://schemas.openxmlformats.org/drawingml/2006/main">
              <a:ext uri="{FF2B5EF4-FFF2-40B4-BE49-F238E27FC236}">
                <a16:creationId xmlns:a16="http://schemas.microsoft.com/office/drawing/2014/main" id="{3788BC7B-FEA5-40A9-98D6-C00ECEA007D7}"/>
              </a:ext>
            </a:extLst>
          </p:cNvPr>
          <p:cNvSpPr>
            <a:spLocks xmlns:a="http://schemas.openxmlformats.org/drawingml/2006/main" noGrp="1"/>
          </p:cNvSpPr>
          <p:nvPr/>
        </p:nvSpPr>
        <p:spPr>
          <a:xfrm xmlns:a="http://schemas.openxmlformats.org/drawingml/2006/main">
            <a:off x="514350" y="481965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15" name="">
            <a:extLst xmlns:a="http://schemas.openxmlformats.org/drawingml/2006/main">
              <a:ext uri="{FF2B5EF4-FFF2-40B4-BE49-F238E27FC236}">
                <a16:creationId xmlns:a16="http://schemas.microsoft.com/office/drawing/2014/main" id="{38EB9C52-1815-4B9D-87DF-7D3D7FF75564}"/>
              </a:ext>
            </a:extLst>
          </p:cNvPr>
          <p:cNvSpPr>
            <a:spLocks xmlns:a="http://schemas.openxmlformats.org/drawingml/2006/main" noGrp="1"/>
          </p:cNvSpPr>
          <p:nvPr/>
        </p:nvSpPr>
        <p:spPr>
          <a:xfrm xmlns:a="http://schemas.openxmlformats.org/drawingml/2006/main">
            <a:off x="666750" y="4781550"/>
            <a:ext cx="3181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Adjusted close</a:t>
            </a:r>
          </a:p>
        </p:txBody>
      </p:sp>
      <p:sp>
        <p:nvSpPr>
          <p:cNvPr id="16" name="">
            <a:extLst xmlns:a="http://schemas.openxmlformats.org/drawingml/2006/main">
              <a:ext uri="{FF2B5EF4-FFF2-40B4-BE49-F238E27FC236}">
                <a16:creationId xmlns:a16="http://schemas.microsoft.com/office/drawing/2014/main" id="{34B3BB1D-2327-4B5F-BF76-47BE9DA321B1}"/>
              </a:ext>
            </a:extLst>
          </p:cNvPr>
          <p:cNvSpPr>
            <a:spLocks xmlns:a="http://schemas.openxmlformats.org/drawingml/2006/main" noGrp="1"/>
          </p:cNvSpPr>
          <p:nvPr/>
        </p:nvSpPr>
        <p:spPr>
          <a:xfrm xmlns:a="http://schemas.openxmlformats.org/drawingml/2006/main">
            <a:off x="666750" y="5019675"/>
            <a:ext cx="3181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Corrects splits and dividends so corporate actions do not create false returns.</a:t>
            </a:r>
          </a:p>
        </p:txBody>
      </p:sp>
      <p:sp>
        <p:nvSpPr>
          <p:cNvPr id="17" name="">
            <a:extLst xmlns:a="http://schemas.openxmlformats.org/drawingml/2006/main">
              <a:ext uri="{FF2B5EF4-FFF2-40B4-BE49-F238E27FC236}">
                <a16:creationId xmlns:a16="http://schemas.microsoft.com/office/drawing/2014/main" id="{32D466BC-D611-4604-B6EC-E1D7CA0FF32F}"/>
              </a:ext>
            </a:extLst>
          </p:cNvPr>
          <p:cNvSpPr>
            <a:spLocks xmlns:a="http://schemas.openxmlformats.org/drawingml/2006/main" noGrp="1"/>
          </p:cNvSpPr>
          <p:nvPr/>
        </p:nvSpPr>
        <p:spPr>
          <a:xfrm xmlns:a="http://schemas.openxmlformats.org/drawingml/2006/main">
            <a:off x="4114800" y="481965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18" name="">
            <a:extLst xmlns:a="http://schemas.openxmlformats.org/drawingml/2006/main">
              <a:ext uri="{FF2B5EF4-FFF2-40B4-BE49-F238E27FC236}">
                <a16:creationId xmlns:a16="http://schemas.microsoft.com/office/drawing/2014/main" id="{FF209ADC-15B5-47D8-B83F-74DBBD54698B}"/>
              </a:ext>
            </a:extLst>
          </p:cNvPr>
          <p:cNvSpPr>
            <a:spLocks xmlns:a="http://schemas.openxmlformats.org/drawingml/2006/main" noGrp="1"/>
          </p:cNvSpPr>
          <p:nvPr/>
        </p:nvSpPr>
        <p:spPr>
          <a:xfrm xmlns:a="http://schemas.openxmlformats.org/drawingml/2006/main">
            <a:off x="4267200" y="4781550"/>
            <a:ext cx="3181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Returns and weights</a:t>
            </a:r>
          </a:p>
        </p:txBody>
      </p:sp>
      <p:sp>
        <p:nvSpPr>
          <p:cNvPr id="19" name="">
            <a:extLst xmlns:a="http://schemas.openxmlformats.org/drawingml/2006/main">
              <a:ext uri="{FF2B5EF4-FFF2-40B4-BE49-F238E27FC236}">
                <a16:creationId xmlns:a16="http://schemas.microsoft.com/office/drawing/2014/main" id="{1B7308F2-0859-473F-82FC-E59035D10CAA}"/>
              </a:ext>
            </a:extLst>
          </p:cNvPr>
          <p:cNvSpPr>
            <a:spLocks xmlns:a="http://schemas.openxmlformats.org/drawingml/2006/main" noGrp="1"/>
          </p:cNvSpPr>
          <p:nvPr/>
        </p:nvSpPr>
        <p:spPr>
          <a:xfrm xmlns:a="http://schemas.openxmlformats.org/drawingml/2006/main">
            <a:off x="4267200" y="5019675"/>
            <a:ext cx="3181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Returns make different stock prices comparable; weights translate each move into portfolio impact.</a:t>
            </a:r>
          </a:p>
        </p:txBody>
      </p:sp>
      <p:sp>
        <p:nvSpPr>
          <p:cNvPr id="20" name="">
            <a:extLst xmlns:a="http://schemas.openxmlformats.org/drawingml/2006/main">
              <a:ext uri="{FF2B5EF4-FFF2-40B4-BE49-F238E27FC236}">
                <a16:creationId xmlns:a16="http://schemas.microsoft.com/office/drawing/2014/main" id="{FD35285B-90F4-432C-9B7A-A115D65DFE90}"/>
              </a:ext>
            </a:extLst>
          </p:cNvPr>
          <p:cNvSpPr>
            <a:spLocks xmlns:a="http://schemas.openxmlformats.org/drawingml/2006/main" noGrp="1"/>
          </p:cNvSpPr>
          <p:nvPr/>
        </p:nvSpPr>
        <p:spPr>
          <a:xfrm xmlns:a="http://schemas.openxmlformats.org/drawingml/2006/main">
            <a:off x="7715250" y="481965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21" name="">
            <a:extLst xmlns:a="http://schemas.openxmlformats.org/drawingml/2006/main">
              <a:ext uri="{FF2B5EF4-FFF2-40B4-BE49-F238E27FC236}">
                <a16:creationId xmlns:a16="http://schemas.microsoft.com/office/drawing/2014/main" id="{8C83F8C4-B102-46FE-9BAB-5147397D2C77}"/>
              </a:ext>
            </a:extLst>
          </p:cNvPr>
          <p:cNvSpPr>
            <a:spLocks xmlns:a="http://schemas.openxmlformats.org/drawingml/2006/main" noGrp="1"/>
          </p:cNvSpPr>
          <p:nvPr/>
        </p:nvSpPr>
        <p:spPr>
          <a:xfrm xmlns:a="http://schemas.openxmlformats.org/drawingml/2006/main">
            <a:off x="7867650" y="4781550"/>
            <a:ext cx="3486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Reference inputs</a:t>
            </a:r>
          </a:p>
        </p:txBody>
      </p:sp>
      <p:sp>
        <p:nvSpPr>
          <p:cNvPr id="22" name="">
            <a:extLst xmlns:a="http://schemas.openxmlformats.org/drawingml/2006/main">
              <a:ext uri="{FF2B5EF4-FFF2-40B4-BE49-F238E27FC236}">
                <a16:creationId xmlns:a16="http://schemas.microsoft.com/office/drawing/2014/main" id="{CA7C568F-5BBE-47D6-A47D-CE7F535B094A}"/>
              </a:ext>
            </a:extLst>
          </p:cNvPr>
          <p:cNvSpPr>
            <a:spLocks xmlns:a="http://schemas.openxmlformats.org/drawingml/2006/main" noGrp="1"/>
          </p:cNvSpPr>
          <p:nvPr/>
        </p:nvSpPr>
        <p:spPr>
          <a:xfrm xmlns:a="http://schemas.openxmlformats.org/drawingml/2006/main">
            <a:off x="7867650" y="5019675"/>
            <a:ext cx="3486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SPY, the short-term risk-free rate and sector classifications support comparison and stress testing.</a:t>
            </a:r>
          </a:p>
        </p:txBody>
      </p:sp>
      <p:sp>
        <p:nvSpPr>
          <p:cNvPr id="23" name="">
            <a:extLst xmlns:a="http://schemas.openxmlformats.org/drawingml/2006/main">
              <a:ext uri="{FF2B5EF4-FFF2-40B4-BE49-F238E27FC236}">
                <a16:creationId xmlns:a16="http://schemas.microsoft.com/office/drawing/2014/main" id="{A7240012-CE07-4984-A8A9-D2704FEF4977}"/>
              </a:ext>
            </a:extLst>
          </p:cNvPr>
          <p:cNvSpPr>
            <a:spLocks xmlns:a="http://schemas.openxmlformats.org/drawingml/2006/main" noGrp="1"/>
          </p:cNvSpPr>
          <p:nvPr/>
        </p:nvSpPr>
        <p:spPr>
          <a:xfrm xmlns:a="http://schemas.openxmlformats.org/drawingml/2006/main">
            <a:off x="514350" y="5848350"/>
            <a:ext cx="10839450" cy="400050"/>
          </a:xfrm>
          <a:prstGeom xmlns:a="http://schemas.openxmlformats.org/drawingml/2006/main" prst="rect">
            <a:avLst/>
          </a:prstGeom>
          <a:solidFill xmlns:a="http://schemas.openxmlformats.org/drawingml/2006/main">
            <a:srgbClr val="DDE8E7"/>
          </a:solidFill>
          <a:ln xmlns:a="http://schemas.openxmlformats.org/drawingml/2006/main" w="0">
            <a:solidFill>
              <a:srgbClr val="DDE8E7"/>
            </a:solidFill>
            <a:prstDash val="solid"/>
          </a:ln>
        </p:spPr>
      </p:sp>
      <p:sp>
        <p:nvSpPr>
          <p:cNvPr id="24" name="">
            <a:extLst xmlns:a="http://schemas.openxmlformats.org/drawingml/2006/main">
              <a:ext uri="{FF2B5EF4-FFF2-40B4-BE49-F238E27FC236}">
                <a16:creationId xmlns:a16="http://schemas.microsoft.com/office/drawing/2014/main" id="{475100BE-B019-4709-832E-30852353E1B1}"/>
              </a:ext>
            </a:extLst>
          </p:cNvPr>
          <p:cNvSpPr>
            <a:spLocks xmlns:a="http://schemas.openxmlformats.org/drawingml/2006/main" noGrp="1"/>
          </p:cNvSpPr>
          <p:nvPr/>
        </p:nvSpPr>
        <p:spPr>
          <a:xfrm xmlns:a="http://schemas.openxmlformats.org/drawingml/2006/main">
            <a:off x="514350" y="5848350"/>
            <a:ext cx="47625" cy="40005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25" name="">
            <a:extLst xmlns:a="http://schemas.openxmlformats.org/drawingml/2006/main">
              <a:ext uri="{FF2B5EF4-FFF2-40B4-BE49-F238E27FC236}">
                <a16:creationId xmlns:a16="http://schemas.microsoft.com/office/drawing/2014/main" id="{BCAEBEAB-E842-452A-9B07-025A4747E5B2}"/>
              </a:ext>
            </a:extLst>
          </p:cNvPr>
          <p:cNvSpPr>
            <a:spLocks xmlns:a="http://schemas.openxmlformats.org/drawingml/2006/main" noGrp="1"/>
          </p:cNvSpPr>
          <p:nvPr/>
        </p:nvSpPr>
        <p:spPr>
          <a:xfrm xmlns:a="http://schemas.openxmlformats.org/drawingml/2006/main">
            <a:off x="685800" y="5895975"/>
            <a:ext cx="1055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353535"/>
                </a:solidFill>
              </a:defRPr>
            </a:defPPr>
            <a:lvl1pPr algn="l">
              <a:defRPr sz="1050" b="1">
                <a:solidFill>
                  <a:srgbClr val="353535"/>
                </a:solidFill>
              </a:defRPr>
            </a:lvl1pPr>
            <a:lvl2pPr algn="l">
              <a:defRPr sz="1050" b="1">
                <a:solidFill>
                  <a:srgbClr val="353535"/>
                </a:solidFill>
              </a:defRPr>
            </a:lvl2pPr>
            <a:lvl3pPr algn="l">
              <a:defRPr sz="1050" b="1">
                <a:solidFill>
                  <a:srgbClr val="353535"/>
                </a:solidFill>
              </a:defRPr>
            </a:lvl3pPr>
            <a:lvl4pPr algn="l">
              <a:defRPr sz="1050" b="1">
                <a:solidFill>
                  <a:srgbClr val="353535"/>
                </a:solidFill>
              </a:defRPr>
            </a:lvl4pPr>
            <a:lvl5pPr algn="l">
              <a:defRPr sz="1050" b="1">
                <a:solidFill>
                  <a:srgbClr val="353535"/>
                </a:solidFill>
              </a:defRPr>
            </a:lvl5pPr>
            <a:lvl6pPr algn="l">
              <a:defRPr sz="1050" b="1">
                <a:solidFill>
                  <a:srgbClr val="353535"/>
                </a:solidFill>
              </a:defRPr>
            </a:lvl6pPr>
            <a:lvl7pPr algn="l">
              <a:defRPr sz="1050" b="1">
                <a:solidFill>
                  <a:srgbClr val="353535"/>
                </a:solidFill>
              </a:defRPr>
            </a:lvl7pPr>
            <a:lvl8pPr algn="l">
              <a:defRPr sz="1050" b="1">
                <a:solidFill>
                  <a:srgbClr val="353535"/>
                </a:solidFill>
              </a:defRPr>
            </a:lvl8pPr>
            <a:lvl9pPr algn="l">
              <a:defRPr sz="1050" b="1">
                <a:solidFill>
                  <a:srgbClr val="353535"/>
                </a:solidFill>
              </a:defRPr>
            </a:lvl9pPr>
          </a:lstStyle>
          <a:p xmlns:a="http://schemas.openxmlformats.org/drawingml/2006/main">
            <a:pPr algn="l">
              <a:defRPr sz="1050" b="1">
                <a:solidFill>
                  <a:srgbClr val="353535"/>
                </a:solidFill>
              </a:defRPr>
            </a:pPr>
            <a:r>
              <a:rPr sz="1050" b="1">
                <a:solidFill>
                  <a:srgbClr val="353535"/>
                </a:solidFill>
              </a:rPr>
              <a:t>Adjusted prices are aligned across all holdings before portfolio returns are calculated</a:t>
            </a:r>
          </a:p>
        </p:txBody>
      </p:sp>
      <p:sp>
        <p:nvSpPr>
          <p:cNvPr id="26" name="">
            <a:extLst xmlns:a="http://schemas.openxmlformats.org/drawingml/2006/main">
              <a:ext uri="{FF2B5EF4-FFF2-40B4-BE49-F238E27FC236}">
                <a16:creationId xmlns:a16="http://schemas.microsoft.com/office/drawing/2014/main" id="{8D0C5D69-9421-4004-A469-5780B11CD9D4}"/>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27" name="">
            <a:extLst xmlns:a="http://schemas.openxmlformats.org/drawingml/2006/main">
              <a:ext uri="{FF2B5EF4-FFF2-40B4-BE49-F238E27FC236}">
                <a16:creationId xmlns:a16="http://schemas.microsoft.com/office/drawing/2014/main" id="{1937EE59-A39E-47AA-81ED-DC43D578B5F5}"/>
              </a:ext>
            </a:extLst>
          </p:cNvPr>
          <p:cNvSpPr>
            <a:spLocks xmlns:a="http://schemas.openxmlformats.org/drawingml/2006/main" noGrp="1"/>
          </p:cNvSpPr>
          <p:nvPr/>
        </p:nvSpPr>
        <p:spPr>
          <a:xfrm xmlns:a="http://schemas.openxmlformats.org/drawingml/2006/main">
            <a:off x="51435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0">
                <a:solidFill>
                  <a:srgbClr val="707070"/>
                </a:solidFill>
              </a:defRPr>
            </a:defPPr>
            <a:lvl1pPr algn="l">
              <a:defRPr sz="600" b="0">
                <a:solidFill>
                  <a:srgbClr val="707070"/>
                </a:solidFill>
              </a:defRPr>
            </a:lvl1pPr>
            <a:lvl2pPr algn="l">
              <a:defRPr sz="600" b="0">
                <a:solidFill>
                  <a:srgbClr val="707070"/>
                </a:solidFill>
              </a:defRPr>
            </a:lvl2pPr>
            <a:lvl3pPr algn="l">
              <a:defRPr sz="600" b="0">
                <a:solidFill>
                  <a:srgbClr val="707070"/>
                </a:solidFill>
              </a:defRPr>
            </a:lvl3pPr>
            <a:lvl4pPr algn="l">
              <a:defRPr sz="600" b="0">
                <a:solidFill>
                  <a:srgbClr val="707070"/>
                </a:solidFill>
              </a:defRPr>
            </a:lvl4pPr>
            <a:lvl5pPr algn="l">
              <a:defRPr sz="600" b="0">
                <a:solidFill>
                  <a:srgbClr val="707070"/>
                </a:solidFill>
              </a:defRPr>
            </a:lvl5pPr>
            <a:lvl6pPr algn="l">
              <a:defRPr sz="600" b="0">
                <a:solidFill>
                  <a:srgbClr val="707070"/>
                </a:solidFill>
              </a:defRPr>
            </a:lvl6pPr>
            <a:lvl7pPr algn="l">
              <a:defRPr sz="600" b="0">
                <a:solidFill>
                  <a:srgbClr val="707070"/>
                </a:solidFill>
              </a:defRPr>
            </a:lvl7pPr>
            <a:lvl8pPr algn="l">
              <a:defRPr sz="600" b="0">
                <a:solidFill>
                  <a:srgbClr val="707070"/>
                </a:solidFill>
              </a:defRPr>
            </a:lvl8pPr>
            <a:lvl9pPr algn="l">
              <a:defRPr sz="600" b="0">
                <a:solidFill>
                  <a:srgbClr val="707070"/>
                </a:solidFill>
              </a:defRPr>
            </a:lvl9pPr>
          </a:lstStyle>
          <a:p xmlns:a="http://schemas.openxmlformats.org/drawingml/2006/main">
            <a:pPr algn="l">
              <a:defRPr sz="600" b="0">
                <a:solidFill>
                  <a:srgbClr val="707070"/>
                </a:solidFill>
              </a:defRPr>
            </a:pPr>
            <a:r>
              <a:rPr sz="600" b="0">
                <a:solidFill>
                  <a:srgbClr val="707070"/>
                </a:solidFill>
              </a:rPr>
              <a:t>QFI risk engine  |  saved data through 23 October 2026</a:t>
            </a:r>
          </a:p>
        </p:txBody>
      </p:sp>
      <p:sp>
        <p:nvSpPr>
          <p:cNvPr id="28" name="">
            <a:extLst xmlns:a="http://schemas.openxmlformats.org/drawingml/2006/main">
              <a:ext uri="{FF2B5EF4-FFF2-40B4-BE49-F238E27FC236}">
                <a16:creationId xmlns:a16="http://schemas.microsoft.com/office/drawing/2014/main" id="{929F28ED-C97C-4D74-BF78-41F24681CF7D}"/>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111111"/>
                </a:solidFill>
              </a:defRPr>
            </a:defPPr>
            <a:lvl1pPr algn="r">
              <a:defRPr sz="675" b="1">
                <a:solidFill>
                  <a:srgbClr val="111111"/>
                </a:solidFill>
              </a:defRPr>
            </a:lvl1pPr>
            <a:lvl2pPr algn="r">
              <a:defRPr sz="675" b="1">
                <a:solidFill>
                  <a:srgbClr val="111111"/>
                </a:solidFill>
              </a:defRPr>
            </a:lvl2pPr>
            <a:lvl3pPr algn="r">
              <a:defRPr sz="675" b="1">
                <a:solidFill>
                  <a:srgbClr val="111111"/>
                </a:solidFill>
              </a:defRPr>
            </a:lvl3pPr>
            <a:lvl4pPr algn="r">
              <a:defRPr sz="675" b="1">
                <a:solidFill>
                  <a:srgbClr val="111111"/>
                </a:solidFill>
              </a:defRPr>
            </a:lvl4pPr>
            <a:lvl5pPr algn="r">
              <a:defRPr sz="675" b="1">
                <a:solidFill>
                  <a:srgbClr val="111111"/>
                </a:solidFill>
              </a:defRPr>
            </a:lvl5pPr>
            <a:lvl6pPr algn="r">
              <a:defRPr sz="675" b="1">
                <a:solidFill>
                  <a:srgbClr val="111111"/>
                </a:solidFill>
              </a:defRPr>
            </a:lvl6pPr>
            <a:lvl7pPr algn="r">
              <a:defRPr sz="675" b="1">
                <a:solidFill>
                  <a:srgbClr val="111111"/>
                </a:solidFill>
              </a:defRPr>
            </a:lvl7pPr>
            <a:lvl8pPr algn="r">
              <a:defRPr sz="675" b="1">
                <a:solidFill>
                  <a:srgbClr val="111111"/>
                </a:solidFill>
              </a:defRPr>
            </a:lvl8pPr>
            <a:lvl9pPr algn="r">
              <a:defRPr sz="675" b="1">
                <a:solidFill>
                  <a:srgbClr val="111111"/>
                </a:solidFill>
              </a:defRPr>
            </a:lvl9pPr>
          </a:lstStyle>
          <a:p xmlns:a="http://schemas.openxmlformats.org/drawingml/2006/main">
            <a:pPr algn="r">
              <a:defRPr sz="675" b="1">
                <a:solidFill>
                  <a:srgbClr val="111111"/>
                </a:solidFill>
              </a:defRPr>
            </a:pPr>
            <a:r>
              <a:rPr sz="675" b="1">
                <a:solidFill>
                  <a:srgbClr val="111111"/>
                </a:solidFill>
              </a:rPr>
              <a:t>03</a:t>
            </a:r>
          </a:p>
        </p:txBody>
      </p:sp>
    </p:spTree>
    <p:extLst>
      <p:ext uri="{BB962C8B-B14F-4D97-AF65-F5344CB8AC3E}">
        <p14:creationId xmlns:p14="http://schemas.microsoft.com/office/powerpoint/2010/main" val="13679578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AD06B5F-9DD4-4DE4-87C4-1899836D543B}"/>
              </a:ext>
            </a:extLst>
          </p:cNvPr>
          <p:cNvSpPr>
            <a:spLocks xmlns:a="http://schemas.openxmlformats.org/drawingml/2006/main" noGrp="1"/>
          </p:cNvSpPr>
          <p:nvPr/>
        </p:nvSpPr>
        <p:spPr>
          <a:xfrm xmlns:a="http://schemas.openxmlformats.org/drawingml/2006/main">
            <a:off x="514350" y="266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PHASE 02</a:t>
            </a:r>
          </a:p>
        </p:txBody>
      </p:sp>
      <p:sp>
        <p:nvSpPr>
          <p:cNvPr id="2" name="">
            <a:extLst xmlns:a="http://schemas.openxmlformats.org/drawingml/2006/main">
              <a:ext uri="{FF2B5EF4-FFF2-40B4-BE49-F238E27FC236}">
                <a16:creationId xmlns:a16="http://schemas.microsoft.com/office/drawing/2014/main" id="{179E4B7A-705F-4C82-AA36-F2E5001B262C}"/>
              </a:ext>
            </a:extLst>
          </p:cNvPr>
          <p:cNvSpPr>
            <a:spLocks xmlns:a="http://schemas.openxmlformats.org/drawingml/2006/main" noGrp="1"/>
          </p:cNvSpPr>
          <p:nvPr/>
        </p:nvSpPr>
        <p:spPr>
          <a:xfrm xmlns:a="http://schemas.openxmlformats.org/drawingml/2006/main">
            <a:off x="514350" y="6096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11111"/>
                </a:solidFill>
              </a:defRPr>
            </a:defPPr>
            <a:lvl1pPr algn="l">
              <a:defRPr sz="2550" b="1">
                <a:solidFill>
                  <a:srgbClr val="111111"/>
                </a:solidFill>
              </a:defRPr>
            </a:lvl1pPr>
            <a:lvl2pPr algn="l">
              <a:defRPr sz="2550" b="1">
                <a:solidFill>
                  <a:srgbClr val="111111"/>
                </a:solidFill>
              </a:defRPr>
            </a:lvl2pPr>
            <a:lvl3pPr algn="l">
              <a:defRPr sz="2550" b="1">
                <a:solidFill>
                  <a:srgbClr val="111111"/>
                </a:solidFill>
              </a:defRPr>
            </a:lvl3pPr>
            <a:lvl4pPr algn="l">
              <a:defRPr sz="2550" b="1">
                <a:solidFill>
                  <a:srgbClr val="111111"/>
                </a:solidFill>
              </a:defRPr>
            </a:lvl4pPr>
            <a:lvl5pPr algn="l">
              <a:defRPr sz="2550" b="1">
                <a:solidFill>
                  <a:srgbClr val="111111"/>
                </a:solidFill>
              </a:defRPr>
            </a:lvl5pPr>
            <a:lvl6pPr algn="l">
              <a:defRPr sz="2550" b="1">
                <a:solidFill>
                  <a:srgbClr val="111111"/>
                </a:solidFill>
              </a:defRPr>
            </a:lvl6pPr>
            <a:lvl7pPr algn="l">
              <a:defRPr sz="2550" b="1">
                <a:solidFill>
                  <a:srgbClr val="111111"/>
                </a:solidFill>
              </a:defRPr>
            </a:lvl7pPr>
            <a:lvl8pPr algn="l">
              <a:defRPr sz="2550" b="1">
                <a:solidFill>
                  <a:srgbClr val="111111"/>
                </a:solidFill>
              </a:defRPr>
            </a:lvl8pPr>
            <a:lvl9pPr algn="l">
              <a:defRPr sz="2550" b="1">
                <a:solidFill>
                  <a:srgbClr val="111111"/>
                </a:solidFill>
              </a:defRPr>
            </a:lvl9pPr>
          </a:lstStyle>
          <a:p xmlns:a="http://schemas.openxmlformats.org/drawingml/2006/main">
            <a:pPr algn="l">
              <a:defRPr sz="2550" b="1">
                <a:solidFill>
                  <a:srgbClr val="111111"/>
                </a:solidFill>
              </a:defRPr>
            </a:pPr>
            <a:r>
              <a:rPr sz="2550" b="1">
                <a:solidFill>
                  <a:srgbClr val="111111"/>
                </a:solidFill>
              </a:rPr>
              <a:t>Phase 2  Data cleaning</a:t>
            </a:r>
          </a:p>
        </p:txBody>
      </p:sp>
      <p:sp>
        <p:nvSpPr>
          <p:cNvPr id="3" name="">
            <a:extLst xmlns:a="http://schemas.openxmlformats.org/drawingml/2006/main">
              <a:ext uri="{FF2B5EF4-FFF2-40B4-BE49-F238E27FC236}">
                <a16:creationId xmlns:a16="http://schemas.microsoft.com/office/drawing/2014/main" id="{8FECFDCC-CBFA-48C5-9BC1-416F4CF18564}"/>
              </a:ext>
            </a:extLst>
          </p:cNvPr>
          <p:cNvSpPr>
            <a:spLocks xmlns:a="http://schemas.openxmlformats.org/drawingml/2006/main" noGrp="1"/>
          </p:cNvSpPr>
          <p:nvPr/>
        </p:nvSpPr>
        <p:spPr>
          <a:xfrm xmlns:a="http://schemas.openxmlformats.org/drawingml/2006/main">
            <a:off x="514350" y="11430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The portfolio is only credible when every stock return refers to the same trading day</a:t>
            </a:r>
          </a:p>
        </p:txBody>
      </p:sp>
      <p:sp>
        <p:nvSpPr>
          <p:cNvPr id="4" name="">
            <a:extLst xmlns:a="http://schemas.openxmlformats.org/drawingml/2006/main">
              <a:ext uri="{FF2B5EF4-FFF2-40B4-BE49-F238E27FC236}">
                <a16:creationId xmlns:a16="http://schemas.microsoft.com/office/drawing/2014/main" id="{655A502D-4267-4608-AA06-40FE04417395}"/>
              </a:ext>
            </a:extLst>
          </p:cNvPr>
          <p:cNvSpPr>
            <a:spLocks xmlns:a="http://schemas.openxmlformats.org/drawingml/2006/main" noGrp="1"/>
          </p:cNvSpPr>
          <p:nvPr/>
        </p:nvSpPr>
        <p:spPr>
          <a:xfrm xmlns:a="http://schemas.openxmlformats.org/drawingml/2006/main">
            <a:off x="514350" y="1495425"/>
            <a:ext cx="111633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1C1AC7B6-5051-4795-A7B4-3EC904BC94E9}"/>
              </a:ext>
            </a:extLst>
          </p:cNvPr>
          <p:cNvSpPr>
            <a:spLocks xmlns:a="http://schemas.openxmlformats.org/drawingml/2006/main" noGrp="1"/>
          </p:cNvSpPr>
          <p:nvPr/>
        </p:nvSpPr>
        <p:spPr>
          <a:xfrm xmlns:a="http://schemas.openxmlformats.org/drawingml/2006/main">
            <a:off x="10496550" y="1657350"/>
            <a:ext cx="1066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3900" b="1">
                <a:solidFill>
                  <a:srgbClr val="111111"/>
                </a:solidFill>
              </a:defRPr>
            </a:defPPr>
            <a:lvl1pPr algn="r">
              <a:defRPr sz="3900" b="1">
                <a:solidFill>
                  <a:srgbClr val="111111"/>
                </a:solidFill>
              </a:defRPr>
            </a:lvl1pPr>
            <a:lvl2pPr algn="r">
              <a:defRPr sz="3900" b="1">
                <a:solidFill>
                  <a:srgbClr val="111111"/>
                </a:solidFill>
              </a:defRPr>
            </a:lvl2pPr>
            <a:lvl3pPr algn="r">
              <a:defRPr sz="3900" b="1">
                <a:solidFill>
                  <a:srgbClr val="111111"/>
                </a:solidFill>
              </a:defRPr>
            </a:lvl3pPr>
            <a:lvl4pPr algn="r">
              <a:defRPr sz="3900" b="1">
                <a:solidFill>
                  <a:srgbClr val="111111"/>
                </a:solidFill>
              </a:defRPr>
            </a:lvl4pPr>
            <a:lvl5pPr algn="r">
              <a:defRPr sz="3900" b="1">
                <a:solidFill>
                  <a:srgbClr val="111111"/>
                </a:solidFill>
              </a:defRPr>
            </a:lvl5pPr>
            <a:lvl6pPr algn="r">
              <a:defRPr sz="3900" b="1">
                <a:solidFill>
                  <a:srgbClr val="111111"/>
                </a:solidFill>
              </a:defRPr>
            </a:lvl6pPr>
            <a:lvl7pPr algn="r">
              <a:defRPr sz="3900" b="1">
                <a:solidFill>
                  <a:srgbClr val="111111"/>
                </a:solidFill>
              </a:defRPr>
            </a:lvl7pPr>
            <a:lvl8pPr algn="r">
              <a:defRPr sz="3900" b="1">
                <a:solidFill>
                  <a:srgbClr val="111111"/>
                </a:solidFill>
              </a:defRPr>
            </a:lvl8pPr>
            <a:lvl9pPr algn="r">
              <a:defRPr sz="3900" b="1">
                <a:solidFill>
                  <a:srgbClr val="111111"/>
                </a:solidFill>
              </a:defRPr>
            </a:lvl9pPr>
          </a:lstStyle>
          <a:p xmlns:a="http://schemas.openxmlformats.org/drawingml/2006/main">
            <a:pPr algn="r">
              <a:defRPr sz="3900" b="1">
                <a:solidFill>
                  <a:srgbClr val="111111"/>
                </a:solidFill>
              </a:defRPr>
            </a:pPr>
            <a:r>
              <a:rPr sz="3900" b="1">
                <a:solidFill>
                  <a:srgbClr val="111111"/>
                </a:solidFill>
              </a:rPr>
              <a:t>02</a:t>
            </a:r>
          </a:p>
        </p:txBody>
      </p:sp>
      <p:sp>
        <p:nvSpPr>
          <p:cNvPr id="6" name="">
            <a:extLst xmlns:a="http://schemas.openxmlformats.org/drawingml/2006/main">
              <a:ext uri="{FF2B5EF4-FFF2-40B4-BE49-F238E27FC236}">
                <a16:creationId xmlns:a16="http://schemas.microsoft.com/office/drawing/2014/main" id="{15AD95A4-A9BC-4430-B907-A529A86ADAEA}"/>
              </a:ext>
            </a:extLst>
          </p:cNvPr>
          <p:cNvSpPr>
            <a:spLocks xmlns:a="http://schemas.openxmlformats.org/drawingml/2006/main" noGrp="1"/>
          </p:cNvSpPr>
          <p:nvPr/>
        </p:nvSpPr>
        <p:spPr>
          <a:xfrm xmlns:a="http://schemas.openxmlformats.org/drawingml/2006/main">
            <a:off x="504825" y="1724025"/>
            <a:ext cx="5829300"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7" name="">
            <a:extLst xmlns:a="http://schemas.openxmlformats.org/drawingml/2006/main">
              <a:ext uri="{FF2B5EF4-FFF2-40B4-BE49-F238E27FC236}">
                <a16:creationId xmlns:a16="http://schemas.microsoft.com/office/drawing/2014/main" id="{1D6CC22D-7A84-402D-A490-7EBEE7D24D60}"/>
              </a:ext>
            </a:extLst>
          </p:cNvPr>
          <p:cNvSpPr>
            <a:spLocks xmlns:a="http://schemas.openxmlformats.org/drawingml/2006/main" noGrp="1"/>
          </p:cNvSpPr>
          <p:nvPr/>
        </p:nvSpPr>
        <p:spPr>
          <a:xfrm xmlns:a="http://schemas.openxmlformats.org/drawingml/2006/main">
            <a:off x="628650" y="1800225"/>
            <a:ext cx="5581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Apple daily returns</a:t>
            </a:r>
          </a:p>
        </p:txBody>
      </p:sp>
      <p:pic>
        <p:nvPicPr>
          <p:cNvPr id="8" name="">
            <a:extLst xmlns:a="http://schemas.openxmlformats.org/drawingml/2006/main">
              <a:ext uri="{FF2B5EF4-FFF2-40B4-BE49-F238E27FC236}">
                <a16:creationId xmlns:a16="http://schemas.microsoft.com/office/drawing/2014/main" id="{99CDD700-5379-4AD7-B0C0-41BAF9AB8887}"/>
              </a:ext>
            </a:extLst>
          </p:cNvPr>
          <p:cNvPicPr>
            <a:picLocks xmlns:a="http://schemas.openxmlformats.org/drawingml/2006/main" noChangeAspect="1"/>
          </p:cNvPicPr>
          <p:nvPr/>
        </p:nvPicPr>
        <p:blipFill>
          <a:blip xmlns:r="http://schemas.openxmlformats.org/officeDocument/2006/relationships" xmlns:a="http://schemas.openxmlformats.org/drawingml/2006/main" r:embed="Ra414479da37f4204"/>
          <a:stretch xmlns:a="http://schemas.openxmlformats.org/drawingml/2006/main"/>
        </p:blipFill>
        <p:spPr>
          <a:xfrm xmlns:a="http://schemas.openxmlformats.org/drawingml/2006/main">
            <a:off x="934164" y="2009775"/>
            <a:ext cx="4970621" cy="14001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AEFBAE2-FD3A-4FAE-B213-368717A617A2}"/>
              </a:ext>
            </a:extLst>
          </p:cNvPr>
          <p:cNvSpPr>
            <a:spLocks xmlns:a="http://schemas.openxmlformats.org/drawingml/2006/main" noGrp="1"/>
          </p:cNvSpPr>
          <p:nvPr/>
        </p:nvSpPr>
        <p:spPr>
          <a:xfrm xmlns:a="http://schemas.openxmlformats.org/drawingml/2006/main">
            <a:off x="504825" y="3552825"/>
            <a:ext cx="5829300" cy="177165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10" name="">
            <a:extLst xmlns:a="http://schemas.openxmlformats.org/drawingml/2006/main">
              <a:ext uri="{FF2B5EF4-FFF2-40B4-BE49-F238E27FC236}">
                <a16:creationId xmlns:a16="http://schemas.microsoft.com/office/drawing/2014/main" id="{1FF99B8B-004D-4FBD-ADC9-18B6B18A1829}"/>
              </a:ext>
            </a:extLst>
          </p:cNvPr>
          <p:cNvSpPr>
            <a:spLocks xmlns:a="http://schemas.openxmlformats.org/drawingml/2006/main" noGrp="1"/>
          </p:cNvSpPr>
          <p:nvPr/>
        </p:nvSpPr>
        <p:spPr>
          <a:xfrm xmlns:a="http://schemas.openxmlformats.org/drawingml/2006/main">
            <a:off x="628650" y="3629025"/>
            <a:ext cx="5581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Rolling annualized volatility: Apple vs other holdings</a:t>
            </a:r>
          </a:p>
        </p:txBody>
      </p:sp>
      <p:pic>
        <p:nvPicPr>
          <p:cNvPr id="11" name="">
            <a:extLst xmlns:a="http://schemas.openxmlformats.org/drawingml/2006/main">
              <a:ext uri="{FF2B5EF4-FFF2-40B4-BE49-F238E27FC236}">
                <a16:creationId xmlns:a16="http://schemas.microsoft.com/office/drawing/2014/main" id="{10A7E551-3A5E-4B8D-8EF3-6EFCB4D95FDA}"/>
              </a:ext>
            </a:extLst>
          </p:cNvPr>
          <p:cNvPicPr>
            <a:picLocks xmlns:a="http://schemas.openxmlformats.org/drawingml/2006/main" noChangeAspect="1"/>
          </p:cNvPicPr>
          <p:nvPr/>
        </p:nvPicPr>
        <p:blipFill>
          <a:blip xmlns:r="http://schemas.openxmlformats.org/officeDocument/2006/relationships" xmlns:a="http://schemas.openxmlformats.org/drawingml/2006/main" r:embed="R236ed76275b3445c"/>
          <a:stretch xmlns:a="http://schemas.openxmlformats.org/drawingml/2006/main"/>
        </p:blipFill>
        <p:spPr>
          <a:xfrm xmlns:a="http://schemas.openxmlformats.org/drawingml/2006/main">
            <a:off x="1005173" y="3838575"/>
            <a:ext cx="4828604" cy="14573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C78480A-9A7F-4961-A568-1CA7EE77C334}"/>
              </a:ext>
            </a:extLst>
          </p:cNvPr>
          <p:cNvSpPr>
            <a:spLocks xmlns:a="http://schemas.openxmlformats.org/drawingml/2006/main" noGrp="1"/>
          </p:cNvSpPr>
          <p:nvPr/>
        </p:nvSpPr>
        <p:spPr>
          <a:xfrm xmlns:a="http://schemas.openxmlformats.org/drawingml/2006/main">
            <a:off x="6800850" y="18097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WHY THIS MATTERS</a:t>
            </a:r>
          </a:p>
        </p:txBody>
      </p:sp>
      <p:sp>
        <p:nvSpPr>
          <p:cNvPr id="13" name="">
            <a:extLst xmlns:a="http://schemas.openxmlformats.org/drawingml/2006/main">
              <a:ext uri="{FF2B5EF4-FFF2-40B4-BE49-F238E27FC236}">
                <a16:creationId xmlns:a16="http://schemas.microsoft.com/office/drawing/2014/main" id="{D5D37FC6-A2F2-42C1-BD1C-083BB8A5C23C}"/>
              </a:ext>
            </a:extLst>
          </p:cNvPr>
          <p:cNvSpPr>
            <a:spLocks xmlns:a="http://schemas.openxmlformats.org/drawingml/2006/main" noGrp="1"/>
          </p:cNvSpPr>
          <p:nvPr/>
        </p:nvSpPr>
        <p:spPr>
          <a:xfrm xmlns:a="http://schemas.openxmlformats.org/drawingml/2006/main">
            <a:off x="6800850" y="217170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14" name="">
            <a:extLst xmlns:a="http://schemas.openxmlformats.org/drawingml/2006/main">
              <a:ext uri="{FF2B5EF4-FFF2-40B4-BE49-F238E27FC236}">
                <a16:creationId xmlns:a16="http://schemas.microsoft.com/office/drawing/2014/main" id="{B169FEBE-8437-4801-ABD0-B983533773DA}"/>
              </a:ext>
            </a:extLst>
          </p:cNvPr>
          <p:cNvSpPr>
            <a:spLocks xmlns:a="http://schemas.openxmlformats.org/drawingml/2006/main" noGrp="1"/>
          </p:cNvSpPr>
          <p:nvPr/>
        </p:nvSpPr>
        <p:spPr>
          <a:xfrm xmlns:a="http://schemas.openxmlformats.org/drawingml/2006/main">
            <a:off x="6953250" y="2133600"/>
            <a:ext cx="424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Comparable prices</a:t>
            </a:r>
          </a:p>
        </p:txBody>
      </p:sp>
      <p:sp>
        <p:nvSpPr>
          <p:cNvPr id="15" name="">
            <a:extLst xmlns:a="http://schemas.openxmlformats.org/drawingml/2006/main">
              <a:ext uri="{FF2B5EF4-FFF2-40B4-BE49-F238E27FC236}">
                <a16:creationId xmlns:a16="http://schemas.microsoft.com/office/drawing/2014/main" id="{E6BDA5C7-B8CD-4DAF-80CC-C13734E9ACE4}"/>
              </a:ext>
            </a:extLst>
          </p:cNvPr>
          <p:cNvSpPr>
            <a:spLocks xmlns:a="http://schemas.openxmlformats.org/drawingml/2006/main" noGrp="1"/>
          </p:cNvSpPr>
          <p:nvPr/>
        </p:nvSpPr>
        <p:spPr>
          <a:xfrm xmlns:a="http://schemas.openxmlformats.org/drawingml/2006/main">
            <a:off x="6953250" y="2371725"/>
            <a:ext cx="4248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Split and dividend adjustments prevent corporate actions from creating false returns.</a:t>
            </a:r>
          </a:p>
        </p:txBody>
      </p:sp>
      <p:sp>
        <p:nvSpPr>
          <p:cNvPr id="16" name="">
            <a:extLst xmlns:a="http://schemas.openxmlformats.org/drawingml/2006/main">
              <a:ext uri="{FF2B5EF4-FFF2-40B4-BE49-F238E27FC236}">
                <a16:creationId xmlns:a16="http://schemas.microsoft.com/office/drawing/2014/main" id="{0C2B468D-61C2-4501-BFC9-1B5E89A39A47}"/>
              </a:ext>
            </a:extLst>
          </p:cNvPr>
          <p:cNvSpPr>
            <a:spLocks xmlns:a="http://schemas.openxmlformats.org/drawingml/2006/main" noGrp="1"/>
          </p:cNvSpPr>
          <p:nvPr/>
        </p:nvSpPr>
        <p:spPr>
          <a:xfrm xmlns:a="http://schemas.openxmlformats.org/drawingml/2006/main">
            <a:off x="6800850" y="306705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17" name="">
            <a:extLst xmlns:a="http://schemas.openxmlformats.org/drawingml/2006/main">
              <a:ext uri="{FF2B5EF4-FFF2-40B4-BE49-F238E27FC236}">
                <a16:creationId xmlns:a16="http://schemas.microsoft.com/office/drawing/2014/main" id="{9081E3E0-1D49-418D-B586-81EBA1E7F7D4}"/>
              </a:ext>
            </a:extLst>
          </p:cNvPr>
          <p:cNvSpPr>
            <a:spLocks xmlns:a="http://schemas.openxmlformats.org/drawingml/2006/main" noGrp="1"/>
          </p:cNvSpPr>
          <p:nvPr/>
        </p:nvSpPr>
        <p:spPr>
          <a:xfrm xmlns:a="http://schemas.openxmlformats.org/drawingml/2006/main">
            <a:off x="6953250" y="3028950"/>
            <a:ext cx="424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One shared calendar</a:t>
            </a:r>
          </a:p>
        </p:txBody>
      </p:sp>
      <p:sp>
        <p:nvSpPr>
          <p:cNvPr id="18" name="">
            <a:extLst xmlns:a="http://schemas.openxmlformats.org/drawingml/2006/main">
              <a:ext uri="{FF2B5EF4-FFF2-40B4-BE49-F238E27FC236}">
                <a16:creationId xmlns:a16="http://schemas.microsoft.com/office/drawing/2014/main" id="{B458F5E4-9EAB-4A7B-A7B6-D13F25B179C1}"/>
              </a:ext>
            </a:extLst>
          </p:cNvPr>
          <p:cNvSpPr>
            <a:spLocks xmlns:a="http://schemas.openxmlformats.org/drawingml/2006/main" noGrp="1"/>
          </p:cNvSpPr>
          <p:nvPr/>
        </p:nvSpPr>
        <p:spPr>
          <a:xfrm xmlns:a="http://schemas.openxmlformats.org/drawingml/2006/main">
            <a:off x="6953250" y="3267075"/>
            <a:ext cx="4248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Every stock movement refers to the same trading date before the portfolio is combined.</a:t>
            </a:r>
          </a:p>
        </p:txBody>
      </p:sp>
      <p:sp>
        <p:nvSpPr>
          <p:cNvPr id="19" name="">
            <a:extLst xmlns:a="http://schemas.openxmlformats.org/drawingml/2006/main">
              <a:ext uri="{FF2B5EF4-FFF2-40B4-BE49-F238E27FC236}">
                <a16:creationId xmlns:a16="http://schemas.microsoft.com/office/drawing/2014/main" id="{61DE0846-B687-4475-B9E1-F8A16AB7E552}"/>
              </a:ext>
            </a:extLst>
          </p:cNvPr>
          <p:cNvSpPr>
            <a:spLocks xmlns:a="http://schemas.openxmlformats.org/drawingml/2006/main" noGrp="1"/>
          </p:cNvSpPr>
          <p:nvPr/>
        </p:nvSpPr>
        <p:spPr>
          <a:xfrm xmlns:a="http://schemas.openxmlformats.org/drawingml/2006/main">
            <a:off x="6800850" y="3962400"/>
            <a:ext cx="38100" cy="4572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20" name="">
            <a:extLst xmlns:a="http://schemas.openxmlformats.org/drawingml/2006/main">
              <a:ext uri="{FF2B5EF4-FFF2-40B4-BE49-F238E27FC236}">
                <a16:creationId xmlns:a16="http://schemas.microsoft.com/office/drawing/2014/main" id="{98812299-5500-4C14-869D-C6069807DBF4}"/>
              </a:ext>
            </a:extLst>
          </p:cNvPr>
          <p:cNvSpPr>
            <a:spLocks xmlns:a="http://schemas.openxmlformats.org/drawingml/2006/main" noGrp="1"/>
          </p:cNvSpPr>
          <p:nvPr/>
        </p:nvSpPr>
        <p:spPr>
          <a:xfrm xmlns:a="http://schemas.openxmlformats.org/drawingml/2006/main">
            <a:off x="6953250" y="3924300"/>
            <a:ext cx="424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Real shocks preserved</a:t>
            </a:r>
          </a:p>
        </p:txBody>
      </p:sp>
      <p:sp>
        <p:nvSpPr>
          <p:cNvPr id="21" name="">
            <a:extLst xmlns:a="http://schemas.openxmlformats.org/drawingml/2006/main">
              <a:ext uri="{FF2B5EF4-FFF2-40B4-BE49-F238E27FC236}">
                <a16:creationId xmlns:a16="http://schemas.microsoft.com/office/drawing/2014/main" id="{E84A833E-73A5-45DE-BF6E-71DFE473970B}"/>
              </a:ext>
            </a:extLst>
          </p:cNvPr>
          <p:cNvSpPr>
            <a:spLocks xmlns:a="http://schemas.openxmlformats.org/drawingml/2006/main" noGrp="1"/>
          </p:cNvSpPr>
          <p:nvPr/>
        </p:nvSpPr>
        <p:spPr>
          <a:xfrm xmlns:a="http://schemas.openxmlformats.org/drawingml/2006/main">
            <a:off x="6953250" y="4162425"/>
            <a:ext cx="4248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Genuine crashes remain in the sample because they contain the tail-risk information we need.</a:t>
            </a:r>
          </a:p>
        </p:txBody>
      </p:sp>
      <p:sp>
        <p:nvSpPr>
          <p:cNvPr id="22" name="">
            <a:extLst xmlns:a="http://schemas.openxmlformats.org/drawingml/2006/main">
              <a:ext uri="{FF2B5EF4-FFF2-40B4-BE49-F238E27FC236}">
                <a16:creationId xmlns:a16="http://schemas.microsoft.com/office/drawing/2014/main" id="{23AED03C-C80F-4C54-9777-0E23A5991680}"/>
              </a:ext>
            </a:extLst>
          </p:cNvPr>
          <p:cNvSpPr>
            <a:spLocks xmlns:a="http://schemas.openxmlformats.org/drawingml/2006/main" noGrp="1"/>
          </p:cNvSpPr>
          <p:nvPr/>
        </p:nvSpPr>
        <p:spPr>
          <a:xfrm xmlns:a="http://schemas.openxmlformats.org/drawingml/2006/main">
            <a:off x="6800850" y="485775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23" name="">
            <a:extLst xmlns:a="http://schemas.openxmlformats.org/drawingml/2006/main">
              <a:ext uri="{FF2B5EF4-FFF2-40B4-BE49-F238E27FC236}">
                <a16:creationId xmlns:a16="http://schemas.microsoft.com/office/drawing/2014/main" id="{65149F0D-FAC8-4655-95DB-E59C200B132B}"/>
              </a:ext>
            </a:extLst>
          </p:cNvPr>
          <p:cNvSpPr>
            <a:spLocks xmlns:a="http://schemas.openxmlformats.org/drawingml/2006/main" noGrp="1"/>
          </p:cNvSpPr>
          <p:nvPr/>
        </p:nvSpPr>
        <p:spPr>
          <a:xfrm xmlns:a="http://schemas.openxmlformats.org/drawingml/2006/main">
            <a:off x="6953250" y="4819650"/>
            <a:ext cx="424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Model-ready output</a:t>
            </a:r>
          </a:p>
        </p:txBody>
      </p:sp>
      <p:sp>
        <p:nvSpPr>
          <p:cNvPr id="24" name="">
            <a:extLst xmlns:a="http://schemas.openxmlformats.org/drawingml/2006/main">
              <a:ext uri="{FF2B5EF4-FFF2-40B4-BE49-F238E27FC236}">
                <a16:creationId xmlns:a16="http://schemas.microsoft.com/office/drawing/2014/main" id="{2522E546-0541-4DA6-A601-7EC41530BE7B}"/>
              </a:ext>
            </a:extLst>
          </p:cNvPr>
          <p:cNvSpPr>
            <a:spLocks xmlns:a="http://schemas.openxmlformats.org/drawingml/2006/main" noGrp="1"/>
          </p:cNvSpPr>
          <p:nvPr/>
        </p:nvSpPr>
        <p:spPr>
          <a:xfrm xmlns:a="http://schemas.openxmlformats.org/drawingml/2006/main">
            <a:off x="6953250" y="5057775"/>
            <a:ext cx="4248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Clean stock returns feed the portfolio return series and the rolling risk models.</a:t>
            </a:r>
          </a:p>
        </p:txBody>
      </p:sp>
      <p:sp>
        <p:nvSpPr>
          <p:cNvPr id="25" name="">
            <a:extLst xmlns:a="http://schemas.openxmlformats.org/drawingml/2006/main">
              <a:ext uri="{FF2B5EF4-FFF2-40B4-BE49-F238E27FC236}">
                <a16:creationId xmlns:a16="http://schemas.microsoft.com/office/drawing/2014/main" id="{AA877062-0694-4153-8103-F8510643D0E3}"/>
              </a:ext>
            </a:extLst>
          </p:cNvPr>
          <p:cNvSpPr>
            <a:spLocks xmlns:a="http://schemas.openxmlformats.org/drawingml/2006/main" noGrp="1"/>
          </p:cNvSpPr>
          <p:nvPr/>
        </p:nvSpPr>
        <p:spPr>
          <a:xfrm xmlns:a="http://schemas.openxmlformats.org/drawingml/2006/main">
            <a:off x="6800850" y="5734050"/>
            <a:ext cx="4400550" cy="457200"/>
          </a:xfrm>
          <a:prstGeom xmlns:a="http://schemas.openxmlformats.org/drawingml/2006/main" prst="rect">
            <a:avLst/>
          </a:prstGeom>
          <a:solidFill xmlns:a="http://schemas.openxmlformats.org/drawingml/2006/main">
            <a:srgbClr val="F5F5F2"/>
          </a:solidFill>
          <a:ln xmlns:a="http://schemas.openxmlformats.org/drawingml/2006/main" w="0">
            <a:solidFill>
              <a:srgbClr val="F5F5F2"/>
            </a:solidFill>
            <a:prstDash val="solid"/>
          </a:ln>
        </p:spPr>
      </p:sp>
      <p:sp>
        <p:nvSpPr>
          <p:cNvPr id="26" name="">
            <a:extLst xmlns:a="http://schemas.openxmlformats.org/drawingml/2006/main">
              <a:ext uri="{FF2B5EF4-FFF2-40B4-BE49-F238E27FC236}">
                <a16:creationId xmlns:a16="http://schemas.microsoft.com/office/drawing/2014/main" id="{6BC35FB8-165E-4F2D-9C44-4608FA40DD05}"/>
              </a:ext>
            </a:extLst>
          </p:cNvPr>
          <p:cNvSpPr>
            <a:spLocks xmlns:a="http://schemas.openxmlformats.org/drawingml/2006/main" noGrp="1"/>
          </p:cNvSpPr>
          <p:nvPr/>
        </p:nvSpPr>
        <p:spPr>
          <a:xfrm xmlns:a="http://schemas.openxmlformats.org/drawingml/2006/main">
            <a:off x="6800850" y="5734050"/>
            <a:ext cx="47625" cy="4572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27" name="">
            <a:extLst xmlns:a="http://schemas.openxmlformats.org/drawingml/2006/main">
              <a:ext uri="{FF2B5EF4-FFF2-40B4-BE49-F238E27FC236}">
                <a16:creationId xmlns:a16="http://schemas.microsoft.com/office/drawing/2014/main" id="{CB5C61A7-59EF-4CE8-9D75-C4F07688E970}"/>
              </a:ext>
            </a:extLst>
          </p:cNvPr>
          <p:cNvSpPr>
            <a:spLocks xmlns:a="http://schemas.openxmlformats.org/drawingml/2006/main" noGrp="1"/>
          </p:cNvSpPr>
          <p:nvPr/>
        </p:nvSpPr>
        <p:spPr>
          <a:xfrm xmlns:a="http://schemas.openxmlformats.org/drawingml/2006/main">
            <a:off x="6972300" y="5781675"/>
            <a:ext cx="4114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353535"/>
                </a:solidFill>
              </a:defRPr>
            </a:defPPr>
            <a:lvl1pPr algn="l">
              <a:defRPr sz="1050" b="1">
                <a:solidFill>
                  <a:srgbClr val="353535"/>
                </a:solidFill>
              </a:defRPr>
            </a:lvl1pPr>
            <a:lvl2pPr algn="l">
              <a:defRPr sz="1050" b="1">
                <a:solidFill>
                  <a:srgbClr val="353535"/>
                </a:solidFill>
              </a:defRPr>
            </a:lvl2pPr>
            <a:lvl3pPr algn="l">
              <a:defRPr sz="1050" b="1">
                <a:solidFill>
                  <a:srgbClr val="353535"/>
                </a:solidFill>
              </a:defRPr>
            </a:lvl3pPr>
            <a:lvl4pPr algn="l">
              <a:defRPr sz="1050" b="1">
                <a:solidFill>
                  <a:srgbClr val="353535"/>
                </a:solidFill>
              </a:defRPr>
            </a:lvl4pPr>
            <a:lvl5pPr algn="l">
              <a:defRPr sz="1050" b="1">
                <a:solidFill>
                  <a:srgbClr val="353535"/>
                </a:solidFill>
              </a:defRPr>
            </a:lvl5pPr>
            <a:lvl6pPr algn="l">
              <a:defRPr sz="1050" b="1">
                <a:solidFill>
                  <a:srgbClr val="353535"/>
                </a:solidFill>
              </a:defRPr>
            </a:lvl6pPr>
            <a:lvl7pPr algn="l">
              <a:defRPr sz="1050" b="1">
                <a:solidFill>
                  <a:srgbClr val="353535"/>
                </a:solidFill>
              </a:defRPr>
            </a:lvl7pPr>
            <a:lvl8pPr algn="l">
              <a:defRPr sz="1050" b="1">
                <a:solidFill>
                  <a:srgbClr val="353535"/>
                </a:solidFill>
              </a:defRPr>
            </a:lvl8pPr>
            <a:lvl9pPr algn="l">
              <a:defRPr sz="1050" b="1">
                <a:solidFill>
                  <a:srgbClr val="353535"/>
                </a:solidFill>
              </a:defRPr>
            </a:lvl9pPr>
          </a:lstStyle>
          <a:p xmlns:a="http://schemas.openxmlformats.org/drawingml/2006/main">
            <a:pPr algn="l">
              <a:defRPr sz="1050" b="1">
                <a:solidFill>
                  <a:srgbClr val="353535"/>
                </a:solidFill>
              </a:defRPr>
            </a:pPr>
            <a:r>
              <a:rPr sz="1050" b="1">
                <a:solidFill>
                  <a:srgbClr val="353535"/>
                </a:solidFill>
              </a:rPr>
              <a:t>Output: clean prices, clean returns, portfolio returns and rolling volatility</a:t>
            </a:r>
          </a:p>
        </p:txBody>
      </p:sp>
      <p:sp>
        <p:nvSpPr>
          <p:cNvPr id="28" name="">
            <a:extLst xmlns:a="http://schemas.openxmlformats.org/drawingml/2006/main">
              <a:ext uri="{FF2B5EF4-FFF2-40B4-BE49-F238E27FC236}">
                <a16:creationId xmlns:a16="http://schemas.microsoft.com/office/drawing/2014/main" id="{397C3DD8-90A8-4B0E-B06A-1147657B4A15}"/>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29" name="">
            <a:extLst xmlns:a="http://schemas.openxmlformats.org/drawingml/2006/main">
              <a:ext uri="{FF2B5EF4-FFF2-40B4-BE49-F238E27FC236}">
                <a16:creationId xmlns:a16="http://schemas.microsoft.com/office/drawing/2014/main" id="{9F142C9B-B151-4088-A522-16685C7B5E01}"/>
              </a:ext>
            </a:extLst>
          </p:cNvPr>
          <p:cNvSpPr>
            <a:spLocks xmlns:a="http://schemas.openxmlformats.org/drawingml/2006/main" noGrp="1"/>
          </p:cNvSpPr>
          <p:nvPr/>
        </p:nvSpPr>
        <p:spPr>
          <a:xfrm xmlns:a="http://schemas.openxmlformats.org/drawingml/2006/main">
            <a:off x="51435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0">
                <a:solidFill>
                  <a:srgbClr val="707070"/>
                </a:solidFill>
              </a:defRPr>
            </a:defPPr>
            <a:lvl1pPr algn="l">
              <a:defRPr sz="600" b="0">
                <a:solidFill>
                  <a:srgbClr val="707070"/>
                </a:solidFill>
              </a:defRPr>
            </a:lvl1pPr>
            <a:lvl2pPr algn="l">
              <a:defRPr sz="600" b="0">
                <a:solidFill>
                  <a:srgbClr val="707070"/>
                </a:solidFill>
              </a:defRPr>
            </a:lvl2pPr>
            <a:lvl3pPr algn="l">
              <a:defRPr sz="600" b="0">
                <a:solidFill>
                  <a:srgbClr val="707070"/>
                </a:solidFill>
              </a:defRPr>
            </a:lvl3pPr>
            <a:lvl4pPr algn="l">
              <a:defRPr sz="600" b="0">
                <a:solidFill>
                  <a:srgbClr val="707070"/>
                </a:solidFill>
              </a:defRPr>
            </a:lvl4pPr>
            <a:lvl5pPr algn="l">
              <a:defRPr sz="600" b="0">
                <a:solidFill>
                  <a:srgbClr val="707070"/>
                </a:solidFill>
              </a:defRPr>
            </a:lvl5pPr>
            <a:lvl6pPr algn="l">
              <a:defRPr sz="600" b="0">
                <a:solidFill>
                  <a:srgbClr val="707070"/>
                </a:solidFill>
              </a:defRPr>
            </a:lvl6pPr>
            <a:lvl7pPr algn="l">
              <a:defRPr sz="600" b="0">
                <a:solidFill>
                  <a:srgbClr val="707070"/>
                </a:solidFill>
              </a:defRPr>
            </a:lvl7pPr>
            <a:lvl8pPr algn="l">
              <a:defRPr sz="600" b="0">
                <a:solidFill>
                  <a:srgbClr val="707070"/>
                </a:solidFill>
              </a:defRPr>
            </a:lvl8pPr>
            <a:lvl9pPr algn="l">
              <a:defRPr sz="600" b="0">
                <a:solidFill>
                  <a:srgbClr val="707070"/>
                </a:solidFill>
              </a:defRPr>
            </a:lvl9pPr>
          </a:lstStyle>
          <a:p xmlns:a="http://schemas.openxmlformats.org/drawingml/2006/main">
            <a:pPr algn="l">
              <a:defRPr sz="600" b="0">
                <a:solidFill>
                  <a:srgbClr val="707070"/>
                </a:solidFill>
              </a:defRPr>
            </a:pPr>
            <a:r>
              <a:rPr sz="600" b="0">
                <a:solidFill>
                  <a:srgbClr val="707070"/>
                </a:solidFill>
              </a:rPr>
              <a:t>QFI risk engine  |  saved data through 23 October 2026</a:t>
            </a:r>
          </a:p>
        </p:txBody>
      </p:sp>
      <p:sp>
        <p:nvSpPr>
          <p:cNvPr id="30" name="">
            <a:extLst xmlns:a="http://schemas.openxmlformats.org/drawingml/2006/main">
              <a:ext uri="{FF2B5EF4-FFF2-40B4-BE49-F238E27FC236}">
                <a16:creationId xmlns:a16="http://schemas.microsoft.com/office/drawing/2014/main" id="{69A11EF0-8352-4B39-AE20-CFDAFC9568A8}"/>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111111"/>
                </a:solidFill>
              </a:defRPr>
            </a:defPPr>
            <a:lvl1pPr algn="r">
              <a:defRPr sz="675" b="1">
                <a:solidFill>
                  <a:srgbClr val="111111"/>
                </a:solidFill>
              </a:defRPr>
            </a:lvl1pPr>
            <a:lvl2pPr algn="r">
              <a:defRPr sz="675" b="1">
                <a:solidFill>
                  <a:srgbClr val="111111"/>
                </a:solidFill>
              </a:defRPr>
            </a:lvl2pPr>
            <a:lvl3pPr algn="r">
              <a:defRPr sz="675" b="1">
                <a:solidFill>
                  <a:srgbClr val="111111"/>
                </a:solidFill>
              </a:defRPr>
            </a:lvl3pPr>
            <a:lvl4pPr algn="r">
              <a:defRPr sz="675" b="1">
                <a:solidFill>
                  <a:srgbClr val="111111"/>
                </a:solidFill>
              </a:defRPr>
            </a:lvl4pPr>
            <a:lvl5pPr algn="r">
              <a:defRPr sz="675" b="1">
                <a:solidFill>
                  <a:srgbClr val="111111"/>
                </a:solidFill>
              </a:defRPr>
            </a:lvl5pPr>
            <a:lvl6pPr algn="r">
              <a:defRPr sz="675" b="1">
                <a:solidFill>
                  <a:srgbClr val="111111"/>
                </a:solidFill>
              </a:defRPr>
            </a:lvl6pPr>
            <a:lvl7pPr algn="r">
              <a:defRPr sz="675" b="1">
                <a:solidFill>
                  <a:srgbClr val="111111"/>
                </a:solidFill>
              </a:defRPr>
            </a:lvl7pPr>
            <a:lvl8pPr algn="r">
              <a:defRPr sz="675" b="1">
                <a:solidFill>
                  <a:srgbClr val="111111"/>
                </a:solidFill>
              </a:defRPr>
            </a:lvl8pPr>
            <a:lvl9pPr algn="r">
              <a:defRPr sz="675" b="1">
                <a:solidFill>
                  <a:srgbClr val="111111"/>
                </a:solidFill>
              </a:defRPr>
            </a:lvl9pPr>
          </a:lstStyle>
          <a:p xmlns:a="http://schemas.openxmlformats.org/drawingml/2006/main">
            <a:pPr algn="r">
              <a:defRPr sz="675" b="1">
                <a:solidFill>
                  <a:srgbClr val="111111"/>
                </a:solidFill>
              </a:defRPr>
            </a:pPr>
            <a:r>
              <a:rPr sz="675" b="1">
                <a:solidFill>
                  <a:srgbClr val="111111"/>
                </a:solidFill>
              </a:rPr>
              <a:t>04</a:t>
            </a:r>
          </a:p>
        </p:txBody>
      </p:sp>
    </p:spTree>
    <p:extLst>
      <p:ext uri="{BB962C8B-B14F-4D97-AF65-F5344CB8AC3E}">
        <p14:creationId xmlns:p14="http://schemas.microsoft.com/office/powerpoint/2010/main" val="10866835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5CFB74F-24EB-4733-BC62-89FC4E947ACE}"/>
              </a:ext>
            </a:extLst>
          </p:cNvPr>
          <p:cNvSpPr>
            <a:spLocks xmlns:a="http://schemas.openxmlformats.org/drawingml/2006/main" noGrp="1"/>
          </p:cNvSpPr>
          <p:nvPr/>
        </p:nvSpPr>
        <p:spPr>
          <a:xfrm xmlns:a="http://schemas.openxmlformats.org/drawingml/2006/main">
            <a:off x="514350" y="266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PHASE 03</a:t>
            </a:r>
          </a:p>
        </p:txBody>
      </p:sp>
      <p:sp>
        <p:nvSpPr>
          <p:cNvPr id="2" name="">
            <a:extLst xmlns:a="http://schemas.openxmlformats.org/drawingml/2006/main">
              <a:ext uri="{FF2B5EF4-FFF2-40B4-BE49-F238E27FC236}">
                <a16:creationId xmlns:a16="http://schemas.microsoft.com/office/drawing/2014/main" id="{E0773C51-397B-4D02-AB7C-F6D51B26C7A8}"/>
              </a:ext>
            </a:extLst>
          </p:cNvPr>
          <p:cNvSpPr>
            <a:spLocks xmlns:a="http://schemas.openxmlformats.org/drawingml/2006/main" noGrp="1"/>
          </p:cNvSpPr>
          <p:nvPr/>
        </p:nvSpPr>
        <p:spPr>
          <a:xfrm xmlns:a="http://schemas.openxmlformats.org/drawingml/2006/main">
            <a:off x="514350" y="6096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11111"/>
                </a:solidFill>
              </a:defRPr>
            </a:defPPr>
            <a:lvl1pPr algn="l">
              <a:defRPr sz="2550" b="1">
                <a:solidFill>
                  <a:srgbClr val="111111"/>
                </a:solidFill>
              </a:defRPr>
            </a:lvl1pPr>
            <a:lvl2pPr algn="l">
              <a:defRPr sz="2550" b="1">
                <a:solidFill>
                  <a:srgbClr val="111111"/>
                </a:solidFill>
              </a:defRPr>
            </a:lvl2pPr>
            <a:lvl3pPr algn="l">
              <a:defRPr sz="2550" b="1">
                <a:solidFill>
                  <a:srgbClr val="111111"/>
                </a:solidFill>
              </a:defRPr>
            </a:lvl3pPr>
            <a:lvl4pPr algn="l">
              <a:defRPr sz="2550" b="1">
                <a:solidFill>
                  <a:srgbClr val="111111"/>
                </a:solidFill>
              </a:defRPr>
            </a:lvl4pPr>
            <a:lvl5pPr algn="l">
              <a:defRPr sz="2550" b="1">
                <a:solidFill>
                  <a:srgbClr val="111111"/>
                </a:solidFill>
              </a:defRPr>
            </a:lvl5pPr>
            <a:lvl6pPr algn="l">
              <a:defRPr sz="2550" b="1">
                <a:solidFill>
                  <a:srgbClr val="111111"/>
                </a:solidFill>
              </a:defRPr>
            </a:lvl6pPr>
            <a:lvl7pPr algn="l">
              <a:defRPr sz="2550" b="1">
                <a:solidFill>
                  <a:srgbClr val="111111"/>
                </a:solidFill>
              </a:defRPr>
            </a:lvl7pPr>
            <a:lvl8pPr algn="l">
              <a:defRPr sz="2550" b="1">
                <a:solidFill>
                  <a:srgbClr val="111111"/>
                </a:solidFill>
              </a:defRPr>
            </a:lvl8pPr>
            <a:lvl9pPr algn="l">
              <a:defRPr sz="2550" b="1">
                <a:solidFill>
                  <a:srgbClr val="111111"/>
                </a:solidFill>
              </a:defRPr>
            </a:lvl9pPr>
          </a:lstStyle>
          <a:p xmlns:a="http://schemas.openxmlformats.org/drawingml/2006/main">
            <a:pPr algn="l">
              <a:defRPr sz="2550" b="1">
                <a:solidFill>
                  <a:srgbClr val="111111"/>
                </a:solidFill>
              </a:defRPr>
            </a:pPr>
            <a:r>
              <a:rPr sz="2550" b="1">
                <a:solidFill>
                  <a:srgbClr val="111111"/>
                </a:solidFill>
              </a:rPr>
              <a:t>Phase 3  Portfolio construction</a:t>
            </a:r>
          </a:p>
        </p:txBody>
      </p:sp>
      <p:sp>
        <p:nvSpPr>
          <p:cNvPr id="3" name="">
            <a:extLst xmlns:a="http://schemas.openxmlformats.org/drawingml/2006/main">
              <a:ext uri="{FF2B5EF4-FFF2-40B4-BE49-F238E27FC236}">
                <a16:creationId xmlns:a16="http://schemas.microsoft.com/office/drawing/2014/main" id="{1977D03B-ACB0-4D1C-8BCF-ABC8A6574DEA}"/>
              </a:ext>
            </a:extLst>
          </p:cNvPr>
          <p:cNvSpPr>
            <a:spLocks xmlns:a="http://schemas.openxmlformats.org/drawingml/2006/main" noGrp="1"/>
          </p:cNvSpPr>
          <p:nvPr/>
        </p:nvSpPr>
        <p:spPr>
          <a:xfrm xmlns:a="http://schemas.openxmlformats.org/drawingml/2006/main">
            <a:off x="514350" y="11430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Weights, initial value and rebalancing turn ten stock returns into one investable portfolio</a:t>
            </a:r>
          </a:p>
        </p:txBody>
      </p:sp>
      <p:sp>
        <p:nvSpPr>
          <p:cNvPr id="4" name="">
            <a:extLst xmlns:a="http://schemas.openxmlformats.org/drawingml/2006/main">
              <a:ext uri="{FF2B5EF4-FFF2-40B4-BE49-F238E27FC236}">
                <a16:creationId xmlns:a16="http://schemas.microsoft.com/office/drawing/2014/main" id="{738EDE85-C817-40EE-857B-0811F7714617}"/>
              </a:ext>
            </a:extLst>
          </p:cNvPr>
          <p:cNvSpPr>
            <a:spLocks xmlns:a="http://schemas.openxmlformats.org/drawingml/2006/main" noGrp="1"/>
          </p:cNvSpPr>
          <p:nvPr/>
        </p:nvSpPr>
        <p:spPr>
          <a:xfrm xmlns:a="http://schemas.openxmlformats.org/drawingml/2006/main">
            <a:off x="514350" y="1495425"/>
            <a:ext cx="111633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38530453-D47B-4DD5-8718-A48E4322CB52}"/>
              </a:ext>
            </a:extLst>
          </p:cNvPr>
          <p:cNvSpPr>
            <a:spLocks xmlns:a="http://schemas.openxmlformats.org/drawingml/2006/main" noGrp="1"/>
          </p:cNvSpPr>
          <p:nvPr/>
        </p:nvSpPr>
        <p:spPr>
          <a:xfrm xmlns:a="http://schemas.openxmlformats.org/drawingml/2006/main">
            <a:off x="10496550" y="1657350"/>
            <a:ext cx="1066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3900" b="1">
                <a:solidFill>
                  <a:srgbClr val="111111"/>
                </a:solidFill>
              </a:defRPr>
            </a:defPPr>
            <a:lvl1pPr algn="r">
              <a:defRPr sz="3900" b="1">
                <a:solidFill>
                  <a:srgbClr val="111111"/>
                </a:solidFill>
              </a:defRPr>
            </a:lvl1pPr>
            <a:lvl2pPr algn="r">
              <a:defRPr sz="3900" b="1">
                <a:solidFill>
                  <a:srgbClr val="111111"/>
                </a:solidFill>
              </a:defRPr>
            </a:lvl2pPr>
            <a:lvl3pPr algn="r">
              <a:defRPr sz="3900" b="1">
                <a:solidFill>
                  <a:srgbClr val="111111"/>
                </a:solidFill>
              </a:defRPr>
            </a:lvl3pPr>
            <a:lvl4pPr algn="r">
              <a:defRPr sz="3900" b="1">
                <a:solidFill>
                  <a:srgbClr val="111111"/>
                </a:solidFill>
              </a:defRPr>
            </a:lvl4pPr>
            <a:lvl5pPr algn="r">
              <a:defRPr sz="3900" b="1">
                <a:solidFill>
                  <a:srgbClr val="111111"/>
                </a:solidFill>
              </a:defRPr>
            </a:lvl5pPr>
            <a:lvl6pPr algn="r">
              <a:defRPr sz="3900" b="1">
                <a:solidFill>
                  <a:srgbClr val="111111"/>
                </a:solidFill>
              </a:defRPr>
            </a:lvl6pPr>
            <a:lvl7pPr algn="r">
              <a:defRPr sz="3900" b="1">
                <a:solidFill>
                  <a:srgbClr val="111111"/>
                </a:solidFill>
              </a:defRPr>
            </a:lvl7pPr>
            <a:lvl8pPr algn="r">
              <a:defRPr sz="3900" b="1">
                <a:solidFill>
                  <a:srgbClr val="111111"/>
                </a:solidFill>
              </a:defRPr>
            </a:lvl8pPr>
            <a:lvl9pPr algn="r">
              <a:defRPr sz="3900" b="1">
                <a:solidFill>
                  <a:srgbClr val="111111"/>
                </a:solidFill>
              </a:defRPr>
            </a:lvl9pPr>
          </a:lstStyle>
          <a:p xmlns:a="http://schemas.openxmlformats.org/drawingml/2006/main">
            <a:pPr algn="r">
              <a:defRPr sz="3900" b="1">
                <a:solidFill>
                  <a:srgbClr val="111111"/>
                </a:solidFill>
              </a:defRPr>
            </a:pPr>
            <a:r>
              <a:rPr sz="3900" b="1">
                <a:solidFill>
                  <a:srgbClr val="111111"/>
                </a:solidFill>
              </a:rPr>
              <a:t>03</a:t>
            </a:r>
          </a:p>
        </p:txBody>
      </p:sp>
      <p:sp>
        <p:nvSpPr>
          <p:cNvPr id="6" name="">
            <a:extLst xmlns:a="http://schemas.openxmlformats.org/drawingml/2006/main">
              <a:ext uri="{FF2B5EF4-FFF2-40B4-BE49-F238E27FC236}">
                <a16:creationId xmlns:a16="http://schemas.microsoft.com/office/drawing/2014/main" id="{159B5AB5-5AC5-42B7-9BF2-88D053877344}"/>
              </a:ext>
            </a:extLst>
          </p:cNvPr>
          <p:cNvSpPr>
            <a:spLocks xmlns:a="http://schemas.openxmlformats.org/drawingml/2006/main" noGrp="1"/>
          </p:cNvSpPr>
          <p:nvPr/>
        </p:nvSpPr>
        <p:spPr>
          <a:xfrm xmlns:a="http://schemas.openxmlformats.org/drawingml/2006/main">
            <a:off x="504825" y="1724025"/>
            <a:ext cx="6877050" cy="249555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7" name="">
            <a:extLst xmlns:a="http://schemas.openxmlformats.org/drawingml/2006/main">
              <a:ext uri="{FF2B5EF4-FFF2-40B4-BE49-F238E27FC236}">
                <a16:creationId xmlns:a16="http://schemas.microsoft.com/office/drawing/2014/main" id="{ACA46503-5915-4D42-A134-6D80C72AE2CF}"/>
              </a:ext>
            </a:extLst>
          </p:cNvPr>
          <p:cNvSpPr>
            <a:spLocks xmlns:a="http://schemas.openxmlformats.org/drawingml/2006/main" noGrp="1"/>
          </p:cNvSpPr>
          <p:nvPr/>
        </p:nvSpPr>
        <p:spPr>
          <a:xfrm xmlns:a="http://schemas.openxmlformats.org/drawingml/2006/main">
            <a:off x="628650" y="1800225"/>
            <a:ext cx="662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Portfolio value vs SPY benchmark</a:t>
            </a:r>
          </a:p>
        </p:txBody>
      </p:sp>
      <p:pic>
        <p:nvPicPr>
          <p:cNvPr id="8" name="">
            <a:extLst xmlns:a="http://schemas.openxmlformats.org/drawingml/2006/main">
              <a:ext uri="{FF2B5EF4-FFF2-40B4-BE49-F238E27FC236}">
                <a16:creationId xmlns:a16="http://schemas.microsoft.com/office/drawing/2014/main" id="{3C083892-8C46-4CA2-941E-602C8569E62B}"/>
              </a:ext>
            </a:extLst>
          </p:cNvPr>
          <p:cNvPicPr>
            <a:picLocks xmlns:a="http://schemas.openxmlformats.org/drawingml/2006/main" noChangeAspect="1"/>
          </p:cNvPicPr>
          <p:nvPr/>
        </p:nvPicPr>
        <p:blipFill>
          <a:blip xmlns:r="http://schemas.openxmlformats.org/officeDocument/2006/relationships" xmlns:a="http://schemas.openxmlformats.org/drawingml/2006/main" r:embed="R37c77b315446454e"/>
          <a:stretch xmlns:a="http://schemas.openxmlformats.org/drawingml/2006/main"/>
        </p:blipFill>
        <p:spPr>
          <a:xfrm xmlns:a="http://schemas.openxmlformats.org/drawingml/2006/main">
            <a:off x="932048" y="2009775"/>
            <a:ext cx="6022605" cy="21812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54E6D9F-864B-40EC-92D4-D1887868EBEB}"/>
              </a:ext>
            </a:extLst>
          </p:cNvPr>
          <p:cNvSpPr>
            <a:spLocks xmlns:a="http://schemas.openxmlformats.org/drawingml/2006/main" noGrp="1"/>
          </p:cNvSpPr>
          <p:nvPr/>
        </p:nvSpPr>
        <p:spPr>
          <a:xfrm xmlns:a="http://schemas.openxmlformats.org/drawingml/2006/main">
            <a:off x="504825" y="4448175"/>
            <a:ext cx="3390900" cy="167640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10" name="">
            <a:extLst xmlns:a="http://schemas.openxmlformats.org/drawingml/2006/main">
              <a:ext uri="{FF2B5EF4-FFF2-40B4-BE49-F238E27FC236}">
                <a16:creationId xmlns:a16="http://schemas.microsoft.com/office/drawing/2014/main" id="{CDE5BFE6-8CBD-4D3E-9CEF-17E5F41BAEAA}"/>
              </a:ext>
            </a:extLst>
          </p:cNvPr>
          <p:cNvSpPr>
            <a:spLocks xmlns:a="http://schemas.openxmlformats.org/drawingml/2006/main" noGrp="1"/>
          </p:cNvSpPr>
          <p:nvPr/>
        </p:nvSpPr>
        <p:spPr>
          <a:xfrm xmlns:a="http://schemas.openxmlformats.org/drawingml/2006/main">
            <a:off x="628650" y="45243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Daily portfolio P&amp;L</a:t>
            </a:r>
          </a:p>
        </p:txBody>
      </p:sp>
      <p:pic>
        <p:nvPicPr>
          <p:cNvPr id="11" name="">
            <a:extLst xmlns:a="http://schemas.openxmlformats.org/drawingml/2006/main">
              <a:ext uri="{FF2B5EF4-FFF2-40B4-BE49-F238E27FC236}">
                <a16:creationId xmlns:a16="http://schemas.microsoft.com/office/drawing/2014/main" id="{0667080D-7D41-433D-A589-2C372500F835}"/>
              </a:ext>
            </a:extLst>
          </p:cNvPr>
          <p:cNvPicPr>
            <a:picLocks xmlns:a="http://schemas.openxmlformats.org/drawingml/2006/main" noChangeAspect="1"/>
          </p:cNvPicPr>
          <p:nvPr/>
        </p:nvPicPr>
        <p:blipFill>
          <a:blip xmlns:r="http://schemas.openxmlformats.org/officeDocument/2006/relationships" xmlns:a="http://schemas.openxmlformats.org/drawingml/2006/main" r:embed="R28caeb2e902d449e"/>
          <a:stretch xmlns:a="http://schemas.openxmlformats.org/drawingml/2006/main"/>
        </p:blipFill>
        <p:spPr>
          <a:xfrm xmlns:a="http://schemas.openxmlformats.org/drawingml/2006/main">
            <a:off x="961311" y="4733925"/>
            <a:ext cx="2477929" cy="13620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0782CDC-7716-4E57-B312-E1523AA51878}"/>
              </a:ext>
            </a:extLst>
          </p:cNvPr>
          <p:cNvSpPr>
            <a:spLocks xmlns:a="http://schemas.openxmlformats.org/drawingml/2006/main" noGrp="1"/>
          </p:cNvSpPr>
          <p:nvPr/>
        </p:nvSpPr>
        <p:spPr>
          <a:xfrm xmlns:a="http://schemas.openxmlformats.org/drawingml/2006/main">
            <a:off x="3990975" y="4448175"/>
            <a:ext cx="3390900" cy="167640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13" name="">
            <a:extLst xmlns:a="http://schemas.openxmlformats.org/drawingml/2006/main">
              <a:ext uri="{FF2B5EF4-FFF2-40B4-BE49-F238E27FC236}">
                <a16:creationId xmlns:a16="http://schemas.microsoft.com/office/drawing/2014/main" id="{94F81ABC-FE1B-4E13-9D02-20B6A455AA99}"/>
              </a:ext>
            </a:extLst>
          </p:cNvPr>
          <p:cNvSpPr>
            <a:spLocks xmlns:a="http://schemas.openxmlformats.org/drawingml/2006/main" noGrp="1"/>
          </p:cNvSpPr>
          <p:nvPr/>
        </p:nvSpPr>
        <p:spPr>
          <a:xfrm xmlns:a="http://schemas.openxmlformats.org/drawingml/2006/main">
            <a:off x="4114800" y="45243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Daily portfolio returns</a:t>
            </a:r>
          </a:p>
        </p:txBody>
      </p:sp>
      <p:pic>
        <p:nvPicPr>
          <p:cNvPr id="14" name="">
            <a:extLst xmlns:a="http://schemas.openxmlformats.org/drawingml/2006/main">
              <a:ext uri="{FF2B5EF4-FFF2-40B4-BE49-F238E27FC236}">
                <a16:creationId xmlns:a16="http://schemas.microsoft.com/office/drawing/2014/main" id="{BC3B72AE-9195-4EE7-8A78-59D78C78B265}"/>
              </a:ext>
            </a:extLst>
          </p:cNvPr>
          <p:cNvPicPr>
            <a:picLocks xmlns:a="http://schemas.openxmlformats.org/drawingml/2006/main" noChangeAspect="1"/>
          </p:cNvPicPr>
          <p:nvPr/>
        </p:nvPicPr>
        <p:blipFill>
          <a:blip xmlns:r="http://schemas.openxmlformats.org/officeDocument/2006/relationships" xmlns:a="http://schemas.openxmlformats.org/drawingml/2006/main" r:embed="Rcf5593f69cc9499c"/>
          <a:stretch xmlns:a="http://schemas.openxmlformats.org/drawingml/2006/main"/>
        </p:blipFill>
        <p:spPr>
          <a:xfrm xmlns:a="http://schemas.openxmlformats.org/drawingml/2006/main">
            <a:off x="4447461" y="4733925"/>
            <a:ext cx="2477929" cy="13620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4DE1DD5F-9069-4EC3-AF40-075AAA8B8F9E}"/>
              </a:ext>
            </a:extLst>
          </p:cNvPr>
          <p:cNvSpPr>
            <a:spLocks xmlns:a="http://schemas.openxmlformats.org/drawingml/2006/main" noGrp="1"/>
          </p:cNvSpPr>
          <p:nvPr/>
        </p:nvSpPr>
        <p:spPr>
          <a:xfrm xmlns:a="http://schemas.openxmlformats.org/drawingml/2006/main">
            <a:off x="7886700" y="20383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55E63"/>
                </a:solidFill>
              </a:defRPr>
            </a:defPPr>
            <a:lvl1pPr algn="l">
              <a:defRPr sz="2100" b="1">
                <a:solidFill>
                  <a:srgbClr val="155E63"/>
                </a:solidFill>
              </a:defRPr>
            </a:lvl1pPr>
            <a:lvl2pPr algn="l">
              <a:defRPr sz="2100" b="1">
                <a:solidFill>
                  <a:srgbClr val="155E63"/>
                </a:solidFill>
              </a:defRPr>
            </a:lvl2pPr>
            <a:lvl3pPr algn="l">
              <a:defRPr sz="2100" b="1">
                <a:solidFill>
                  <a:srgbClr val="155E63"/>
                </a:solidFill>
              </a:defRPr>
            </a:lvl3pPr>
            <a:lvl4pPr algn="l">
              <a:defRPr sz="2100" b="1">
                <a:solidFill>
                  <a:srgbClr val="155E63"/>
                </a:solidFill>
              </a:defRPr>
            </a:lvl4pPr>
            <a:lvl5pPr algn="l">
              <a:defRPr sz="2100" b="1">
                <a:solidFill>
                  <a:srgbClr val="155E63"/>
                </a:solidFill>
              </a:defRPr>
            </a:lvl5pPr>
            <a:lvl6pPr algn="l">
              <a:defRPr sz="2100" b="1">
                <a:solidFill>
                  <a:srgbClr val="155E63"/>
                </a:solidFill>
              </a:defRPr>
            </a:lvl6pPr>
            <a:lvl7pPr algn="l">
              <a:defRPr sz="2100" b="1">
                <a:solidFill>
                  <a:srgbClr val="155E63"/>
                </a:solidFill>
              </a:defRPr>
            </a:lvl7pPr>
            <a:lvl8pPr algn="l">
              <a:defRPr sz="2100" b="1">
                <a:solidFill>
                  <a:srgbClr val="155E63"/>
                </a:solidFill>
              </a:defRPr>
            </a:lvl8pPr>
            <a:lvl9pPr algn="l">
              <a:defRPr sz="2100" b="1">
                <a:solidFill>
                  <a:srgbClr val="155E63"/>
                </a:solidFill>
              </a:defRPr>
            </a:lvl9pPr>
          </a:lstStyle>
          <a:p xmlns:a="http://schemas.openxmlformats.org/drawingml/2006/main">
            <a:pPr algn="l">
              <a:defRPr sz="2100" b="1">
                <a:solidFill>
                  <a:srgbClr val="155E63"/>
                </a:solidFill>
              </a:defRPr>
            </a:pPr>
            <a:r>
              <a:rPr sz="2100" b="1">
                <a:solidFill>
                  <a:srgbClr val="155E63"/>
                </a:solidFill>
              </a:rPr>
              <a:t>$10M</a:t>
            </a:r>
          </a:p>
        </p:txBody>
      </p:sp>
      <p:sp>
        <p:nvSpPr>
          <p:cNvPr id="16" name="">
            <a:extLst xmlns:a="http://schemas.openxmlformats.org/drawingml/2006/main">
              <a:ext uri="{FF2B5EF4-FFF2-40B4-BE49-F238E27FC236}">
                <a16:creationId xmlns:a16="http://schemas.microsoft.com/office/drawing/2014/main" id="{7B0D9590-CB8A-4231-BDA8-3866B5391D7C}"/>
              </a:ext>
            </a:extLst>
          </p:cNvPr>
          <p:cNvSpPr>
            <a:spLocks xmlns:a="http://schemas.openxmlformats.org/drawingml/2006/main" noGrp="1"/>
          </p:cNvSpPr>
          <p:nvPr/>
        </p:nvSpPr>
        <p:spPr>
          <a:xfrm xmlns:a="http://schemas.openxmlformats.org/drawingml/2006/main">
            <a:off x="7886700" y="24384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initial reporting value</a:t>
            </a:r>
          </a:p>
        </p:txBody>
      </p:sp>
      <p:sp>
        <p:nvSpPr>
          <p:cNvPr id="17" name="">
            <a:extLst xmlns:a="http://schemas.openxmlformats.org/drawingml/2006/main">
              <a:ext uri="{FF2B5EF4-FFF2-40B4-BE49-F238E27FC236}">
                <a16:creationId xmlns:a16="http://schemas.microsoft.com/office/drawing/2014/main" id="{E778BFFA-A391-4622-BCD9-7A0586BAE3DB}"/>
              </a:ext>
            </a:extLst>
          </p:cNvPr>
          <p:cNvSpPr>
            <a:spLocks xmlns:a="http://schemas.openxmlformats.org/drawingml/2006/main" noGrp="1"/>
          </p:cNvSpPr>
          <p:nvPr/>
        </p:nvSpPr>
        <p:spPr>
          <a:xfrm xmlns:a="http://schemas.openxmlformats.org/drawingml/2006/main">
            <a:off x="7886700" y="29337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11111"/>
                </a:solidFill>
              </a:defRPr>
            </a:defPPr>
            <a:lvl1pPr algn="l">
              <a:defRPr sz="2100" b="1">
                <a:solidFill>
                  <a:srgbClr val="111111"/>
                </a:solidFill>
              </a:defRPr>
            </a:lvl1pPr>
            <a:lvl2pPr algn="l">
              <a:defRPr sz="2100" b="1">
                <a:solidFill>
                  <a:srgbClr val="111111"/>
                </a:solidFill>
              </a:defRPr>
            </a:lvl2pPr>
            <a:lvl3pPr algn="l">
              <a:defRPr sz="2100" b="1">
                <a:solidFill>
                  <a:srgbClr val="111111"/>
                </a:solidFill>
              </a:defRPr>
            </a:lvl3pPr>
            <a:lvl4pPr algn="l">
              <a:defRPr sz="2100" b="1">
                <a:solidFill>
                  <a:srgbClr val="111111"/>
                </a:solidFill>
              </a:defRPr>
            </a:lvl4pPr>
            <a:lvl5pPr algn="l">
              <a:defRPr sz="2100" b="1">
                <a:solidFill>
                  <a:srgbClr val="111111"/>
                </a:solidFill>
              </a:defRPr>
            </a:lvl5pPr>
            <a:lvl6pPr algn="l">
              <a:defRPr sz="2100" b="1">
                <a:solidFill>
                  <a:srgbClr val="111111"/>
                </a:solidFill>
              </a:defRPr>
            </a:lvl6pPr>
            <a:lvl7pPr algn="l">
              <a:defRPr sz="2100" b="1">
                <a:solidFill>
                  <a:srgbClr val="111111"/>
                </a:solidFill>
              </a:defRPr>
            </a:lvl7pPr>
            <a:lvl8pPr algn="l">
              <a:defRPr sz="2100" b="1">
                <a:solidFill>
                  <a:srgbClr val="111111"/>
                </a:solidFill>
              </a:defRPr>
            </a:lvl8pPr>
            <a:lvl9pPr algn="l">
              <a:defRPr sz="2100" b="1">
                <a:solidFill>
                  <a:srgbClr val="111111"/>
                </a:solidFill>
              </a:defRPr>
            </a:lvl9pPr>
          </a:lstStyle>
          <a:p xmlns:a="http://schemas.openxmlformats.org/drawingml/2006/main">
            <a:pPr algn="l">
              <a:defRPr sz="2100" b="1">
                <a:solidFill>
                  <a:srgbClr val="111111"/>
                </a:solidFill>
              </a:defRPr>
            </a:pPr>
            <a:r>
              <a:rPr sz="2100" b="1">
                <a:solidFill>
                  <a:srgbClr val="111111"/>
                </a:solidFill>
              </a:rPr>
              <a:t>10%</a:t>
            </a:r>
          </a:p>
        </p:txBody>
      </p:sp>
      <p:sp>
        <p:nvSpPr>
          <p:cNvPr id="18" name="">
            <a:extLst xmlns:a="http://schemas.openxmlformats.org/drawingml/2006/main">
              <a:ext uri="{FF2B5EF4-FFF2-40B4-BE49-F238E27FC236}">
                <a16:creationId xmlns:a16="http://schemas.microsoft.com/office/drawing/2014/main" id="{5AB30B7F-6A1A-4C9F-9124-C957341EAE77}"/>
              </a:ext>
            </a:extLst>
          </p:cNvPr>
          <p:cNvSpPr>
            <a:spLocks xmlns:a="http://schemas.openxmlformats.org/drawingml/2006/main" noGrp="1"/>
          </p:cNvSpPr>
          <p:nvPr/>
        </p:nvSpPr>
        <p:spPr>
          <a:xfrm xmlns:a="http://schemas.openxmlformats.org/drawingml/2006/main">
            <a:off x="7886700" y="33337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starting weight per stock</a:t>
            </a:r>
          </a:p>
        </p:txBody>
      </p:sp>
      <p:sp>
        <p:nvSpPr>
          <p:cNvPr id="19" name="">
            <a:extLst xmlns:a="http://schemas.openxmlformats.org/drawingml/2006/main">
              <a:ext uri="{FF2B5EF4-FFF2-40B4-BE49-F238E27FC236}">
                <a16:creationId xmlns:a16="http://schemas.microsoft.com/office/drawing/2014/main" id="{2B70A4AA-FD4A-4619-8869-7ACD90C9C52B}"/>
              </a:ext>
            </a:extLst>
          </p:cNvPr>
          <p:cNvSpPr>
            <a:spLocks xmlns:a="http://schemas.openxmlformats.org/drawingml/2006/main" noGrp="1"/>
          </p:cNvSpPr>
          <p:nvPr/>
        </p:nvSpPr>
        <p:spPr>
          <a:xfrm xmlns:a="http://schemas.openxmlformats.org/drawingml/2006/main">
            <a:off x="7886700" y="394335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20" name="">
            <a:extLst xmlns:a="http://schemas.openxmlformats.org/drawingml/2006/main">
              <a:ext uri="{FF2B5EF4-FFF2-40B4-BE49-F238E27FC236}">
                <a16:creationId xmlns:a16="http://schemas.microsoft.com/office/drawing/2014/main" id="{B1A84EF5-0028-4A3B-8132-D8DD3F1161BF}"/>
              </a:ext>
            </a:extLst>
          </p:cNvPr>
          <p:cNvSpPr>
            <a:spLocks xmlns:a="http://schemas.openxmlformats.org/drawingml/2006/main" noGrp="1"/>
          </p:cNvSpPr>
          <p:nvPr/>
        </p:nvSpPr>
        <p:spPr>
          <a:xfrm xmlns:a="http://schemas.openxmlformats.org/drawingml/2006/main">
            <a:off x="8039100" y="390525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Equal weight</a:t>
            </a:r>
          </a:p>
        </p:txBody>
      </p:sp>
      <p:sp>
        <p:nvSpPr>
          <p:cNvPr id="21" name="">
            <a:extLst xmlns:a="http://schemas.openxmlformats.org/drawingml/2006/main">
              <a:ext uri="{FF2B5EF4-FFF2-40B4-BE49-F238E27FC236}">
                <a16:creationId xmlns:a16="http://schemas.microsoft.com/office/drawing/2014/main" id="{89023CC9-C66A-4B59-A1E7-33D0057F2D6F}"/>
              </a:ext>
            </a:extLst>
          </p:cNvPr>
          <p:cNvSpPr>
            <a:spLocks xmlns:a="http://schemas.openxmlformats.org/drawingml/2006/main" noGrp="1"/>
          </p:cNvSpPr>
          <p:nvPr/>
        </p:nvSpPr>
        <p:spPr>
          <a:xfrm xmlns:a="http://schemas.openxmlformats.org/drawingml/2006/main">
            <a:off x="8039100" y="4143375"/>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Every stock starts near the same money weight.</a:t>
            </a:r>
          </a:p>
        </p:txBody>
      </p:sp>
      <p:sp>
        <p:nvSpPr>
          <p:cNvPr id="22" name="">
            <a:extLst xmlns:a="http://schemas.openxmlformats.org/drawingml/2006/main">
              <a:ext uri="{FF2B5EF4-FFF2-40B4-BE49-F238E27FC236}">
                <a16:creationId xmlns:a16="http://schemas.microsoft.com/office/drawing/2014/main" id="{BD3DC209-2E73-4FEB-AF9E-C273060B6228}"/>
              </a:ext>
            </a:extLst>
          </p:cNvPr>
          <p:cNvSpPr>
            <a:spLocks xmlns:a="http://schemas.openxmlformats.org/drawingml/2006/main" noGrp="1"/>
          </p:cNvSpPr>
          <p:nvPr/>
        </p:nvSpPr>
        <p:spPr>
          <a:xfrm xmlns:a="http://schemas.openxmlformats.org/drawingml/2006/main">
            <a:off x="7886700" y="462915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23" name="">
            <a:extLst xmlns:a="http://schemas.openxmlformats.org/drawingml/2006/main">
              <a:ext uri="{FF2B5EF4-FFF2-40B4-BE49-F238E27FC236}">
                <a16:creationId xmlns:a16="http://schemas.microsoft.com/office/drawing/2014/main" id="{F1401669-ED29-412F-B164-A3F01530B3C3}"/>
              </a:ext>
            </a:extLst>
          </p:cNvPr>
          <p:cNvSpPr>
            <a:spLocks xmlns:a="http://schemas.openxmlformats.org/drawingml/2006/main" noGrp="1"/>
          </p:cNvSpPr>
          <p:nvPr/>
        </p:nvSpPr>
        <p:spPr>
          <a:xfrm xmlns:a="http://schemas.openxmlformats.org/drawingml/2006/main">
            <a:off x="8039100" y="459105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User or market-cap weight</a:t>
            </a:r>
          </a:p>
        </p:txBody>
      </p:sp>
      <p:sp>
        <p:nvSpPr>
          <p:cNvPr id="24" name="">
            <a:extLst xmlns:a="http://schemas.openxmlformats.org/drawingml/2006/main">
              <a:ext uri="{FF2B5EF4-FFF2-40B4-BE49-F238E27FC236}">
                <a16:creationId xmlns:a16="http://schemas.microsoft.com/office/drawing/2014/main" id="{7F5D3F55-1469-4AB8-9659-196B0FED6AB5}"/>
              </a:ext>
            </a:extLst>
          </p:cNvPr>
          <p:cNvSpPr>
            <a:spLocks xmlns:a="http://schemas.openxmlformats.org/drawingml/2006/main" noGrp="1"/>
          </p:cNvSpPr>
          <p:nvPr/>
        </p:nvSpPr>
        <p:spPr>
          <a:xfrm xmlns:a="http://schemas.openxmlformats.org/drawingml/2006/main">
            <a:off x="8039100" y="4829175"/>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The engine also accepts custom allocations or weights based on company size.</a:t>
            </a:r>
          </a:p>
        </p:txBody>
      </p:sp>
      <p:sp>
        <p:nvSpPr>
          <p:cNvPr id="25" name="">
            <a:extLst xmlns:a="http://schemas.openxmlformats.org/drawingml/2006/main">
              <a:ext uri="{FF2B5EF4-FFF2-40B4-BE49-F238E27FC236}">
                <a16:creationId xmlns:a16="http://schemas.microsoft.com/office/drawing/2014/main" id="{F2D517BA-D230-48E8-A273-B86496B21692}"/>
              </a:ext>
            </a:extLst>
          </p:cNvPr>
          <p:cNvSpPr>
            <a:spLocks xmlns:a="http://schemas.openxmlformats.org/drawingml/2006/main" noGrp="1"/>
          </p:cNvSpPr>
          <p:nvPr/>
        </p:nvSpPr>
        <p:spPr>
          <a:xfrm xmlns:a="http://schemas.openxmlformats.org/drawingml/2006/main">
            <a:off x="7886700" y="546735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26" name="">
            <a:extLst xmlns:a="http://schemas.openxmlformats.org/drawingml/2006/main">
              <a:ext uri="{FF2B5EF4-FFF2-40B4-BE49-F238E27FC236}">
                <a16:creationId xmlns:a16="http://schemas.microsoft.com/office/drawing/2014/main" id="{2ECAD7DD-FF77-4C86-8533-FD27E2A1CB96}"/>
              </a:ext>
            </a:extLst>
          </p:cNvPr>
          <p:cNvSpPr>
            <a:spLocks xmlns:a="http://schemas.openxmlformats.org/drawingml/2006/main" noGrp="1"/>
          </p:cNvSpPr>
          <p:nvPr/>
        </p:nvSpPr>
        <p:spPr>
          <a:xfrm xmlns:a="http://schemas.openxmlformats.org/drawingml/2006/main">
            <a:off x="8039100" y="542925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Monthly rebalance</a:t>
            </a:r>
          </a:p>
        </p:txBody>
      </p:sp>
      <p:sp>
        <p:nvSpPr>
          <p:cNvPr id="27" name="">
            <a:extLst xmlns:a="http://schemas.openxmlformats.org/drawingml/2006/main">
              <a:ext uri="{FF2B5EF4-FFF2-40B4-BE49-F238E27FC236}">
                <a16:creationId xmlns:a16="http://schemas.microsoft.com/office/drawing/2014/main" id="{47D5B63E-50FF-4481-A5BE-CFC70E8E14FE}"/>
              </a:ext>
            </a:extLst>
          </p:cNvPr>
          <p:cNvSpPr>
            <a:spLocks xmlns:a="http://schemas.openxmlformats.org/drawingml/2006/main" noGrp="1"/>
          </p:cNvSpPr>
          <p:nvPr/>
        </p:nvSpPr>
        <p:spPr>
          <a:xfrm xmlns:a="http://schemas.openxmlformats.org/drawingml/2006/main">
            <a:off x="8039100" y="5667375"/>
            <a:ext cx="299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Reset drift toward the target allocation; more frequent trading would add costs.</a:t>
            </a:r>
          </a:p>
        </p:txBody>
      </p:sp>
      <p:sp>
        <p:nvSpPr>
          <p:cNvPr id="28" name="">
            <a:extLst xmlns:a="http://schemas.openxmlformats.org/drawingml/2006/main">
              <a:ext uri="{FF2B5EF4-FFF2-40B4-BE49-F238E27FC236}">
                <a16:creationId xmlns:a16="http://schemas.microsoft.com/office/drawing/2014/main" id="{18C202E9-1976-4978-B8BB-DF9D9204D9A5}"/>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29" name="">
            <a:extLst xmlns:a="http://schemas.openxmlformats.org/drawingml/2006/main">
              <a:ext uri="{FF2B5EF4-FFF2-40B4-BE49-F238E27FC236}">
                <a16:creationId xmlns:a16="http://schemas.microsoft.com/office/drawing/2014/main" id="{765D6EF1-8BEB-42F5-85CF-123800485E9C}"/>
              </a:ext>
            </a:extLst>
          </p:cNvPr>
          <p:cNvSpPr>
            <a:spLocks xmlns:a="http://schemas.openxmlformats.org/drawingml/2006/main" noGrp="1"/>
          </p:cNvSpPr>
          <p:nvPr/>
        </p:nvSpPr>
        <p:spPr>
          <a:xfrm xmlns:a="http://schemas.openxmlformats.org/drawingml/2006/main">
            <a:off x="51435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0">
                <a:solidFill>
                  <a:srgbClr val="707070"/>
                </a:solidFill>
              </a:defRPr>
            </a:defPPr>
            <a:lvl1pPr algn="l">
              <a:defRPr sz="600" b="0">
                <a:solidFill>
                  <a:srgbClr val="707070"/>
                </a:solidFill>
              </a:defRPr>
            </a:lvl1pPr>
            <a:lvl2pPr algn="l">
              <a:defRPr sz="600" b="0">
                <a:solidFill>
                  <a:srgbClr val="707070"/>
                </a:solidFill>
              </a:defRPr>
            </a:lvl2pPr>
            <a:lvl3pPr algn="l">
              <a:defRPr sz="600" b="0">
                <a:solidFill>
                  <a:srgbClr val="707070"/>
                </a:solidFill>
              </a:defRPr>
            </a:lvl3pPr>
            <a:lvl4pPr algn="l">
              <a:defRPr sz="600" b="0">
                <a:solidFill>
                  <a:srgbClr val="707070"/>
                </a:solidFill>
              </a:defRPr>
            </a:lvl4pPr>
            <a:lvl5pPr algn="l">
              <a:defRPr sz="600" b="0">
                <a:solidFill>
                  <a:srgbClr val="707070"/>
                </a:solidFill>
              </a:defRPr>
            </a:lvl5pPr>
            <a:lvl6pPr algn="l">
              <a:defRPr sz="600" b="0">
                <a:solidFill>
                  <a:srgbClr val="707070"/>
                </a:solidFill>
              </a:defRPr>
            </a:lvl6pPr>
            <a:lvl7pPr algn="l">
              <a:defRPr sz="600" b="0">
                <a:solidFill>
                  <a:srgbClr val="707070"/>
                </a:solidFill>
              </a:defRPr>
            </a:lvl7pPr>
            <a:lvl8pPr algn="l">
              <a:defRPr sz="600" b="0">
                <a:solidFill>
                  <a:srgbClr val="707070"/>
                </a:solidFill>
              </a:defRPr>
            </a:lvl8pPr>
            <a:lvl9pPr algn="l">
              <a:defRPr sz="600" b="0">
                <a:solidFill>
                  <a:srgbClr val="707070"/>
                </a:solidFill>
              </a:defRPr>
            </a:lvl9pPr>
          </a:lstStyle>
          <a:p xmlns:a="http://schemas.openxmlformats.org/drawingml/2006/main">
            <a:pPr algn="l">
              <a:defRPr sz="600" b="0">
                <a:solidFill>
                  <a:srgbClr val="707070"/>
                </a:solidFill>
              </a:defRPr>
            </a:pPr>
            <a:r>
              <a:rPr sz="600" b="0">
                <a:solidFill>
                  <a:srgbClr val="707070"/>
                </a:solidFill>
              </a:rPr>
              <a:t>QFI risk engine  |  saved data through 23 October 2026</a:t>
            </a:r>
          </a:p>
        </p:txBody>
      </p:sp>
      <p:sp>
        <p:nvSpPr>
          <p:cNvPr id="30" name="">
            <a:extLst xmlns:a="http://schemas.openxmlformats.org/drawingml/2006/main">
              <a:ext uri="{FF2B5EF4-FFF2-40B4-BE49-F238E27FC236}">
                <a16:creationId xmlns:a16="http://schemas.microsoft.com/office/drawing/2014/main" id="{336693BC-E9AC-4602-8089-12D5C9619745}"/>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111111"/>
                </a:solidFill>
              </a:defRPr>
            </a:defPPr>
            <a:lvl1pPr algn="r">
              <a:defRPr sz="675" b="1">
                <a:solidFill>
                  <a:srgbClr val="111111"/>
                </a:solidFill>
              </a:defRPr>
            </a:lvl1pPr>
            <a:lvl2pPr algn="r">
              <a:defRPr sz="675" b="1">
                <a:solidFill>
                  <a:srgbClr val="111111"/>
                </a:solidFill>
              </a:defRPr>
            </a:lvl2pPr>
            <a:lvl3pPr algn="r">
              <a:defRPr sz="675" b="1">
                <a:solidFill>
                  <a:srgbClr val="111111"/>
                </a:solidFill>
              </a:defRPr>
            </a:lvl3pPr>
            <a:lvl4pPr algn="r">
              <a:defRPr sz="675" b="1">
                <a:solidFill>
                  <a:srgbClr val="111111"/>
                </a:solidFill>
              </a:defRPr>
            </a:lvl4pPr>
            <a:lvl5pPr algn="r">
              <a:defRPr sz="675" b="1">
                <a:solidFill>
                  <a:srgbClr val="111111"/>
                </a:solidFill>
              </a:defRPr>
            </a:lvl5pPr>
            <a:lvl6pPr algn="r">
              <a:defRPr sz="675" b="1">
                <a:solidFill>
                  <a:srgbClr val="111111"/>
                </a:solidFill>
              </a:defRPr>
            </a:lvl6pPr>
            <a:lvl7pPr algn="r">
              <a:defRPr sz="675" b="1">
                <a:solidFill>
                  <a:srgbClr val="111111"/>
                </a:solidFill>
              </a:defRPr>
            </a:lvl7pPr>
            <a:lvl8pPr algn="r">
              <a:defRPr sz="675" b="1">
                <a:solidFill>
                  <a:srgbClr val="111111"/>
                </a:solidFill>
              </a:defRPr>
            </a:lvl8pPr>
            <a:lvl9pPr algn="r">
              <a:defRPr sz="675" b="1">
                <a:solidFill>
                  <a:srgbClr val="111111"/>
                </a:solidFill>
              </a:defRPr>
            </a:lvl9pPr>
          </a:lstStyle>
          <a:p xmlns:a="http://schemas.openxmlformats.org/drawingml/2006/main">
            <a:pPr algn="r">
              <a:defRPr sz="675" b="1">
                <a:solidFill>
                  <a:srgbClr val="111111"/>
                </a:solidFill>
              </a:defRPr>
            </a:pPr>
            <a:r>
              <a:rPr sz="675" b="1">
                <a:solidFill>
                  <a:srgbClr val="111111"/>
                </a:solidFill>
              </a:rPr>
              <a:t>05</a:t>
            </a:r>
          </a:p>
        </p:txBody>
      </p:sp>
    </p:spTree>
    <p:extLst>
      <p:ext uri="{BB962C8B-B14F-4D97-AF65-F5344CB8AC3E}">
        <p14:creationId xmlns:p14="http://schemas.microsoft.com/office/powerpoint/2010/main" val="13691141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9919D34-1A4F-4A2E-8478-F51C01B7E5AC}"/>
              </a:ext>
            </a:extLst>
          </p:cNvPr>
          <p:cNvSpPr>
            <a:spLocks xmlns:a="http://schemas.openxmlformats.org/drawingml/2006/main" noGrp="1"/>
          </p:cNvSpPr>
          <p:nvPr/>
        </p:nvSpPr>
        <p:spPr>
          <a:xfrm xmlns:a="http://schemas.openxmlformats.org/drawingml/2006/main">
            <a:off x="514350" y="266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PHASE 04</a:t>
            </a:r>
          </a:p>
        </p:txBody>
      </p:sp>
      <p:sp>
        <p:nvSpPr>
          <p:cNvPr id="2" name="">
            <a:extLst xmlns:a="http://schemas.openxmlformats.org/drawingml/2006/main">
              <a:ext uri="{FF2B5EF4-FFF2-40B4-BE49-F238E27FC236}">
                <a16:creationId xmlns:a16="http://schemas.microsoft.com/office/drawing/2014/main" id="{2BB2C81C-5818-4977-B3A8-18C42EB9D743}"/>
              </a:ext>
            </a:extLst>
          </p:cNvPr>
          <p:cNvSpPr>
            <a:spLocks xmlns:a="http://schemas.openxmlformats.org/drawingml/2006/main" noGrp="1"/>
          </p:cNvSpPr>
          <p:nvPr/>
        </p:nvSpPr>
        <p:spPr>
          <a:xfrm xmlns:a="http://schemas.openxmlformats.org/drawingml/2006/main">
            <a:off x="514350" y="6096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11111"/>
                </a:solidFill>
              </a:defRPr>
            </a:defPPr>
            <a:lvl1pPr algn="l">
              <a:defRPr sz="2550" b="1">
                <a:solidFill>
                  <a:srgbClr val="111111"/>
                </a:solidFill>
              </a:defRPr>
            </a:lvl1pPr>
            <a:lvl2pPr algn="l">
              <a:defRPr sz="2550" b="1">
                <a:solidFill>
                  <a:srgbClr val="111111"/>
                </a:solidFill>
              </a:defRPr>
            </a:lvl2pPr>
            <a:lvl3pPr algn="l">
              <a:defRPr sz="2550" b="1">
                <a:solidFill>
                  <a:srgbClr val="111111"/>
                </a:solidFill>
              </a:defRPr>
            </a:lvl3pPr>
            <a:lvl4pPr algn="l">
              <a:defRPr sz="2550" b="1">
                <a:solidFill>
                  <a:srgbClr val="111111"/>
                </a:solidFill>
              </a:defRPr>
            </a:lvl4pPr>
            <a:lvl5pPr algn="l">
              <a:defRPr sz="2550" b="1">
                <a:solidFill>
                  <a:srgbClr val="111111"/>
                </a:solidFill>
              </a:defRPr>
            </a:lvl5pPr>
            <a:lvl6pPr algn="l">
              <a:defRPr sz="2550" b="1">
                <a:solidFill>
                  <a:srgbClr val="111111"/>
                </a:solidFill>
              </a:defRPr>
            </a:lvl6pPr>
            <a:lvl7pPr algn="l">
              <a:defRPr sz="2550" b="1">
                <a:solidFill>
                  <a:srgbClr val="111111"/>
                </a:solidFill>
              </a:defRPr>
            </a:lvl7pPr>
            <a:lvl8pPr algn="l">
              <a:defRPr sz="2550" b="1">
                <a:solidFill>
                  <a:srgbClr val="111111"/>
                </a:solidFill>
              </a:defRPr>
            </a:lvl8pPr>
            <a:lvl9pPr algn="l">
              <a:defRPr sz="2550" b="1">
                <a:solidFill>
                  <a:srgbClr val="111111"/>
                </a:solidFill>
              </a:defRPr>
            </a:lvl9pPr>
          </a:lstStyle>
          <a:p xmlns:a="http://schemas.openxmlformats.org/drawingml/2006/main">
            <a:pPr algn="l">
              <a:defRPr sz="2550" b="1">
                <a:solidFill>
                  <a:srgbClr val="111111"/>
                </a:solidFill>
              </a:defRPr>
            </a:pPr>
            <a:r>
              <a:rPr sz="2550" b="1">
                <a:solidFill>
                  <a:srgbClr val="111111"/>
                </a:solidFill>
              </a:rPr>
              <a:t>Phase 4  Historical Simulation VaR</a:t>
            </a:r>
          </a:p>
        </p:txBody>
      </p:sp>
      <p:sp>
        <p:nvSpPr>
          <p:cNvPr id="3" name="">
            <a:extLst xmlns:a="http://schemas.openxmlformats.org/drawingml/2006/main">
              <a:ext uri="{FF2B5EF4-FFF2-40B4-BE49-F238E27FC236}">
                <a16:creationId xmlns:a16="http://schemas.microsoft.com/office/drawing/2014/main" id="{762851ED-861B-43B6-A776-E49628A341B4}"/>
              </a:ext>
            </a:extLst>
          </p:cNvPr>
          <p:cNvSpPr>
            <a:spLocks xmlns:a="http://schemas.openxmlformats.org/drawingml/2006/main" noGrp="1"/>
          </p:cNvSpPr>
          <p:nvPr/>
        </p:nvSpPr>
        <p:spPr>
          <a:xfrm xmlns:a="http://schemas.openxmlformats.org/drawingml/2006/main">
            <a:off x="514350" y="11430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Rank the recent portfolio outcomes and read the loss cutoff directly from history</a:t>
            </a:r>
          </a:p>
        </p:txBody>
      </p:sp>
      <p:sp>
        <p:nvSpPr>
          <p:cNvPr id="4" name="">
            <a:extLst xmlns:a="http://schemas.openxmlformats.org/drawingml/2006/main">
              <a:ext uri="{FF2B5EF4-FFF2-40B4-BE49-F238E27FC236}">
                <a16:creationId xmlns:a16="http://schemas.microsoft.com/office/drawing/2014/main" id="{6CE6458A-2F1F-45BD-8061-C7F86B899168}"/>
              </a:ext>
            </a:extLst>
          </p:cNvPr>
          <p:cNvSpPr>
            <a:spLocks xmlns:a="http://schemas.openxmlformats.org/drawingml/2006/main" noGrp="1"/>
          </p:cNvSpPr>
          <p:nvPr/>
        </p:nvSpPr>
        <p:spPr>
          <a:xfrm xmlns:a="http://schemas.openxmlformats.org/drawingml/2006/main">
            <a:off x="514350" y="1495425"/>
            <a:ext cx="111633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8D5257A7-97A3-4C2F-B707-B457F35FA2F6}"/>
              </a:ext>
            </a:extLst>
          </p:cNvPr>
          <p:cNvSpPr>
            <a:spLocks xmlns:a="http://schemas.openxmlformats.org/drawingml/2006/main" noGrp="1"/>
          </p:cNvSpPr>
          <p:nvPr/>
        </p:nvSpPr>
        <p:spPr>
          <a:xfrm xmlns:a="http://schemas.openxmlformats.org/drawingml/2006/main">
            <a:off x="10496550" y="1657350"/>
            <a:ext cx="1066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3900" b="1">
                <a:solidFill>
                  <a:srgbClr val="111111"/>
                </a:solidFill>
              </a:defRPr>
            </a:defPPr>
            <a:lvl1pPr algn="r">
              <a:defRPr sz="3900" b="1">
                <a:solidFill>
                  <a:srgbClr val="111111"/>
                </a:solidFill>
              </a:defRPr>
            </a:lvl1pPr>
            <a:lvl2pPr algn="r">
              <a:defRPr sz="3900" b="1">
                <a:solidFill>
                  <a:srgbClr val="111111"/>
                </a:solidFill>
              </a:defRPr>
            </a:lvl2pPr>
            <a:lvl3pPr algn="r">
              <a:defRPr sz="3900" b="1">
                <a:solidFill>
                  <a:srgbClr val="111111"/>
                </a:solidFill>
              </a:defRPr>
            </a:lvl3pPr>
            <a:lvl4pPr algn="r">
              <a:defRPr sz="3900" b="1">
                <a:solidFill>
                  <a:srgbClr val="111111"/>
                </a:solidFill>
              </a:defRPr>
            </a:lvl4pPr>
            <a:lvl5pPr algn="r">
              <a:defRPr sz="3900" b="1">
                <a:solidFill>
                  <a:srgbClr val="111111"/>
                </a:solidFill>
              </a:defRPr>
            </a:lvl5pPr>
            <a:lvl6pPr algn="r">
              <a:defRPr sz="3900" b="1">
                <a:solidFill>
                  <a:srgbClr val="111111"/>
                </a:solidFill>
              </a:defRPr>
            </a:lvl6pPr>
            <a:lvl7pPr algn="r">
              <a:defRPr sz="3900" b="1">
                <a:solidFill>
                  <a:srgbClr val="111111"/>
                </a:solidFill>
              </a:defRPr>
            </a:lvl7pPr>
            <a:lvl8pPr algn="r">
              <a:defRPr sz="3900" b="1">
                <a:solidFill>
                  <a:srgbClr val="111111"/>
                </a:solidFill>
              </a:defRPr>
            </a:lvl8pPr>
            <a:lvl9pPr algn="r">
              <a:defRPr sz="3900" b="1">
                <a:solidFill>
                  <a:srgbClr val="111111"/>
                </a:solidFill>
              </a:defRPr>
            </a:lvl9pPr>
          </a:lstStyle>
          <a:p xmlns:a="http://schemas.openxmlformats.org/drawingml/2006/main">
            <a:pPr algn="r">
              <a:defRPr sz="3900" b="1">
                <a:solidFill>
                  <a:srgbClr val="111111"/>
                </a:solidFill>
              </a:defRPr>
            </a:pPr>
            <a:r>
              <a:rPr sz="3900" b="1">
                <a:solidFill>
                  <a:srgbClr val="111111"/>
                </a:solidFill>
              </a:rPr>
              <a:t>04</a:t>
            </a:r>
          </a:p>
        </p:txBody>
      </p:sp>
      <p:sp>
        <p:nvSpPr>
          <p:cNvPr id="6" name="">
            <a:extLst xmlns:a="http://schemas.openxmlformats.org/drawingml/2006/main">
              <a:ext uri="{FF2B5EF4-FFF2-40B4-BE49-F238E27FC236}">
                <a16:creationId xmlns:a16="http://schemas.microsoft.com/office/drawing/2014/main" id="{1CA1A142-003A-4543-BE18-73911187E87C}"/>
              </a:ext>
            </a:extLst>
          </p:cNvPr>
          <p:cNvSpPr>
            <a:spLocks xmlns:a="http://schemas.openxmlformats.org/drawingml/2006/main" noGrp="1"/>
          </p:cNvSpPr>
          <p:nvPr/>
        </p:nvSpPr>
        <p:spPr>
          <a:xfrm xmlns:a="http://schemas.openxmlformats.org/drawingml/2006/main">
            <a:off x="504825" y="1724025"/>
            <a:ext cx="7086600" cy="291465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7" name="">
            <a:extLst xmlns:a="http://schemas.openxmlformats.org/drawingml/2006/main">
              <a:ext uri="{FF2B5EF4-FFF2-40B4-BE49-F238E27FC236}">
                <a16:creationId xmlns:a16="http://schemas.microsoft.com/office/drawing/2014/main" id="{60BB55DA-4477-4C82-960D-62CED0ABE5FE}"/>
              </a:ext>
            </a:extLst>
          </p:cNvPr>
          <p:cNvSpPr>
            <a:spLocks xmlns:a="http://schemas.openxmlformats.org/drawingml/2006/main" noGrp="1"/>
          </p:cNvSpPr>
          <p:nvPr/>
        </p:nvSpPr>
        <p:spPr>
          <a:xfrm xmlns:a="http://schemas.openxmlformats.org/drawingml/2006/main">
            <a:off x="628650" y="1800225"/>
            <a:ext cx="683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Historical portfolio return and P&amp;L distribution</a:t>
            </a:r>
          </a:p>
        </p:txBody>
      </p:sp>
      <p:pic>
        <p:nvPicPr>
          <p:cNvPr id="8" name="">
            <a:extLst xmlns:a="http://schemas.openxmlformats.org/drawingml/2006/main">
              <a:ext uri="{FF2B5EF4-FFF2-40B4-BE49-F238E27FC236}">
                <a16:creationId xmlns:a16="http://schemas.microsoft.com/office/drawing/2014/main" id="{F44DFB41-9C4B-41EB-84EB-CBB71389BAEA}"/>
              </a:ext>
            </a:extLst>
          </p:cNvPr>
          <p:cNvPicPr>
            <a:picLocks xmlns:a="http://schemas.openxmlformats.org/drawingml/2006/main" noChangeAspect="1"/>
          </p:cNvPicPr>
          <p:nvPr/>
        </p:nvPicPr>
        <p:blipFill>
          <a:blip xmlns:r="http://schemas.openxmlformats.org/officeDocument/2006/relationships" xmlns:a="http://schemas.openxmlformats.org/drawingml/2006/main" r:embed="Rc071cae01a0a47c3"/>
          <a:stretch xmlns:a="http://schemas.openxmlformats.org/drawingml/2006/main"/>
        </p:blipFill>
        <p:spPr>
          <a:xfrm xmlns:a="http://schemas.openxmlformats.org/drawingml/2006/main">
            <a:off x="514350" y="2172304"/>
            <a:ext cx="7067550" cy="2275268"/>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FCD5290-4D48-4857-B5F1-31A8BA8BDD6E}"/>
              </a:ext>
            </a:extLst>
          </p:cNvPr>
          <p:cNvSpPr>
            <a:spLocks xmlns:a="http://schemas.openxmlformats.org/drawingml/2006/main" noGrp="1"/>
          </p:cNvSpPr>
          <p:nvPr/>
        </p:nvSpPr>
        <p:spPr>
          <a:xfrm xmlns:a="http://schemas.openxmlformats.org/drawingml/2006/main">
            <a:off x="7981950" y="21145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55E63"/>
                </a:solidFill>
              </a:defRPr>
            </a:defPPr>
            <a:lvl1pPr algn="l">
              <a:defRPr sz="2100" b="1">
                <a:solidFill>
                  <a:srgbClr val="155E63"/>
                </a:solidFill>
              </a:defRPr>
            </a:lvl1pPr>
            <a:lvl2pPr algn="l">
              <a:defRPr sz="2100" b="1">
                <a:solidFill>
                  <a:srgbClr val="155E63"/>
                </a:solidFill>
              </a:defRPr>
            </a:lvl2pPr>
            <a:lvl3pPr algn="l">
              <a:defRPr sz="2100" b="1">
                <a:solidFill>
                  <a:srgbClr val="155E63"/>
                </a:solidFill>
              </a:defRPr>
            </a:lvl3pPr>
            <a:lvl4pPr algn="l">
              <a:defRPr sz="2100" b="1">
                <a:solidFill>
                  <a:srgbClr val="155E63"/>
                </a:solidFill>
              </a:defRPr>
            </a:lvl4pPr>
            <a:lvl5pPr algn="l">
              <a:defRPr sz="2100" b="1">
                <a:solidFill>
                  <a:srgbClr val="155E63"/>
                </a:solidFill>
              </a:defRPr>
            </a:lvl5pPr>
            <a:lvl6pPr algn="l">
              <a:defRPr sz="2100" b="1">
                <a:solidFill>
                  <a:srgbClr val="155E63"/>
                </a:solidFill>
              </a:defRPr>
            </a:lvl6pPr>
            <a:lvl7pPr algn="l">
              <a:defRPr sz="2100" b="1">
                <a:solidFill>
                  <a:srgbClr val="155E63"/>
                </a:solidFill>
              </a:defRPr>
            </a:lvl7pPr>
            <a:lvl8pPr algn="l">
              <a:defRPr sz="2100" b="1">
                <a:solidFill>
                  <a:srgbClr val="155E63"/>
                </a:solidFill>
              </a:defRPr>
            </a:lvl8pPr>
            <a:lvl9pPr algn="l">
              <a:defRPr sz="2100" b="1">
                <a:solidFill>
                  <a:srgbClr val="155E63"/>
                </a:solidFill>
              </a:defRPr>
            </a:lvl9pPr>
          </a:lstStyle>
          <a:p xmlns:a="http://schemas.openxmlformats.org/drawingml/2006/main">
            <a:pPr algn="l">
              <a:defRPr sz="2100" b="1">
                <a:solidFill>
                  <a:srgbClr val="155E63"/>
                </a:solidFill>
              </a:defRPr>
            </a:pPr>
            <a:r>
              <a:rPr sz="2100" b="1">
                <a:solidFill>
                  <a:srgbClr val="155E63"/>
                </a:solidFill>
              </a:rPr>
              <a:t>$337K</a:t>
            </a:r>
          </a:p>
        </p:txBody>
      </p:sp>
      <p:sp>
        <p:nvSpPr>
          <p:cNvPr id="10" name="">
            <a:extLst xmlns:a="http://schemas.openxmlformats.org/drawingml/2006/main">
              <a:ext uri="{FF2B5EF4-FFF2-40B4-BE49-F238E27FC236}">
                <a16:creationId xmlns:a16="http://schemas.microsoft.com/office/drawing/2014/main" id="{02D13A86-858D-443E-AAC9-BBDE6DD7A528}"/>
              </a:ext>
            </a:extLst>
          </p:cNvPr>
          <p:cNvSpPr>
            <a:spLocks xmlns:a="http://schemas.openxmlformats.org/drawingml/2006/main" noGrp="1"/>
          </p:cNvSpPr>
          <p:nvPr/>
        </p:nvSpPr>
        <p:spPr>
          <a:xfrm xmlns:a="http://schemas.openxmlformats.org/drawingml/2006/main">
            <a:off x="7981950" y="25146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99% one-day VaR</a:t>
            </a:r>
          </a:p>
        </p:txBody>
      </p:sp>
      <p:sp>
        <p:nvSpPr>
          <p:cNvPr id="11" name="">
            <a:extLst xmlns:a="http://schemas.openxmlformats.org/drawingml/2006/main">
              <a:ext uri="{FF2B5EF4-FFF2-40B4-BE49-F238E27FC236}">
                <a16:creationId xmlns:a16="http://schemas.microsoft.com/office/drawing/2014/main" id="{BAA81FE1-A85C-40E4-B506-AB496C0087EE}"/>
              </a:ext>
            </a:extLst>
          </p:cNvPr>
          <p:cNvSpPr>
            <a:spLocks xmlns:a="http://schemas.openxmlformats.org/drawingml/2006/main" noGrp="1"/>
          </p:cNvSpPr>
          <p:nvPr/>
        </p:nvSpPr>
        <p:spPr>
          <a:xfrm xmlns:a="http://schemas.openxmlformats.org/drawingml/2006/main">
            <a:off x="7981950" y="3028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B42318"/>
                </a:solidFill>
              </a:defRPr>
            </a:defPPr>
            <a:lvl1pPr algn="l">
              <a:defRPr sz="2100" b="1">
                <a:solidFill>
                  <a:srgbClr val="B42318"/>
                </a:solidFill>
              </a:defRPr>
            </a:lvl1pPr>
            <a:lvl2pPr algn="l">
              <a:defRPr sz="2100" b="1">
                <a:solidFill>
                  <a:srgbClr val="B42318"/>
                </a:solidFill>
              </a:defRPr>
            </a:lvl2pPr>
            <a:lvl3pPr algn="l">
              <a:defRPr sz="2100" b="1">
                <a:solidFill>
                  <a:srgbClr val="B42318"/>
                </a:solidFill>
              </a:defRPr>
            </a:lvl3pPr>
            <a:lvl4pPr algn="l">
              <a:defRPr sz="2100" b="1">
                <a:solidFill>
                  <a:srgbClr val="B42318"/>
                </a:solidFill>
              </a:defRPr>
            </a:lvl4pPr>
            <a:lvl5pPr algn="l">
              <a:defRPr sz="2100" b="1">
                <a:solidFill>
                  <a:srgbClr val="B42318"/>
                </a:solidFill>
              </a:defRPr>
            </a:lvl5pPr>
            <a:lvl6pPr algn="l">
              <a:defRPr sz="2100" b="1">
                <a:solidFill>
                  <a:srgbClr val="B42318"/>
                </a:solidFill>
              </a:defRPr>
            </a:lvl6pPr>
            <a:lvl7pPr algn="l">
              <a:defRPr sz="2100" b="1">
                <a:solidFill>
                  <a:srgbClr val="B42318"/>
                </a:solidFill>
              </a:defRPr>
            </a:lvl7pPr>
            <a:lvl8pPr algn="l">
              <a:defRPr sz="2100" b="1">
                <a:solidFill>
                  <a:srgbClr val="B42318"/>
                </a:solidFill>
              </a:defRPr>
            </a:lvl8pPr>
            <a:lvl9pPr algn="l">
              <a:defRPr sz="2100" b="1">
                <a:solidFill>
                  <a:srgbClr val="B42318"/>
                </a:solidFill>
              </a:defRPr>
            </a:lvl9pPr>
          </a:lstStyle>
          <a:p xmlns:a="http://schemas.openxmlformats.org/drawingml/2006/main">
            <a:pPr algn="l">
              <a:defRPr sz="2100" b="1">
                <a:solidFill>
                  <a:srgbClr val="B42318"/>
                </a:solidFill>
              </a:defRPr>
            </a:pPr>
            <a:r>
              <a:rPr sz="2100" b="1">
                <a:solidFill>
                  <a:srgbClr val="B42318"/>
                </a:solidFill>
              </a:rPr>
              <a:t>$463K</a:t>
            </a:r>
          </a:p>
        </p:txBody>
      </p:sp>
      <p:sp>
        <p:nvSpPr>
          <p:cNvPr id="12" name="">
            <a:extLst xmlns:a="http://schemas.openxmlformats.org/drawingml/2006/main">
              <a:ext uri="{FF2B5EF4-FFF2-40B4-BE49-F238E27FC236}">
                <a16:creationId xmlns:a16="http://schemas.microsoft.com/office/drawing/2014/main" id="{869EE6E7-5EC2-40D4-9B2D-BE18E504B0BF}"/>
              </a:ext>
            </a:extLst>
          </p:cNvPr>
          <p:cNvSpPr>
            <a:spLocks xmlns:a="http://schemas.openxmlformats.org/drawingml/2006/main" noGrp="1"/>
          </p:cNvSpPr>
          <p:nvPr/>
        </p:nvSpPr>
        <p:spPr>
          <a:xfrm xmlns:a="http://schemas.openxmlformats.org/drawingml/2006/main">
            <a:off x="7981950" y="34290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Expected Shortfall</a:t>
            </a:r>
          </a:p>
        </p:txBody>
      </p:sp>
      <p:sp>
        <p:nvSpPr>
          <p:cNvPr id="13" name="">
            <a:extLst xmlns:a="http://schemas.openxmlformats.org/drawingml/2006/main">
              <a:ext uri="{FF2B5EF4-FFF2-40B4-BE49-F238E27FC236}">
                <a16:creationId xmlns:a16="http://schemas.microsoft.com/office/drawing/2014/main" id="{D765B22A-D273-4712-A0DD-E2E51A35FCB8}"/>
              </a:ext>
            </a:extLst>
          </p:cNvPr>
          <p:cNvSpPr>
            <a:spLocks xmlns:a="http://schemas.openxmlformats.org/drawingml/2006/main" noGrp="1"/>
          </p:cNvSpPr>
          <p:nvPr/>
        </p:nvSpPr>
        <p:spPr>
          <a:xfrm xmlns:a="http://schemas.openxmlformats.org/drawingml/2006/main">
            <a:off x="7981950" y="39433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11111"/>
                </a:solidFill>
              </a:defRPr>
            </a:defPPr>
            <a:lvl1pPr algn="l">
              <a:defRPr sz="2100" b="1">
                <a:solidFill>
                  <a:srgbClr val="111111"/>
                </a:solidFill>
              </a:defRPr>
            </a:lvl1pPr>
            <a:lvl2pPr algn="l">
              <a:defRPr sz="2100" b="1">
                <a:solidFill>
                  <a:srgbClr val="111111"/>
                </a:solidFill>
              </a:defRPr>
            </a:lvl2pPr>
            <a:lvl3pPr algn="l">
              <a:defRPr sz="2100" b="1">
                <a:solidFill>
                  <a:srgbClr val="111111"/>
                </a:solidFill>
              </a:defRPr>
            </a:lvl3pPr>
            <a:lvl4pPr algn="l">
              <a:defRPr sz="2100" b="1">
                <a:solidFill>
                  <a:srgbClr val="111111"/>
                </a:solidFill>
              </a:defRPr>
            </a:lvl4pPr>
            <a:lvl5pPr algn="l">
              <a:defRPr sz="2100" b="1">
                <a:solidFill>
                  <a:srgbClr val="111111"/>
                </a:solidFill>
              </a:defRPr>
            </a:lvl5pPr>
            <a:lvl6pPr algn="l">
              <a:defRPr sz="2100" b="1">
                <a:solidFill>
                  <a:srgbClr val="111111"/>
                </a:solidFill>
              </a:defRPr>
            </a:lvl6pPr>
            <a:lvl7pPr algn="l">
              <a:defRPr sz="2100" b="1">
                <a:solidFill>
                  <a:srgbClr val="111111"/>
                </a:solidFill>
              </a:defRPr>
            </a:lvl7pPr>
            <a:lvl8pPr algn="l">
              <a:defRPr sz="2100" b="1">
                <a:solidFill>
                  <a:srgbClr val="111111"/>
                </a:solidFill>
              </a:defRPr>
            </a:lvl8pPr>
            <a:lvl9pPr algn="l">
              <a:defRPr sz="2100" b="1">
                <a:solidFill>
                  <a:srgbClr val="111111"/>
                </a:solidFill>
              </a:defRPr>
            </a:lvl9pPr>
          </a:lstStyle>
          <a:p xmlns:a="http://schemas.openxmlformats.org/drawingml/2006/main">
            <a:pPr algn="l">
              <a:defRPr sz="2100" b="1">
                <a:solidFill>
                  <a:srgbClr val="111111"/>
                </a:solidFill>
              </a:defRPr>
            </a:pPr>
            <a:r>
              <a:rPr sz="2100" b="1">
                <a:solidFill>
                  <a:srgbClr val="111111"/>
                </a:solidFill>
              </a:rPr>
              <a:t>$1.06M</a:t>
            </a:r>
          </a:p>
        </p:txBody>
      </p:sp>
      <p:sp>
        <p:nvSpPr>
          <p:cNvPr id="14" name="">
            <a:extLst xmlns:a="http://schemas.openxmlformats.org/drawingml/2006/main">
              <a:ext uri="{FF2B5EF4-FFF2-40B4-BE49-F238E27FC236}">
                <a16:creationId xmlns:a16="http://schemas.microsoft.com/office/drawing/2014/main" id="{FC774C67-CE27-4B22-BE6F-2E59D44847CD}"/>
              </a:ext>
            </a:extLst>
          </p:cNvPr>
          <p:cNvSpPr>
            <a:spLocks xmlns:a="http://schemas.openxmlformats.org/drawingml/2006/main" noGrp="1"/>
          </p:cNvSpPr>
          <p:nvPr/>
        </p:nvSpPr>
        <p:spPr>
          <a:xfrm xmlns:a="http://schemas.openxmlformats.org/drawingml/2006/main">
            <a:off x="7981950" y="43434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99% ten-day VaR</a:t>
            </a:r>
          </a:p>
        </p:txBody>
      </p:sp>
      <p:sp>
        <p:nvSpPr>
          <p:cNvPr id="15" name="">
            <a:extLst xmlns:a="http://schemas.openxmlformats.org/drawingml/2006/main">
              <a:ext uri="{FF2B5EF4-FFF2-40B4-BE49-F238E27FC236}">
                <a16:creationId xmlns:a16="http://schemas.microsoft.com/office/drawing/2014/main" id="{4D2EDD9F-324F-4D39-8138-342A4EDC32BA}"/>
              </a:ext>
            </a:extLst>
          </p:cNvPr>
          <p:cNvSpPr>
            <a:spLocks xmlns:a="http://schemas.openxmlformats.org/drawingml/2006/main" noGrp="1"/>
          </p:cNvSpPr>
          <p:nvPr/>
        </p:nvSpPr>
        <p:spPr>
          <a:xfrm xmlns:a="http://schemas.openxmlformats.org/drawingml/2006/main">
            <a:off x="514350" y="501015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725" b="1">
                <a:solidFill>
                  <a:srgbClr val="111111"/>
                </a:solidFill>
              </a:defRPr>
            </a:defPPr>
            <a:lvl1pPr algn="l">
              <a:defRPr sz="1725" b="1">
                <a:solidFill>
                  <a:srgbClr val="111111"/>
                </a:solidFill>
              </a:defRPr>
            </a:lvl1pPr>
            <a:lvl2pPr algn="l">
              <a:defRPr sz="1725" b="1">
                <a:solidFill>
                  <a:srgbClr val="111111"/>
                </a:solidFill>
              </a:defRPr>
            </a:lvl2pPr>
            <a:lvl3pPr algn="l">
              <a:defRPr sz="1725" b="1">
                <a:solidFill>
                  <a:srgbClr val="111111"/>
                </a:solidFill>
              </a:defRPr>
            </a:lvl3pPr>
            <a:lvl4pPr algn="l">
              <a:defRPr sz="1725" b="1">
                <a:solidFill>
                  <a:srgbClr val="111111"/>
                </a:solidFill>
              </a:defRPr>
            </a:lvl4pPr>
            <a:lvl5pPr algn="l">
              <a:defRPr sz="1725" b="1">
                <a:solidFill>
                  <a:srgbClr val="111111"/>
                </a:solidFill>
              </a:defRPr>
            </a:lvl5pPr>
            <a:lvl6pPr algn="l">
              <a:defRPr sz="1725" b="1">
                <a:solidFill>
                  <a:srgbClr val="111111"/>
                </a:solidFill>
              </a:defRPr>
            </a:lvl6pPr>
            <a:lvl7pPr algn="l">
              <a:defRPr sz="1725" b="1">
                <a:solidFill>
                  <a:srgbClr val="111111"/>
                </a:solidFill>
              </a:defRPr>
            </a:lvl7pPr>
            <a:lvl8pPr algn="l">
              <a:defRPr sz="1725" b="1">
                <a:solidFill>
                  <a:srgbClr val="111111"/>
                </a:solidFill>
              </a:defRPr>
            </a:lvl8pPr>
            <a:lvl9pPr algn="l">
              <a:defRPr sz="1725" b="1">
                <a:solidFill>
                  <a:srgbClr val="111111"/>
                </a:solidFill>
              </a:defRPr>
            </a:lvl9pPr>
          </a:lstStyle>
          <a:p xmlns:a="http://schemas.openxmlformats.org/drawingml/2006/main">
            <a:pPr algn="l">
              <a:defRPr sz="1725" b="1">
                <a:solidFill>
                  <a:srgbClr val="111111"/>
                </a:solidFill>
              </a:defRPr>
            </a:pPr>
            <a:r>
              <a:rPr sz="1725" b="1">
                <a:solidFill>
                  <a:srgbClr val="111111"/>
                </a:solidFill>
              </a:rPr>
              <a:t>250</a:t>
            </a:r>
          </a:p>
        </p:txBody>
      </p:sp>
      <p:sp>
        <p:nvSpPr>
          <p:cNvPr id="16" name="">
            <a:extLst xmlns:a="http://schemas.openxmlformats.org/drawingml/2006/main">
              <a:ext uri="{FF2B5EF4-FFF2-40B4-BE49-F238E27FC236}">
                <a16:creationId xmlns:a16="http://schemas.microsoft.com/office/drawing/2014/main" id="{ECEDCABA-9837-437D-AF25-C39A75C732EE}"/>
              </a:ext>
            </a:extLst>
          </p:cNvPr>
          <p:cNvSpPr>
            <a:spLocks xmlns:a="http://schemas.openxmlformats.org/drawingml/2006/main" noGrp="1"/>
          </p:cNvSpPr>
          <p:nvPr/>
        </p:nvSpPr>
        <p:spPr>
          <a:xfrm xmlns:a="http://schemas.openxmlformats.org/drawingml/2006/main">
            <a:off x="1352550" y="5029200"/>
            <a:ext cx="1276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days</a:t>
            </a:r>
          </a:p>
          <a:p xmlns:a="http://schemas.openxmlformats.org/drawingml/2006/main">
            <a:pPr algn="l">
              <a:defRPr sz="900" b="0">
                <a:solidFill>
                  <a:srgbClr val="707070"/>
                </a:solidFill>
              </a:defRPr>
            </a:pPr>
            <a:r>
              <a:rPr sz="900" b="0">
                <a:solidFill>
                  <a:srgbClr val="707070"/>
                </a:solidFill>
              </a:rPr>
              <a:t>about 1 year</a:t>
            </a:r>
          </a:p>
        </p:txBody>
      </p:sp>
      <p:sp>
        <p:nvSpPr>
          <p:cNvPr id="17" name="">
            <a:extLst xmlns:a="http://schemas.openxmlformats.org/drawingml/2006/main">
              <a:ext uri="{FF2B5EF4-FFF2-40B4-BE49-F238E27FC236}">
                <a16:creationId xmlns:a16="http://schemas.microsoft.com/office/drawing/2014/main" id="{257BACFB-DB77-4B8F-A655-FAAE99BDE65F}"/>
              </a:ext>
            </a:extLst>
          </p:cNvPr>
          <p:cNvSpPr>
            <a:spLocks xmlns:a="http://schemas.openxmlformats.org/drawingml/2006/main" noGrp="1"/>
          </p:cNvSpPr>
          <p:nvPr/>
        </p:nvSpPr>
        <p:spPr>
          <a:xfrm xmlns:a="http://schemas.openxmlformats.org/drawingml/2006/main">
            <a:off x="2895600" y="501015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725" b="1">
                <a:solidFill>
                  <a:srgbClr val="111111"/>
                </a:solidFill>
              </a:defRPr>
            </a:defPPr>
            <a:lvl1pPr algn="l">
              <a:defRPr sz="1725" b="1">
                <a:solidFill>
                  <a:srgbClr val="111111"/>
                </a:solidFill>
              </a:defRPr>
            </a:lvl1pPr>
            <a:lvl2pPr algn="l">
              <a:defRPr sz="1725" b="1">
                <a:solidFill>
                  <a:srgbClr val="111111"/>
                </a:solidFill>
              </a:defRPr>
            </a:lvl2pPr>
            <a:lvl3pPr algn="l">
              <a:defRPr sz="1725" b="1">
                <a:solidFill>
                  <a:srgbClr val="111111"/>
                </a:solidFill>
              </a:defRPr>
            </a:lvl3pPr>
            <a:lvl4pPr algn="l">
              <a:defRPr sz="1725" b="1">
                <a:solidFill>
                  <a:srgbClr val="111111"/>
                </a:solidFill>
              </a:defRPr>
            </a:lvl4pPr>
            <a:lvl5pPr algn="l">
              <a:defRPr sz="1725" b="1">
                <a:solidFill>
                  <a:srgbClr val="111111"/>
                </a:solidFill>
              </a:defRPr>
            </a:lvl5pPr>
            <a:lvl6pPr algn="l">
              <a:defRPr sz="1725" b="1">
                <a:solidFill>
                  <a:srgbClr val="111111"/>
                </a:solidFill>
              </a:defRPr>
            </a:lvl6pPr>
            <a:lvl7pPr algn="l">
              <a:defRPr sz="1725" b="1">
                <a:solidFill>
                  <a:srgbClr val="111111"/>
                </a:solidFill>
              </a:defRPr>
            </a:lvl7pPr>
            <a:lvl8pPr algn="l">
              <a:defRPr sz="1725" b="1">
                <a:solidFill>
                  <a:srgbClr val="111111"/>
                </a:solidFill>
              </a:defRPr>
            </a:lvl8pPr>
            <a:lvl9pPr algn="l">
              <a:defRPr sz="1725" b="1">
                <a:solidFill>
                  <a:srgbClr val="111111"/>
                </a:solidFill>
              </a:defRPr>
            </a:lvl9pPr>
          </a:lstStyle>
          <a:p xmlns:a="http://schemas.openxmlformats.org/drawingml/2006/main">
            <a:pPr algn="l">
              <a:defRPr sz="1725" b="1">
                <a:solidFill>
                  <a:srgbClr val="111111"/>
                </a:solidFill>
              </a:defRPr>
            </a:pPr>
            <a:r>
              <a:rPr sz="1725" b="1">
                <a:solidFill>
                  <a:srgbClr val="111111"/>
                </a:solidFill>
              </a:rPr>
              <a:t>500</a:t>
            </a:r>
          </a:p>
        </p:txBody>
      </p:sp>
      <p:sp>
        <p:nvSpPr>
          <p:cNvPr id="18" name="">
            <a:extLst xmlns:a="http://schemas.openxmlformats.org/drawingml/2006/main">
              <a:ext uri="{FF2B5EF4-FFF2-40B4-BE49-F238E27FC236}">
                <a16:creationId xmlns:a16="http://schemas.microsoft.com/office/drawing/2014/main" id="{8CFF3C14-CC72-441D-9C14-9538F1F287DC}"/>
              </a:ext>
            </a:extLst>
          </p:cNvPr>
          <p:cNvSpPr>
            <a:spLocks xmlns:a="http://schemas.openxmlformats.org/drawingml/2006/main" noGrp="1"/>
          </p:cNvSpPr>
          <p:nvPr/>
        </p:nvSpPr>
        <p:spPr>
          <a:xfrm xmlns:a="http://schemas.openxmlformats.org/drawingml/2006/main">
            <a:off x="3733800" y="5029200"/>
            <a:ext cx="1276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days</a:t>
            </a:r>
          </a:p>
          <a:p xmlns:a="http://schemas.openxmlformats.org/drawingml/2006/main">
            <a:pPr algn="l">
              <a:defRPr sz="900" b="0">
                <a:solidFill>
                  <a:srgbClr val="707070"/>
                </a:solidFill>
              </a:defRPr>
            </a:pPr>
            <a:r>
              <a:rPr sz="900" b="0">
                <a:solidFill>
                  <a:srgbClr val="707070"/>
                </a:solidFill>
              </a:rPr>
              <a:t>about 2 years</a:t>
            </a:r>
          </a:p>
        </p:txBody>
      </p:sp>
      <p:sp>
        <p:nvSpPr>
          <p:cNvPr id="19" name="">
            <a:extLst xmlns:a="http://schemas.openxmlformats.org/drawingml/2006/main">
              <a:ext uri="{FF2B5EF4-FFF2-40B4-BE49-F238E27FC236}">
                <a16:creationId xmlns:a16="http://schemas.microsoft.com/office/drawing/2014/main" id="{9E26C26D-17C9-41FE-8FCB-5E40A2993BCC}"/>
              </a:ext>
            </a:extLst>
          </p:cNvPr>
          <p:cNvSpPr>
            <a:spLocks xmlns:a="http://schemas.openxmlformats.org/drawingml/2006/main" noGrp="1"/>
          </p:cNvSpPr>
          <p:nvPr/>
        </p:nvSpPr>
        <p:spPr>
          <a:xfrm xmlns:a="http://schemas.openxmlformats.org/drawingml/2006/main">
            <a:off x="5276850" y="501015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725" b="1">
                <a:solidFill>
                  <a:srgbClr val="111111"/>
                </a:solidFill>
              </a:defRPr>
            </a:defPPr>
            <a:lvl1pPr algn="l">
              <a:defRPr sz="1725" b="1">
                <a:solidFill>
                  <a:srgbClr val="111111"/>
                </a:solidFill>
              </a:defRPr>
            </a:lvl1pPr>
            <a:lvl2pPr algn="l">
              <a:defRPr sz="1725" b="1">
                <a:solidFill>
                  <a:srgbClr val="111111"/>
                </a:solidFill>
              </a:defRPr>
            </a:lvl2pPr>
            <a:lvl3pPr algn="l">
              <a:defRPr sz="1725" b="1">
                <a:solidFill>
                  <a:srgbClr val="111111"/>
                </a:solidFill>
              </a:defRPr>
            </a:lvl3pPr>
            <a:lvl4pPr algn="l">
              <a:defRPr sz="1725" b="1">
                <a:solidFill>
                  <a:srgbClr val="111111"/>
                </a:solidFill>
              </a:defRPr>
            </a:lvl4pPr>
            <a:lvl5pPr algn="l">
              <a:defRPr sz="1725" b="1">
                <a:solidFill>
                  <a:srgbClr val="111111"/>
                </a:solidFill>
              </a:defRPr>
            </a:lvl5pPr>
            <a:lvl6pPr algn="l">
              <a:defRPr sz="1725" b="1">
                <a:solidFill>
                  <a:srgbClr val="111111"/>
                </a:solidFill>
              </a:defRPr>
            </a:lvl6pPr>
            <a:lvl7pPr algn="l">
              <a:defRPr sz="1725" b="1">
                <a:solidFill>
                  <a:srgbClr val="111111"/>
                </a:solidFill>
              </a:defRPr>
            </a:lvl7pPr>
            <a:lvl8pPr algn="l">
              <a:defRPr sz="1725" b="1">
                <a:solidFill>
                  <a:srgbClr val="111111"/>
                </a:solidFill>
              </a:defRPr>
            </a:lvl8pPr>
            <a:lvl9pPr algn="l">
              <a:defRPr sz="1725" b="1">
                <a:solidFill>
                  <a:srgbClr val="111111"/>
                </a:solidFill>
              </a:defRPr>
            </a:lvl9pPr>
          </a:lstStyle>
          <a:p xmlns:a="http://schemas.openxmlformats.org/drawingml/2006/main">
            <a:pPr algn="l">
              <a:defRPr sz="1725" b="1">
                <a:solidFill>
                  <a:srgbClr val="111111"/>
                </a:solidFill>
              </a:defRPr>
            </a:pPr>
            <a:r>
              <a:rPr sz="1725" b="1">
                <a:solidFill>
                  <a:srgbClr val="111111"/>
                </a:solidFill>
              </a:rPr>
              <a:t>750</a:t>
            </a:r>
          </a:p>
        </p:txBody>
      </p:sp>
      <p:sp>
        <p:nvSpPr>
          <p:cNvPr id="20" name="">
            <a:extLst xmlns:a="http://schemas.openxmlformats.org/drawingml/2006/main">
              <a:ext uri="{FF2B5EF4-FFF2-40B4-BE49-F238E27FC236}">
                <a16:creationId xmlns:a16="http://schemas.microsoft.com/office/drawing/2014/main" id="{141E58C9-C5A2-44DA-9B0D-2D90B18C728A}"/>
              </a:ext>
            </a:extLst>
          </p:cNvPr>
          <p:cNvSpPr>
            <a:spLocks xmlns:a="http://schemas.openxmlformats.org/drawingml/2006/main" noGrp="1"/>
          </p:cNvSpPr>
          <p:nvPr/>
        </p:nvSpPr>
        <p:spPr>
          <a:xfrm xmlns:a="http://schemas.openxmlformats.org/drawingml/2006/main">
            <a:off x="6115050" y="5029200"/>
            <a:ext cx="1276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days</a:t>
            </a:r>
          </a:p>
          <a:p xmlns:a="http://schemas.openxmlformats.org/drawingml/2006/main">
            <a:pPr algn="l">
              <a:defRPr sz="900" b="0">
                <a:solidFill>
                  <a:srgbClr val="707070"/>
                </a:solidFill>
              </a:defRPr>
            </a:pPr>
            <a:r>
              <a:rPr sz="900" b="0">
                <a:solidFill>
                  <a:srgbClr val="707070"/>
                </a:solidFill>
              </a:rPr>
              <a:t>about 3 years</a:t>
            </a:r>
          </a:p>
        </p:txBody>
      </p:sp>
      <p:sp>
        <p:nvSpPr>
          <p:cNvPr id="21" name="">
            <a:extLst xmlns:a="http://schemas.openxmlformats.org/drawingml/2006/main">
              <a:ext uri="{FF2B5EF4-FFF2-40B4-BE49-F238E27FC236}">
                <a16:creationId xmlns:a16="http://schemas.microsoft.com/office/drawing/2014/main" id="{0A020020-A259-4507-8344-4BE0BDDB74C1}"/>
              </a:ext>
            </a:extLst>
          </p:cNvPr>
          <p:cNvSpPr>
            <a:spLocks xmlns:a="http://schemas.openxmlformats.org/drawingml/2006/main" noGrp="1"/>
          </p:cNvSpPr>
          <p:nvPr/>
        </p:nvSpPr>
        <p:spPr>
          <a:xfrm xmlns:a="http://schemas.openxmlformats.org/drawingml/2006/main">
            <a:off x="514350" y="5715000"/>
            <a:ext cx="10610850" cy="457200"/>
          </a:xfrm>
          <a:prstGeom xmlns:a="http://schemas.openxmlformats.org/drawingml/2006/main" prst="rect">
            <a:avLst/>
          </a:prstGeom>
          <a:solidFill xmlns:a="http://schemas.openxmlformats.org/drawingml/2006/main">
            <a:srgbClr val="F3DEDA"/>
          </a:solidFill>
          <a:ln xmlns:a="http://schemas.openxmlformats.org/drawingml/2006/main" w="0">
            <a:solidFill>
              <a:srgbClr val="F3DEDA"/>
            </a:solidFill>
            <a:prstDash val="solid"/>
          </a:ln>
        </p:spPr>
      </p:sp>
      <p:sp>
        <p:nvSpPr>
          <p:cNvPr id="22" name="">
            <a:extLst xmlns:a="http://schemas.openxmlformats.org/drawingml/2006/main">
              <a:ext uri="{FF2B5EF4-FFF2-40B4-BE49-F238E27FC236}">
                <a16:creationId xmlns:a16="http://schemas.microsoft.com/office/drawing/2014/main" id="{E9324524-2390-498C-8D25-E31AF4A093B6}"/>
              </a:ext>
            </a:extLst>
          </p:cNvPr>
          <p:cNvSpPr>
            <a:spLocks xmlns:a="http://schemas.openxmlformats.org/drawingml/2006/main" noGrp="1"/>
          </p:cNvSpPr>
          <p:nvPr/>
        </p:nvSpPr>
        <p:spPr>
          <a:xfrm xmlns:a="http://schemas.openxmlformats.org/drawingml/2006/main">
            <a:off x="514350" y="5715000"/>
            <a:ext cx="47625" cy="4572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23" name="">
            <a:extLst xmlns:a="http://schemas.openxmlformats.org/drawingml/2006/main">
              <a:ext uri="{FF2B5EF4-FFF2-40B4-BE49-F238E27FC236}">
                <a16:creationId xmlns:a16="http://schemas.microsoft.com/office/drawing/2014/main" id="{84CB783D-DC17-47E0-9D6C-606DF8D6787C}"/>
              </a:ext>
            </a:extLst>
          </p:cNvPr>
          <p:cNvSpPr>
            <a:spLocks xmlns:a="http://schemas.openxmlformats.org/drawingml/2006/main" noGrp="1"/>
          </p:cNvSpPr>
          <p:nvPr/>
        </p:nvSpPr>
        <p:spPr>
          <a:xfrm xmlns:a="http://schemas.openxmlformats.org/drawingml/2006/main">
            <a:off x="685800" y="5762625"/>
            <a:ext cx="10325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353535"/>
                </a:solidFill>
              </a:defRPr>
            </a:defPPr>
            <a:lvl1pPr algn="l">
              <a:defRPr sz="1050" b="1">
                <a:solidFill>
                  <a:srgbClr val="353535"/>
                </a:solidFill>
              </a:defRPr>
            </a:lvl1pPr>
            <a:lvl2pPr algn="l">
              <a:defRPr sz="1050" b="1">
                <a:solidFill>
                  <a:srgbClr val="353535"/>
                </a:solidFill>
              </a:defRPr>
            </a:lvl2pPr>
            <a:lvl3pPr algn="l">
              <a:defRPr sz="1050" b="1">
                <a:solidFill>
                  <a:srgbClr val="353535"/>
                </a:solidFill>
              </a:defRPr>
            </a:lvl3pPr>
            <a:lvl4pPr algn="l">
              <a:defRPr sz="1050" b="1">
                <a:solidFill>
                  <a:srgbClr val="353535"/>
                </a:solidFill>
              </a:defRPr>
            </a:lvl4pPr>
            <a:lvl5pPr algn="l">
              <a:defRPr sz="1050" b="1">
                <a:solidFill>
                  <a:srgbClr val="353535"/>
                </a:solidFill>
              </a:defRPr>
            </a:lvl5pPr>
            <a:lvl6pPr algn="l">
              <a:defRPr sz="1050" b="1">
                <a:solidFill>
                  <a:srgbClr val="353535"/>
                </a:solidFill>
              </a:defRPr>
            </a:lvl6pPr>
            <a:lvl7pPr algn="l">
              <a:defRPr sz="1050" b="1">
                <a:solidFill>
                  <a:srgbClr val="353535"/>
                </a:solidFill>
              </a:defRPr>
            </a:lvl7pPr>
            <a:lvl8pPr algn="l">
              <a:defRPr sz="1050" b="1">
                <a:solidFill>
                  <a:srgbClr val="353535"/>
                </a:solidFill>
              </a:defRPr>
            </a:lvl8pPr>
            <a:lvl9pPr algn="l">
              <a:defRPr sz="1050" b="1">
                <a:solidFill>
                  <a:srgbClr val="353535"/>
                </a:solidFill>
              </a:defRPr>
            </a:lvl9pPr>
          </a:lstStyle>
          <a:p xmlns:a="http://schemas.openxmlformats.org/drawingml/2006/main">
            <a:pPr algn="l">
              <a:defRPr sz="1050" b="1">
                <a:solidFill>
                  <a:srgbClr val="353535"/>
                </a:solidFill>
              </a:defRPr>
            </a:pPr>
            <a:r>
              <a:rPr sz="1050" b="1">
                <a:solidFill>
                  <a:srgbClr val="353535"/>
                </a:solidFill>
              </a:rPr>
              <a:t>Confidence choices: 95%, 99% and 99.5%. Higher confidence moves deeper into the loss tail.</a:t>
            </a:r>
          </a:p>
        </p:txBody>
      </p:sp>
      <p:sp>
        <p:nvSpPr>
          <p:cNvPr id="24" name="">
            <a:extLst xmlns:a="http://schemas.openxmlformats.org/drawingml/2006/main">
              <a:ext uri="{FF2B5EF4-FFF2-40B4-BE49-F238E27FC236}">
                <a16:creationId xmlns:a16="http://schemas.microsoft.com/office/drawing/2014/main" id="{6CED6811-30B8-43D1-8373-09C61E675690}"/>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25" name="">
            <a:extLst xmlns:a="http://schemas.openxmlformats.org/drawingml/2006/main">
              <a:ext uri="{FF2B5EF4-FFF2-40B4-BE49-F238E27FC236}">
                <a16:creationId xmlns:a16="http://schemas.microsoft.com/office/drawing/2014/main" id="{EF8DA0ED-E322-4919-AAF4-5F635459C384}"/>
              </a:ext>
            </a:extLst>
          </p:cNvPr>
          <p:cNvSpPr>
            <a:spLocks xmlns:a="http://schemas.openxmlformats.org/drawingml/2006/main" noGrp="1"/>
          </p:cNvSpPr>
          <p:nvPr/>
        </p:nvSpPr>
        <p:spPr>
          <a:xfrm xmlns:a="http://schemas.openxmlformats.org/drawingml/2006/main">
            <a:off x="51435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0">
                <a:solidFill>
                  <a:srgbClr val="707070"/>
                </a:solidFill>
              </a:defRPr>
            </a:defPPr>
            <a:lvl1pPr algn="l">
              <a:defRPr sz="600" b="0">
                <a:solidFill>
                  <a:srgbClr val="707070"/>
                </a:solidFill>
              </a:defRPr>
            </a:lvl1pPr>
            <a:lvl2pPr algn="l">
              <a:defRPr sz="600" b="0">
                <a:solidFill>
                  <a:srgbClr val="707070"/>
                </a:solidFill>
              </a:defRPr>
            </a:lvl2pPr>
            <a:lvl3pPr algn="l">
              <a:defRPr sz="600" b="0">
                <a:solidFill>
                  <a:srgbClr val="707070"/>
                </a:solidFill>
              </a:defRPr>
            </a:lvl3pPr>
            <a:lvl4pPr algn="l">
              <a:defRPr sz="600" b="0">
                <a:solidFill>
                  <a:srgbClr val="707070"/>
                </a:solidFill>
              </a:defRPr>
            </a:lvl4pPr>
            <a:lvl5pPr algn="l">
              <a:defRPr sz="600" b="0">
                <a:solidFill>
                  <a:srgbClr val="707070"/>
                </a:solidFill>
              </a:defRPr>
            </a:lvl5pPr>
            <a:lvl6pPr algn="l">
              <a:defRPr sz="600" b="0">
                <a:solidFill>
                  <a:srgbClr val="707070"/>
                </a:solidFill>
              </a:defRPr>
            </a:lvl6pPr>
            <a:lvl7pPr algn="l">
              <a:defRPr sz="600" b="0">
                <a:solidFill>
                  <a:srgbClr val="707070"/>
                </a:solidFill>
              </a:defRPr>
            </a:lvl7pPr>
            <a:lvl8pPr algn="l">
              <a:defRPr sz="600" b="0">
                <a:solidFill>
                  <a:srgbClr val="707070"/>
                </a:solidFill>
              </a:defRPr>
            </a:lvl8pPr>
            <a:lvl9pPr algn="l">
              <a:defRPr sz="600" b="0">
                <a:solidFill>
                  <a:srgbClr val="707070"/>
                </a:solidFill>
              </a:defRPr>
            </a:lvl9pPr>
          </a:lstStyle>
          <a:p xmlns:a="http://schemas.openxmlformats.org/drawingml/2006/main">
            <a:pPr algn="l">
              <a:defRPr sz="600" b="0">
                <a:solidFill>
                  <a:srgbClr val="707070"/>
                </a:solidFill>
              </a:defRPr>
            </a:pPr>
            <a:r>
              <a:rPr sz="600" b="0">
                <a:solidFill>
                  <a:srgbClr val="707070"/>
                </a:solidFill>
              </a:rPr>
              <a:t>QFI risk engine  |  saved data through 23 October 2026</a:t>
            </a:r>
          </a:p>
        </p:txBody>
      </p:sp>
      <p:sp>
        <p:nvSpPr>
          <p:cNvPr id="26" name="">
            <a:extLst xmlns:a="http://schemas.openxmlformats.org/drawingml/2006/main">
              <a:ext uri="{FF2B5EF4-FFF2-40B4-BE49-F238E27FC236}">
                <a16:creationId xmlns:a16="http://schemas.microsoft.com/office/drawing/2014/main" id="{46768AA6-E3B4-4A3E-8FCA-5DA4F5BEBEBB}"/>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111111"/>
                </a:solidFill>
              </a:defRPr>
            </a:defPPr>
            <a:lvl1pPr algn="r">
              <a:defRPr sz="675" b="1">
                <a:solidFill>
                  <a:srgbClr val="111111"/>
                </a:solidFill>
              </a:defRPr>
            </a:lvl1pPr>
            <a:lvl2pPr algn="r">
              <a:defRPr sz="675" b="1">
                <a:solidFill>
                  <a:srgbClr val="111111"/>
                </a:solidFill>
              </a:defRPr>
            </a:lvl2pPr>
            <a:lvl3pPr algn="r">
              <a:defRPr sz="675" b="1">
                <a:solidFill>
                  <a:srgbClr val="111111"/>
                </a:solidFill>
              </a:defRPr>
            </a:lvl3pPr>
            <a:lvl4pPr algn="r">
              <a:defRPr sz="675" b="1">
                <a:solidFill>
                  <a:srgbClr val="111111"/>
                </a:solidFill>
              </a:defRPr>
            </a:lvl4pPr>
            <a:lvl5pPr algn="r">
              <a:defRPr sz="675" b="1">
                <a:solidFill>
                  <a:srgbClr val="111111"/>
                </a:solidFill>
              </a:defRPr>
            </a:lvl5pPr>
            <a:lvl6pPr algn="r">
              <a:defRPr sz="675" b="1">
                <a:solidFill>
                  <a:srgbClr val="111111"/>
                </a:solidFill>
              </a:defRPr>
            </a:lvl6pPr>
            <a:lvl7pPr algn="r">
              <a:defRPr sz="675" b="1">
                <a:solidFill>
                  <a:srgbClr val="111111"/>
                </a:solidFill>
              </a:defRPr>
            </a:lvl7pPr>
            <a:lvl8pPr algn="r">
              <a:defRPr sz="675" b="1">
                <a:solidFill>
                  <a:srgbClr val="111111"/>
                </a:solidFill>
              </a:defRPr>
            </a:lvl8pPr>
            <a:lvl9pPr algn="r">
              <a:defRPr sz="675" b="1">
                <a:solidFill>
                  <a:srgbClr val="111111"/>
                </a:solidFill>
              </a:defRPr>
            </a:lvl9pPr>
          </a:lstStyle>
          <a:p xmlns:a="http://schemas.openxmlformats.org/drawingml/2006/main">
            <a:pPr algn="r">
              <a:defRPr sz="675" b="1">
                <a:solidFill>
                  <a:srgbClr val="111111"/>
                </a:solidFill>
              </a:defRPr>
            </a:pPr>
            <a:r>
              <a:rPr sz="675" b="1">
                <a:solidFill>
                  <a:srgbClr val="111111"/>
                </a:solidFill>
              </a:rPr>
              <a:t>06</a:t>
            </a:r>
          </a:p>
        </p:txBody>
      </p:sp>
    </p:spTree>
    <p:extLst>
      <p:ext uri="{BB962C8B-B14F-4D97-AF65-F5344CB8AC3E}">
        <p14:creationId xmlns:p14="http://schemas.microsoft.com/office/powerpoint/2010/main" val="110981429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C09CE51-5DEF-4ECF-9686-69301939B1CC}"/>
              </a:ext>
            </a:extLst>
          </p:cNvPr>
          <p:cNvSpPr>
            <a:spLocks xmlns:a="http://schemas.openxmlformats.org/drawingml/2006/main" noGrp="1"/>
          </p:cNvSpPr>
          <p:nvPr/>
        </p:nvSpPr>
        <p:spPr>
          <a:xfrm xmlns:a="http://schemas.openxmlformats.org/drawingml/2006/main">
            <a:off x="514350" y="266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PHASE 05</a:t>
            </a:r>
          </a:p>
        </p:txBody>
      </p:sp>
      <p:sp>
        <p:nvSpPr>
          <p:cNvPr id="2" name="">
            <a:extLst xmlns:a="http://schemas.openxmlformats.org/drawingml/2006/main">
              <a:ext uri="{FF2B5EF4-FFF2-40B4-BE49-F238E27FC236}">
                <a16:creationId xmlns:a16="http://schemas.microsoft.com/office/drawing/2014/main" id="{3739514A-8642-49B4-9168-88E5CF315A89}"/>
              </a:ext>
            </a:extLst>
          </p:cNvPr>
          <p:cNvSpPr>
            <a:spLocks xmlns:a="http://schemas.openxmlformats.org/drawingml/2006/main" noGrp="1"/>
          </p:cNvSpPr>
          <p:nvPr/>
        </p:nvSpPr>
        <p:spPr>
          <a:xfrm xmlns:a="http://schemas.openxmlformats.org/drawingml/2006/main">
            <a:off x="514350" y="6096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11111"/>
                </a:solidFill>
              </a:defRPr>
            </a:defPPr>
            <a:lvl1pPr algn="l">
              <a:defRPr sz="2550" b="1">
                <a:solidFill>
                  <a:srgbClr val="111111"/>
                </a:solidFill>
              </a:defRPr>
            </a:lvl1pPr>
            <a:lvl2pPr algn="l">
              <a:defRPr sz="2550" b="1">
                <a:solidFill>
                  <a:srgbClr val="111111"/>
                </a:solidFill>
              </a:defRPr>
            </a:lvl2pPr>
            <a:lvl3pPr algn="l">
              <a:defRPr sz="2550" b="1">
                <a:solidFill>
                  <a:srgbClr val="111111"/>
                </a:solidFill>
              </a:defRPr>
            </a:lvl3pPr>
            <a:lvl4pPr algn="l">
              <a:defRPr sz="2550" b="1">
                <a:solidFill>
                  <a:srgbClr val="111111"/>
                </a:solidFill>
              </a:defRPr>
            </a:lvl4pPr>
            <a:lvl5pPr algn="l">
              <a:defRPr sz="2550" b="1">
                <a:solidFill>
                  <a:srgbClr val="111111"/>
                </a:solidFill>
              </a:defRPr>
            </a:lvl5pPr>
            <a:lvl6pPr algn="l">
              <a:defRPr sz="2550" b="1">
                <a:solidFill>
                  <a:srgbClr val="111111"/>
                </a:solidFill>
              </a:defRPr>
            </a:lvl6pPr>
            <a:lvl7pPr algn="l">
              <a:defRPr sz="2550" b="1">
                <a:solidFill>
                  <a:srgbClr val="111111"/>
                </a:solidFill>
              </a:defRPr>
            </a:lvl7pPr>
            <a:lvl8pPr algn="l">
              <a:defRPr sz="2550" b="1">
                <a:solidFill>
                  <a:srgbClr val="111111"/>
                </a:solidFill>
              </a:defRPr>
            </a:lvl8pPr>
            <a:lvl9pPr algn="l">
              <a:defRPr sz="2550" b="1">
                <a:solidFill>
                  <a:srgbClr val="111111"/>
                </a:solidFill>
              </a:defRPr>
            </a:lvl9pPr>
          </a:lstStyle>
          <a:p xmlns:a="http://schemas.openxmlformats.org/drawingml/2006/main">
            <a:pPr algn="l">
              <a:defRPr sz="2550" b="1">
                <a:solidFill>
                  <a:srgbClr val="111111"/>
                </a:solidFill>
              </a:defRPr>
            </a:pPr>
            <a:r>
              <a:rPr sz="2550" b="1">
                <a:solidFill>
                  <a:srgbClr val="111111"/>
                </a:solidFill>
              </a:rPr>
              <a:t>Phase 5  EWMA volatility scaling</a:t>
            </a:r>
          </a:p>
        </p:txBody>
      </p:sp>
      <p:sp>
        <p:nvSpPr>
          <p:cNvPr id="3" name="">
            <a:extLst xmlns:a="http://schemas.openxmlformats.org/drawingml/2006/main">
              <a:ext uri="{FF2B5EF4-FFF2-40B4-BE49-F238E27FC236}">
                <a16:creationId xmlns:a16="http://schemas.microsoft.com/office/drawing/2014/main" id="{64BE9F46-AC4D-40D3-96CA-3C578417BE2D}"/>
              </a:ext>
            </a:extLst>
          </p:cNvPr>
          <p:cNvSpPr>
            <a:spLocks xmlns:a="http://schemas.openxmlformats.org/drawingml/2006/main" noGrp="1"/>
          </p:cNvSpPr>
          <p:nvPr/>
        </p:nvSpPr>
        <p:spPr>
          <a:xfrm xmlns:a="http://schemas.openxmlformats.org/drawingml/2006/main">
            <a:off x="514350" y="11430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Recent shocks receive more weight, so old returns are resized to today's volatility</a:t>
            </a:r>
          </a:p>
        </p:txBody>
      </p:sp>
      <p:sp>
        <p:nvSpPr>
          <p:cNvPr id="4" name="">
            <a:extLst xmlns:a="http://schemas.openxmlformats.org/drawingml/2006/main">
              <a:ext uri="{FF2B5EF4-FFF2-40B4-BE49-F238E27FC236}">
                <a16:creationId xmlns:a16="http://schemas.microsoft.com/office/drawing/2014/main" id="{7EAD8976-74BF-46A4-93AA-29F0BDCA8D29}"/>
              </a:ext>
            </a:extLst>
          </p:cNvPr>
          <p:cNvSpPr>
            <a:spLocks xmlns:a="http://schemas.openxmlformats.org/drawingml/2006/main" noGrp="1"/>
          </p:cNvSpPr>
          <p:nvPr/>
        </p:nvSpPr>
        <p:spPr>
          <a:xfrm xmlns:a="http://schemas.openxmlformats.org/drawingml/2006/main">
            <a:off x="514350" y="1495425"/>
            <a:ext cx="111633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6610B290-C9AB-43DE-A080-B98E2A12DA82}"/>
              </a:ext>
            </a:extLst>
          </p:cNvPr>
          <p:cNvSpPr>
            <a:spLocks xmlns:a="http://schemas.openxmlformats.org/drawingml/2006/main" noGrp="1"/>
          </p:cNvSpPr>
          <p:nvPr/>
        </p:nvSpPr>
        <p:spPr>
          <a:xfrm xmlns:a="http://schemas.openxmlformats.org/drawingml/2006/main">
            <a:off x="10496550" y="1657350"/>
            <a:ext cx="1066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3900" b="1">
                <a:solidFill>
                  <a:srgbClr val="111111"/>
                </a:solidFill>
              </a:defRPr>
            </a:defPPr>
            <a:lvl1pPr algn="r">
              <a:defRPr sz="3900" b="1">
                <a:solidFill>
                  <a:srgbClr val="111111"/>
                </a:solidFill>
              </a:defRPr>
            </a:lvl1pPr>
            <a:lvl2pPr algn="r">
              <a:defRPr sz="3900" b="1">
                <a:solidFill>
                  <a:srgbClr val="111111"/>
                </a:solidFill>
              </a:defRPr>
            </a:lvl2pPr>
            <a:lvl3pPr algn="r">
              <a:defRPr sz="3900" b="1">
                <a:solidFill>
                  <a:srgbClr val="111111"/>
                </a:solidFill>
              </a:defRPr>
            </a:lvl3pPr>
            <a:lvl4pPr algn="r">
              <a:defRPr sz="3900" b="1">
                <a:solidFill>
                  <a:srgbClr val="111111"/>
                </a:solidFill>
              </a:defRPr>
            </a:lvl4pPr>
            <a:lvl5pPr algn="r">
              <a:defRPr sz="3900" b="1">
                <a:solidFill>
                  <a:srgbClr val="111111"/>
                </a:solidFill>
              </a:defRPr>
            </a:lvl5pPr>
            <a:lvl6pPr algn="r">
              <a:defRPr sz="3900" b="1">
                <a:solidFill>
                  <a:srgbClr val="111111"/>
                </a:solidFill>
              </a:defRPr>
            </a:lvl6pPr>
            <a:lvl7pPr algn="r">
              <a:defRPr sz="3900" b="1">
                <a:solidFill>
                  <a:srgbClr val="111111"/>
                </a:solidFill>
              </a:defRPr>
            </a:lvl7pPr>
            <a:lvl8pPr algn="r">
              <a:defRPr sz="3900" b="1">
                <a:solidFill>
                  <a:srgbClr val="111111"/>
                </a:solidFill>
              </a:defRPr>
            </a:lvl8pPr>
            <a:lvl9pPr algn="r">
              <a:defRPr sz="3900" b="1">
                <a:solidFill>
                  <a:srgbClr val="111111"/>
                </a:solidFill>
              </a:defRPr>
            </a:lvl9pPr>
          </a:lstStyle>
          <a:p xmlns:a="http://schemas.openxmlformats.org/drawingml/2006/main">
            <a:pPr algn="r">
              <a:defRPr sz="3900" b="1">
                <a:solidFill>
                  <a:srgbClr val="111111"/>
                </a:solidFill>
              </a:defRPr>
            </a:pPr>
            <a:r>
              <a:rPr sz="3900" b="1">
                <a:solidFill>
                  <a:srgbClr val="111111"/>
                </a:solidFill>
              </a:rPr>
              <a:t>05</a:t>
            </a:r>
          </a:p>
        </p:txBody>
      </p:sp>
      <p:sp>
        <p:nvSpPr>
          <p:cNvPr id="6" name="">
            <a:extLst xmlns:a="http://schemas.openxmlformats.org/drawingml/2006/main">
              <a:ext uri="{FF2B5EF4-FFF2-40B4-BE49-F238E27FC236}">
                <a16:creationId xmlns:a16="http://schemas.microsoft.com/office/drawing/2014/main" id="{801D6CBB-B522-4C17-9FBD-FDD39C34FAC0}"/>
              </a:ext>
            </a:extLst>
          </p:cNvPr>
          <p:cNvSpPr>
            <a:spLocks xmlns:a="http://schemas.openxmlformats.org/drawingml/2006/main" noGrp="1"/>
          </p:cNvSpPr>
          <p:nvPr/>
        </p:nvSpPr>
        <p:spPr>
          <a:xfrm xmlns:a="http://schemas.openxmlformats.org/drawingml/2006/main">
            <a:off x="504825" y="1724025"/>
            <a:ext cx="7219950" cy="287655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7" name="">
            <a:extLst xmlns:a="http://schemas.openxmlformats.org/drawingml/2006/main">
              <a:ext uri="{FF2B5EF4-FFF2-40B4-BE49-F238E27FC236}">
                <a16:creationId xmlns:a16="http://schemas.microsoft.com/office/drawing/2014/main" id="{131CEA3C-7700-4FF3-B50D-AFA7A6D9903E}"/>
              </a:ext>
            </a:extLst>
          </p:cNvPr>
          <p:cNvSpPr>
            <a:spLocks xmlns:a="http://schemas.openxmlformats.org/drawingml/2006/main" noGrp="1"/>
          </p:cNvSpPr>
          <p:nvPr/>
        </p:nvSpPr>
        <p:spPr>
          <a:xfrm xmlns:a="http://schemas.openxmlformats.org/drawingml/2006/main">
            <a:off x="628650" y="1800225"/>
            <a:ext cx="697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Annualized volatility by model</a:t>
            </a:r>
          </a:p>
        </p:txBody>
      </p:sp>
      <p:pic>
        <p:nvPicPr>
          <p:cNvPr id="8" name="">
            <a:extLst xmlns:a="http://schemas.openxmlformats.org/drawingml/2006/main">
              <a:ext uri="{FF2B5EF4-FFF2-40B4-BE49-F238E27FC236}">
                <a16:creationId xmlns:a16="http://schemas.microsoft.com/office/drawing/2014/main" id="{59D7485E-1827-4738-B7ED-0B1E3BCFED8D}"/>
              </a:ext>
            </a:extLst>
          </p:cNvPr>
          <p:cNvPicPr>
            <a:picLocks xmlns:a="http://schemas.openxmlformats.org/drawingml/2006/main" noChangeAspect="1"/>
          </p:cNvPicPr>
          <p:nvPr/>
        </p:nvPicPr>
        <p:blipFill>
          <a:blip xmlns:r="http://schemas.openxmlformats.org/officeDocument/2006/relationships" xmlns:a="http://schemas.openxmlformats.org/drawingml/2006/main" r:embed="Re96289fe7e9549c6"/>
          <a:stretch xmlns:a="http://schemas.openxmlformats.org/drawingml/2006/main"/>
        </p:blipFill>
        <p:spPr>
          <a:xfrm xmlns:a="http://schemas.openxmlformats.org/drawingml/2006/main">
            <a:off x="577506" y="2009775"/>
            <a:ext cx="7074588" cy="25622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59252BE-2C2E-40F8-9CA0-C7DF315F8888}"/>
              </a:ext>
            </a:extLst>
          </p:cNvPr>
          <p:cNvSpPr>
            <a:spLocks xmlns:a="http://schemas.openxmlformats.org/drawingml/2006/main" noGrp="1"/>
          </p:cNvSpPr>
          <p:nvPr/>
        </p:nvSpPr>
        <p:spPr>
          <a:xfrm xmlns:a="http://schemas.openxmlformats.org/drawingml/2006/main">
            <a:off x="8115300" y="20383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55E63"/>
                </a:solidFill>
              </a:defRPr>
            </a:defPPr>
            <a:lvl1pPr algn="l">
              <a:defRPr sz="2100" b="1">
                <a:solidFill>
                  <a:srgbClr val="155E63"/>
                </a:solidFill>
              </a:defRPr>
            </a:lvl1pPr>
            <a:lvl2pPr algn="l">
              <a:defRPr sz="2100" b="1">
                <a:solidFill>
                  <a:srgbClr val="155E63"/>
                </a:solidFill>
              </a:defRPr>
            </a:lvl2pPr>
            <a:lvl3pPr algn="l">
              <a:defRPr sz="2100" b="1">
                <a:solidFill>
                  <a:srgbClr val="155E63"/>
                </a:solidFill>
              </a:defRPr>
            </a:lvl3pPr>
            <a:lvl4pPr algn="l">
              <a:defRPr sz="2100" b="1">
                <a:solidFill>
                  <a:srgbClr val="155E63"/>
                </a:solidFill>
              </a:defRPr>
            </a:lvl4pPr>
            <a:lvl5pPr algn="l">
              <a:defRPr sz="2100" b="1">
                <a:solidFill>
                  <a:srgbClr val="155E63"/>
                </a:solidFill>
              </a:defRPr>
            </a:lvl5pPr>
            <a:lvl6pPr algn="l">
              <a:defRPr sz="2100" b="1">
                <a:solidFill>
                  <a:srgbClr val="155E63"/>
                </a:solidFill>
              </a:defRPr>
            </a:lvl6pPr>
            <a:lvl7pPr algn="l">
              <a:defRPr sz="2100" b="1">
                <a:solidFill>
                  <a:srgbClr val="155E63"/>
                </a:solidFill>
              </a:defRPr>
            </a:lvl7pPr>
            <a:lvl8pPr algn="l">
              <a:defRPr sz="2100" b="1">
                <a:solidFill>
                  <a:srgbClr val="155E63"/>
                </a:solidFill>
              </a:defRPr>
            </a:lvl8pPr>
            <a:lvl9pPr algn="l">
              <a:defRPr sz="2100" b="1">
                <a:solidFill>
                  <a:srgbClr val="155E63"/>
                </a:solidFill>
              </a:defRPr>
            </a:lvl9pPr>
          </a:lstStyle>
          <a:p xmlns:a="http://schemas.openxmlformats.org/drawingml/2006/main">
            <a:pPr algn="l">
              <a:defRPr sz="2100" b="1">
                <a:solidFill>
                  <a:srgbClr val="155E63"/>
                </a:solidFill>
              </a:defRPr>
            </a:pPr>
            <a:r>
              <a:rPr sz="2100" b="1">
                <a:solidFill>
                  <a:srgbClr val="155E63"/>
                </a:solidFill>
              </a:rPr>
              <a:t>0.94</a:t>
            </a:r>
          </a:p>
        </p:txBody>
      </p:sp>
      <p:sp>
        <p:nvSpPr>
          <p:cNvPr id="10" name="">
            <a:extLst xmlns:a="http://schemas.openxmlformats.org/drawingml/2006/main">
              <a:ext uri="{FF2B5EF4-FFF2-40B4-BE49-F238E27FC236}">
                <a16:creationId xmlns:a16="http://schemas.microsoft.com/office/drawing/2014/main" id="{5EB2A9FC-0020-4351-AABD-61055BDCFC22}"/>
              </a:ext>
            </a:extLst>
          </p:cNvPr>
          <p:cNvSpPr>
            <a:spLocks xmlns:a="http://schemas.openxmlformats.org/drawingml/2006/main" noGrp="1"/>
          </p:cNvSpPr>
          <p:nvPr/>
        </p:nvSpPr>
        <p:spPr>
          <a:xfrm xmlns:a="http://schemas.openxmlformats.org/drawingml/2006/main">
            <a:off x="8115300" y="24384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daily decay factor, lambda</a:t>
            </a:r>
          </a:p>
        </p:txBody>
      </p:sp>
      <p:sp>
        <p:nvSpPr>
          <p:cNvPr id="11" name="">
            <a:extLst xmlns:a="http://schemas.openxmlformats.org/drawingml/2006/main">
              <a:ext uri="{FF2B5EF4-FFF2-40B4-BE49-F238E27FC236}">
                <a16:creationId xmlns:a16="http://schemas.microsoft.com/office/drawing/2014/main" id="{16EF141F-3885-4EFA-BE0D-A31D1ECCA062}"/>
              </a:ext>
            </a:extLst>
          </p:cNvPr>
          <p:cNvSpPr>
            <a:spLocks xmlns:a="http://schemas.openxmlformats.org/drawingml/2006/main" noGrp="1"/>
          </p:cNvSpPr>
          <p:nvPr/>
        </p:nvSpPr>
        <p:spPr>
          <a:xfrm xmlns:a="http://schemas.openxmlformats.org/drawingml/2006/main">
            <a:off x="8115300" y="29908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11111"/>
                </a:solidFill>
              </a:defRPr>
            </a:defPPr>
            <a:lvl1pPr algn="l">
              <a:defRPr sz="2100" b="1">
                <a:solidFill>
                  <a:srgbClr val="111111"/>
                </a:solidFill>
              </a:defRPr>
            </a:lvl1pPr>
            <a:lvl2pPr algn="l">
              <a:defRPr sz="2100" b="1">
                <a:solidFill>
                  <a:srgbClr val="111111"/>
                </a:solidFill>
              </a:defRPr>
            </a:lvl2pPr>
            <a:lvl3pPr algn="l">
              <a:defRPr sz="2100" b="1">
                <a:solidFill>
                  <a:srgbClr val="111111"/>
                </a:solidFill>
              </a:defRPr>
            </a:lvl3pPr>
            <a:lvl4pPr algn="l">
              <a:defRPr sz="2100" b="1">
                <a:solidFill>
                  <a:srgbClr val="111111"/>
                </a:solidFill>
              </a:defRPr>
            </a:lvl4pPr>
            <a:lvl5pPr algn="l">
              <a:defRPr sz="2100" b="1">
                <a:solidFill>
                  <a:srgbClr val="111111"/>
                </a:solidFill>
              </a:defRPr>
            </a:lvl5pPr>
            <a:lvl6pPr algn="l">
              <a:defRPr sz="2100" b="1">
                <a:solidFill>
                  <a:srgbClr val="111111"/>
                </a:solidFill>
              </a:defRPr>
            </a:lvl6pPr>
            <a:lvl7pPr algn="l">
              <a:defRPr sz="2100" b="1">
                <a:solidFill>
                  <a:srgbClr val="111111"/>
                </a:solidFill>
              </a:defRPr>
            </a:lvl7pPr>
            <a:lvl8pPr algn="l">
              <a:defRPr sz="2100" b="1">
                <a:solidFill>
                  <a:srgbClr val="111111"/>
                </a:solidFill>
              </a:defRPr>
            </a:lvl8pPr>
            <a:lvl9pPr algn="l">
              <a:defRPr sz="2100" b="1">
                <a:solidFill>
                  <a:srgbClr val="111111"/>
                </a:solidFill>
              </a:defRPr>
            </a:lvl9pPr>
          </a:lstStyle>
          <a:p xmlns:a="http://schemas.openxmlformats.org/drawingml/2006/main">
            <a:pPr algn="l">
              <a:defRPr sz="2100" b="1">
                <a:solidFill>
                  <a:srgbClr val="111111"/>
                </a:solidFill>
              </a:defRPr>
            </a:pPr>
            <a:r>
              <a:rPr sz="2100" b="1">
                <a:solidFill>
                  <a:srgbClr val="111111"/>
                </a:solidFill>
              </a:rPr>
              <a:t>11.7%</a:t>
            </a:r>
          </a:p>
        </p:txBody>
      </p:sp>
      <p:sp>
        <p:nvSpPr>
          <p:cNvPr id="12" name="">
            <a:extLst xmlns:a="http://schemas.openxmlformats.org/drawingml/2006/main">
              <a:ext uri="{FF2B5EF4-FFF2-40B4-BE49-F238E27FC236}">
                <a16:creationId xmlns:a16="http://schemas.microsoft.com/office/drawing/2014/main" id="{227A43B1-5B6C-4E43-AD57-E63FAAB95680}"/>
              </a:ext>
            </a:extLst>
          </p:cNvPr>
          <p:cNvSpPr>
            <a:spLocks xmlns:a="http://schemas.openxmlformats.org/drawingml/2006/main" noGrp="1"/>
          </p:cNvSpPr>
          <p:nvPr/>
        </p:nvSpPr>
        <p:spPr>
          <a:xfrm xmlns:a="http://schemas.openxmlformats.org/drawingml/2006/main">
            <a:off x="8115300" y="33909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current annualized EWMA volatility</a:t>
            </a:r>
          </a:p>
        </p:txBody>
      </p:sp>
      <p:sp>
        <p:nvSpPr>
          <p:cNvPr id="13" name="">
            <a:extLst xmlns:a="http://schemas.openxmlformats.org/drawingml/2006/main">
              <a:ext uri="{FF2B5EF4-FFF2-40B4-BE49-F238E27FC236}">
                <a16:creationId xmlns:a16="http://schemas.microsoft.com/office/drawing/2014/main" id="{ECD0A2BD-1210-4583-AF2C-5FDF03B55F2C}"/>
              </a:ext>
            </a:extLst>
          </p:cNvPr>
          <p:cNvSpPr>
            <a:spLocks xmlns:a="http://schemas.openxmlformats.org/drawingml/2006/main" noGrp="1"/>
          </p:cNvSpPr>
          <p:nvPr/>
        </p:nvSpPr>
        <p:spPr>
          <a:xfrm xmlns:a="http://schemas.openxmlformats.org/drawingml/2006/main">
            <a:off x="8115300" y="39433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B42318"/>
                </a:solidFill>
              </a:defRPr>
            </a:defPPr>
            <a:lvl1pPr algn="l">
              <a:defRPr sz="2100" b="1">
                <a:solidFill>
                  <a:srgbClr val="B42318"/>
                </a:solidFill>
              </a:defRPr>
            </a:lvl1pPr>
            <a:lvl2pPr algn="l">
              <a:defRPr sz="2100" b="1">
                <a:solidFill>
                  <a:srgbClr val="B42318"/>
                </a:solidFill>
              </a:defRPr>
            </a:lvl2pPr>
            <a:lvl3pPr algn="l">
              <a:defRPr sz="2100" b="1">
                <a:solidFill>
                  <a:srgbClr val="B42318"/>
                </a:solidFill>
              </a:defRPr>
            </a:lvl3pPr>
            <a:lvl4pPr algn="l">
              <a:defRPr sz="2100" b="1">
                <a:solidFill>
                  <a:srgbClr val="B42318"/>
                </a:solidFill>
              </a:defRPr>
            </a:lvl4pPr>
            <a:lvl5pPr algn="l">
              <a:defRPr sz="2100" b="1">
                <a:solidFill>
                  <a:srgbClr val="B42318"/>
                </a:solidFill>
              </a:defRPr>
            </a:lvl5pPr>
            <a:lvl6pPr algn="l">
              <a:defRPr sz="2100" b="1">
                <a:solidFill>
                  <a:srgbClr val="B42318"/>
                </a:solidFill>
              </a:defRPr>
            </a:lvl6pPr>
            <a:lvl7pPr algn="l">
              <a:defRPr sz="2100" b="1">
                <a:solidFill>
                  <a:srgbClr val="B42318"/>
                </a:solidFill>
              </a:defRPr>
            </a:lvl7pPr>
            <a:lvl8pPr algn="l">
              <a:defRPr sz="2100" b="1">
                <a:solidFill>
                  <a:srgbClr val="B42318"/>
                </a:solidFill>
              </a:defRPr>
            </a:lvl8pPr>
            <a:lvl9pPr algn="l">
              <a:defRPr sz="2100" b="1">
                <a:solidFill>
                  <a:srgbClr val="B42318"/>
                </a:solidFill>
              </a:defRPr>
            </a:lvl9pPr>
          </a:lstStyle>
          <a:p xmlns:a="http://schemas.openxmlformats.org/drawingml/2006/main">
            <a:pPr algn="l">
              <a:defRPr sz="2100" b="1">
                <a:solidFill>
                  <a:srgbClr val="B42318"/>
                </a:solidFill>
              </a:defRPr>
            </a:pPr>
            <a:r>
              <a:rPr sz="2100" b="1">
                <a:solidFill>
                  <a:srgbClr val="B42318"/>
                </a:solidFill>
              </a:rPr>
              <a:t>$240K</a:t>
            </a:r>
          </a:p>
        </p:txBody>
      </p:sp>
      <p:sp>
        <p:nvSpPr>
          <p:cNvPr id="14" name="">
            <a:extLst xmlns:a="http://schemas.openxmlformats.org/drawingml/2006/main">
              <a:ext uri="{FF2B5EF4-FFF2-40B4-BE49-F238E27FC236}">
                <a16:creationId xmlns:a16="http://schemas.microsoft.com/office/drawing/2014/main" id="{5C27CD0F-A3F3-4409-A786-FFFA017B1176}"/>
              </a:ext>
            </a:extLst>
          </p:cNvPr>
          <p:cNvSpPr>
            <a:spLocks xmlns:a="http://schemas.openxmlformats.org/drawingml/2006/main" noGrp="1"/>
          </p:cNvSpPr>
          <p:nvPr/>
        </p:nvSpPr>
        <p:spPr>
          <a:xfrm xmlns:a="http://schemas.openxmlformats.org/drawingml/2006/main">
            <a:off x="8115300" y="43434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EWMA-scaled 99% VaR</a:t>
            </a:r>
          </a:p>
        </p:txBody>
      </p:sp>
      <p:sp>
        <p:nvSpPr>
          <p:cNvPr id="15" name="">
            <a:extLst xmlns:a="http://schemas.openxmlformats.org/drawingml/2006/main">
              <a:ext uri="{FF2B5EF4-FFF2-40B4-BE49-F238E27FC236}">
                <a16:creationId xmlns:a16="http://schemas.microsoft.com/office/drawing/2014/main" id="{40E0151D-C477-4347-AF4C-9FF6B44EF073}"/>
              </a:ext>
            </a:extLst>
          </p:cNvPr>
          <p:cNvSpPr>
            <a:spLocks xmlns:a="http://schemas.openxmlformats.org/drawingml/2006/main" noGrp="1"/>
          </p:cNvSpPr>
          <p:nvPr/>
        </p:nvSpPr>
        <p:spPr>
          <a:xfrm xmlns:a="http://schemas.openxmlformats.org/drawingml/2006/main">
            <a:off x="514350" y="499110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16" name="">
            <a:extLst xmlns:a="http://schemas.openxmlformats.org/drawingml/2006/main">
              <a:ext uri="{FF2B5EF4-FFF2-40B4-BE49-F238E27FC236}">
                <a16:creationId xmlns:a16="http://schemas.microsoft.com/office/drawing/2014/main" id="{E142EF82-AF50-415D-BBBA-8F6876207514}"/>
              </a:ext>
            </a:extLst>
          </p:cNvPr>
          <p:cNvSpPr>
            <a:spLocks xmlns:a="http://schemas.openxmlformats.org/drawingml/2006/main" noGrp="1"/>
          </p:cNvSpPr>
          <p:nvPr/>
        </p:nvSpPr>
        <p:spPr>
          <a:xfrm xmlns:a="http://schemas.openxmlformats.org/drawingml/2006/main">
            <a:off x="666750" y="495300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What lambda means</a:t>
            </a:r>
          </a:p>
        </p:txBody>
      </p:sp>
      <p:sp>
        <p:nvSpPr>
          <p:cNvPr id="17" name="">
            <a:extLst xmlns:a="http://schemas.openxmlformats.org/drawingml/2006/main">
              <a:ext uri="{FF2B5EF4-FFF2-40B4-BE49-F238E27FC236}">
                <a16:creationId xmlns:a16="http://schemas.microsoft.com/office/drawing/2014/main" id="{246E45E3-F60A-4D33-BB8B-1E3B851B9524}"/>
              </a:ext>
            </a:extLst>
          </p:cNvPr>
          <p:cNvSpPr>
            <a:spLocks xmlns:a="http://schemas.openxmlformats.org/drawingml/2006/main" noGrp="1"/>
          </p:cNvSpPr>
          <p:nvPr/>
        </p:nvSpPr>
        <p:spPr>
          <a:xfrm xmlns:a="http://schemas.openxmlformats.org/drawingml/2006/main">
            <a:off x="666750" y="5191125"/>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Each day keeps 94% of yesterday's variance estimate and adds 6% from the newest squared return.</a:t>
            </a:r>
          </a:p>
        </p:txBody>
      </p:sp>
      <p:sp>
        <p:nvSpPr>
          <p:cNvPr id="18" name="">
            <a:extLst xmlns:a="http://schemas.openxmlformats.org/drawingml/2006/main">
              <a:ext uri="{FF2B5EF4-FFF2-40B4-BE49-F238E27FC236}">
                <a16:creationId xmlns:a16="http://schemas.microsoft.com/office/drawing/2014/main" id="{0B4215A4-BD71-4547-ACAA-6F9B5F272B20}"/>
              </a:ext>
            </a:extLst>
          </p:cNvPr>
          <p:cNvSpPr>
            <a:spLocks xmlns:a="http://schemas.openxmlformats.org/drawingml/2006/main" noGrp="1"/>
          </p:cNvSpPr>
          <p:nvPr/>
        </p:nvSpPr>
        <p:spPr>
          <a:xfrm xmlns:a="http://schemas.openxmlformats.org/drawingml/2006/main">
            <a:off x="5886450" y="499110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19" name="">
            <a:extLst xmlns:a="http://schemas.openxmlformats.org/drawingml/2006/main">
              <a:ext uri="{FF2B5EF4-FFF2-40B4-BE49-F238E27FC236}">
                <a16:creationId xmlns:a16="http://schemas.microsoft.com/office/drawing/2014/main" id="{7AA95ECC-CD0C-4016-89A6-00702841733A}"/>
              </a:ext>
            </a:extLst>
          </p:cNvPr>
          <p:cNvSpPr>
            <a:spLocks xmlns:a="http://schemas.openxmlformats.org/drawingml/2006/main" noGrp="1"/>
          </p:cNvSpPr>
          <p:nvPr/>
        </p:nvSpPr>
        <p:spPr>
          <a:xfrm xmlns:a="http://schemas.openxmlformats.org/drawingml/2006/main">
            <a:off x="6038850" y="4953000"/>
            <a:ext cx="508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Why scale</a:t>
            </a:r>
          </a:p>
        </p:txBody>
      </p:sp>
      <p:sp>
        <p:nvSpPr>
          <p:cNvPr id="20" name="">
            <a:extLst xmlns:a="http://schemas.openxmlformats.org/drawingml/2006/main">
              <a:ext uri="{FF2B5EF4-FFF2-40B4-BE49-F238E27FC236}">
                <a16:creationId xmlns:a16="http://schemas.microsoft.com/office/drawing/2014/main" id="{6928E24E-1419-4BD5-8E19-2518C589D680}"/>
              </a:ext>
            </a:extLst>
          </p:cNvPr>
          <p:cNvSpPr>
            <a:spLocks xmlns:a="http://schemas.openxmlformats.org/drawingml/2006/main" noGrp="1"/>
          </p:cNvSpPr>
          <p:nvPr/>
        </p:nvSpPr>
        <p:spPr>
          <a:xfrm xmlns:a="http://schemas.openxmlformats.org/drawingml/2006/main">
            <a:off x="6038850" y="5191125"/>
            <a:ext cx="5086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A historical shock from a calm period should become larger when today's market is more volatile, and smaller when it is calmer.</a:t>
            </a:r>
          </a:p>
        </p:txBody>
      </p:sp>
      <p:sp>
        <p:nvSpPr>
          <p:cNvPr id="21" name="">
            <a:extLst xmlns:a="http://schemas.openxmlformats.org/drawingml/2006/main">
              <a:ext uri="{FF2B5EF4-FFF2-40B4-BE49-F238E27FC236}">
                <a16:creationId xmlns:a16="http://schemas.microsoft.com/office/drawing/2014/main" id="{50632C4D-41EE-4158-9D88-A122390A1E16}"/>
              </a:ext>
            </a:extLst>
          </p:cNvPr>
          <p:cNvSpPr>
            <a:spLocks xmlns:a="http://schemas.openxmlformats.org/drawingml/2006/main" noGrp="1"/>
          </p:cNvSpPr>
          <p:nvPr/>
        </p:nvSpPr>
        <p:spPr>
          <a:xfrm xmlns:a="http://schemas.openxmlformats.org/drawingml/2006/main">
            <a:off x="514350" y="5886450"/>
            <a:ext cx="10610850" cy="361950"/>
          </a:xfrm>
          <a:prstGeom xmlns:a="http://schemas.openxmlformats.org/drawingml/2006/main" prst="rect">
            <a:avLst/>
          </a:prstGeom>
          <a:solidFill xmlns:a="http://schemas.openxmlformats.org/drawingml/2006/main">
            <a:srgbClr val="DDE8E7"/>
          </a:solidFill>
          <a:ln xmlns:a="http://schemas.openxmlformats.org/drawingml/2006/main" w="0">
            <a:solidFill>
              <a:srgbClr val="DDE8E7"/>
            </a:solidFill>
            <a:prstDash val="solid"/>
          </a:ln>
        </p:spPr>
      </p:sp>
      <p:sp>
        <p:nvSpPr>
          <p:cNvPr id="22" name="">
            <a:extLst xmlns:a="http://schemas.openxmlformats.org/drawingml/2006/main">
              <a:ext uri="{FF2B5EF4-FFF2-40B4-BE49-F238E27FC236}">
                <a16:creationId xmlns:a16="http://schemas.microsoft.com/office/drawing/2014/main" id="{A5162F1D-FE88-4987-BF57-45686BC25495}"/>
              </a:ext>
            </a:extLst>
          </p:cNvPr>
          <p:cNvSpPr>
            <a:spLocks xmlns:a="http://schemas.openxmlformats.org/drawingml/2006/main" noGrp="1"/>
          </p:cNvSpPr>
          <p:nvPr/>
        </p:nvSpPr>
        <p:spPr>
          <a:xfrm xmlns:a="http://schemas.openxmlformats.org/drawingml/2006/main">
            <a:off x="514350" y="5886450"/>
            <a:ext cx="47625" cy="36195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23" name="">
            <a:extLst xmlns:a="http://schemas.openxmlformats.org/drawingml/2006/main">
              <a:ext uri="{FF2B5EF4-FFF2-40B4-BE49-F238E27FC236}">
                <a16:creationId xmlns:a16="http://schemas.microsoft.com/office/drawing/2014/main" id="{9FD6848F-F6EB-447A-9937-56639702FD0B}"/>
              </a:ext>
            </a:extLst>
          </p:cNvPr>
          <p:cNvSpPr>
            <a:spLocks xmlns:a="http://schemas.openxmlformats.org/drawingml/2006/main" noGrp="1"/>
          </p:cNvSpPr>
          <p:nvPr/>
        </p:nvSpPr>
        <p:spPr>
          <a:xfrm xmlns:a="http://schemas.openxmlformats.org/drawingml/2006/main">
            <a:off x="685800" y="5934075"/>
            <a:ext cx="10325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353535"/>
                </a:solidFill>
              </a:defRPr>
            </a:defPPr>
            <a:lvl1pPr algn="l">
              <a:defRPr sz="1050" b="1">
                <a:solidFill>
                  <a:srgbClr val="353535"/>
                </a:solidFill>
              </a:defRPr>
            </a:lvl1pPr>
            <a:lvl2pPr algn="l">
              <a:defRPr sz="1050" b="1">
                <a:solidFill>
                  <a:srgbClr val="353535"/>
                </a:solidFill>
              </a:defRPr>
            </a:lvl2pPr>
            <a:lvl3pPr algn="l">
              <a:defRPr sz="1050" b="1">
                <a:solidFill>
                  <a:srgbClr val="353535"/>
                </a:solidFill>
              </a:defRPr>
            </a:lvl3pPr>
            <a:lvl4pPr algn="l">
              <a:defRPr sz="1050" b="1">
                <a:solidFill>
                  <a:srgbClr val="353535"/>
                </a:solidFill>
              </a:defRPr>
            </a:lvl4pPr>
            <a:lvl5pPr algn="l">
              <a:defRPr sz="1050" b="1">
                <a:solidFill>
                  <a:srgbClr val="353535"/>
                </a:solidFill>
              </a:defRPr>
            </a:lvl5pPr>
            <a:lvl6pPr algn="l">
              <a:defRPr sz="1050" b="1">
                <a:solidFill>
                  <a:srgbClr val="353535"/>
                </a:solidFill>
              </a:defRPr>
            </a:lvl6pPr>
            <a:lvl7pPr algn="l">
              <a:defRPr sz="1050" b="1">
                <a:solidFill>
                  <a:srgbClr val="353535"/>
                </a:solidFill>
              </a:defRPr>
            </a:lvl7pPr>
            <a:lvl8pPr algn="l">
              <a:defRPr sz="1050" b="1">
                <a:solidFill>
                  <a:srgbClr val="353535"/>
                </a:solidFill>
              </a:defRPr>
            </a:lvl8pPr>
            <a:lvl9pPr algn="l">
              <a:defRPr sz="1050" b="1">
                <a:solidFill>
                  <a:srgbClr val="353535"/>
                </a:solidFill>
              </a:defRPr>
            </a:lvl9pPr>
          </a:lstStyle>
          <a:p xmlns:a="http://schemas.openxmlformats.org/drawingml/2006/main">
            <a:pPr algn="l">
              <a:defRPr sz="1050" b="1">
                <a:solidFill>
                  <a:srgbClr val="353535"/>
                </a:solidFill>
              </a:defRPr>
            </a:pPr>
            <a:r>
              <a:rPr sz="1050" b="1">
                <a:solidFill>
                  <a:srgbClr val="353535"/>
                </a:solidFill>
              </a:rPr>
              <a:t>EWMA reacts quickly, but a lower current estimate still has to earn trust in backtesting</a:t>
            </a:r>
          </a:p>
        </p:txBody>
      </p:sp>
      <p:sp>
        <p:nvSpPr>
          <p:cNvPr id="24" name="">
            <a:extLst xmlns:a="http://schemas.openxmlformats.org/drawingml/2006/main">
              <a:ext uri="{FF2B5EF4-FFF2-40B4-BE49-F238E27FC236}">
                <a16:creationId xmlns:a16="http://schemas.microsoft.com/office/drawing/2014/main" id="{E71F2EF6-3F44-4E8E-8941-80919442523C}"/>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25" name="">
            <a:extLst xmlns:a="http://schemas.openxmlformats.org/drawingml/2006/main">
              <a:ext uri="{FF2B5EF4-FFF2-40B4-BE49-F238E27FC236}">
                <a16:creationId xmlns:a16="http://schemas.microsoft.com/office/drawing/2014/main" id="{8F4EEF14-1687-4E81-B73A-79B7888312B0}"/>
              </a:ext>
            </a:extLst>
          </p:cNvPr>
          <p:cNvSpPr>
            <a:spLocks xmlns:a="http://schemas.openxmlformats.org/drawingml/2006/main" noGrp="1"/>
          </p:cNvSpPr>
          <p:nvPr/>
        </p:nvSpPr>
        <p:spPr>
          <a:xfrm xmlns:a="http://schemas.openxmlformats.org/drawingml/2006/main">
            <a:off x="51435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0">
                <a:solidFill>
                  <a:srgbClr val="707070"/>
                </a:solidFill>
              </a:defRPr>
            </a:defPPr>
            <a:lvl1pPr algn="l">
              <a:defRPr sz="600" b="0">
                <a:solidFill>
                  <a:srgbClr val="707070"/>
                </a:solidFill>
              </a:defRPr>
            </a:lvl1pPr>
            <a:lvl2pPr algn="l">
              <a:defRPr sz="600" b="0">
                <a:solidFill>
                  <a:srgbClr val="707070"/>
                </a:solidFill>
              </a:defRPr>
            </a:lvl2pPr>
            <a:lvl3pPr algn="l">
              <a:defRPr sz="600" b="0">
                <a:solidFill>
                  <a:srgbClr val="707070"/>
                </a:solidFill>
              </a:defRPr>
            </a:lvl3pPr>
            <a:lvl4pPr algn="l">
              <a:defRPr sz="600" b="0">
                <a:solidFill>
                  <a:srgbClr val="707070"/>
                </a:solidFill>
              </a:defRPr>
            </a:lvl4pPr>
            <a:lvl5pPr algn="l">
              <a:defRPr sz="600" b="0">
                <a:solidFill>
                  <a:srgbClr val="707070"/>
                </a:solidFill>
              </a:defRPr>
            </a:lvl5pPr>
            <a:lvl6pPr algn="l">
              <a:defRPr sz="600" b="0">
                <a:solidFill>
                  <a:srgbClr val="707070"/>
                </a:solidFill>
              </a:defRPr>
            </a:lvl6pPr>
            <a:lvl7pPr algn="l">
              <a:defRPr sz="600" b="0">
                <a:solidFill>
                  <a:srgbClr val="707070"/>
                </a:solidFill>
              </a:defRPr>
            </a:lvl7pPr>
            <a:lvl8pPr algn="l">
              <a:defRPr sz="600" b="0">
                <a:solidFill>
                  <a:srgbClr val="707070"/>
                </a:solidFill>
              </a:defRPr>
            </a:lvl8pPr>
            <a:lvl9pPr algn="l">
              <a:defRPr sz="600" b="0">
                <a:solidFill>
                  <a:srgbClr val="707070"/>
                </a:solidFill>
              </a:defRPr>
            </a:lvl9pPr>
          </a:lstStyle>
          <a:p xmlns:a="http://schemas.openxmlformats.org/drawingml/2006/main">
            <a:pPr algn="l">
              <a:defRPr sz="600" b="0">
                <a:solidFill>
                  <a:srgbClr val="707070"/>
                </a:solidFill>
              </a:defRPr>
            </a:pPr>
            <a:r>
              <a:rPr sz="600" b="0">
                <a:solidFill>
                  <a:srgbClr val="707070"/>
                </a:solidFill>
              </a:rPr>
              <a:t>QFI risk engine  |  saved data through 23 October 2026</a:t>
            </a:r>
          </a:p>
        </p:txBody>
      </p:sp>
      <p:sp>
        <p:nvSpPr>
          <p:cNvPr id="26" name="">
            <a:extLst xmlns:a="http://schemas.openxmlformats.org/drawingml/2006/main">
              <a:ext uri="{FF2B5EF4-FFF2-40B4-BE49-F238E27FC236}">
                <a16:creationId xmlns:a16="http://schemas.microsoft.com/office/drawing/2014/main" id="{B7C5E644-A7F2-4CFF-9F29-65C742C96A07}"/>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111111"/>
                </a:solidFill>
              </a:defRPr>
            </a:defPPr>
            <a:lvl1pPr algn="r">
              <a:defRPr sz="675" b="1">
                <a:solidFill>
                  <a:srgbClr val="111111"/>
                </a:solidFill>
              </a:defRPr>
            </a:lvl1pPr>
            <a:lvl2pPr algn="r">
              <a:defRPr sz="675" b="1">
                <a:solidFill>
                  <a:srgbClr val="111111"/>
                </a:solidFill>
              </a:defRPr>
            </a:lvl2pPr>
            <a:lvl3pPr algn="r">
              <a:defRPr sz="675" b="1">
                <a:solidFill>
                  <a:srgbClr val="111111"/>
                </a:solidFill>
              </a:defRPr>
            </a:lvl3pPr>
            <a:lvl4pPr algn="r">
              <a:defRPr sz="675" b="1">
                <a:solidFill>
                  <a:srgbClr val="111111"/>
                </a:solidFill>
              </a:defRPr>
            </a:lvl4pPr>
            <a:lvl5pPr algn="r">
              <a:defRPr sz="675" b="1">
                <a:solidFill>
                  <a:srgbClr val="111111"/>
                </a:solidFill>
              </a:defRPr>
            </a:lvl5pPr>
            <a:lvl6pPr algn="r">
              <a:defRPr sz="675" b="1">
                <a:solidFill>
                  <a:srgbClr val="111111"/>
                </a:solidFill>
              </a:defRPr>
            </a:lvl6pPr>
            <a:lvl7pPr algn="r">
              <a:defRPr sz="675" b="1">
                <a:solidFill>
                  <a:srgbClr val="111111"/>
                </a:solidFill>
              </a:defRPr>
            </a:lvl7pPr>
            <a:lvl8pPr algn="r">
              <a:defRPr sz="675" b="1">
                <a:solidFill>
                  <a:srgbClr val="111111"/>
                </a:solidFill>
              </a:defRPr>
            </a:lvl8pPr>
            <a:lvl9pPr algn="r">
              <a:defRPr sz="675" b="1">
                <a:solidFill>
                  <a:srgbClr val="111111"/>
                </a:solidFill>
              </a:defRPr>
            </a:lvl9pPr>
          </a:lstStyle>
          <a:p xmlns:a="http://schemas.openxmlformats.org/drawingml/2006/main">
            <a:pPr algn="r">
              <a:defRPr sz="675" b="1">
                <a:solidFill>
                  <a:srgbClr val="111111"/>
                </a:solidFill>
              </a:defRPr>
            </a:pPr>
            <a:r>
              <a:rPr sz="675" b="1">
                <a:solidFill>
                  <a:srgbClr val="111111"/>
                </a:solidFill>
              </a:rPr>
              <a:t>07</a:t>
            </a:r>
          </a:p>
        </p:txBody>
      </p:sp>
    </p:spTree>
    <p:extLst>
      <p:ext uri="{BB962C8B-B14F-4D97-AF65-F5344CB8AC3E}">
        <p14:creationId xmlns:p14="http://schemas.microsoft.com/office/powerpoint/2010/main" val="8493680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9669512-085F-434E-80D9-5604D3C554A4}"/>
              </a:ext>
            </a:extLst>
          </p:cNvPr>
          <p:cNvSpPr>
            <a:spLocks xmlns:a="http://schemas.openxmlformats.org/drawingml/2006/main" noGrp="1"/>
          </p:cNvSpPr>
          <p:nvPr/>
        </p:nvSpPr>
        <p:spPr>
          <a:xfrm xmlns:a="http://schemas.openxmlformats.org/drawingml/2006/main">
            <a:off x="514350" y="266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PHASE 06</a:t>
            </a:r>
          </a:p>
        </p:txBody>
      </p:sp>
      <p:sp>
        <p:nvSpPr>
          <p:cNvPr id="2" name="">
            <a:extLst xmlns:a="http://schemas.openxmlformats.org/drawingml/2006/main">
              <a:ext uri="{FF2B5EF4-FFF2-40B4-BE49-F238E27FC236}">
                <a16:creationId xmlns:a16="http://schemas.microsoft.com/office/drawing/2014/main" id="{7752EE45-4FE3-4178-9B35-476CE068663C}"/>
              </a:ext>
            </a:extLst>
          </p:cNvPr>
          <p:cNvSpPr>
            <a:spLocks xmlns:a="http://schemas.openxmlformats.org/drawingml/2006/main" noGrp="1"/>
          </p:cNvSpPr>
          <p:nvPr/>
        </p:nvSpPr>
        <p:spPr>
          <a:xfrm xmlns:a="http://schemas.openxmlformats.org/drawingml/2006/main">
            <a:off x="514350" y="6096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11111"/>
                </a:solidFill>
              </a:defRPr>
            </a:defPPr>
            <a:lvl1pPr algn="l">
              <a:defRPr sz="2550" b="1">
                <a:solidFill>
                  <a:srgbClr val="111111"/>
                </a:solidFill>
              </a:defRPr>
            </a:lvl1pPr>
            <a:lvl2pPr algn="l">
              <a:defRPr sz="2550" b="1">
                <a:solidFill>
                  <a:srgbClr val="111111"/>
                </a:solidFill>
              </a:defRPr>
            </a:lvl2pPr>
            <a:lvl3pPr algn="l">
              <a:defRPr sz="2550" b="1">
                <a:solidFill>
                  <a:srgbClr val="111111"/>
                </a:solidFill>
              </a:defRPr>
            </a:lvl3pPr>
            <a:lvl4pPr algn="l">
              <a:defRPr sz="2550" b="1">
                <a:solidFill>
                  <a:srgbClr val="111111"/>
                </a:solidFill>
              </a:defRPr>
            </a:lvl4pPr>
            <a:lvl5pPr algn="l">
              <a:defRPr sz="2550" b="1">
                <a:solidFill>
                  <a:srgbClr val="111111"/>
                </a:solidFill>
              </a:defRPr>
            </a:lvl5pPr>
            <a:lvl6pPr algn="l">
              <a:defRPr sz="2550" b="1">
                <a:solidFill>
                  <a:srgbClr val="111111"/>
                </a:solidFill>
              </a:defRPr>
            </a:lvl6pPr>
            <a:lvl7pPr algn="l">
              <a:defRPr sz="2550" b="1">
                <a:solidFill>
                  <a:srgbClr val="111111"/>
                </a:solidFill>
              </a:defRPr>
            </a:lvl7pPr>
            <a:lvl8pPr algn="l">
              <a:defRPr sz="2550" b="1">
                <a:solidFill>
                  <a:srgbClr val="111111"/>
                </a:solidFill>
              </a:defRPr>
            </a:lvl8pPr>
            <a:lvl9pPr algn="l">
              <a:defRPr sz="2550" b="1">
                <a:solidFill>
                  <a:srgbClr val="111111"/>
                </a:solidFill>
              </a:defRPr>
            </a:lvl9pPr>
          </a:lstStyle>
          <a:p xmlns:a="http://schemas.openxmlformats.org/drawingml/2006/main">
            <a:pPr algn="l">
              <a:defRPr sz="2550" b="1">
                <a:solidFill>
                  <a:srgbClr val="111111"/>
                </a:solidFill>
              </a:defRPr>
            </a:pPr>
            <a:r>
              <a:rPr sz="2550" b="1">
                <a:solidFill>
                  <a:srgbClr val="111111"/>
                </a:solidFill>
              </a:rPr>
              <a:t>Phase 6  GARCH volatility scaling</a:t>
            </a:r>
          </a:p>
        </p:txBody>
      </p:sp>
      <p:sp>
        <p:nvSpPr>
          <p:cNvPr id="3" name="">
            <a:extLst xmlns:a="http://schemas.openxmlformats.org/drawingml/2006/main">
              <a:ext uri="{FF2B5EF4-FFF2-40B4-BE49-F238E27FC236}">
                <a16:creationId xmlns:a16="http://schemas.microsoft.com/office/drawing/2014/main" id="{CD17A7E2-23AB-4C6B-9876-3B03680345DC}"/>
              </a:ext>
            </a:extLst>
          </p:cNvPr>
          <p:cNvSpPr>
            <a:spLocks xmlns:a="http://schemas.openxmlformats.org/drawingml/2006/main" noGrp="1"/>
          </p:cNvSpPr>
          <p:nvPr/>
        </p:nvSpPr>
        <p:spPr>
          <a:xfrm xmlns:a="http://schemas.openxmlformats.org/drawingml/2006/main">
            <a:off x="514350" y="11430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Volatility clusters and then decays gradually instead of resetting each day</a:t>
            </a:r>
          </a:p>
        </p:txBody>
      </p:sp>
      <p:sp>
        <p:nvSpPr>
          <p:cNvPr id="4" name="">
            <a:extLst xmlns:a="http://schemas.openxmlformats.org/drawingml/2006/main">
              <a:ext uri="{FF2B5EF4-FFF2-40B4-BE49-F238E27FC236}">
                <a16:creationId xmlns:a16="http://schemas.microsoft.com/office/drawing/2014/main" id="{D4FDB6EB-777B-48E4-A951-B94DDA49F41B}"/>
              </a:ext>
            </a:extLst>
          </p:cNvPr>
          <p:cNvSpPr>
            <a:spLocks xmlns:a="http://schemas.openxmlformats.org/drawingml/2006/main" noGrp="1"/>
          </p:cNvSpPr>
          <p:nvPr/>
        </p:nvSpPr>
        <p:spPr>
          <a:xfrm xmlns:a="http://schemas.openxmlformats.org/drawingml/2006/main">
            <a:off x="514350" y="1495425"/>
            <a:ext cx="111633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1D3089F3-3C33-422C-B4BF-0B4118377B97}"/>
              </a:ext>
            </a:extLst>
          </p:cNvPr>
          <p:cNvSpPr>
            <a:spLocks xmlns:a="http://schemas.openxmlformats.org/drawingml/2006/main" noGrp="1"/>
          </p:cNvSpPr>
          <p:nvPr/>
        </p:nvSpPr>
        <p:spPr>
          <a:xfrm xmlns:a="http://schemas.openxmlformats.org/drawingml/2006/main">
            <a:off x="10496550" y="1657350"/>
            <a:ext cx="1066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3900" b="1">
                <a:solidFill>
                  <a:srgbClr val="111111"/>
                </a:solidFill>
              </a:defRPr>
            </a:defPPr>
            <a:lvl1pPr algn="r">
              <a:defRPr sz="3900" b="1">
                <a:solidFill>
                  <a:srgbClr val="111111"/>
                </a:solidFill>
              </a:defRPr>
            </a:lvl1pPr>
            <a:lvl2pPr algn="r">
              <a:defRPr sz="3900" b="1">
                <a:solidFill>
                  <a:srgbClr val="111111"/>
                </a:solidFill>
              </a:defRPr>
            </a:lvl2pPr>
            <a:lvl3pPr algn="r">
              <a:defRPr sz="3900" b="1">
                <a:solidFill>
                  <a:srgbClr val="111111"/>
                </a:solidFill>
              </a:defRPr>
            </a:lvl3pPr>
            <a:lvl4pPr algn="r">
              <a:defRPr sz="3900" b="1">
                <a:solidFill>
                  <a:srgbClr val="111111"/>
                </a:solidFill>
              </a:defRPr>
            </a:lvl4pPr>
            <a:lvl5pPr algn="r">
              <a:defRPr sz="3900" b="1">
                <a:solidFill>
                  <a:srgbClr val="111111"/>
                </a:solidFill>
              </a:defRPr>
            </a:lvl5pPr>
            <a:lvl6pPr algn="r">
              <a:defRPr sz="3900" b="1">
                <a:solidFill>
                  <a:srgbClr val="111111"/>
                </a:solidFill>
              </a:defRPr>
            </a:lvl6pPr>
            <a:lvl7pPr algn="r">
              <a:defRPr sz="3900" b="1">
                <a:solidFill>
                  <a:srgbClr val="111111"/>
                </a:solidFill>
              </a:defRPr>
            </a:lvl7pPr>
            <a:lvl8pPr algn="r">
              <a:defRPr sz="3900" b="1">
                <a:solidFill>
                  <a:srgbClr val="111111"/>
                </a:solidFill>
              </a:defRPr>
            </a:lvl8pPr>
            <a:lvl9pPr algn="r">
              <a:defRPr sz="3900" b="1">
                <a:solidFill>
                  <a:srgbClr val="111111"/>
                </a:solidFill>
              </a:defRPr>
            </a:lvl9pPr>
          </a:lstStyle>
          <a:p xmlns:a="http://schemas.openxmlformats.org/drawingml/2006/main">
            <a:pPr algn="r">
              <a:defRPr sz="3900" b="1">
                <a:solidFill>
                  <a:srgbClr val="111111"/>
                </a:solidFill>
              </a:defRPr>
            </a:pPr>
            <a:r>
              <a:rPr sz="3900" b="1">
                <a:solidFill>
                  <a:srgbClr val="111111"/>
                </a:solidFill>
              </a:rPr>
              <a:t>06</a:t>
            </a:r>
          </a:p>
        </p:txBody>
      </p:sp>
      <p:sp>
        <p:nvSpPr>
          <p:cNvPr id="6" name="">
            <a:extLst xmlns:a="http://schemas.openxmlformats.org/drawingml/2006/main">
              <a:ext uri="{FF2B5EF4-FFF2-40B4-BE49-F238E27FC236}">
                <a16:creationId xmlns:a16="http://schemas.microsoft.com/office/drawing/2014/main" id="{EA0AB2C6-7A10-4ACF-9657-9C2CF23DE90D}"/>
              </a:ext>
            </a:extLst>
          </p:cNvPr>
          <p:cNvSpPr>
            <a:spLocks xmlns:a="http://schemas.openxmlformats.org/drawingml/2006/main" noGrp="1"/>
          </p:cNvSpPr>
          <p:nvPr/>
        </p:nvSpPr>
        <p:spPr>
          <a:xfrm xmlns:a="http://schemas.openxmlformats.org/drawingml/2006/main">
            <a:off x="504825" y="1724025"/>
            <a:ext cx="7219950" cy="262890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7" name="">
            <a:extLst xmlns:a="http://schemas.openxmlformats.org/drawingml/2006/main">
              <a:ext uri="{FF2B5EF4-FFF2-40B4-BE49-F238E27FC236}">
                <a16:creationId xmlns:a16="http://schemas.microsoft.com/office/drawing/2014/main" id="{9328764B-7093-4A60-9F06-82ADD5B6156D}"/>
              </a:ext>
            </a:extLst>
          </p:cNvPr>
          <p:cNvSpPr>
            <a:spLocks xmlns:a="http://schemas.openxmlformats.org/drawingml/2006/main" noGrp="1"/>
          </p:cNvSpPr>
          <p:nvPr/>
        </p:nvSpPr>
        <p:spPr>
          <a:xfrm xmlns:a="http://schemas.openxmlformats.org/drawingml/2006/main">
            <a:off x="628650" y="1800225"/>
            <a:ext cx="697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10-day volatility forecast by model</a:t>
            </a:r>
          </a:p>
        </p:txBody>
      </p:sp>
      <p:pic>
        <p:nvPicPr>
          <p:cNvPr id="8" name="">
            <a:extLst xmlns:a="http://schemas.openxmlformats.org/drawingml/2006/main">
              <a:ext uri="{FF2B5EF4-FFF2-40B4-BE49-F238E27FC236}">
                <a16:creationId xmlns:a16="http://schemas.microsoft.com/office/drawing/2014/main" id="{37065D87-7B39-4A35-9BA1-7BC53BA4981E}"/>
              </a:ext>
            </a:extLst>
          </p:cNvPr>
          <p:cNvPicPr>
            <a:picLocks xmlns:a="http://schemas.openxmlformats.org/drawingml/2006/main" noChangeAspect="1"/>
          </p:cNvPicPr>
          <p:nvPr/>
        </p:nvPicPr>
        <p:blipFill>
          <a:blip xmlns:r="http://schemas.openxmlformats.org/officeDocument/2006/relationships" xmlns:a="http://schemas.openxmlformats.org/drawingml/2006/main" r:embed="R6171719944294487"/>
          <a:stretch xmlns:a="http://schemas.openxmlformats.org/drawingml/2006/main"/>
        </p:blipFill>
        <p:spPr>
          <a:xfrm xmlns:a="http://schemas.openxmlformats.org/drawingml/2006/main">
            <a:off x="514350" y="2080408"/>
            <a:ext cx="7200900" cy="217331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9BFE74C-7266-437F-8A7D-737819DA2CB2}"/>
              </a:ext>
            </a:extLst>
          </p:cNvPr>
          <p:cNvSpPr>
            <a:spLocks xmlns:a="http://schemas.openxmlformats.org/drawingml/2006/main" noGrp="1"/>
          </p:cNvSpPr>
          <p:nvPr/>
        </p:nvSpPr>
        <p:spPr>
          <a:xfrm xmlns:a="http://schemas.openxmlformats.org/drawingml/2006/main">
            <a:off x="8096250" y="203835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55E63"/>
                </a:solidFill>
              </a:defRPr>
            </a:defPPr>
            <a:lvl1pPr algn="l">
              <a:defRPr sz="2100" b="1">
                <a:solidFill>
                  <a:srgbClr val="155E63"/>
                </a:solidFill>
              </a:defRPr>
            </a:lvl1pPr>
            <a:lvl2pPr algn="l">
              <a:defRPr sz="2100" b="1">
                <a:solidFill>
                  <a:srgbClr val="155E63"/>
                </a:solidFill>
              </a:defRPr>
            </a:lvl2pPr>
            <a:lvl3pPr algn="l">
              <a:defRPr sz="2100" b="1">
                <a:solidFill>
                  <a:srgbClr val="155E63"/>
                </a:solidFill>
              </a:defRPr>
            </a:lvl3pPr>
            <a:lvl4pPr algn="l">
              <a:defRPr sz="2100" b="1">
                <a:solidFill>
                  <a:srgbClr val="155E63"/>
                </a:solidFill>
              </a:defRPr>
            </a:lvl4pPr>
            <a:lvl5pPr algn="l">
              <a:defRPr sz="2100" b="1">
                <a:solidFill>
                  <a:srgbClr val="155E63"/>
                </a:solidFill>
              </a:defRPr>
            </a:lvl5pPr>
            <a:lvl6pPr algn="l">
              <a:defRPr sz="2100" b="1">
                <a:solidFill>
                  <a:srgbClr val="155E63"/>
                </a:solidFill>
              </a:defRPr>
            </a:lvl6pPr>
            <a:lvl7pPr algn="l">
              <a:defRPr sz="2100" b="1">
                <a:solidFill>
                  <a:srgbClr val="155E63"/>
                </a:solidFill>
              </a:defRPr>
            </a:lvl7pPr>
            <a:lvl8pPr algn="l">
              <a:defRPr sz="2100" b="1">
                <a:solidFill>
                  <a:srgbClr val="155E63"/>
                </a:solidFill>
              </a:defRPr>
            </a:lvl8pPr>
            <a:lvl9pPr algn="l">
              <a:defRPr sz="2100" b="1">
                <a:solidFill>
                  <a:srgbClr val="155E63"/>
                </a:solidFill>
              </a:defRPr>
            </a:lvl9pPr>
          </a:lstStyle>
          <a:p xmlns:a="http://schemas.openxmlformats.org/drawingml/2006/main">
            <a:pPr algn="l">
              <a:defRPr sz="2100" b="1">
                <a:solidFill>
                  <a:srgbClr val="155E63"/>
                </a:solidFill>
              </a:defRPr>
            </a:pPr>
            <a:r>
              <a:rPr sz="2100" b="1">
                <a:solidFill>
                  <a:srgbClr val="155E63"/>
                </a:solidFill>
              </a:rPr>
              <a:t>13.7%</a:t>
            </a:r>
          </a:p>
        </p:txBody>
      </p:sp>
      <p:sp>
        <p:nvSpPr>
          <p:cNvPr id="10" name="">
            <a:extLst xmlns:a="http://schemas.openxmlformats.org/drawingml/2006/main">
              <a:ext uri="{FF2B5EF4-FFF2-40B4-BE49-F238E27FC236}">
                <a16:creationId xmlns:a16="http://schemas.microsoft.com/office/drawing/2014/main" id="{961DB303-83E5-482C-B45E-A982447868D3}"/>
              </a:ext>
            </a:extLst>
          </p:cNvPr>
          <p:cNvSpPr>
            <a:spLocks xmlns:a="http://schemas.openxmlformats.org/drawingml/2006/main" noGrp="1"/>
          </p:cNvSpPr>
          <p:nvPr/>
        </p:nvSpPr>
        <p:spPr>
          <a:xfrm xmlns:a="http://schemas.openxmlformats.org/drawingml/2006/main">
            <a:off x="8096250" y="2438400"/>
            <a:ext cx="3067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current GARCH volatility</a:t>
            </a:r>
          </a:p>
        </p:txBody>
      </p:sp>
      <p:sp>
        <p:nvSpPr>
          <p:cNvPr id="11" name="">
            <a:extLst xmlns:a="http://schemas.openxmlformats.org/drawingml/2006/main">
              <a:ext uri="{FF2B5EF4-FFF2-40B4-BE49-F238E27FC236}">
                <a16:creationId xmlns:a16="http://schemas.microsoft.com/office/drawing/2014/main" id="{6F8B746A-2DE3-44EC-AA8A-7C915E310B72}"/>
              </a:ext>
            </a:extLst>
          </p:cNvPr>
          <p:cNvSpPr>
            <a:spLocks xmlns:a="http://schemas.openxmlformats.org/drawingml/2006/main" noGrp="1"/>
          </p:cNvSpPr>
          <p:nvPr/>
        </p:nvSpPr>
        <p:spPr>
          <a:xfrm xmlns:a="http://schemas.openxmlformats.org/drawingml/2006/main">
            <a:off x="8096250" y="295275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B42318"/>
                </a:solidFill>
              </a:defRPr>
            </a:defPPr>
            <a:lvl1pPr algn="l">
              <a:defRPr sz="2100" b="1">
                <a:solidFill>
                  <a:srgbClr val="B42318"/>
                </a:solidFill>
              </a:defRPr>
            </a:lvl1pPr>
            <a:lvl2pPr algn="l">
              <a:defRPr sz="2100" b="1">
                <a:solidFill>
                  <a:srgbClr val="B42318"/>
                </a:solidFill>
              </a:defRPr>
            </a:lvl2pPr>
            <a:lvl3pPr algn="l">
              <a:defRPr sz="2100" b="1">
                <a:solidFill>
                  <a:srgbClr val="B42318"/>
                </a:solidFill>
              </a:defRPr>
            </a:lvl3pPr>
            <a:lvl4pPr algn="l">
              <a:defRPr sz="2100" b="1">
                <a:solidFill>
                  <a:srgbClr val="B42318"/>
                </a:solidFill>
              </a:defRPr>
            </a:lvl4pPr>
            <a:lvl5pPr algn="l">
              <a:defRPr sz="2100" b="1">
                <a:solidFill>
                  <a:srgbClr val="B42318"/>
                </a:solidFill>
              </a:defRPr>
            </a:lvl5pPr>
            <a:lvl6pPr algn="l">
              <a:defRPr sz="2100" b="1">
                <a:solidFill>
                  <a:srgbClr val="B42318"/>
                </a:solidFill>
              </a:defRPr>
            </a:lvl6pPr>
            <a:lvl7pPr algn="l">
              <a:defRPr sz="2100" b="1">
                <a:solidFill>
                  <a:srgbClr val="B42318"/>
                </a:solidFill>
              </a:defRPr>
            </a:lvl7pPr>
            <a:lvl8pPr algn="l">
              <a:defRPr sz="2100" b="1">
                <a:solidFill>
                  <a:srgbClr val="B42318"/>
                </a:solidFill>
              </a:defRPr>
            </a:lvl8pPr>
            <a:lvl9pPr algn="l">
              <a:defRPr sz="2100" b="1">
                <a:solidFill>
                  <a:srgbClr val="B42318"/>
                </a:solidFill>
              </a:defRPr>
            </a:lvl9pPr>
          </a:lstStyle>
          <a:p xmlns:a="http://schemas.openxmlformats.org/drawingml/2006/main">
            <a:pPr algn="l">
              <a:defRPr sz="2100" b="1">
                <a:solidFill>
                  <a:srgbClr val="B42318"/>
                </a:solidFill>
              </a:defRPr>
            </a:pPr>
            <a:r>
              <a:rPr sz="2100" b="1">
                <a:solidFill>
                  <a:srgbClr val="B42318"/>
                </a:solidFill>
              </a:rPr>
              <a:t>$275K</a:t>
            </a:r>
          </a:p>
        </p:txBody>
      </p:sp>
      <p:sp>
        <p:nvSpPr>
          <p:cNvPr id="12" name="">
            <a:extLst xmlns:a="http://schemas.openxmlformats.org/drawingml/2006/main">
              <a:ext uri="{FF2B5EF4-FFF2-40B4-BE49-F238E27FC236}">
                <a16:creationId xmlns:a16="http://schemas.microsoft.com/office/drawing/2014/main" id="{C7613F75-FE4F-498A-A8B0-0A178E1F5E17}"/>
              </a:ext>
            </a:extLst>
          </p:cNvPr>
          <p:cNvSpPr>
            <a:spLocks xmlns:a="http://schemas.openxmlformats.org/drawingml/2006/main" noGrp="1"/>
          </p:cNvSpPr>
          <p:nvPr/>
        </p:nvSpPr>
        <p:spPr>
          <a:xfrm xmlns:a="http://schemas.openxmlformats.org/drawingml/2006/main">
            <a:off x="8096250" y="3352800"/>
            <a:ext cx="3067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GARCH-scaled 99% VaR</a:t>
            </a:r>
          </a:p>
        </p:txBody>
      </p:sp>
      <p:sp>
        <p:nvSpPr>
          <p:cNvPr id="13" name="">
            <a:extLst xmlns:a="http://schemas.openxmlformats.org/drawingml/2006/main">
              <a:ext uri="{FF2B5EF4-FFF2-40B4-BE49-F238E27FC236}">
                <a16:creationId xmlns:a16="http://schemas.microsoft.com/office/drawing/2014/main" id="{418E2149-8C73-405D-B10C-4EFBD6DEDD87}"/>
              </a:ext>
            </a:extLst>
          </p:cNvPr>
          <p:cNvSpPr>
            <a:spLocks xmlns:a="http://schemas.openxmlformats.org/drawingml/2006/main" noGrp="1"/>
          </p:cNvSpPr>
          <p:nvPr/>
        </p:nvSpPr>
        <p:spPr>
          <a:xfrm xmlns:a="http://schemas.openxmlformats.org/drawingml/2006/main">
            <a:off x="8096250" y="386715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11111"/>
                </a:solidFill>
              </a:defRPr>
            </a:defPPr>
            <a:lvl1pPr algn="l">
              <a:defRPr sz="2100" b="1">
                <a:solidFill>
                  <a:srgbClr val="111111"/>
                </a:solidFill>
              </a:defRPr>
            </a:lvl1pPr>
            <a:lvl2pPr algn="l">
              <a:defRPr sz="2100" b="1">
                <a:solidFill>
                  <a:srgbClr val="111111"/>
                </a:solidFill>
              </a:defRPr>
            </a:lvl2pPr>
            <a:lvl3pPr algn="l">
              <a:defRPr sz="2100" b="1">
                <a:solidFill>
                  <a:srgbClr val="111111"/>
                </a:solidFill>
              </a:defRPr>
            </a:lvl3pPr>
            <a:lvl4pPr algn="l">
              <a:defRPr sz="2100" b="1">
                <a:solidFill>
                  <a:srgbClr val="111111"/>
                </a:solidFill>
              </a:defRPr>
            </a:lvl4pPr>
            <a:lvl5pPr algn="l">
              <a:defRPr sz="2100" b="1">
                <a:solidFill>
                  <a:srgbClr val="111111"/>
                </a:solidFill>
              </a:defRPr>
            </a:lvl5pPr>
            <a:lvl6pPr algn="l">
              <a:defRPr sz="2100" b="1">
                <a:solidFill>
                  <a:srgbClr val="111111"/>
                </a:solidFill>
              </a:defRPr>
            </a:lvl6pPr>
            <a:lvl7pPr algn="l">
              <a:defRPr sz="2100" b="1">
                <a:solidFill>
                  <a:srgbClr val="111111"/>
                </a:solidFill>
              </a:defRPr>
            </a:lvl7pPr>
            <a:lvl8pPr algn="l">
              <a:defRPr sz="2100" b="1">
                <a:solidFill>
                  <a:srgbClr val="111111"/>
                </a:solidFill>
              </a:defRPr>
            </a:lvl8pPr>
            <a:lvl9pPr algn="l">
              <a:defRPr sz="2100" b="1">
                <a:solidFill>
                  <a:srgbClr val="111111"/>
                </a:solidFill>
              </a:defRPr>
            </a:lvl9pPr>
          </a:lstStyle>
          <a:p xmlns:a="http://schemas.openxmlformats.org/drawingml/2006/main">
            <a:pPr algn="l">
              <a:defRPr sz="2100" b="1">
                <a:solidFill>
                  <a:srgbClr val="111111"/>
                </a:solidFill>
              </a:defRPr>
            </a:pPr>
            <a:r>
              <a:rPr sz="2100" b="1">
                <a:solidFill>
                  <a:srgbClr val="111111"/>
                </a:solidFill>
              </a:rPr>
              <a:t>21.3 days</a:t>
            </a:r>
          </a:p>
        </p:txBody>
      </p:sp>
      <p:sp>
        <p:nvSpPr>
          <p:cNvPr id="14" name="">
            <a:extLst xmlns:a="http://schemas.openxmlformats.org/drawingml/2006/main">
              <a:ext uri="{FF2B5EF4-FFF2-40B4-BE49-F238E27FC236}">
                <a16:creationId xmlns:a16="http://schemas.microsoft.com/office/drawing/2014/main" id="{A92483D0-2E6D-4DA0-AD54-5B494AEE5455}"/>
              </a:ext>
            </a:extLst>
          </p:cNvPr>
          <p:cNvSpPr>
            <a:spLocks xmlns:a="http://schemas.openxmlformats.org/drawingml/2006/main" noGrp="1"/>
          </p:cNvSpPr>
          <p:nvPr/>
        </p:nvSpPr>
        <p:spPr>
          <a:xfrm xmlns:a="http://schemas.openxmlformats.org/drawingml/2006/main">
            <a:off x="8096250" y="4267200"/>
            <a:ext cx="3067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estimated shock half-life</a:t>
            </a:r>
          </a:p>
        </p:txBody>
      </p:sp>
      <p:sp>
        <p:nvSpPr>
          <p:cNvPr id="15" name="">
            <a:extLst xmlns:a="http://schemas.openxmlformats.org/drawingml/2006/main">
              <a:ext uri="{FF2B5EF4-FFF2-40B4-BE49-F238E27FC236}">
                <a16:creationId xmlns:a16="http://schemas.microsoft.com/office/drawing/2014/main" id="{598EFEFE-620B-4C1C-8B74-E3BD5BACB71C}"/>
              </a:ext>
            </a:extLst>
          </p:cNvPr>
          <p:cNvSpPr>
            <a:spLocks xmlns:a="http://schemas.openxmlformats.org/drawingml/2006/main" noGrp="1"/>
          </p:cNvSpPr>
          <p:nvPr/>
        </p:nvSpPr>
        <p:spPr>
          <a:xfrm xmlns:a="http://schemas.openxmlformats.org/drawingml/2006/main">
            <a:off x="514350" y="480060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16" name="">
            <a:extLst xmlns:a="http://schemas.openxmlformats.org/drawingml/2006/main">
              <a:ext uri="{FF2B5EF4-FFF2-40B4-BE49-F238E27FC236}">
                <a16:creationId xmlns:a16="http://schemas.microsoft.com/office/drawing/2014/main" id="{48BEDC05-F8AF-4DD5-A48A-E55CDB036A30}"/>
              </a:ext>
            </a:extLst>
          </p:cNvPr>
          <p:cNvSpPr>
            <a:spLocks xmlns:a="http://schemas.openxmlformats.org/drawingml/2006/main" noGrp="1"/>
          </p:cNvSpPr>
          <p:nvPr/>
        </p:nvSpPr>
        <p:spPr>
          <a:xfrm xmlns:a="http://schemas.openxmlformats.org/drawingml/2006/main">
            <a:off x="666750" y="4762500"/>
            <a:ext cx="3181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GARCH(1,1)</a:t>
            </a:r>
          </a:p>
        </p:txBody>
      </p:sp>
      <p:sp>
        <p:nvSpPr>
          <p:cNvPr id="17" name="">
            <a:extLst xmlns:a="http://schemas.openxmlformats.org/drawingml/2006/main">
              <a:ext uri="{FF2B5EF4-FFF2-40B4-BE49-F238E27FC236}">
                <a16:creationId xmlns:a16="http://schemas.microsoft.com/office/drawing/2014/main" id="{9C25D753-1F02-4282-84D0-F04DA0033FD3}"/>
              </a:ext>
            </a:extLst>
          </p:cNvPr>
          <p:cNvSpPr>
            <a:spLocks xmlns:a="http://schemas.openxmlformats.org/drawingml/2006/main" noGrp="1"/>
          </p:cNvSpPr>
          <p:nvPr/>
        </p:nvSpPr>
        <p:spPr>
          <a:xfrm xmlns:a="http://schemas.openxmlformats.org/drawingml/2006/main">
            <a:off x="666750" y="5000625"/>
            <a:ext cx="3181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Today's variance depends on one recent squared shock and one previous variance estimate.</a:t>
            </a:r>
          </a:p>
        </p:txBody>
      </p:sp>
      <p:sp>
        <p:nvSpPr>
          <p:cNvPr id="18" name="">
            <a:extLst xmlns:a="http://schemas.openxmlformats.org/drawingml/2006/main">
              <a:ext uri="{FF2B5EF4-FFF2-40B4-BE49-F238E27FC236}">
                <a16:creationId xmlns:a16="http://schemas.microsoft.com/office/drawing/2014/main" id="{69F41BF9-E1DF-46E6-9291-6E08E8A6A8C4}"/>
              </a:ext>
            </a:extLst>
          </p:cNvPr>
          <p:cNvSpPr>
            <a:spLocks xmlns:a="http://schemas.openxmlformats.org/drawingml/2006/main" noGrp="1"/>
          </p:cNvSpPr>
          <p:nvPr/>
        </p:nvSpPr>
        <p:spPr>
          <a:xfrm xmlns:a="http://schemas.openxmlformats.org/drawingml/2006/main">
            <a:off x="4114800" y="480060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19" name="">
            <a:extLst xmlns:a="http://schemas.openxmlformats.org/drawingml/2006/main">
              <a:ext uri="{FF2B5EF4-FFF2-40B4-BE49-F238E27FC236}">
                <a16:creationId xmlns:a16="http://schemas.microsoft.com/office/drawing/2014/main" id="{1EF08EDC-C1AB-44EF-9145-F6440652B4D0}"/>
              </a:ext>
            </a:extLst>
          </p:cNvPr>
          <p:cNvSpPr>
            <a:spLocks xmlns:a="http://schemas.openxmlformats.org/drawingml/2006/main" noGrp="1"/>
          </p:cNvSpPr>
          <p:nvPr/>
        </p:nvSpPr>
        <p:spPr>
          <a:xfrm xmlns:a="http://schemas.openxmlformats.org/drawingml/2006/main">
            <a:off x="4267200" y="4762500"/>
            <a:ext cx="3181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Conditional volatility</a:t>
            </a:r>
          </a:p>
        </p:txBody>
      </p:sp>
      <p:sp>
        <p:nvSpPr>
          <p:cNvPr id="20" name="">
            <a:extLst xmlns:a="http://schemas.openxmlformats.org/drawingml/2006/main">
              <a:ext uri="{FF2B5EF4-FFF2-40B4-BE49-F238E27FC236}">
                <a16:creationId xmlns:a16="http://schemas.microsoft.com/office/drawing/2014/main" id="{EA60570C-A562-4614-9313-E11004DA6FCB}"/>
              </a:ext>
            </a:extLst>
          </p:cNvPr>
          <p:cNvSpPr>
            <a:spLocks xmlns:a="http://schemas.openxmlformats.org/drawingml/2006/main" noGrp="1"/>
          </p:cNvSpPr>
          <p:nvPr/>
        </p:nvSpPr>
        <p:spPr>
          <a:xfrm xmlns:a="http://schemas.openxmlformats.org/drawingml/2006/main">
            <a:off x="4267200" y="5000625"/>
            <a:ext cx="3181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The risk estimate changes with information available at that point in time.</a:t>
            </a:r>
          </a:p>
        </p:txBody>
      </p:sp>
      <p:sp>
        <p:nvSpPr>
          <p:cNvPr id="21" name="">
            <a:extLst xmlns:a="http://schemas.openxmlformats.org/drawingml/2006/main">
              <a:ext uri="{FF2B5EF4-FFF2-40B4-BE49-F238E27FC236}">
                <a16:creationId xmlns:a16="http://schemas.microsoft.com/office/drawing/2014/main" id="{91716B6F-9591-47F0-B8E4-5714C5C422B3}"/>
              </a:ext>
            </a:extLst>
          </p:cNvPr>
          <p:cNvSpPr>
            <a:spLocks xmlns:a="http://schemas.openxmlformats.org/drawingml/2006/main" noGrp="1"/>
          </p:cNvSpPr>
          <p:nvPr/>
        </p:nvSpPr>
        <p:spPr>
          <a:xfrm xmlns:a="http://schemas.openxmlformats.org/drawingml/2006/main">
            <a:off x="7715250" y="480060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22" name="">
            <a:extLst xmlns:a="http://schemas.openxmlformats.org/drawingml/2006/main">
              <a:ext uri="{FF2B5EF4-FFF2-40B4-BE49-F238E27FC236}">
                <a16:creationId xmlns:a16="http://schemas.microsoft.com/office/drawing/2014/main" id="{F2899AB9-66A8-40B1-9BB1-63C17B2C588E}"/>
              </a:ext>
            </a:extLst>
          </p:cNvPr>
          <p:cNvSpPr>
            <a:spLocks xmlns:a="http://schemas.openxmlformats.org/drawingml/2006/main" noGrp="1"/>
          </p:cNvSpPr>
          <p:nvPr/>
        </p:nvSpPr>
        <p:spPr>
          <a:xfrm xmlns:a="http://schemas.openxmlformats.org/drawingml/2006/main">
            <a:off x="7867650" y="4762500"/>
            <a:ext cx="3295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One-day forecast</a:t>
            </a:r>
          </a:p>
        </p:txBody>
      </p:sp>
      <p:sp>
        <p:nvSpPr>
          <p:cNvPr id="23" name="">
            <a:extLst xmlns:a="http://schemas.openxmlformats.org/drawingml/2006/main">
              <a:ext uri="{FF2B5EF4-FFF2-40B4-BE49-F238E27FC236}">
                <a16:creationId xmlns:a16="http://schemas.microsoft.com/office/drawing/2014/main" id="{C18C08C4-2C59-4039-A44B-D4D09A8C5F98}"/>
              </a:ext>
            </a:extLst>
          </p:cNvPr>
          <p:cNvSpPr>
            <a:spLocks xmlns:a="http://schemas.openxmlformats.org/drawingml/2006/main" noGrp="1"/>
          </p:cNvSpPr>
          <p:nvPr/>
        </p:nvSpPr>
        <p:spPr>
          <a:xfrm xmlns:a="http://schemas.openxmlformats.org/drawingml/2006/main">
            <a:off x="7867650" y="5000625"/>
            <a:ext cx="3295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The model projects tomorrow's volatility, then scales the historical returns and tail loss.</a:t>
            </a:r>
          </a:p>
        </p:txBody>
      </p:sp>
      <p:sp>
        <p:nvSpPr>
          <p:cNvPr id="24" name="">
            <a:extLst xmlns:a="http://schemas.openxmlformats.org/drawingml/2006/main">
              <a:ext uri="{FF2B5EF4-FFF2-40B4-BE49-F238E27FC236}">
                <a16:creationId xmlns:a16="http://schemas.microsoft.com/office/drawing/2014/main" id="{38CA4F01-3A3F-433E-BF95-B28D632B0F53}"/>
              </a:ext>
            </a:extLst>
          </p:cNvPr>
          <p:cNvSpPr>
            <a:spLocks xmlns:a="http://schemas.openxmlformats.org/drawingml/2006/main" noGrp="1"/>
          </p:cNvSpPr>
          <p:nvPr/>
        </p:nvSpPr>
        <p:spPr>
          <a:xfrm xmlns:a="http://schemas.openxmlformats.org/drawingml/2006/main">
            <a:off x="514350" y="5867400"/>
            <a:ext cx="10648950" cy="381000"/>
          </a:xfrm>
          <a:prstGeom xmlns:a="http://schemas.openxmlformats.org/drawingml/2006/main" prst="rect">
            <a:avLst/>
          </a:prstGeom>
          <a:solidFill xmlns:a="http://schemas.openxmlformats.org/drawingml/2006/main">
            <a:srgbClr val="DDE8E7"/>
          </a:solidFill>
          <a:ln xmlns:a="http://schemas.openxmlformats.org/drawingml/2006/main" w="0">
            <a:solidFill>
              <a:srgbClr val="DDE8E7"/>
            </a:solidFill>
            <a:prstDash val="solid"/>
          </a:ln>
        </p:spPr>
      </p:sp>
      <p:sp>
        <p:nvSpPr>
          <p:cNvPr id="25" name="">
            <a:extLst xmlns:a="http://schemas.openxmlformats.org/drawingml/2006/main">
              <a:ext uri="{FF2B5EF4-FFF2-40B4-BE49-F238E27FC236}">
                <a16:creationId xmlns:a16="http://schemas.microsoft.com/office/drawing/2014/main" id="{CC3E03CC-2C40-4441-9C6B-8C41FFD27587}"/>
              </a:ext>
            </a:extLst>
          </p:cNvPr>
          <p:cNvSpPr>
            <a:spLocks xmlns:a="http://schemas.openxmlformats.org/drawingml/2006/main" noGrp="1"/>
          </p:cNvSpPr>
          <p:nvPr/>
        </p:nvSpPr>
        <p:spPr>
          <a:xfrm xmlns:a="http://schemas.openxmlformats.org/drawingml/2006/main">
            <a:off x="514350" y="5867400"/>
            <a:ext cx="47625" cy="3810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26" name="">
            <a:extLst xmlns:a="http://schemas.openxmlformats.org/drawingml/2006/main">
              <a:ext uri="{FF2B5EF4-FFF2-40B4-BE49-F238E27FC236}">
                <a16:creationId xmlns:a16="http://schemas.microsoft.com/office/drawing/2014/main" id="{A89AF501-9518-46E5-80F5-51DAF72B37A3}"/>
              </a:ext>
            </a:extLst>
          </p:cNvPr>
          <p:cNvSpPr>
            <a:spLocks xmlns:a="http://schemas.openxmlformats.org/drawingml/2006/main" noGrp="1"/>
          </p:cNvSpPr>
          <p:nvPr/>
        </p:nvSpPr>
        <p:spPr>
          <a:xfrm xmlns:a="http://schemas.openxmlformats.org/drawingml/2006/main">
            <a:off x="685800" y="5915025"/>
            <a:ext cx="10363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353535"/>
                </a:solidFill>
              </a:defRPr>
            </a:defPPr>
            <a:lvl1pPr algn="l">
              <a:defRPr sz="1050" b="1">
                <a:solidFill>
                  <a:srgbClr val="353535"/>
                </a:solidFill>
              </a:defRPr>
            </a:lvl1pPr>
            <a:lvl2pPr algn="l">
              <a:defRPr sz="1050" b="1">
                <a:solidFill>
                  <a:srgbClr val="353535"/>
                </a:solidFill>
              </a:defRPr>
            </a:lvl2pPr>
            <a:lvl3pPr algn="l">
              <a:defRPr sz="1050" b="1">
                <a:solidFill>
                  <a:srgbClr val="353535"/>
                </a:solidFill>
              </a:defRPr>
            </a:lvl3pPr>
            <a:lvl4pPr algn="l">
              <a:defRPr sz="1050" b="1">
                <a:solidFill>
                  <a:srgbClr val="353535"/>
                </a:solidFill>
              </a:defRPr>
            </a:lvl4pPr>
            <a:lvl5pPr algn="l">
              <a:defRPr sz="1050" b="1">
                <a:solidFill>
                  <a:srgbClr val="353535"/>
                </a:solidFill>
              </a:defRPr>
            </a:lvl5pPr>
            <a:lvl6pPr algn="l">
              <a:defRPr sz="1050" b="1">
                <a:solidFill>
                  <a:srgbClr val="353535"/>
                </a:solidFill>
              </a:defRPr>
            </a:lvl6pPr>
            <a:lvl7pPr algn="l">
              <a:defRPr sz="1050" b="1">
                <a:solidFill>
                  <a:srgbClr val="353535"/>
                </a:solidFill>
              </a:defRPr>
            </a:lvl7pPr>
            <a:lvl8pPr algn="l">
              <a:defRPr sz="1050" b="1">
                <a:solidFill>
                  <a:srgbClr val="353535"/>
                </a:solidFill>
              </a:defRPr>
            </a:lvl8pPr>
            <a:lvl9pPr algn="l">
              <a:defRPr sz="1050" b="1">
                <a:solidFill>
                  <a:srgbClr val="353535"/>
                </a:solidFill>
              </a:defRPr>
            </a:lvl9pPr>
          </a:lstStyle>
          <a:p xmlns:a="http://schemas.openxmlformats.org/drawingml/2006/main">
            <a:pPr algn="l">
              <a:defRPr sz="1050" b="1">
                <a:solidFill>
                  <a:srgbClr val="353535"/>
                </a:solidFill>
              </a:defRPr>
            </a:pPr>
            <a:r>
              <a:rPr sz="1050" b="1">
                <a:solidFill>
                  <a:srgbClr val="353535"/>
                </a:solidFill>
              </a:rPr>
              <a:t>Persistence 0.968 means volatility shocks fade slowly rather than disappearing immediately</a:t>
            </a:r>
          </a:p>
        </p:txBody>
      </p:sp>
      <p:sp>
        <p:nvSpPr>
          <p:cNvPr id="27" name="">
            <a:extLst xmlns:a="http://schemas.openxmlformats.org/drawingml/2006/main">
              <a:ext uri="{FF2B5EF4-FFF2-40B4-BE49-F238E27FC236}">
                <a16:creationId xmlns:a16="http://schemas.microsoft.com/office/drawing/2014/main" id="{480CEA33-5866-4759-B9E1-10341F273FE0}"/>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28" name="">
            <a:extLst xmlns:a="http://schemas.openxmlformats.org/drawingml/2006/main">
              <a:ext uri="{FF2B5EF4-FFF2-40B4-BE49-F238E27FC236}">
                <a16:creationId xmlns:a16="http://schemas.microsoft.com/office/drawing/2014/main" id="{8C9F1A6F-2E3B-4E98-8995-81A009FF5985}"/>
              </a:ext>
            </a:extLst>
          </p:cNvPr>
          <p:cNvSpPr>
            <a:spLocks xmlns:a="http://schemas.openxmlformats.org/drawingml/2006/main" noGrp="1"/>
          </p:cNvSpPr>
          <p:nvPr/>
        </p:nvSpPr>
        <p:spPr>
          <a:xfrm xmlns:a="http://schemas.openxmlformats.org/drawingml/2006/main">
            <a:off x="51435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0">
                <a:solidFill>
                  <a:srgbClr val="707070"/>
                </a:solidFill>
              </a:defRPr>
            </a:defPPr>
            <a:lvl1pPr algn="l">
              <a:defRPr sz="600" b="0">
                <a:solidFill>
                  <a:srgbClr val="707070"/>
                </a:solidFill>
              </a:defRPr>
            </a:lvl1pPr>
            <a:lvl2pPr algn="l">
              <a:defRPr sz="600" b="0">
                <a:solidFill>
                  <a:srgbClr val="707070"/>
                </a:solidFill>
              </a:defRPr>
            </a:lvl2pPr>
            <a:lvl3pPr algn="l">
              <a:defRPr sz="600" b="0">
                <a:solidFill>
                  <a:srgbClr val="707070"/>
                </a:solidFill>
              </a:defRPr>
            </a:lvl3pPr>
            <a:lvl4pPr algn="l">
              <a:defRPr sz="600" b="0">
                <a:solidFill>
                  <a:srgbClr val="707070"/>
                </a:solidFill>
              </a:defRPr>
            </a:lvl4pPr>
            <a:lvl5pPr algn="l">
              <a:defRPr sz="600" b="0">
                <a:solidFill>
                  <a:srgbClr val="707070"/>
                </a:solidFill>
              </a:defRPr>
            </a:lvl5pPr>
            <a:lvl6pPr algn="l">
              <a:defRPr sz="600" b="0">
                <a:solidFill>
                  <a:srgbClr val="707070"/>
                </a:solidFill>
              </a:defRPr>
            </a:lvl6pPr>
            <a:lvl7pPr algn="l">
              <a:defRPr sz="600" b="0">
                <a:solidFill>
                  <a:srgbClr val="707070"/>
                </a:solidFill>
              </a:defRPr>
            </a:lvl7pPr>
            <a:lvl8pPr algn="l">
              <a:defRPr sz="600" b="0">
                <a:solidFill>
                  <a:srgbClr val="707070"/>
                </a:solidFill>
              </a:defRPr>
            </a:lvl8pPr>
            <a:lvl9pPr algn="l">
              <a:defRPr sz="600" b="0">
                <a:solidFill>
                  <a:srgbClr val="707070"/>
                </a:solidFill>
              </a:defRPr>
            </a:lvl9pPr>
          </a:lstStyle>
          <a:p xmlns:a="http://schemas.openxmlformats.org/drawingml/2006/main">
            <a:pPr algn="l">
              <a:defRPr sz="600" b="0">
                <a:solidFill>
                  <a:srgbClr val="707070"/>
                </a:solidFill>
              </a:defRPr>
            </a:pPr>
            <a:r>
              <a:rPr sz="600" b="0">
                <a:solidFill>
                  <a:srgbClr val="707070"/>
                </a:solidFill>
              </a:rPr>
              <a:t>QFI risk engine  |  saved data through 23 October 2026</a:t>
            </a:r>
          </a:p>
        </p:txBody>
      </p:sp>
      <p:sp>
        <p:nvSpPr>
          <p:cNvPr id="29" name="">
            <a:extLst xmlns:a="http://schemas.openxmlformats.org/drawingml/2006/main">
              <a:ext uri="{FF2B5EF4-FFF2-40B4-BE49-F238E27FC236}">
                <a16:creationId xmlns:a16="http://schemas.microsoft.com/office/drawing/2014/main" id="{FD7352B2-D698-465F-B910-BC7B47EEC1D2}"/>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111111"/>
                </a:solidFill>
              </a:defRPr>
            </a:defPPr>
            <a:lvl1pPr algn="r">
              <a:defRPr sz="675" b="1">
                <a:solidFill>
                  <a:srgbClr val="111111"/>
                </a:solidFill>
              </a:defRPr>
            </a:lvl1pPr>
            <a:lvl2pPr algn="r">
              <a:defRPr sz="675" b="1">
                <a:solidFill>
                  <a:srgbClr val="111111"/>
                </a:solidFill>
              </a:defRPr>
            </a:lvl2pPr>
            <a:lvl3pPr algn="r">
              <a:defRPr sz="675" b="1">
                <a:solidFill>
                  <a:srgbClr val="111111"/>
                </a:solidFill>
              </a:defRPr>
            </a:lvl3pPr>
            <a:lvl4pPr algn="r">
              <a:defRPr sz="675" b="1">
                <a:solidFill>
                  <a:srgbClr val="111111"/>
                </a:solidFill>
              </a:defRPr>
            </a:lvl4pPr>
            <a:lvl5pPr algn="r">
              <a:defRPr sz="675" b="1">
                <a:solidFill>
                  <a:srgbClr val="111111"/>
                </a:solidFill>
              </a:defRPr>
            </a:lvl5pPr>
            <a:lvl6pPr algn="r">
              <a:defRPr sz="675" b="1">
                <a:solidFill>
                  <a:srgbClr val="111111"/>
                </a:solidFill>
              </a:defRPr>
            </a:lvl6pPr>
            <a:lvl7pPr algn="r">
              <a:defRPr sz="675" b="1">
                <a:solidFill>
                  <a:srgbClr val="111111"/>
                </a:solidFill>
              </a:defRPr>
            </a:lvl7pPr>
            <a:lvl8pPr algn="r">
              <a:defRPr sz="675" b="1">
                <a:solidFill>
                  <a:srgbClr val="111111"/>
                </a:solidFill>
              </a:defRPr>
            </a:lvl8pPr>
            <a:lvl9pPr algn="r">
              <a:defRPr sz="675" b="1">
                <a:solidFill>
                  <a:srgbClr val="111111"/>
                </a:solidFill>
              </a:defRPr>
            </a:lvl9pPr>
          </a:lstStyle>
          <a:p xmlns:a="http://schemas.openxmlformats.org/drawingml/2006/main">
            <a:pPr algn="r">
              <a:defRPr sz="675" b="1">
                <a:solidFill>
                  <a:srgbClr val="111111"/>
                </a:solidFill>
              </a:defRPr>
            </a:pPr>
            <a:r>
              <a:rPr sz="675" b="1">
                <a:solidFill>
                  <a:srgbClr val="111111"/>
                </a:solidFill>
              </a:rPr>
              <a:t>08</a:t>
            </a:r>
          </a:p>
        </p:txBody>
      </p:sp>
    </p:spTree>
    <p:extLst>
      <p:ext uri="{BB962C8B-B14F-4D97-AF65-F5344CB8AC3E}">
        <p14:creationId xmlns:p14="http://schemas.microsoft.com/office/powerpoint/2010/main" val="889356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E3E33ED-0F27-4E51-8799-6B9837832D0B}"/>
              </a:ext>
            </a:extLst>
          </p:cNvPr>
          <p:cNvSpPr>
            <a:spLocks xmlns:a="http://schemas.openxmlformats.org/drawingml/2006/main" noGrp="1"/>
          </p:cNvSpPr>
          <p:nvPr/>
        </p:nvSpPr>
        <p:spPr>
          <a:xfrm xmlns:a="http://schemas.openxmlformats.org/drawingml/2006/main">
            <a:off x="514350" y="266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PHASE 07</a:t>
            </a:r>
          </a:p>
        </p:txBody>
      </p:sp>
      <p:sp>
        <p:nvSpPr>
          <p:cNvPr id="2" name="">
            <a:extLst xmlns:a="http://schemas.openxmlformats.org/drawingml/2006/main">
              <a:ext uri="{FF2B5EF4-FFF2-40B4-BE49-F238E27FC236}">
                <a16:creationId xmlns:a16="http://schemas.microsoft.com/office/drawing/2014/main" id="{AC38C3DF-8927-4040-82F4-E3C135E02387}"/>
              </a:ext>
            </a:extLst>
          </p:cNvPr>
          <p:cNvSpPr>
            <a:spLocks xmlns:a="http://schemas.openxmlformats.org/drawingml/2006/main" noGrp="1"/>
          </p:cNvSpPr>
          <p:nvPr/>
        </p:nvSpPr>
        <p:spPr>
          <a:xfrm xmlns:a="http://schemas.openxmlformats.org/drawingml/2006/main">
            <a:off x="514350" y="6096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11111"/>
                </a:solidFill>
              </a:defRPr>
            </a:defPPr>
            <a:lvl1pPr algn="l">
              <a:defRPr sz="2550" b="1">
                <a:solidFill>
                  <a:srgbClr val="111111"/>
                </a:solidFill>
              </a:defRPr>
            </a:lvl1pPr>
            <a:lvl2pPr algn="l">
              <a:defRPr sz="2550" b="1">
                <a:solidFill>
                  <a:srgbClr val="111111"/>
                </a:solidFill>
              </a:defRPr>
            </a:lvl2pPr>
            <a:lvl3pPr algn="l">
              <a:defRPr sz="2550" b="1">
                <a:solidFill>
                  <a:srgbClr val="111111"/>
                </a:solidFill>
              </a:defRPr>
            </a:lvl3pPr>
            <a:lvl4pPr algn="l">
              <a:defRPr sz="2550" b="1">
                <a:solidFill>
                  <a:srgbClr val="111111"/>
                </a:solidFill>
              </a:defRPr>
            </a:lvl4pPr>
            <a:lvl5pPr algn="l">
              <a:defRPr sz="2550" b="1">
                <a:solidFill>
                  <a:srgbClr val="111111"/>
                </a:solidFill>
              </a:defRPr>
            </a:lvl5pPr>
            <a:lvl6pPr algn="l">
              <a:defRPr sz="2550" b="1">
                <a:solidFill>
                  <a:srgbClr val="111111"/>
                </a:solidFill>
              </a:defRPr>
            </a:lvl6pPr>
            <a:lvl7pPr algn="l">
              <a:defRPr sz="2550" b="1">
                <a:solidFill>
                  <a:srgbClr val="111111"/>
                </a:solidFill>
              </a:defRPr>
            </a:lvl7pPr>
            <a:lvl8pPr algn="l">
              <a:defRPr sz="2550" b="1">
                <a:solidFill>
                  <a:srgbClr val="111111"/>
                </a:solidFill>
              </a:defRPr>
            </a:lvl8pPr>
            <a:lvl9pPr algn="l">
              <a:defRPr sz="2550" b="1">
                <a:solidFill>
                  <a:srgbClr val="111111"/>
                </a:solidFill>
              </a:defRPr>
            </a:lvl9pPr>
          </a:lstStyle>
          <a:p xmlns:a="http://schemas.openxmlformats.org/drawingml/2006/main">
            <a:pPr algn="l">
              <a:defRPr sz="2550" b="1">
                <a:solidFill>
                  <a:srgbClr val="111111"/>
                </a:solidFill>
              </a:defRPr>
            </a:pPr>
            <a:r>
              <a:rPr sz="2550" b="1">
                <a:solidFill>
                  <a:srgbClr val="111111"/>
                </a:solidFill>
              </a:rPr>
              <a:t>Phase 7  GJR-GARCH volatility scaling</a:t>
            </a:r>
          </a:p>
        </p:txBody>
      </p:sp>
      <p:sp>
        <p:nvSpPr>
          <p:cNvPr id="3" name="">
            <a:extLst xmlns:a="http://schemas.openxmlformats.org/drawingml/2006/main">
              <a:ext uri="{FF2B5EF4-FFF2-40B4-BE49-F238E27FC236}">
                <a16:creationId xmlns:a16="http://schemas.microsoft.com/office/drawing/2014/main" id="{32DEC5CF-6619-4CCC-BBC0-1BC9C5B7D1F2}"/>
              </a:ext>
            </a:extLst>
          </p:cNvPr>
          <p:cNvSpPr>
            <a:spLocks xmlns:a="http://schemas.openxmlformats.org/drawingml/2006/main" noGrp="1"/>
          </p:cNvSpPr>
          <p:nvPr/>
        </p:nvSpPr>
        <p:spPr>
          <a:xfrm xmlns:a="http://schemas.openxmlformats.org/drawingml/2006/main">
            <a:off x="514350" y="11430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Negative equity shocks can raise future volatility more than positive shocks of the same size</a:t>
            </a:r>
          </a:p>
        </p:txBody>
      </p:sp>
      <p:sp>
        <p:nvSpPr>
          <p:cNvPr id="4" name="">
            <a:extLst xmlns:a="http://schemas.openxmlformats.org/drawingml/2006/main">
              <a:ext uri="{FF2B5EF4-FFF2-40B4-BE49-F238E27FC236}">
                <a16:creationId xmlns:a16="http://schemas.microsoft.com/office/drawing/2014/main" id="{6D94ED29-C76C-456C-B5A9-2BB3E79ADC6B}"/>
              </a:ext>
            </a:extLst>
          </p:cNvPr>
          <p:cNvSpPr>
            <a:spLocks xmlns:a="http://schemas.openxmlformats.org/drawingml/2006/main" noGrp="1"/>
          </p:cNvSpPr>
          <p:nvPr/>
        </p:nvSpPr>
        <p:spPr>
          <a:xfrm xmlns:a="http://schemas.openxmlformats.org/drawingml/2006/main">
            <a:off x="514350" y="1495425"/>
            <a:ext cx="111633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88B67A88-B0D3-41F6-9EF9-83C9665B2C8E}"/>
              </a:ext>
            </a:extLst>
          </p:cNvPr>
          <p:cNvSpPr>
            <a:spLocks xmlns:a="http://schemas.openxmlformats.org/drawingml/2006/main" noGrp="1"/>
          </p:cNvSpPr>
          <p:nvPr/>
        </p:nvSpPr>
        <p:spPr>
          <a:xfrm xmlns:a="http://schemas.openxmlformats.org/drawingml/2006/main">
            <a:off x="10496550" y="1657350"/>
            <a:ext cx="1066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3900" b="1">
                <a:solidFill>
                  <a:srgbClr val="111111"/>
                </a:solidFill>
              </a:defRPr>
            </a:defPPr>
            <a:lvl1pPr algn="r">
              <a:defRPr sz="3900" b="1">
                <a:solidFill>
                  <a:srgbClr val="111111"/>
                </a:solidFill>
              </a:defRPr>
            </a:lvl1pPr>
            <a:lvl2pPr algn="r">
              <a:defRPr sz="3900" b="1">
                <a:solidFill>
                  <a:srgbClr val="111111"/>
                </a:solidFill>
              </a:defRPr>
            </a:lvl2pPr>
            <a:lvl3pPr algn="r">
              <a:defRPr sz="3900" b="1">
                <a:solidFill>
                  <a:srgbClr val="111111"/>
                </a:solidFill>
              </a:defRPr>
            </a:lvl3pPr>
            <a:lvl4pPr algn="r">
              <a:defRPr sz="3900" b="1">
                <a:solidFill>
                  <a:srgbClr val="111111"/>
                </a:solidFill>
              </a:defRPr>
            </a:lvl4pPr>
            <a:lvl5pPr algn="r">
              <a:defRPr sz="3900" b="1">
                <a:solidFill>
                  <a:srgbClr val="111111"/>
                </a:solidFill>
              </a:defRPr>
            </a:lvl5pPr>
            <a:lvl6pPr algn="r">
              <a:defRPr sz="3900" b="1">
                <a:solidFill>
                  <a:srgbClr val="111111"/>
                </a:solidFill>
              </a:defRPr>
            </a:lvl6pPr>
            <a:lvl7pPr algn="r">
              <a:defRPr sz="3900" b="1">
                <a:solidFill>
                  <a:srgbClr val="111111"/>
                </a:solidFill>
              </a:defRPr>
            </a:lvl7pPr>
            <a:lvl8pPr algn="r">
              <a:defRPr sz="3900" b="1">
                <a:solidFill>
                  <a:srgbClr val="111111"/>
                </a:solidFill>
              </a:defRPr>
            </a:lvl8pPr>
            <a:lvl9pPr algn="r">
              <a:defRPr sz="3900" b="1">
                <a:solidFill>
                  <a:srgbClr val="111111"/>
                </a:solidFill>
              </a:defRPr>
            </a:lvl9pPr>
          </a:lstStyle>
          <a:p xmlns:a="http://schemas.openxmlformats.org/drawingml/2006/main">
            <a:pPr algn="r">
              <a:defRPr sz="3900" b="1">
                <a:solidFill>
                  <a:srgbClr val="111111"/>
                </a:solidFill>
              </a:defRPr>
            </a:pPr>
            <a:r>
              <a:rPr sz="3900" b="1">
                <a:solidFill>
                  <a:srgbClr val="111111"/>
                </a:solidFill>
              </a:rPr>
              <a:t>07</a:t>
            </a:r>
          </a:p>
        </p:txBody>
      </p:sp>
      <p:sp>
        <p:nvSpPr>
          <p:cNvPr id="6" name="">
            <a:extLst xmlns:a="http://schemas.openxmlformats.org/drawingml/2006/main">
              <a:ext uri="{FF2B5EF4-FFF2-40B4-BE49-F238E27FC236}">
                <a16:creationId xmlns:a16="http://schemas.microsoft.com/office/drawing/2014/main" id="{96795D56-B467-4836-AB4B-E0196921DC8D}"/>
              </a:ext>
            </a:extLst>
          </p:cNvPr>
          <p:cNvSpPr>
            <a:spLocks xmlns:a="http://schemas.openxmlformats.org/drawingml/2006/main" noGrp="1"/>
          </p:cNvSpPr>
          <p:nvPr/>
        </p:nvSpPr>
        <p:spPr>
          <a:xfrm xmlns:a="http://schemas.openxmlformats.org/drawingml/2006/main">
            <a:off x="504825" y="1724025"/>
            <a:ext cx="6210300" cy="297180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7" name="">
            <a:extLst xmlns:a="http://schemas.openxmlformats.org/drawingml/2006/main">
              <a:ext uri="{FF2B5EF4-FFF2-40B4-BE49-F238E27FC236}">
                <a16:creationId xmlns:a16="http://schemas.microsoft.com/office/drawing/2014/main" id="{25C289E0-6A67-4C31-980D-C9E666E63356}"/>
              </a:ext>
            </a:extLst>
          </p:cNvPr>
          <p:cNvSpPr>
            <a:spLocks xmlns:a="http://schemas.openxmlformats.org/drawingml/2006/main" noGrp="1"/>
          </p:cNvSpPr>
          <p:nvPr/>
        </p:nvSpPr>
        <p:spPr>
          <a:xfrm xmlns:a="http://schemas.openxmlformats.org/drawingml/2006/main">
            <a:off x="628650" y="1800225"/>
            <a:ext cx="5962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GARCH vs GJR-GARCH leverage response</a:t>
            </a:r>
          </a:p>
        </p:txBody>
      </p:sp>
      <p:pic>
        <p:nvPicPr>
          <p:cNvPr id="8" name="">
            <a:extLst xmlns:a="http://schemas.openxmlformats.org/drawingml/2006/main">
              <a:ext uri="{FF2B5EF4-FFF2-40B4-BE49-F238E27FC236}">
                <a16:creationId xmlns:a16="http://schemas.microsoft.com/office/drawing/2014/main" id="{F2F3B325-5AC3-44D3-B21F-4BB444DCC706}"/>
              </a:ext>
            </a:extLst>
          </p:cNvPr>
          <p:cNvPicPr>
            <a:picLocks xmlns:a="http://schemas.openxmlformats.org/drawingml/2006/main" noChangeAspect="1"/>
          </p:cNvPicPr>
          <p:nvPr/>
        </p:nvPicPr>
        <p:blipFill>
          <a:blip xmlns:r="http://schemas.openxmlformats.org/officeDocument/2006/relationships" xmlns:a="http://schemas.openxmlformats.org/drawingml/2006/main" r:embed="R38abccf9b6ad4202"/>
          <a:stretch xmlns:a="http://schemas.openxmlformats.org/drawingml/2006/main"/>
        </p:blipFill>
        <p:spPr>
          <a:xfrm xmlns:a="http://schemas.openxmlformats.org/drawingml/2006/main">
            <a:off x="1514999" y="2009775"/>
            <a:ext cx="4189952" cy="26574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661F465-B257-41B2-888E-6902E8950C76}"/>
              </a:ext>
            </a:extLst>
          </p:cNvPr>
          <p:cNvSpPr>
            <a:spLocks xmlns:a="http://schemas.openxmlformats.org/drawingml/2006/main" noGrp="1"/>
          </p:cNvSpPr>
          <p:nvPr/>
        </p:nvSpPr>
        <p:spPr>
          <a:xfrm xmlns:a="http://schemas.openxmlformats.org/drawingml/2006/main">
            <a:off x="7239000" y="19050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55E63"/>
                </a:solidFill>
              </a:defRPr>
            </a:defPPr>
            <a:lvl1pPr algn="l">
              <a:defRPr sz="2100" b="1">
                <a:solidFill>
                  <a:srgbClr val="155E63"/>
                </a:solidFill>
              </a:defRPr>
            </a:lvl1pPr>
            <a:lvl2pPr algn="l">
              <a:defRPr sz="2100" b="1">
                <a:solidFill>
                  <a:srgbClr val="155E63"/>
                </a:solidFill>
              </a:defRPr>
            </a:lvl2pPr>
            <a:lvl3pPr algn="l">
              <a:defRPr sz="2100" b="1">
                <a:solidFill>
                  <a:srgbClr val="155E63"/>
                </a:solidFill>
              </a:defRPr>
            </a:lvl3pPr>
            <a:lvl4pPr algn="l">
              <a:defRPr sz="2100" b="1">
                <a:solidFill>
                  <a:srgbClr val="155E63"/>
                </a:solidFill>
              </a:defRPr>
            </a:lvl4pPr>
            <a:lvl5pPr algn="l">
              <a:defRPr sz="2100" b="1">
                <a:solidFill>
                  <a:srgbClr val="155E63"/>
                </a:solidFill>
              </a:defRPr>
            </a:lvl5pPr>
            <a:lvl6pPr algn="l">
              <a:defRPr sz="2100" b="1">
                <a:solidFill>
                  <a:srgbClr val="155E63"/>
                </a:solidFill>
              </a:defRPr>
            </a:lvl6pPr>
            <a:lvl7pPr algn="l">
              <a:defRPr sz="2100" b="1">
                <a:solidFill>
                  <a:srgbClr val="155E63"/>
                </a:solidFill>
              </a:defRPr>
            </a:lvl7pPr>
            <a:lvl8pPr algn="l">
              <a:defRPr sz="2100" b="1">
                <a:solidFill>
                  <a:srgbClr val="155E63"/>
                </a:solidFill>
              </a:defRPr>
            </a:lvl8pPr>
            <a:lvl9pPr algn="l">
              <a:defRPr sz="2100" b="1">
                <a:solidFill>
                  <a:srgbClr val="155E63"/>
                </a:solidFill>
              </a:defRPr>
            </a:lvl9pPr>
          </a:lstStyle>
          <a:p xmlns:a="http://schemas.openxmlformats.org/drawingml/2006/main">
            <a:pPr algn="l">
              <a:defRPr sz="2100" b="1">
                <a:solidFill>
                  <a:srgbClr val="155E63"/>
                </a:solidFill>
              </a:defRPr>
            </a:pPr>
            <a:r>
              <a:rPr sz="2100" b="1">
                <a:solidFill>
                  <a:srgbClr val="155E63"/>
                </a:solidFill>
              </a:rPr>
              <a:t>14.7%</a:t>
            </a:r>
          </a:p>
        </p:txBody>
      </p:sp>
      <p:sp>
        <p:nvSpPr>
          <p:cNvPr id="10" name="">
            <a:extLst xmlns:a="http://schemas.openxmlformats.org/drawingml/2006/main">
              <a:ext uri="{FF2B5EF4-FFF2-40B4-BE49-F238E27FC236}">
                <a16:creationId xmlns:a16="http://schemas.microsoft.com/office/drawing/2014/main" id="{CFFD6E14-C038-4BA8-AFCA-FD6258717237}"/>
              </a:ext>
            </a:extLst>
          </p:cNvPr>
          <p:cNvSpPr>
            <a:spLocks xmlns:a="http://schemas.openxmlformats.org/drawingml/2006/main" noGrp="1"/>
          </p:cNvSpPr>
          <p:nvPr/>
        </p:nvSpPr>
        <p:spPr>
          <a:xfrm xmlns:a="http://schemas.openxmlformats.org/drawingml/2006/main">
            <a:off x="7239000" y="23050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current GJR volatility</a:t>
            </a:r>
          </a:p>
        </p:txBody>
      </p:sp>
      <p:sp>
        <p:nvSpPr>
          <p:cNvPr id="11" name="">
            <a:extLst xmlns:a="http://schemas.openxmlformats.org/drawingml/2006/main">
              <a:ext uri="{FF2B5EF4-FFF2-40B4-BE49-F238E27FC236}">
                <a16:creationId xmlns:a16="http://schemas.microsoft.com/office/drawing/2014/main" id="{2E04960E-0EE8-436D-9ADF-029C5B337FC9}"/>
              </a:ext>
            </a:extLst>
          </p:cNvPr>
          <p:cNvSpPr>
            <a:spLocks xmlns:a="http://schemas.openxmlformats.org/drawingml/2006/main" noGrp="1"/>
          </p:cNvSpPr>
          <p:nvPr/>
        </p:nvSpPr>
        <p:spPr>
          <a:xfrm xmlns:a="http://schemas.openxmlformats.org/drawingml/2006/main">
            <a:off x="7239000" y="27813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B42318"/>
                </a:solidFill>
              </a:defRPr>
            </a:defPPr>
            <a:lvl1pPr algn="l">
              <a:defRPr sz="2100" b="1">
                <a:solidFill>
                  <a:srgbClr val="B42318"/>
                </a:solidFill>
              </a:defRPr>
            </a:lvl1pPr>
            <a:lvl2pPr algn="l">
              <a:defRPr sz="2100" b="1">
                <a:solidFill>
                  <a:srgbClr val="B42318"/>
                </a:solidFill>
              </a:defRPr>
            </a:lvl2pPr>
            <a:lvl3pPr algn="l">
              <a:defRPr sz="2100" b="1">
                <a:solidFill>
                  <a:srgbClr val="B42318"/>
                </a:solidFill>
              </a:defRPr>
            </a:lvl3pPr>
            <a:lvl4pPr algn="l">
              <a:defRPr sz="2100" b="1">
                <a:solidFill>
                  <a:srgbClr val="B42318"/>
                </a:solidFill>
              </a:defRPr>
            </a:lvl4pPr>
            <a:lvl5pPr algn="l">
              <a:defRPr sz="2100" b="1">
                <a:solidFill>
                  <a:srgbClr val="B42318"/>
                </a:solidFill>
              </a:defRPr>
            </a:lvl5pPr>
            <a:lvl6pPr algn="l">
              <a:defRPr sz="2100" b="1">
                <a:solidFill>
                  <a:srgbClr val="B42318"/>
                </a:solidFill>
              </a:defRPr>
            </a:lvl6pPr>
            <a:lvl7pPr algn="l">
              <a:defRPr sz="2100" b="1">
                <a:solidFill>
                  <a:srgbClr val="B42318"/>
                </a:solidFill>
              </a:defRPr>
            </a:lvl7pPr>
            <a:lvl8pPr algn="l">
              <a:defRPr sz="2100" b="1">
                <a:solidFill>
                  <a:srgbClr val="B42318"/>
                </a:solidFill>
              </a:defRPr>
            </a:lvl8pPr>
            <a:lvl9pPr algn="l">
              <a:defRPr sz="2100" b="1">
                <a:solidFill>
                  <a:srgbClr val="B42318"/>
                </a:solidFill>
              </a:defRPr>
            </a:lvl9pPr>
          </a:lstStyle>
          <a:p xmlns:a="http://schemas.openxmlformats.org/drawingml/2006/main">
            <a:pPr algn="l">
              <a:defRPr sz="2100" b="1">
                <a:solidFill>
                  <a:srgbClr val="B42318"/>
                </a:solidFill>
              </a:defRPr>
            </a:pPr>
            <a:r>
              <a:rPr sz="2100" b="1">
                <a:solidFill>
                  <a:srgbClr val="B42318"/>
                </a:solidFill>
              </a:rPr>
              <a:t>0.154</a:t>
            </a:r>
          </a:p>
        </p:txBody>
      </p:sp>
      <p:sp>
        <p:nvSpPr>
          <p:cNvPr id="12" name="">
            <a:extLst xmlns:a="http://schemas.openxmlformats.org/drawingml/2006/main">
              <a:ext uri="{FF2B5EF4-FFF2-40B4-BE49-F238E27FC236}">
                <a16:creationId xmlns:a16="http://schemas.microsoft.com/office/drawing/2014/main" id="{BB398D62-F881-4A4D-9FA3-431C842B10E8}"/>
              </a:ext>
            </a:extLst>
          </p:cNvPr>
          <p:cNvSpPr>
            <a:spLocks xmlns:a="http://schemas.openxmlformats.org/drawingml/2006/main" noGrp="1"/>
          </p:cNvSpPr>
          <p:nvPr/>
        </p:nvSpPr>
        <p:spPr>
          <a:xfrm xmlns:a="http://schemas.openxmlformats.org/drawingml/2006/main">
            <a:off x="7239000" y="31813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leverage-effect parameter</a:t>
            </a:r>
          </a:p>
        </p:txBody>
      </p:sp>
      <p:sp>
        <p:nvSpPr>
          <p:cNvPr id="13" name="">
            <a:extLst xmlns:a="http://schemas.openxmlformats.org/drawingml/2006/main">
              <a:ext uri="{FF2B5EF4-FFF2-40B4-BE49-F238E27FC236}">
                <a16:creationId xmlns:a16="http://schemas.microsoft.com/office/drawing/2014/main" id="{E8843A04-3985-4376-99DE-3AB56E29D2EA}"/>
              </a:ext>
            </a:extLst>
          </p:cNvPr>
          <p:cNvSpPr>
            <a:spLocks xmlns:a="http://schemas.openxmlformats.org/drawingml/2006/main" noGrp="1"/>
          </p:cNvSpPr>
          <p:nvPr/>
        </p:nvSpPr>
        <p:spPr>
          <a:xfrm xmlns:a="http://schemas.openxmlformats.org/drawingml/2006/main">
            <a:off x="7239000" y="36576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11111"/>
                </a:solidFill>
              </a:defRPr>
            </a:defPPr>
            <a:lvl1pPr algn="l">
              <a:defRPr sz="2100" b="1">
                <a:solidFill>
                  <a:srgbClr val="111111"/>
                </a:solidFill>
              </a:defRPr>
            </a:lvl1pPr>
            <a:lvl2pPr algn="l">
              <a:defRPr sz="2100" b="1">
                <a:solidFill>
                  <a:srgbClr val="111111"/>
                </a:solidFill>
              </a:defRPr>
            </a:lvl2pPr>
            <a:lvl3pPr algn="l">
              <a:defRPr sz="2100" b="1">
                <a:solidFill>
                  <a:srgbClr val="111111"/>
                </a:solidFill>
              </a:defRPr>
            </a:lvl3pPr>
            <a:lvl4pPr algn="l">
              <a:defRPr sz="2100" b="1">
                <a:solidFill>
                  <a:srgbClr val="111111"/>
                </a:solidFill>
              </a:defRPr>
            </a:lvl4pPr>
            <a:lvl5pPr algn="l">
              <a:defRPr sz="2100" b="1">
                <a:solidFill>
                  <a:srgbClr val="111111"/>
                </a:solidFill>
              </a:defRPr>
            </a:lvl5pPr>
            <a:lvl6pPr algn="l">
              <a:defRPr sz="2100" b="1">
                <a:solidFill>
                  <a:srgbClr val="111111"/>
                </a:solidFill>
              </a:defRPr>
            </a:lvl6pPr>
            <a:lvl7pPr algn="l">
              <a:defRPr sz="2100" b="1">
                <a:solidFill>
                  <a:srgbClr val="111111"/>
                </a:solidFill>
              </a:defRPr>
            </a:lvl7pPr>
            <a:lvl8pPr algn="l">
              <a:defRPr sz="2100" b="1">
                <a:solidFill>
                  <a:srgbClr val="111111"/>
                </a:solidFill>
              </a:defRPr>
            </a:lvl8pPr>
            <a:lvl9pPr algn="l">
              <a:defRPr sz="2100" b="1">
                <a:solidFill>
                  <a:srgbClr val="111111"/>
                </a:solidFill>
              </a:defRPr>
            </a:lvl9pPr>
          </a:lstStyle>
          <a:p xmlns:a="http://schemas.openxmlformats.org/drawingml/2006/main">
            <a:pPr algn="l">
              <a:defRPr sz="2100" b="1">
                <a:solidFill>
                  <a:srgbClr val="111111"/>
                </a:solidFill>
              </a:defRPr>
            </a:pPr>
            <a:r>
              <a:rPr sz="2100" b="1">
                <a:solidFill>
                  <a:srgbClr val="111111"/>
                </a:solidFill>
              </a:rPr>
              <a:t>$297K</a:t>
            </a:r>
          </a:p>
        </p:txBody>
      </p:sp>
      <p:sp>
        <p:nvSpPr>
          <p:cNvPr id="14" name="">
            <a:extLst xmlns:a="http://schemas.openxmlformats.org/drawingml/2006/main">
              <a:ext uri="{FF2B5EF4-FFF2-40B4-BE49-F238E27FC236}">
                <a16:creationId xmlns:a16="http://schemas.microsoft.com/office/drawing/2014/main" id="{62E6A6F0-41B7-4CD5-886B-4B96F9870402}"/>
              </a:ext>
            </a:extLst>
          </p:cNvPr>
          <p:cNvSpPr>
            <a:spLocks xmlns:a="http://schemas.openxmlformats.org/drawingml/2006/main" noGrp="1"/>
          </p:cNvSpPr>
          <p:nvPr/>
        </p:nvSpPr>
        <p:spPr>
          <a:xfrm xmlns:a="http://schemas.openxmlformats.org/drawingml/2006/main">
            <a:off x="7239000" y="40576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GJR-scaled 99% VaR</a:t>
            </a:r>
          </a:p>
        </p:txBody>
      </p:sp>
      <p:sp>
        <p:nvSpPr>
          <p:cNvPr id="15" name="">
            <a:extLst xmlns:a="http://schemas.openxmlformats.org/drawingml/2006/main">
              <a:ext uri="{FF2B5EF4-FFF2-40B4-BE49-F238E27FC236}">
                <a16:creationId xmlns:a16="http://schemas.microsoft.com/office/drawing/2014/main" id="{B8989FD0-1896-46C0-A402-8138FB515AF0}"/>
              </a:ext>
            </a:extLst>
          </p:cNvPr>
          <p:cNvSpPr>
            <a:spLocks xmlns:a="http://schemas.openxmlformats.org/drawingml/2006/main" noGrp="1"/>
          </p:cNvSpPr>
          <p:nvPr/>
        </p:nvSpPr>
        <p:spPr>
          <a:xfrm xmlns:a="http://schemas.openxmlformats.org/drawingml/2006/main">
            <a:off x="514350" y="5048250"/>
            <a:ext cx="38100" cy="4572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16" name="">
            <a:extLst xmlns:a="http://schemas.openxmlformats.org/drawingml/2006/main">
              <a:ext uri="{FF2B5EF4-FFF2-40B4-BE49-F238E27FC236}">
                <a16:creationId xmlns:a16="http://schemas.microsoft.com/office/drawing/2014/main" id="{02993813-6D44-483D-93F0-E0427F333C34}"/>
              </a:ext>
            </a:extLst>
          </p:cNvPr>
          <p:cNvSpPr>
            <a:spLocks xmlns:a="http://schemas.openxmlformats.org/drawingml/2006/main" noGrp="1"/>
          </p:cNvSpPr>
          <p:nvPr/>
        </p:nvSpPr>
        <p:spPr>
          <a:xfrm xmlns:a="http://schemas.openxmlformats.org/drawingml/2006/main">
            <a:off x="666750" y="5010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Asymmetry</a:t>
            </a:r>
          </a:p>
        </p:txBody>
      </p:sp>
      <p:sp>
        <p:nvSpPr>
          <p:cNvPr id="17" name="">
            <a:extLst xmlns:a="http://schemas.openxmlformats.org/drawingml/2006/main">
              <a:ext uri="{FF2B5EF4-FFF2-40B4-BE49-F238E27FC236}">
                <a16:creationId xmlns:a16="http://schemas.microsoft.com/office/drawing/2014/main" id="{C2019F21-8F44-4203-91CA-1EE9F21187F1}"/>
              </a:ext>
            </a:extLst>
          </p:cNvPr>
          <p:cNvSpPr>
            <a:spLocks xmlns:a="http://schemas.openxmlformats.org/drawingml/2006/main" noGrp="1"/>
          </p:cNvSpPr>
          <p:nvPr/>
        </p:nvSpPr>
        <p:spPr>
          <a:xfrm xmlns:a="http://schemas.openxmlformats.org/drawingml/2006/main">
            <a:off x="666750" y="5248275"/>
            <a:ext cx="3009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The extra leverage term activates after a negative return.</a:t>
            </a:r>
          </a:p>
        </p:txBody>
      </p:sp>
      <p:sp>
        <p:nvSpPr>
          <p:cNvPr id="18" name="">
            <a:extLst xmlns:a="http://schemas.openxmlformats.org/drawingml/2006/main">
              <a:ext uri="{FF2B5EF4-FFF2-40B4-BE49-F238E27FC236}">
                <a16:creationId xmlns:a16="http://schemas.microsoft.com/office/drawing/2014/main" id="{0F30B3E1-98D4-4AAE-9DC1-E26397EF72A5}"/>
              </a:ext>
            </a:extLst>
          </p:cNvPr>
          <p:cNvSpPr>
            <a:spLocks xmlns:a="http://schemas.openxmlformats.org/drawingml/2006/main" noGrp="1"/>
          </p:cNvSpPr>
          <p:nvPr/>
        </p:nvSpPr>
        <p:spPr>
          <a:xfrm xmlns:a="http://schemas.openxmlformats.org/drawingml/2006/main">
            <a:off x="3943350" y="5048250"/>
            <a:ext cx="38100" cy="4572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19" name="">
            <a:extLst xmlns:a="http://schemas.openxmlformats.org/drawingml/2006/main">
              <a:ext uri="{FF2B5EF4-FFF2-40B4-BE49-F238E27FC236}">
                <a16:creationId xmlns:a16="http://schemas.microsoft.com/office/drawing/2014/main" id="{587628E2-C154-472D-894B-F1C8C0A748A3}"/>
              </a:ext>
            </a:extLst>
          </p:cNvPr>
          <p:cNvSpPr>
            <a:spLocks xmlns:a="http://schemas.openxmlformats.org/drawingml/2006/main" noGrp="1"/>
          </p:cNvSpPr>
          <p:nvPr/>
        </p:nvSpPr>
        <p:spPr>
          <a:xfrm xmlns:a="http://schemas.openxmlformats.org/drawingml/2006/main">
            <a:off x="4095750" y="5010150"/>
            <a:ext cx="3181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Equity relevance</a:t>
            </a:r>
          </a:p>
        </p:txBody>
      </p:sp>
      <p:sp>
        <p:nvSpPr>
          <p:cNvPr id="20" name="">
            <a:extLst xmlns:a="http://schemas.openxmlformats.org/drawingml/2006/main">
              <a:ext uri="{FF2B5EF4-FFF2-40B4-BE49-F238E27FC236}">
                <a16:creationId xmlns:a16="http://schemas.microsoft.com/office/drawing/2014/main" id="{F85652F3-D0D8-4616-B58D-A45B9C1F4E24}"/>
              </a:ext>
            </a:extLst>
          </p:cNvPr>
          <p:cNvSpPr>
            <a:spLocks xmlns:a="http://schemas.openxmlformats.org/drawingml/2006/main" noGrp="1"/>
          </p:cNvSpPr>
          <p:nvPr/>
        </p:nvSpPr>
        <p:spPr>
          <a:xfrm xmlns:a="http://schemas.openxmlformats.org/drawingml/2006/main">
            <a:off x="4095750" y="5248275"/>
            <a:ext cx="3181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Bad news often produces more fear and volatility than equally large good news.</a:t>
            </a:r>
          </a:p>
        </p:txBody>
      </p:sp>
      <p:sp>
        <p:nvSpPr>
          <p:cNvPr id="21" name="">
            <a:extLst xmlns:a="http://schemas.openxmlformats.org/drawingml/2006/main">
              <a:ext uri="{FF2B5EF4-FFF2-40B4-BE49-F238E27FC236}">
                <a16:creationId xmlns:a16="http://schemas.microsoft.com/office/drawing/2014/main" id="{2C52C12C-98F1-4967-A5C5-967613721EC9}"/>
              </a:ext>
            </a:extLst>
          </p:cNvPr>
          <p:cNvSpPr>
            <a:spLocks xmlns:a="http://schemas.openxmlformats.org/drawingml/2006/main" noGrp="1"/>
          </p:cNvSpPr>
          <p:nvPr/>
        </p:nvSpPr>
        <p:spPr>
          <a:xfrm xmlns:a="http://schemas.openxmlformats.org/drawingml/2006/main">
            <a:off x="7543800" y="5048250"/>
            <a:ext cx="38100" cy="4572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22" name="">
            <a:extLst xmlns:a="http://schemas.openxmlformats.org/drawingml/2006/main">
              <a:ext uri="{FF2B5EF4-FFF2-40B4-BE49-F238E27FC236}">
                <a16:creationId xmlns:a16="http://schemas.microsoft.com/office/drawing/2014/main" id="{CA725829-95C4-4BAF-B87F-049A8E29780A}"/>
              </a:ext>
            </a:extLst>
          </p:cNvPr>
          <p:cNvSpPr>
            <a:spLocks xmlns:a="http://schemas.openxmlformats.org/drawingml/2006/main" noGrp="1"/>
          </p:cNvSpPr>
          <p:nvPr/>
        </p:nvSpPr>
        <p:spPr>
          <a:xfrm xmlns:a="http://schemas.openxmlformats.org/drawingml/2006/main">
            <a:off x="7696200" y="50101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Fit check</a:t>
            </a:r>
          </a:p>
        </p:txBody>
      </p:sp>
      <p:sp>
        <p:nvSpPr>
          <p:cNvPr id="23" name="">
            <a:extLst xmlns:a="http://schemas.openxmlformats.org/drawingml/2006/main">
              <a:ext uri="{FF2B5EF4-FFF2-40B4-BE49-F238E27FC236}">
                <a16:creationId xmlns:a16="http://schemas.microsoft.com/office/drawing/2014/main" id="{9BB2ABDC-BDE7-4F46-AA6D-E19DE42ADEFF}"/>
              </a:ext>
            </a:extLst>
          </p:cNvPr>
          <p:cNvSpPr>
            <a:spLocks xmlns:a="http://schemas.openxmlformats.org/drawingml/2006/main" noGrp="1"/>
          </p:cNvSpPr>
          <p:nvPr/>
        </p:nvSpPr>
        <p:spPr>
          <a:xfrm xmlns:a="http://schemas.openxmlformats.org/drawingml/2006/main">
            <a:off x="7696200" y="5248275"/>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GJR AIC 11,485 versus GARCH 11,581; lower is better on the same sample.</a:t>
            </a:r>
          </a:p>
        </p:txBody>
      </p:sp>
      <p:sp>
        <p:nvSpPr>
          <p:cNvPr id="24" name="">
            <a:extLst xmlns:a="http://schemas.openxmlformats.org/drawingml/2006/main">
              <a:ext uri="{FF2B5EF4-FFF2-40B4-BE49-F238E27FC236}">
                <a16:creationId xmlns:a16="http://schemas.microsoft.com/office/drawing/2014/main" id="{5AB75D81-463A-4D2A-B8D6-5817665BDC60}"/>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25" name="">
            <a:extLst xmlns:a="http://schemas.openxmlformats.org/drawingml/2006/main">
              <a:ext uri="{FF2B5EF4-FFF2-40B4-BE49-F238E27FC236}">
                <a16:creationId xmlns:a16="http://schemas.microsoft.com/office/drawing/2014/main" id="{700A995D-BB43-418E-98AA-1563ACEBD5DC}"/>
              </a:ext>
            </a:extLst>
          </p:cNvPr>
          <p:cNvSpPr>
            <a:spLocks xmlns:a="http://schemas.openxmlformats.org/drawingml/2006/main" noGrp="1"/>
          </p:cNvSpPr>
          <p:nvPr/>
        </p:nvSpPr>
        <p:spPr>
          <a:xfrm xmlns:a="http://schemas.openxmlformats.org/drawingml/2006/main">
            <a:off x="51435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0">
                <a:solidFill>
                  <a:srgbClr val="707070"/>
                </a:solidFill>
              </a:defRPr>
            </a:defPPr>
            <a:lvl1pPr algn="l">
              <a:defRPr sz="600" b="0">
                <a:solidFill>
                  <a:srgbClr val="707070"/>
                </a:solidFill>
              </a:defRPr>
            </a:lvl1pPr>
            <a:lvl2pPr algn="l">
              <a:defRPr sz="600" b="0">
                <a:solidFill>
                  <a:srgbClr val="707070"/>
                </a:solidFill>
              </a:defRPr>
            </a:lvl2pPr>
            <a:lvl3pPr algn="l">
              <a:defRPr sz="600" b="0">
                <a:solidFill>
                  <a:srgbClr val="707070"/>
                </a:solidFill>
              </a:defRPr>
            </a:lvl3pPr>
            <a:lvl4pPr algn="l">
              <a:defRPr sz="600" b="0">
                <a:solidFill>
                  <a:srgbClr val="707070"/>
                </a:solidFill>
              </a:defRPr>
            </a:lvl4pPr>
            <a:lvl5pPr algn="l">
              <a:defRPr sz="600" b="0">
                <a:solidFill>
                  <a:srgbClr val="707070"/>
                </a:solidFill>
              </a:defRPr>
            </a:lvl5pPr>
            <a:lvl6pPr algn="l">
              <a:defRPr sz="600" b="0">
                <a:solidFill>
                  <a:srgbClr val="707070"/>
                </a:solidFill>
              </a:defRPr>
            </a:lvl6pPr>
            <a:lvl7pPr algn="l">
              <a:defRPr sz="600" b="0">
                <a:solidFill>
                  <a:srgbClr val="707070"/>
                </a:solidFill>
              </a:defRPr>
            </a:lvl7pPr>
            <a:lvl8pPr algn="l">
              <a:defRPr sz="600" b="0">
                <a:solidFill>
                  <a:srgbClr val="707070"/>
                </a:solidFill>
              </a:defRPr>
            </a:lvl8pPr>
            <a:lvl9pPr algn="l">
              <a:defRPr sz="600" b="0">
                <a:solidFill>
                  <a:srgbClr val="707070"/>
                </a:solidFill>
              </a:defRPr>
            </a:lvl9pPr>
          </a:lstStyle>
          <a:p xmlns:a="http://schemas.openxmlformats.org/drawingml/2006/main">
            <a:pPr algn="l">
              <a:defRPr sz="600" b="0">
                <a:solidFill>
                  <a:srgbClr val="707070"/>
                </a:solidFill>
              </a:defRPr>
            </a:pPr>
            <a:r>
              <a:rPr sz="600" b="0">
                <a:solidFill>
                  <a:srgbClr val="707070"/>
                </a:solidFill>
              </a:rPr>
              <a:t>QFI risk engine  |  saved data through 23 October 2026</a:t>
            </a:r>
          </a:p>
        </p:txBody>
      </p:sp>
      <p:sp>
        <p:nvSpPr>
          <p:cNvPr id="26" name="">
            <a:extLst xmlns:a="http://schemas.openxmlformats.org/drawingml/2006/main">
              <a:ext uri="{FF2B5EF4-FFF2-40B4-BE49-F238E27FC236}">
                <a16:creationId xmlns:a16="http://schemas.microsoft.com/office/drawing/2014/main" id="{183BCD42-2B97-4ADC-AE2E-6BBDA128B00E}"/>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111111"/>
                </a:solidFill>
              </a:defRPr>
            </a:defPPr>
            <a:lvl1pPr algn="r">
              <a:defRPr sz="675" b="1">
                <a:solidFill>
                  <a:srgbClr val="111111"/>
                </a:solidFill>
              </a:defRPr>
            </a:lvl1pPr>
            <a:lvl2pPr algn="r">
              <a:defRPr sz="675" b="1">
                <a:solidFill>
                  <a:srgbClr val="111111"/>
                </a:solidFill>
              </a:defRPr>
            </a:lvl2pPr>
            <a:lvl3pPr algn="r">
              <a:defRPr sz="675" b="1">
                <a:solidFill>
                  <a:srgbClr val="111111"/>
                </a:solidFill>
              </a:defRPr>
            </a:lvl3pPr>
            <a:lvl4pPr algn="r">
              <a:defRPr sz="675" b="1">
                <a:solidFill>
                  <a:srgbClr val="111111"/>
                </a:solidFill>
              </a:defRPr>
            </a:lvl4pPr>
            <a:lvl5pPr algn="r">
              <a:defRPr sz="675" b="1">
                <a:solidFill>
                  <a:srgbClr val="111111"/>
                </a:solidFill>
              </a:defRPr>
            </a:lvl5pPr>
            <a:lvl6pPr algn="r">
              <a:defRPr sz="675" b="1">
                <a:solidFill>
                  <a:srgbClr val="111111"/>
                </a:solidFill>
              </a:defRPr>
            </a:lvl6pPr>
            <a:lvl7pPr algn="r">
              <a:defRPr sz="675" b="1">
                <a:solidFill>
                  <a:srgbClr val="111111"/>
                </a:solidFill>
              </a:defRPr>
            </a:lvl7pPr>
            <a:lvl8pPr algn="r">
              <a:defRPr sz="675" b="1">
                <a:solidFill>
                  <a:srgbClr val="111111"/>
                </a:solidFill>
              </a:defRPr>
            </a:lvl8pPr>
            <a:lvl9pPr algn="r">
              <a:defRPr sz="675" b="1">
                <a:solidFill>
                  <a:srgbClr val="111111"/>
                </a:solidFill>
              </a:defRPr>
            </a:lvl9pPr>
          </a:lstStyle>
          <a:p xmlns:a="http://schemas.openxmlformats.org/drawingml/2006/main">
            <a:pPr algn="r">
              <a:defRPr sz="675" b="1">
                <a:solidFill>
                  <a:srgbClr val="111111"/>
                </a:solidFill>
              </a:defRPr>
            </a:pPr>
            <a:r>
              <a:rPr sz="675" b="1">
                <a:solidFill>
                  <a:srgbClr val="111111"/>
                </a:solidFill>
              </a:rPr>
              <a:t>09</a:t>
            </a:r>
          </a:p>
        </p:txBody>
      </p:sp>
    </p:spTree>
    <p:extLst>
      <p:ext uri="{BB962C8B-B14F-4D97-AF65-F5344CB8AC3E}">
        <p14:creationId xmlns:p14="http://schemas.microsoft.com/office/powerpoint/2010/main" val="174529478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4069BC6-7834-4FD3-9BEC-C37FDC5700F9}"/>
              </a:ext>
            </a:extLst>
          </p:cNvPr>
          <p:cNvSpPr>
            <a:spLocks xmlns:a="http://schemas.openxmlformats.org/drawingml/2006/main" noGrp="1"/>
          </p:cNvSpPr>
          <p:nvPr/>
        </p:nvSpPr>
        <p:spPr>
          <a:xfrm xmlns:a="http://schemas.openxmlformats.org/drawingml/2006/main">
            <a:off x="514350" y="266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PHASE 08</a:t>
            </a:r>
          </a:p>
        </p:txBody>
      </p:sp>
      <p:sp>
        <p:nvSpPr>
          <p:cNvPr id="2" name="">
            <a:extLst xmlns:a="http://schemas.openxmlformats.org/drawingml/2006/main">
              <a:ext uri="{FF2B5EF4-FFF2-40B4-BE49-F238E27FC236}">
                <a16:creationId xmlns:a16="http://schemas.microsoft.com/office/drawing/2014/main" id="{59C85797-B312-4499-84EE-DFECB5C54598}"/>
              </a:ext>
            </a:extLst>
          </p:cNvPr>
          <p:cNvSpPr>
            <a:spLocks xmlns:a="http://schemas.openxmlformats.org/drawingml/2006/main" noGrp="1"/>
          </p:cNvSpPr>
          <p:nvPr/>
        </p:nvSpPr>
        <p:spPr>
          <a:xfrm xmlns:a="http://schemas.openxmlformats.org/drawingml/2006/main">
            <a:off x="514350" y="6096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11111"/>
                </a:solidFill>
              </a:defRPr>
            </a:defPPr>
            <a:lvl1pPr algn="l">
              <a:defRPr sz="2550" b="1">
                <a:solidFill>
                  <a:srgbClr val="111111"/>
                </a:solidFill>
              </a:defRPr>
            </a:lvl1pPr>
            <a:lvl2pPr algn="l">
              <a:defRPr sz="2550" b="1">
                <a:solidFill>
                  <a:srgbClr val="111111"/>
                </a:solidFill>
              </a:defRPr>
            </a:lvl2pPr>
            <a:lvl3pPr algn="l">
              <a:defRPr sz="2550" b="1">
                <a:solidFill>
                  <a:srgbClr val="111111"/>
                </a:solidFill>
              </a:defRPr>
            </a:lvl3pPr>
            <a:lvl4pPr algn="l">
              <a:defRPr sz="2550" b="1">
                <a:solidFill>
                  <a:srgbClr val="111111"/>
                </a:solidFill>
              </a:defRPr>
            </a:lvl4pPr>
            <a:lvl5pPr algn="l">
              <a:defRPr sz="2550" b="1">
                <a:solidFill>
                  <a:srgbClr val="111111"/>
                </a:solidFill>
              </a:defRPr>
            </a:lvl5pPr>
            <a:lvl6pPr algn="l">
              <a:defRPr sz="2550" b="1">
                <a:solidFill>
                  <a:srgbClr val="111111"/>
                </a:solidFill>
              </a:defRPr>
            </a:lvl6pPr>
            <a:lvl7pPr algn="l">
              <a:defRPr sz="2550" b="1">
                <a:solidFill>
                  <a:srgbClr val="111111"/>
                </a:solidFill>
              </a:defRPr>
            </a:lvl7pPr>
            <a:lvl8pPr algn="l">
              <a:defRPr sz="2550" b="1">
                <a:solidFill>
                  <a:srgbClr val="111111"/>
                </a:solidFill>
              </a:defRPr>
            </a:lvl8pPr>
            <a:lvl9pPr algn="l">
              <a:defRPr sz="2550" b="1">
                <a:solidFill>
                  <a:srgbClr val="111111"/>
                </a:solidFill>
              </a:defRPr>
            </a:lvl9pPr>
          </a:lstStyle>
          <a:p xmlns:a="http://schemas.openxmlformats.org/drawingml/2006/main">
            <a:pPr algn="l">
              <a:defRPr sz="2550" b="1">
                <a:solidFill>
                  <a:srgbClr val="111111"/>
                </a:solidFill>
              </a:defRPr>
            </a:pPr>
            <a:r>
              <a:rPr sz="2550" b="1">
                <a:solidFill>
                  <a:srgbClr val="111111"/>
                </a:solidFill>
              </a:rPr>
              <a:t>Phase 8  VaR backtesting</a:t>
            </a:r>
          </a:p>
        </p:txBody>
      </p:sp>
      <p:sp>
        <p:nvSpPr>
          <p:cNvPr id="3" name="">
            <a:extLst xmlns:a="http://schemas.openxmlformats.org/drawingml/2006/main">
              <a:ext uri="{FF2B5EF4-FFF2-40B4-BE49-F238E27FC236}">
                <a16:creationId xmlns:a16="http://schemas.microsoft.com/office/drawing/2014/main" id="{157AEBAF-0757-43E4-9CE5-F43F0A692689}"/>
              </a:ext>
            </a:extLst>
          </p:cNvPr>
          <p:cNvSpPr>
            <a:spLocks xmlns:a="http://schemas.openxmlformats.org/drawingml/2006/main" noGrp="1"/>
          </p:cNvSpPr>
          <p:nvPr/>
        </p:nvSpPr>
        <p:spPr>
          <a:xfrm xmlns:a="http://schemas.openxmlformats.org/drawingml/2006/main">
            <a:off x="514350" y="11430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Every forecast uses information available before the day whose loss it is tested against</a:t>
            </a:r>
          </a:p>
        </p:txBody>
      </p:sp>
      <p:sp>
        <p:nvSpPr>
          <p:cNvPr id="4" name="">
            <a:extLst xmlns:a="http://schemas.openxmlformats.org/drawingml/2006/main">
              <a:ext uri="{FF2B5EF4-FFF2-40B4-BE49-F238E27FC236}">
                <a16:creationId xmlns:a16="http://schemas.microsoft.com/office/drawing/2014/main" id="{B9920AA1-B9A7-4AFC-A195-E416CFC1313E}"/>
              </a:ext>
            </a:extLst>
          </p:cNvPr>
          <p:cNvSpPr>
            <a:spLocks xmlns:a="http://schemas.openxmlformats.org/drawingml/2006/main" noGrp="1"/>
          </p:cNvSpPr>
          <p:nvPr/>
        </p:nvSpPr>
        <p:spPr>
          <a:xfrm xmlns:a="http://schemas.openxmlformats.org/drawingml/2006/main">
            <a:off x="514350" y="1495425"/>
            <a:ext cx="111633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5859F3F2-D6A8-426C-919D-08FCD7827436}"/>
              </a:ext>
            </a:extLst>
          </p:cNvPr>
          <p:cNvSpPr>
            <a:spLocks xmlns:a="http://schemas.openxmlformats.org/drawingml/2006/main" noGrp="1"/>
          </p:cNvSpPr>
          <p:nvPr/>
        </p:nvSpPr>
        <p:spPr>
          <a:xfrm xmlns:a="http://schemas.openxmlformats.org/drawingml/2006/main">
            <a:off x="10496550" y="1657350"/>
            <a:ext cx="1066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3900" b="1">
                <a:solidFill>
                  <a:srgbClr val="111111"/>
                </a:solidFill>
              </a:defRPr>
            </a:defPPr>
            <a:lvl1pPr algn="r">
              <a:defRPr sz="3900" b="1">
                <a:solidFill>
                  <a:srgbClr val="111111"/>
                </a:solidFill>
              </a:defRPr>
            </a:lvl1pPr>
            <a:lvl2pPr algn="r">
              <a:defRPr sz="3900" b="1">
                <a:solidFill>
                  <a:srgbClr val="111111"/>
                </a:solidFill>
              </a:defRPr>
            </a:lvl2pPr>
            <a:lvl3pPr algn="r">
              <a:defRPr sz="3900" b="1">
                <a:solidFill>
                  <a:srgbClr val="111111"/>
                </a:solidFill>
              </a:defRPr>
            </a:lvl3pPr>
            <a:lvl4pPr algn="r">
              <a:defRPr sz="3900" b="1">
                <a:solidFill>
                  <a:srgbClr val="111111"/>
                </a:solidFill>
              </a:defRPr>
            </a:lvl4pPr>
            <a:lvl5pPr algn="r">
              <a:defRPr sz="3900" b="1">
                <a:solidFill>
                  <a:srgbClr val="111111"/>
                </a:solidFill>
              </a:defRPr>
            </a:lvl5pPr>
            <a:lvl6pPr algn="r">
              <a:defRPr sz="3900" b="1">
                <a:solidFill>
                  <a:srgbClr val="111111"/>
                </a:solidFill>
              </a:defRPr>
            </a:lvl6pPr>
            <a:lvl7pPr algn="r">
              <a:defRPr sz="3900" b="1">
                <a:solidFill>
                  <a:srgbClr val="111111"/>
                </a:solidFill>
              </a:defRPr>
            </a:lvl7pPr>
            <a:lvl8pPr algn="r">
              <a:defRPr sz="3900" b="1">
                <a:solidFill>
                  <a:srgbClr val="111111"/>
                </a:solidFill>
              </a:defRPr>
            </a:lvl8pPr>
            <a:lvl9pPr algn="r">
              <a:defRPr sz="3900" b="1">
                <a:solidFill>
                  <a:srgbClr val="111111"/>
                </a:solidFill>
              </a:defRPr>
            </a:lvl9pPr>
          </a:lstStyle>
          <a:p xmlns:a="http://schemas.openxmlformats.org/drawingml/2006/main">
            <a:pPr algn="r">
              <a:defRPr sz="3900" b="1">
                <a:solidFill>
                  <a:srgbClr val="111111"/>
                </a:solidFill>
              </a:defRPr>
            </a:pPr>
            <a:r>
              <a:rPr sz="3900" b="1">
                <a:solidFill>
                  <a:srgbClr val="111111"/>
                </a:solidFill>
              </a:rPr>
              <a:t>08</a:t>
            </a:r>
          </a:p>
        </p:txBody>
      </p:sp>
      <p:sp>
        <p:nvSpPr>
          <p:cNvPr id="6" name="">
            <a:extLst xmlns:a="http://schemas.openxmlformats.org/drawingml/2006/main">
              <a:ext uri="{FF2B5EF4-FFF2-40B4-BE49-F238E27FC236}">
                <a16:creationId xmlns:a16="http://schemas.microsoft.com/office/drawing/2014/main" id="{A3AD6D42-7873-4845-85AB-8C1019FD0DD9}"/>
              </a:ext>
            </a:extLst>
          </p:cNvPr>
          <p:cNvSpPr>
            <a:spLocks xmlns:a="http://schemas.openxmlformats.org/drawingml/2006/main" noGrp="1"/>
          </p:cNvSpPr>
          <p:nvPr/>
        </p:nvSpPr>
        <p:spPr>
          <a:xfrm xmlns:a="http://schemas.openxmlformats.org/drawingml/2006/main">
            <a:off x="504825" y="1724025"/>
            <a:ext cx="7543800" cy="316230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7" name="">
            <a:extLst xmlns:a="http://schemas.openxmlformats.org/drawingml/2006/main">
              <a:ext uri="{FF2B5EF4-FFF2-40B4-BE49-F238E27FC236}">
                <a16:creationId xmlns:a16="http://schemas.microsoft.com/office/drawing/2014/main" id="{011ED2C6-9980-4629-8F39-40CB6609F5E1}"/>
              </a:ext>
            </a:extLst>
          </p:cNvPr>
          <p:cNvSpPr>
            <a:spLocks xmlns:a="http://schemas.openxmlformats.org/drawingml/2006/main" noGrp="1"/>
          </p:cNvSpPr>
          <p:nvPr/>
        </p:nvSpPr>
        <p:spPr>
          <a:xfrm xmlns:a="http://schemas.openxmlformats.org/drawingml/2006/main">
            <a:off x="628650" y="1800225"/>
            <a:ext cx="7296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Actual daily P&amp;L vs GJR-HS VaR</a:t>
            </a:r>
          </a:p>
        </p:txBody>
      </p:sp>
      <p:pic>
        <p:nvPicPr>
          <p:cNvPr id="8" name="">
            <a:extLst xmlns:a="http://schemas.openxmlformats.org/drawingml/2006/main">
              <a:ext uri="{FF2B5EF4-FFF2-40B4-BE49-F238E27FC236}">
                <a16:creationId xmlns:a16="http://schemas.microsoft.com/office/drawing/2014/main" id="{16E134BB-74B1-4E36-AD82-E4EB41E6B926}"/>
              </a:ext>
            </a:extLst>
          </p:cNvPr>
          <p:cNvPicPr>
            <a:picLocks xmlns:a="http://schemas.openxmlformats.org/drawingml/2006/main" noChangeAspect="1"/>
          </p:cNvPicPr>
          <p:nvPr/>
        </p:nvPicPr>
        <p:blipFill>
          <a:blip xmlns:r="http://schemas.openxmlformats.org/officeDocument/2006/relationships" xmlns:a="http://schemas.openxmlformats.org/drawingml/2006/main" r:embed="Rb31d6710819d482c"/>
          <a:stretch xmlns:a="http://schemas.openxmlformats.org/drawingml/2006/main"/>
        </p:blipFill>
        <p:spPr>
          <a:xfrm xmlns:a="http://schemas.openxmlformats.org/drawingml/2006/main">
            <a:off x="551873" y="2009775"/>
            <a:ext cx="7449703" cy="28479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15F6565-742A-4C27-8C67-B578C54696A7}"/>
              </a:ext>
            </a:extLst>
          </p:cNvPr>
          <p:cNvSpPr>
            <a:spLocks xmlns:a="http://schemas.openxmlformats.org/drawingml/2006/main" noGrp="1"/>
          </p:cNvSpPr>
          <p:nvPr/>
        </p:nvSpPr>
        <p:spPr>
          <a:xfrm xmlns:a="http://schemas.openxmlformats.org/drawingml/2006/main">
            <a:off x="8420100" y="1943100"/>
            <a:ext cx="2838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55E63"/>
                </a:solidFill>
              </a:defRPr>
            </a:defPPr>
            <a:lvl1pPr algn="l">
              <a:defRPr sz="2100" b="1">
                <a:solidFill>
                  <a:srgbClr val="155E63"/>
                </a:solidFill>
              </a:defRPr>
            </a:lvl1pPr>
            <a:lvl2pPr algn="l">
              <a:defRPr sz="2100" b="1">
                <a:solidFill>
                  <a:srgbClr val="155E63"/>
                </a:solidFill>
              </a:defRPr>
            </a:lvl2pPr>
            <a:lvl3pPr algn="l">
              <a:defRPr sz="2100" b="1">
                <a:solidFill>
                  <a:srgbClr val="155E63"/>
                </a:solidFill>
              </a:defRPr>
            </a:lvl3pPr>
            <a:lvl4pPr algn="l">
              <a:defRPr sz="2100" b="1">
                <a:solidFill>
                  <a:srgbClr val="155E63"/>
                </a:solidFill>
              </a:defRPr>
            </a:lvl4pPr>
            <a:lvl5pPr algn="l">
              <a:defRPr sz="2100" b="1">
                <a:solidFill>
                  <a:srgbClr val="155E63"/>
                </a:solidFill>
              </a:defRPr>
            </a:lvl5pPr>
            <a:lvl6pPr algn="l">
              <a:defRPr sz="2100" b="1">
                <a:solidFill>
                  <a:srgbClr val="155E63"/>
                </a:solidFill>
              </a:defRPr>
            </a:lvl6pPr>
            <a:lvl7pPr algn="l">
              <a:defRPr sz="2100" b="1">
                <a:solidFill>
                  <a:srgbClr val="155E63"/>
                </a:solidFill>
              </a:defRPr>
            </a:lvl7pPr>
            <a:lvl8pPr algn="l">
              <a:defRPr sz="2100" b="1">
                <a:solidFill>
                  <a:srgbClr val="155E63"/>
                </a:solidFill>
              </a:defRPr>
            </a:lvl8pPr>
            <a:lvl9pPr algn="l">
              <a:defRPr sz="2100" b="1">
                <a:solidFill>
                  <a:srgbClr val="155E63"/>
                </a:solidFill>
              </a:defRPr>
            </a:lvl9pPr>
          </a:lstStyle>
          <a:p xmlns:a="http://schemas.openxmlformats.org/drawingml/2006/main">
            <a:pPr algn="l">
              <a:defRPr sz="2100" b="1">
                <a:solidFill>
                  <a:srgbClr val="155E63"/>
                </a:solidFill>
              </a:defRPr>
            </a:pPr>
            <a:r>
              <a:rPr sz="2100" b="1">
                <a:solidFill>
                  <a:srgbClr val="155E63"/>
                </a:solidFill>
              </a:rPr>
              <a:t>34</a:t>
            </a:r>
          </a:p>
        </p:txBody>
      </p:sp>
      <p:sp>
        <p:nvSpPr>
          <p:cNvPr id="10" name="">
            <a:extLst xmlns:a="http://schemas.openxmlformats.org/drawingml/2006/main">
              <a:ext uri="{FF2B5EF4-FFF2-40B4-BE49-F238E27FC236}">
                <a16:creationId xmlns:a16="http://schemas.microsoft.com/office/drawing/2014/main" id="{D867BCEE-E1E1-4576-8101-E65B8B7D42C1}"/>
              </a:ext>
            </a:extLst>
          </p:cNvPr>
          <p:cNvSpPr>
            <a:spLocks xmlns:a="http://schemas.openxmlformats.org/drawingml/2006/main" noGrp="1"/>
          </p:cNvSpPr>
          <p:nvPr/>
        </p:nvSpPr>
        <p:spPr>
          <a:xfrm xmlns:a="http://schemas.openxmlformats.org/drawingml/2006/main">
            <a:off x="8420100" y="2343150"/>
            <a:ext cx="2838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exceptions versus 31.2 expected</a:t>
            </a:r>
          </a:p>
        </p:txBody>
      </p:sp>
      <p:sp>
        <p:nvSpPr>
          <p:cNvPr id="11" name="">
            <a:extLst xmlns:a="http://schemas.openxmlformats.org/drawingml/2006/main">
              <a:ext uri="{FF2B5EF4-FFF2-40B4-BE49-F238E27FC236}">
                <a16:creationId xmlns:a16="http://schemas.microsoft.com/office/drawing/2014/main" id="{A530436E-7528-4D3F-B940-60F414F44DDD}"/>
              </a:ext>
            </a:extLst>
          </p:cNvPr>
          <p:cNvSpPr>
            <a:spLocks xmlns:a="http://schemas.openxmlformats.org/drawingml/2006/main" noGrp="1"/>
          </p:cNvSpPr>
          <p:nvPr/>
        </p:nvSpPr>
        <p:spPr>
          <a:xfrm xmlns:a="http://schemas.openxmlformats.org/drawingml/2006/main">
            <a:off x="8420100" y="2857500"/>
            <a:ext cx="2838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11111"/>
                </a:solidFill>
              </a:defRPr>
            </a:defPPr>
            <a:lvl1pPr algn="l">
              <a:defRPr sz="2100" b="1">
                <a:solidFill>
                  <a:srgbClr val="111111"/>
                </a:solidFill>
              </a:defRPr>
            </a:lvl1pPr>
            <a:lvl2pPr algn="l">
              <a:defRPr sz="2100" b="1">
                <a:solidFill>
                  <a:srgbClr val="111111"/>
                </a:solidFill>
              </a:defRPr>
            </a:lvl2pPr>
            <a:lvl3pPr algn="l">
              <a:defRPr sz="2100" b="1">
                <a:solidFill>
                  <a:srgbClr val="111111"/>
                </a:solidFill>
              </a:defRPr>
            </a:lvl3pPr>
            <a:lvl4pPr algn="l">
              <a:defRPr sz="2100" b="1">
                <a:solidFill>
                  <a:srgbClr val="111111"/>
                </a:solidFill>
              </a:defRPr>
            </a:lvl4pPr>
            <a:lvl5pPr algn="l">
              <a:defRPr sz="2100" b="1">
                <a:solidFill>
                  <a:srgbClr val="111111"/>
                </a:solidFill>
              </a:defRPr>
            </a:lvl5pPr>
            <a:lvl6pPr algn="l">
              <a:defRPr sz="2100" b="1">
                <a:solidFill>
                  <a:srgbClr val="111111"/>
                </a:solidFill>
              </a:defRPr>
            </a:lvl6pPr>
            <a:lvl7pPr algn="l">
              <a:defRPr sz="2100" b="1">
                <a:solidFill>
                  <a:srgbClr val="111111"/>
                </a:solidFill>
              </a:defRPr>
            </a:lvl7pPr>
            <a:lvl8pPr algn="l">
              <a:defRPr sz="2100" b="1">
                <a:solidFill>
                  <a:srgbClr val="111111"/>
                </a:solidFill>
              </a:defRPr>
            </a:lvl8pPr>
            <a:lvl9pPr algn="l">
              <a:defRPr sz="2100" b="1">
                <a:solidFill>
                  <a:srgbClr val="111111"/>
                </a:solidFill>
              </a:defRPr>
            </a:lvl9pPr>
          </a:lstStyle>
          <a:p xmlns:a="http://schemas.openxmlformats.org/drawingml/2006/main">
            <a:pPr algn="l">
              <a:defRPr sz="2100" b="1">
                <a:solidFill>
                  <a:srgbClr val="111111"/>
                </a:solidFill>
              </a:defRPr>
            </a:pPr>
            <a:r>
              <a:rPr sz="2100" b="1">
                <a:solidFill>
                  <a:srgbClr val="111111"/>
                </a:solidFill>
              </a:rPr>
              <a:t>0.618</a:t>
            </a:r>
          </a:p>
        </p:txBody>
      </p:sp>
      <p:sp>
        <p:nvSpPr>
          <p:cNvPr id="12" name="">
            <a:extLst xmlns:a="http://schemas.openxmlformats.org/drawingml/2006/main">
              <a:ext uri="{FF2B5EF4-FFF2-40B4-BE49-F238E27FC236}">
                <a16:creationId xmlns:a16="http://schemas.microsoft.com/office/drawing/2014/main" id="{C215472D-4F96-4389-B747-A038563469BA}"/>
              </a:ext>
            </a:extLst>
          </p:cNvPr>
          <p:cNvSpPr>
            <a:spLocks xmlns:a="http://schemas.openxmlformats.org/drawingml/2006/main" noGrp="1"/>
          </p:cNvSpPr>
          <p:nvPr/>
        </p:nvSpPr>
        <p:spPr>
          <a:xfrm xmlns:a="http://schemas.openxmlformats.org/drawingml/2006/main">
            <a:off x="8420100" y="3257550"/>
            <a:ext cx="2838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Kupiec frequency p-value</a:t>
            </a:r>
          </a:p>
        </p:txBody>
      </p:sp>
      <p:sp>
        <p:nvSpPr>
          <p:cNvPr id="13" name="">
            <a:extLst xmlns:a="http://schemas.openxmlformats.org/drawingml/2006/main">
              <a:ext uri="{FF2B5EF4-FFF2-40B4-BE49-F238E27FC236}">
                <a16:creationId xmlns:a16="http://schemas.microsoft.com/office/drawing/2014/main" id="{831CBC96-2C14-4D35-B2AE-FE2B5894EA07}"/>
              </a:ext>
            </a:extLst>
          </p:cNvPr>
          <p:cNvSpPr>
            <a:spLocks xmlns:a="http://schemas.openxmlformats.org/drawingml/2006/main" noGrp="1"/>
          </p:cNvSpPr>
          <p:nvPr/>
        </p:nvSpPr>
        <p:spPr>
          <a:xfrm xmlns:a="http://schemas.openxmlformats.org/drawingml/2006/main">
            <a:off x="8420100" y="3771900"/>
            <a:ext cx="2838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11111"/>
                </a:solidFill>
              </a:defRPr>
            </a:defPPr>
            <a:lvl1pPr algn="l">
              <a:defRPr sz="2100" b="1">
                <a:solidFill>
                  <a:srgbClr val="111111"/>
                </a:solidFill>
              </a:defRPr>
            </a:lvl1pPr>
            <a:lvl2pPr algn="l">
              <a:defRPr sz="2100" b="1">
                <a:solidFill>
                  <a:srgbClr val="111111"/>
                </a:solidFill>
              </a:defRPr>
            </a:lvl2pPr>
            <a:lvl3pPr algn="l">
              <a:defRPr sz="2100" b="1">
                <a:solidFill>
                  <a:srgbClr val="111111"/>
                </a:solidFill>
              </a:defRPr>
            </a:lvl3pPr>
            <a:lvl4pPr algn="l">
              <a:defRPr sz="2100" b="1">
                <a:solidFill>
                  <a:srgbClr val="111111"/>
                </a:solidFill>
              </a:defRPr>
            </a:lvl4pPr>
            <a:lvl5pPr algn="l">
              <a:defRPr sz="2100" b="1">
                <a:solidFill>
                  <a:srgbClr val="111111"/>
                </a:solidFill>
              </a:defRPr>
            </a:lvl5pPr>
            <a:lvl6pPr algn="l">
              <a:defRPr sz="2100" b="1">
                <a:solidFill>
                  <a:srgbClr val="111111"/>
                </a:solidFill>
              </a:defRPr>
            </a:lvl6pPr>
            <a:lvl7pPr algn="l">
              <a:defRPr sz="2100" b="1">
                <a:solidFill>
                  <a:srgbClr val="111111"/>
                </a:solidFill>
              </a:defRPr>
            </a:lvl7pPr>
            <a:lvl8pPr algn="l">
              <a:defRPr sz="2100" b="1">
                <a:solidFill>
                  <a:srgbClr val="111111"/>
                </a:solidFill>
              </a:defRPr>
            </a:lvl8pPr>
            <a:lvl9pPr algn="l">
              <a:defRPr sz="2100" b="1">
                <a:solidFill>
                  <a:srgbClr val="111111"/>
                </a:solidFill>
              </a:defRPr>
            </a:lvl9pPr>
          </a:lstStyle>
          <a:p xmlns:a="http://schemas.openxmlformats.org/drawingml/2006/main">
            <a:pPr algn="l">
              <a:defRPr sz="2100" b="1">
                <a:solidFill>
                  <a:srgbClr val="111111"/>
                </a:solidFill>
              </a:defRPr>
            </a:pPr>
            <a:r>
              <a:rPr sz="2100" b="1">
                <a:solidFill>
                  <a:srgbClr val="111111"/>
                </a:solidFill>
              </a:rPr>
              <a:t>0.056</a:t>
            </a:r>
          </a:p>
        </p:txBody>
      </p:sp>
      <p:sp>
        <p:nvSpPr>
          <p:cNvPr id="14" name="">
            <a:extLst xmlns:a="http://schemas.openxmlformats.org/drawingml/2006/main">
              <a:ext uri="{FF2B5EF4-FFF2-40B4-BE49-F238E27FC236}">
                <a16:creationId xmlns:a16="http://schemas.microsoft.com/office/drawing/2014/main" id="{015D3988-E52D-4CF8-AEC9-ECC60A8BFFD8}"/>
              </a:ext>
            </a:extLst>
          </p:cNvPr>
          <p:cNvSpPr>
            <a:spLocks xmlns:a="http://schemas.openxmlformats.org/drawingml/2006/main" noGrp="1"/>
          </p:cNvSpPr>
          <p:nvPr/>
        </p:nvSpPr>
        <p:spPr>
          <a:xfrm xmlns:a="http://schemas.openxmlformats.org/drawingml/2006/main">
            <a:off x="8420100" y="4171950"/>
            <a:ext cx="2838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independence p-value</a:t>
            </a:r>
          </a:p>
        </p:txBody>
      </p:sp>
      <p:sp>
        <p:nvSpPr>
          <p:cNvPr id="15" name="">
            <a:extLst xmlns:a="http://schemas.openxmlformats.org/drawingml/2006/main">
              <a:ext uri="{FF2B5EF4-FFF2-40B4-BE49-F238E27FC236}">
                <a16:creationId xmlns:a16="http://schemas.microsoft.com/office/drawing/2014/main" id="{398364C2-074E-4F59-BE09-C8F191D5F6AB}"/>
              </a:ext>
            </a:extLst>
          </p:cNvPr>
          <p:cNvSpPr>
            <a:spLocks xmlns:a="http://schemas.openxmlformats.org/drawingml/2006/main" noGrp="1"/>
          </p:cNvSpPr>
          <p:nvPr/>
        </p:nvSpPr>
        <p:spPr>
          <a:xfrm xmlns:a="http://schemas.openxmlformats.org/drawingml/2006/main">
            <a:off x="514350" y="5181600"/>
            <a:ext cx="38100" cy="4572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16" name="">
            <a:extLst xmlns:a="http://schemas.openxmlformats.org/drawingml/2006/main">
              <a:ext uri="{FF2B5EF4-FFF2-40B4-BE49-F238E27FC236}">
                <a16:creationId xmlns:a16="http://schemas.microsoft.com/office/drawing/2014/main" id="{9F25B75A-7525-4301-9AE8-72099B806B0E}"/>
              </a:ext>
            </a:extLst>
          </p:cNvPr>
          <p:cNvSpPr>
            <a:spLocks xmlns:a="http://schemas.openxmlformats.org/drawingml/2006/main" noGrp="1"/>
          </p:cNvSpPr>
          <p:nvPr/>
        </p:nvSpPr>
        <p:spPr>
          <a:xfrm xmlns:a="http://schemas.openxmlformats.org/drawingml/2006/main">
            <a:off x="666750" y="5143500"/>
            <a:ext cx="470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Kupiec POF</a:t>
            </a:r>
          </a:p>
        </p:txBody>
      </p:sp>
      <p:sp>
        <p:nvSpPr>
          <p:cNvPr id="17" name="">
            <a:extLst xmlns:a="http://schemas.openxmlformats.org/drawingml/2006/main">
              <a:ext uri="{FF2B5EF4-FFF2-40B4-BE49-F238E27FC236}">
                <a16:creationId xmlns:a16="http://schemas.microsoft.com/office/drawing/2014/main" id="{3F13700A-CD0D-47B0-AACD-BB669AC935E5}"/>
              </a:ext>
            </a:extLst>
          </p:cNvPr>
          <p:cNvSpPr>
            <a:spLocks xmlns:a="http://schemas.openxmlformats.org/drawingml/2006/main" noGrp="1"/>
          </p:cNvSpPr>
          <p:nvPr/>
        </p:nvSpPr>
        <p:spPr>
          <a:xfrm xmlns:a="http://schemas.openxmlformats.org/drawingml/2006/main">
            <a:off x="666750" y="5381625"/>
            <a:ext cx="470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Is the total exception count plausible?</a:t>
            </a:r>
          </a:p>
        </p:txBody>
      </p:sp>
      <p:sp>
        <p:nvSpPr>
          <p:cNvPr id="18" name="">
            <a:extLst xmlns:a="http://schemas.openxmlformats.org/drawingml/2006/main">
              <a:ext uri="{FF2B5EF4-FFF2-40B4-BE49-F238E27FC236}">
                <a16:creationId xmlns:a16="http://schemas.microsoft.com/office/drawing/2014/main" id="{18477E27-3137-4FD5-ADEE-0AFA0C1C57EB}"/>
              </a:ext>
            </a:extLst>
          </p:cNvPr>
          <p:cNvSpPr>
            <a:spLocks xmlns:a="http://schemas.openxmlformats.org/drawingml/2006/main" noGrp="1"/>
          </p:cNvSpPr>
          <p:nvPr/>
        </p:nvSpPr>
        <p:spPr>
          <a:xfrm xmlns:a="http://schemas.openxmlformats.org/drawingml/2006/main">
            <a:off x="5905500" y="5181600"/>
            <a:ext cx="38100" cy="4572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19" name="">
            <a:extLst xmlns:a="http://schemas.openxmlformats.org/drawingml/2006/main">
              <a:ext uri="{FF2B5EF4-FFF2-40B4-BE49-F238E27FC236}">
                <a16:creationId xmlns:a16="http://schemas.microsoft.com/office/drawing/2014/main" id="{D6FA9B3B-507D-4584-BD24-6C8753C50D89}"/>
              </a:ext>
            </a:extLst>
          </p:cNvPr>
          <p:cNvSpPr>
            <a:spLocks xmlns:a="http://schemas.openxmlformats.org/drawingml/2006/main" noGrp="1"/>
          </p:cNvSpPr>
          <p:nvPr/>
        </p:nvSpPr>
        <p:spPr>
          <a:xfrm xmlns:a="http://schemas.openxmlformats.org/drawingml/2006/main">
            <a:off x="6057900" y="5143500"/>
            <a:ext cx="470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Christoffersen</a:t>
            </a:r>
          </a:p>
        </p:txBody>
      </p:sp>
      <p:sp>
        <p:nvSpPr>
          <p:cNvPr id="20" name="">
            <a:extLst xmlns:a="http://schemas.openxmlformats.org/drawingml/2006/main">
              <a:ext uri="{FF2B5EF4-FFF2-40B4-BE49-F238E27FC236}">
                <a16:creationId xmlns:a16="http://schemas.microsoft.com/office/drawing/2014/main" id="{8A388360-349A-4B39-B0C0-053CA0A1E551}"/>
              </a:ext>
            </a:extLst>
          </p:cNvPr>
          <p:cNvSpPr>
            <a:spLocks xmlns:a="http://schemas.openxmlformats.org/drawingml/2006/main" noGrp="1"/>
          </p:cNvSpPr>
          <p:nvPr/>
        </p:nvSpPr>
        <p:spPr>
          <a:xfrm xmlns:a="http://schemas.openxmlformats.org/drawingml/2006/main">
            <a:off x="6057900" y="5381625"/>
            <a:ext cx="470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Are exceptions independent rather than clustered?</a:t>
            </a:r>
          </a:p>
        </p:txBody>
      </p:sp>
      <p:sp>
        <p:nvSpPr>
          <p:cNvPr id="21" name="">
            <a:extLst xmlns:a="http://schemas.openxmlformats.org/drawingml/2006/main">
              <a:ext uri="{FF2B5EF4-FFF2-40B4-BE49-F238E27FC236}">
                <a16:creationId xmlns:a16="http://schemas.microsoft.com/office/drawing/2014/main" id="{92FE79E1-CB63-4848-86C9-2467AC331E11}"/>
              </a:ext>
            </a:extLst>
          </p:cNvPr>
          <p:cNvSpPr>
            <a:spLocks xmlns:a="http://schemas.openxmlformats.org/drawingml/2006/main" noGrp="1"/>
          </p:cNvSpPr>
          <p:nvPr/>
        </p:nvSpPr>
        <p:spPr>
          <a:xfrm xmlns:a="http://schemas.openxmlformats.org/drawingml/2006/main">
            <a:off x="514350" y="5791200"/>
            <a:ext cx="38100" cy="4572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22" name="">
            <a:extLst xmlns:a="http://schemas.openxmlformats.org/drawingml/2006/main">
              <a:ext uri="{FF2B5EF4-FFF2-40B4-BE49-F238E27FC236}">
                <a16:creationId xmlns:a16="http://schemas.microsoft.com/office/drawing/2014/main" id="{3222E812-BFF4-4A84-BEE4-58574E5D0D8F}"/>
              </a:ext>
            </a:extLst>
          </p:cNvPr>
          <p:cNvSpPr>
            <a:spLocks xmlns:a="http://schemas.openxmlformats.org/drawingml/2006/main" noGrp="1"/>
          </p:cNvSpPr>
          <p:nvPr/>
        </p:nvSpPr>
        <p:spPr>
          <a:xfrm xmlns:a="http://schemas.openxmlformats.org/drawingml/2006/main">
            <a:off x="666750" y="5753100"/>
            <a:ext cx="470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Conditional coverage</a:t>
            </a:r>
          </a:p>
        </p:txBody>
      </p:sp>
      <p:sp>
        <p:nvSpPr>
          <p:cNvPr id="23" name="">
            <a:extLst xmlns:a="http://schemas.openxmlformats.org/drawingml/2006/main">
              <a:ext uri="{FF2B5EF4-FFF2-40B4-BE49-F238E27FC236}">
                <a16:creationId xmlns:a16="http://schemas.microsoft.com/office/drawing/2014/main" id="{5037F25D-61BD-4108-B841-3AB3FE6857CF}"/>
              </a:ext>
            </a:extLst>
          </p:cNvPr>
          <p:cNvSpPr>
            <a:spLocks xmlns:a="http://schemas.openxmlformats.org/drawingml/2006/main" noGrp="1"/>
          </p:cNvSpPr>
          <p:nvPr/>
        </p:nvSpPr>
        <p:spPr>
          <a:xfrm xmlns:a="http://schemas.openxmlformats.org/drawingml/2006/main">
            <a:off x="666750" y="5991225"/>
            <a:ext cx="470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Do frequency and timing pass together?</a:t>
            </a:r>
          </a:p>
        </p:txBody>
      </p:sp>
      <p:sp>
        <p:nvSpPr>
          <p:cNvPr id="24" name="">
            <a:extLst xmlns:a="http://schemas.openxmlformats.org/drawingml/2006/main">
              <a:ext uri="{FF2B5EF4-FFF2-40B4-BE49-F238E27FC236}">
                <a16:creationId xmlns:a16="http://schemas.microsoft.com/office/drawing/2014/main" id="{902CD233-2E38-463D-A361-6F4914207613}"/>
              </a:ext>
            </a:extLst>
          </p:cNvPr>
          <p:cNvSpPr>
            <a:spLocks xmlns:a="http://schemas.openxmlformats.org/drawingml/2006/main" noGrp="1"/>
          </p:cNvSpPr>
          <p:nvPr/>
        </p:nvSpPr>
        <p:spPr>
          <a:xfrm xmlns:a="http://schemas.openxmlformats.org/drawingml/2006/main">
            <a:off x="5905500" y="5791200"/>
            <a:ext cx="38100" cy="457200"/>
          </a:xfrm>
          <a:prstGeom xmlns:a="http://schemas.openxmlformats.org/drawingml/2006/main" prst="rect">
            <a:avLst/>
          </a:prstGeom>
          <a:solidFill xmlns:a="http://schemas.openxmlformats.org/drawingml/2006/main">
            <a:srgbClr val="1B6B50"/>
          </a:solidFill>
          <a:ln xmlns:a="http://schemas.openxmlformats.org/drawingml/2006/main" w="0">
            <a:solidFill>
              <a:srgbClr val="1B6B50"/>
            </a:solidFill>
            <a:prstDash val="solid"/>
          </a:ln>
        </p:spPr>
      </p:sp>
      <p:sp>
        <p:nvSpPr>
          <p:cNvPr id="25" name="">
            <a:extLst xmlns:a="http://schemas.openxmlformats.org/drawingml/2006/main">
              <a:ext uri="{FF2B5EF4-FFF2-40B4-BE49-F238E27FC236}">
                <a16:creationId xmlns:a16="http://schemas.microsoft.com/office/drawing/2014/main" id="{D0F80524-8658-47C0-9A9F-30598997CEAF}"/>
              </a:ext>
            </a:extLst>
          </p:cNvPr>
          <p:cNvSpPr>
            <a:spLocks xmlns:a="http://schemas.openxmlformats.org/drawingml/2006/main" noGrp="1"/>
          </p:cNvSpPr>
          <p:nvPr/>
        </p:nvSpPr>
        <p:spPr>
          <a:xfrm xmlns:a="http://schemas.openxmlformats.org/drawingml/2006/main">
            <a:off x="6057900" y="5753100"/>
            <a:ext cx="4705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Basel traffic light</a:t>
            </a:r>
          </a:p>
        </p:txBody>
      </p:sp>
      <p:sp>
        <p:nvSpPr>
          <p:cNvPr id="26" name="">
            <a:extLst xmlns:a="http://schemas.openxmlformats.org/drawingml/2006/main">
              <a:ext uri="{FF2B5EF4-FFF2-40B4-BE49-F238E27FC236}">
                <a16:creationId xmlns:a16="http://schemas.microsoft.com/office/drawing/2014/main" id="{BDE8C169-1959-4E28-8DE9-056520898846}"/>
              </a:ext>
            </a:extLst>
          </p:cNvPr>
          <p:cNvSpPr>
            <a:spLocks xmlns:a="http://schemas.openxmlformats.org/drawingml/2006/main" noGrp="1"/>
          </p:cNvSpPr>
          <p:nvPr/>
        </p:nvSpPr>
        <p:spPr>
          <a:xfrm xmlns:a="http://schemas.openxmlformats.org/drawingml/2006/main">
            <a:off x="6057900" y="5991225"/>
            <a:ext cx="470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Is the recent count green, yellow or red?</a:t>
            </a:r>
          </a:p>
        </p:txBody>
      </p:sp>
      <p:sp>
        <p:nvSpPr>
          <p:cNvPr id="27" name="">
            <a:extLst xmlns:a="http://schemas.openxmlformats.org/drawingml/2006/main">
              <a:ext uri="{FF2B5EF4-FFF2-40B4-BE49-F238E27FC236}">
                <a16:creationId xmlns:a16="http://schemas.microsoft.com/office/drawing/2014/main" id="{D6BE148D-04A6-40F7-862F-CA893D22E5E4}"/>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28" name="">
            <a:extLst xmlns:a="http://schemas.openxmlformats.org/drawingml/2006/main">
              <a:ext uri="{FF2B5EF4-FFF2-40B4-BE49-F238E27FC236}">
                <a16:creationId xmlns:a16="http://schemas.microsoft.com/office/drawing/2014/main" id="{E626580C-6B49-449A-AA76-DFEB9620DD5B}"/>
              </a:ext>
            </a:extLst>
          </p:cNvPr>
          <p:cNvSpPr>
            <a:spLocks xmlns:a="http://schemas.openxmlformats.org/drawingml/2006/main" noGrp="1"/>
          </p:cNvSpPr>
          <p:nvPr/>
        </p:nvSpPr>
        <p:spPr>
          <a:xfrm xmlns:a="http://schemas.openxmlformats.org/drawingml/2006/main">
            <a:off x="51435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0">
                <a:solidFill>
                  <a:srgbClr val="707070"/>
                </a:solidFill>
              </a:defRPr>
            </a:defPPr>
            <a:lvl1pPr algn="l">
              <a:defRPr sz="600" b="0">
                <a:solidFill>
                  <a:srgbClr val="707070"/>
                </a:solidFill>
              </a:defRPr>
            </a:lvl1pPr>
            <a:lvl2pPr algn="l">
              <a:defRPr sz="600" b="0">
                <a:solidFill>
                  <a:srgbClr val="707070"/>
                </a:solidFill>
              </a:defRPr>
            </a:lvl2pPr>
            <a:lvl3pPr algn="l">
              <a:defRPr sz="600" b="0">
                <a:solidFill>
                  <a:srgbClr val="707070"/>
                </a:solidFill>
              </a:defRPr>
            </a:lvl3pPr>
            <a:lvl4pPr algn="l">
              <a:defRPr sz="600" b="0">
                <a:solidFill>
                  <a:srgbClr val="707070"/>
                </a:solidFill>
              </a:defRPr>
            </a:lvl4pPr>
            <a:lvl5pPr algn="l">
              <a:defRPr sz="600" b="0">
                <a:solidFill>
                  <a:srgbClr val="707070"/>
                </a:solidFill>
              </a:defRPr>
            </a:lvl5pPr>
            <a:lvl6pPr algn="l">
              <a:defRPr sz="600" b="0">
                <a:solidFill>
                  <a:srgbClr val="707070"/>
                </a:solidFill>
              </a:defRPr>
            </a:lvl6pPr>
            <a:lvl7pPr algn="l">
              <a:defRPr sz="600" b="0">
                <a:solidFill>
                  <a:srgbClr val="707070"/>
                </a:solidFill>
              </a:defRPr>
            </a:lvl7pPr>
            <a:lvl8pPr algn="l">
              <a:defRPr sz="600" b="0">
                <a:solidFill>
                  <a:srgbClr val="707070"/>
                </a:solidFill>
              </a:defRPr>
            </a:lvl8pPr>
            <a:lvl9pPr algn="l">
              <a:defRPr sz="600" b="0">
                <a:solidFill>
                  <a:srgbClr val="707070"/>
                </a:solidFill>
              </a:defRPr>
            </a:lvl9pPr>
          </a:lstStyle>
          <a:p xmlns:a="http://schemas.openxmlformats.org/drawingml/2006/main">
            <a:pPr algn="l">
              <a:defRPr sz="600" b="0">
                <a:solidFill>
                  <a:srgbClr val="707070"/>
                </a:solidFill>
              </a:defRPr>
            </a:pPr>
            <a:r>
              <a:rPr sz="600" b="0">
                <a:solidFill>
                  <a:srgbClr val="707070"/>
                </a:solidFill>
              </a:rPr>
              <a:t>QFI risk engine  |  saved data through 23 October 2026</a:t>
            </a:r>
          </a:p>
        </p:txBody>
      </p:sp>
      <p:sp>
        <p:nvSpPr>
          <p:cNvPr id="29" name="">
            <a:extLst xmlns:a="http://schemas.openxmlformats.org/drawingml/2006/main">
              <a:ext uri="{FF2B5EF4-FFF2-40B4-BE49-F238E27FC236}">
                <a16:creationId xmlns:a16="http://schemas.microsoft.com/office/drawing/2014/main" id="{E43B24D0-4F76-479A-8798-6BFF0E252F4D}"/>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111111"/>
                </a:solidFill>
              </a:defRPr>
            </a:defPPr>
            <a:lvl1pPr algn="r">
              <a:defRPr sz="675" b="1">
                <a:solidFill>
                  <a:srgbClr val="111111"/>
                </a:solidFill>
              </a:defRPr>
            </a:lvl1pPr>
            <a:lvl2pPr algn="r">
              <a:defRPr sz="675" b="1">
                <a:solidFill>
                  <a:srgbClr val="111111"/>
                </a:solidFill>
              </a:defRPr>
            </a:lvl2pPr>
            <a:lvl3pPr algn="r">
              <a:defRPr sz="675" b="1">
                <a:solidFill>
                  <a:srgbClr val="111111"/>
                </a:solidFill>
              </a:defRPr>
            </a:lvl3pPr>
            <a:lvl4pPr algn="r">
              <a:defRPr sz="675" b="1">
                <a:solidFill>
                  <a:srgbClr val="111111"/>
                </a:solidFill>
              </a:defRPr>
            </a:lvl4pPr>
            <a:lvl5pPr algn="r">
              <a:defRPr sz="675" b="1">
                <a:solidFill>
                  <a:srgbClr val="111111"/>
                </a:solidFill>
              </a:defRPr>
            </a:lvl5pPr>
            <a:lvl6pPr algn="r">
              <a:defRPr sz="675" b="1">
                <a:solidFill>
                  <a:srgbClr val="111111"/>
                </a:solidFill>
              </a:defRPr>
            </a:lvl6pPr>
            <a:lvl7pPr algn="r">
              <a:defRPr sz="675" b="1">
                <a:solidFill>
                  <a:srgbClr val="111111"/>
                </a:solidFill>
              </a:defRPr>
            </a:lvl7pPr>
            <a:lvl8pPr algn="r">
              <a:defRPr sz="675" b="1">
                <a:solidFill>
                  <a:srgbClr val="111111"/>
                </a:solidFill>
              </a:defRPr>
            </a:lvl8pPr>
            <a:lvl9pPr algn="r">
              <a:defRPr sz="675" b="1">
                <a:solidFill>
                  <a:srgbClr val="111111"/>
                </a:solidFill>
              </a:defRPr>
            </a:lvl9pPr>
          </a:lstStyle>
          <a:p xmlns:a="http://schemas.openxmlformats.org/drawingml/2006/main">
            <a:pPr algn="r">
              <a:defRPr sz="675" b="1">
                <a:solidFill>
                  <a:srgbClr val="111111"/>
                </a:solidFill>
              </a:defRPr>
            </a:pPr>
            <a:r>
              <a:rPr sz="675" b="1">
                <a:solidFill>
                  <a:srgbClr val="111111"/>
                </a:solidFill>
              </a:rPr>
              <a:t>10</a:t>
            </a:r>
          </a:p>
        </p:txBody>
      </p:sp>
    </p:spTree>
    <p:extLst>
      <p:ext uri="{BB962C8B-B14F-4D97-AF65-F5344CB8AC3E}">
        <p14:creationId xmlns:p14="http://schemas.microsoft.com/office/powerpoint/2010/main" val="5453039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67654785-C03D-4C54-9E70-E6FAC733608C}"/>
              </a:ext>
            </a:extLst>
          </p:cNvPr>
          <p:cNvSpPr>
            <a:spLocks xmlns:a="http://schemas.openxmlformats.org/drawingml/2006/main" noGrp="1"/>
          </p:cNvSpPr>
          <p:nvPr/>
        </p:nvSpPr>
        <p:spPr>
          <a:xfrm xmlns:a="http://schemas.openxmlformats.org/drawingml/2006/main">
            <a:off x="514350" y="266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PHASE 09</a:t>
            </a:r>
          </a:p>
        </p:txBody>
      </p:sp>
      <p:sp>
        <p:nvSpPr>
          <p:cNvPr id="2" name="">
            <a:extLst xmlns:a="http://schemas.openxmlformats.org/drawingml/2006/main">
              <a:ext uri="{FF2B5EF4-FFF2-40B4-BE49-F238E27FC236}">
                <a16:creationId xmlns:a16="http://schemas.microsoft.com/office/drawing/2014/main" id="{076BFEB1-1C1A-4E2D-A2AC-FEAAFFE204DA}"/>
              </a:ext>
            </a:extLst>
          </p:cNvPr>
          <p:cNvSpPr>
            <a:spLocks xmlns:a="http://schemas.openxmlformats.org/drawingml/2006/main" noGrp="1"/>
          </p:cNvSpPr>
          <p:nvPr/>
        </p:nvSpPr>
        <p:spPr>
          <a:xfrm xmlns:a="http://schemas.openxmlformats.org/drawingml/2006/main">
            <a:off x="514350" y="6096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11111"/>
                </a:solidFill>
              </a:defRPr>
            </a:defPPr>
            <a:lvl1pPr algn="l">
              <a:defRPr sz="2550" b="1">
                <a:solidFill>
                  <a:srgbClr val="111111"/>
                </a:solidFill>
              </a:defRPr>
            </a:lvl1pPr>
            <a:lvl2pPr algn="l">
              <a:defRPr sz="2550" b="1">
                <a:solidFill>
                  <a:srgbClr val="111111"/>
                </a:solidFill>
              </a:defRPr>
            </a:lvl2pPr>
            <a:lvl3pPr algn="l">
              <a:defRPr sz="2550" b="1">
                <a:solidFill>
                  <a:srgbClr val="111111"/>
                </a:solidFill>
              </a:defRPr>
            </a:lvl3pPr>
            <a:lvl4pPr algn="l">
              <a:defRPr sz="2550" b="1">
                <a:solidFill>
                  <a:srgbClr val="111111"/>
                </a:solidFill>
              </a:defRPr>
            </a:lvl4pPr>
            <a:lvl5pPr algn="l">
              <a:defRPr sz="2550" b="1">
                <a:solidFill>
                  <a:srgbClr val="111111"/>
                </a:solidFill>
              </a:defRPr>
            </a:lvl5pPr>
            <a:lvl6pPr algn="l">
              <a:defRPr sz="2550" b="1">
                <a:solidFill>
                  <a:srgbClr val="111111"/>
                </a:solidFill>
              </a:defRPr>
            </a:lvl6pPr>
            <a:lvl7pPr algn="l">
              <a:defRPr sz="2550" b="1">
                <a:solidFill>
                  <a:srgbClr val="111111"/>
                </a:solidFill>
              </a:defRPr>
            </a:lvl7pPr>
            <a:lvl8pPr algn="l">
              <a:defRPr sz="2550" b="1">
                <a:solidFill>
                  <a:srgbClr val="111111"/>
                </a:solidFill>
              </a:defRPr>
            </a:lvl8pPr>
            <a:lvl9pPr algn="l">
              <a:defRPr sz="2550" b="1">
                <a:solidFill>
                  <a:srgbClr val="111111"/>
                </a:solidFill>
              </a:defRPr>
            </a:lvl9pPr>
          </a:lstStyle>
          <a:p xmlns:a="http://schemas.openxmlformats.org/drawingml/2006/main">
            <a:pPr algn="l">
              <a:defRPr sz="2550" b="1">
                <a:solidFill>
                  <a:srgbClr val="111111"/>
                </a:solidFill>
              </a:defRPr>
            </a:pPr>
            <a:r>
              <a:rPr sz="2550" b="1">
                <a:solidFill>
                  <a:srgbClr val="111111"/>
                </a:solidFill>
              </a:rPr>
              <a:t>Phase 9  Model comparison</a:t>
            </a:r>
          </a:p>
        </p:txBody>
      </p:sp>
      <p:sp>
        <p:nvSpPr>
          <p:cNvPr id="3" name="">
            <a:extLst xmlns:a="http://schemas.openxmlformats.org/drawingml/2006/main">
              <a:ext uri="{FF2B5EF4-FFF2-40B4-BE49-F238E27FC236}">
                <a16:creationId xmlns:a16="http://schemas.microsoft.com/office/drawing/2014/main" id="{C0B3F4C1-CD51-4FBD-B9E2-7EF8D0F56EDD}"/>
              </a:ext>
            </a:extLst>
          </p:cNvPr>
          <p:cNvSpPr>
            <a:spLocks xmlns:a="http://schemas.openxmlformats.org/drawingml/2006/main" noGrp="1"/>
          </p:cNvSpPr>
          <p:nvPr/>
        </p:nvSpPr>
        <p:spPr>
          <a:xfrm xmlns:a="http://schemas.openxmlformats.org/drawingml/2006/main">
            <a:off x="514350" y="11430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The best model earns its role through validation, not by producing the smallest risk number</a:t>
            </a:r>
          </a:p>
        </p:txBody>
      </p:sp>
      <p:sp>
        <p:nvSpPr>
          <p:cNvPr id="4" name="">
            <a:extLst xmlns:a="http://schemas.openxmlformats.org/drawingml/2006/main">
              <a:ext uri="{FF2B5EF4-FFF2-40B4-BE49-F238E27FC236}">
                <a16:creationId xmlns:a16="http://schemas.microsoft.com/office/drawing/2014/main" id="{ED3DEE48-D049-4724-B670-DA3E4B40FE97}"/>
              </a:ext>
            </a:extLst>
          </p:cNvPr>
          <p:cNvSpPr>
            <a:spLocks xmlns:a="http://schemas.openxmlformats.org/drawingml/2006/main" noGrp="1"/>
          </p:cNvSpPr>
          <p:nvPr/>
        </p:nvSpPr>
        <p:spPr>
          <a:xfrm xmlns:a="http://schemas.openxmlformats.org/drawingml/2006/main">
            <a:off x="514350" y="1495425"/>
            <a:ext cx="111633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26641FC7-557E-4E11-A991-77C3AFBACEF5}"/>
              </a:ext>
            </a:extLst>
          </p:cNvPr>
          <p:cNvSpPr>
            <a:spLocks xmlns:a="http://schemas.openxmlformats.org/drawingml/2006/main" noGrp="1"/>
          </p:cNvSpPr>
          <p:nvPr/>
        </p:nvSpPr>
        <p:spPr>
          <a:xfrm xmlns:a="http://schemas.openxmlformats.org/drawingml/2006/main">
            <a:off x="504825" y="1724025"/>
            <a:ext cx="5124450" cy="287655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6" name="">
            <a:extLst xmlns:a="http://schemas.openxmlformats.org/drawingml/2006/main">
              <a:ext uri="{FF2B5EF4-FFF2-40B4-BE49-F238E27FC236}">
                <a16:creationId xmlns:a16="http://schemas.microsoft.com/office/drawing/2014/main" id="{A9822FFB-4EF8-4366-88FF-E1326A6DF7BD}"/>
              </a:ext>
            </a:extLst>
          </p:cNvPr>
          <p:cNvSpPr>
            <a:spLocks xmlns:a="http://schemas.openxmlformats.org/drawingml/2006/main" noGrp="1"/>
          </p:cNvSpPr>
          <p:nvPr/>
        </p:nvSpPr>
        <p:spPr>
          <a:xfrm xmlns:a="http://schemas.openxmlformats.org/drawingml/2006/main">
            <a:off x="628650" y="1800225"/>
            <a:ext cx="487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Actual vs expected exceptions by model</a:t>
            </a:r>
          </a:p>
        </p:txBody>
      </p:sp>
      <p:pic>
        <p:nvPicPr>
          <p:cNvPr id="7" name="">
            <a:extLst xmlns:a="http://schemas.openxmlformats.org/drawingml/2006/main">
              <a:ext uri="{FF2B5EF4-FFF2-40B4-BE49-F238E27FC236}">
                <a16:creationId xmlns:a16="http://schemas.microsoft.com/office/drawing/2014/main" id="{5A6D74A7-ACBC-4FAB-BF46-603C74D6C24F}"/>
              </a:ext>
            </a:extLst>
          </p:cNvPr>
          <p:cNvPicPr>
            <a:picLocks xmlns:a="http://schemas.openxmlformats.org/drawingml/2006/main" noChangeAspect="1"/>
          </p:cNvPicPr>
          <p:nvPr/>
        </p:nvPicPr>
        <p:blipFill>
          <a:blip xmlns:r="http://schemas.openxmlformats.org/officeDocument/2006/relationships" xmlns:a="http://schemas.openxmlformats.org/drawingml/2006/main" r:embed="R9274bf9876d7480f"/>
          <a:stretch xmlns:a="http://schemas.openxmlformats.org/drawingml/2006/main"/>
        </p:blipFill>
        <p:spPr>
          <a:xfrm xmlns:a="http://schemas.openxmlformats.org/drawingml/2006/main">
            <a:off x="1047163" y="2009775"/>
            <a:ext cx="4039775" cy="25622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F3E0195-B833-4476-BFEF-8FE77EBC7EDF}"/>
              </a:ext>
            </a:extLst>
          </p:cNvPr>
          <p:cNvSpPr>
            <a:spLocks xmlns:a="http://schemas.openxmlformats.org/drawingml/2006/main" noGrp="1"/>
          </p:cNvSpPr>
          <p:nvPr/>
        </p:nvSpPr>
        <p:spPr>
          <a:xfrm xmlns:a="http://schemas.openxmlformats.org/drawingml/2006/main">
            <a:off x="5734050" y="1714500"/>
            <a:ext cx="5581650" cy="4191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9" name="">
            <a:extLst xmlns:a="http://schemas.openxmlformats.org/drawingml/2006/main">
              <a:ext uri="{FF2B5EF4-FFF2-40B4-BE49-F238E27FC236}">
                <a16:creationId xmlns:a16="http://schemas.microsoft.com/office/drawing/2014/main" id="{F8727A6C-EF10-4391-85E1-B616F4DBD7E3}"/>
              </a:ext>
            </a:extLst>
          </p:cNvPr>
          <p:cNvSpPr>
            <a:spLocks xmlns:a="http://schemas.openxmlformats.org/drawingml/2006/main" noGrp="1"/>
          </p:cNvSpPr>
          <p:nvPr/>
        </p:nvSpPr>
        <p:spPr>
          <a:xfrm xmlns:a="http://schemas.openxmlformats.org/drawingml/2006/main">
            <a:off x="5810250" y="18097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FFFFFF"/>
                </a:solidFill>
              </a:defRPr>
            </a:defPPr>
            <a:lvl1pPr algn="l">
              <a:defRPr sz="825" b="1">
                <a:solidFill>
                  <a:srgbClr val="FFFFFF"/>
                </a:solidFill>
              </a:defRPr>
            </a:lvl1pPr>
            <a:lvl2pPr algn="l">
              <a:defRPr sz="825" b="1">
                <a:solidFill>
                  <a:srgbClr val="FFFFFF"/>
                </a:solidFill>
              </a:defRPr>
            </a:lvl2pPr>
            <a:lvl3pPr algn="l">
              <a:defRPr sz="825" b="1">
                <a:solidFill>
                  <a:srgbClr val="FFFFFF"/>
                </a:solidFill>
              </a:defRPr>
            </a:lvl3pPr>
            <a:lvl4pPr algn="l">
              <a:defRPr sz="825" b="1">
                <a:solidFill>
                  <a:srgbClr val="FFFFFF"/>
                </a:solidFill>
              </a:defRPr>
            </a:lvl4pPr>
            <a:lvl5pPr algn="l">
              <a:defRPr sz="825" b="1">
                <a:solidFill>
                  <a:srgbClr val="FFFFFF"/>
                </a:solidFill>
              </a:defRPr>
            </a:lvl5pPr>
            <a:lvl6pPr algn="l">
              <a:defRPr sz="825" b="1">
                <a:solidFill>
                  <a:srgbClr val="FFFFFF"/>
                </a:solidFill>
              </a:defRPr>
            </a:lvl6pPr>
            <a:lvl7pPr algn="l">
              <a:defRPr sz="825" b="1">
                <a:solidFill>
                  <a:srgbClr val="FFFFFF"/>
                </a:solidFill>
              </a:defRPr>
            </a:lvl7pPr>
            <a:lvl8pPr algn="l">
              <a:defRPr sz="825" b="1">
                <a:solidFill>
                  <a:srgbClr val="FFFFFF"/>
                </a:solidFill>
              </a:defRPr>
            </a:lvl8pPr>
            <a:lvl9pPr algn="l">
              <a:defRPr sz="825" b="1">
                <a:solidFill>
                  <a:srgbClr val="FFFFFF"/>
                </a:solidFill>
              </a:defRPr>
            </a:lvl9pPr>
          </a:lstStyle>
          <a:p xmlns:a="http://schemas.openxmlformats.org/drawingml/2006/main">
            <a:pPr algn="l">
              <a:defRPr sz="825" b="1">
                <a:solidFill>
                  <a:srgbClr val="FFFFFF"/>
                </a:solidFill>
              </a:defRPr>
            </a:pPr>
            <a:r>
              <a:rPr sz="825" b="1">
                <a:solidFill>
                  <a:srgbClr val="FFFFFF"/>
                </a:solidFill>
              </a:rPr>
              <a:t>Model</a:t>
            </a:r>
          </a:p>
        </p:txBody>
      </p:sp>
      <p:sp>
        <p:nvSpPr>
          <p:cNvPr id="10" name="">
            <a:extLst xmlns:a="http://schemas.openxmlformats.org/drawingml/2006/main">
              <a:ext uri="{FF2B5EF4-FFF2-40B4-BE49-F238E27FC236}">
                <a16:creationId xmlns:a16="http://schemas.microsoft.com/office/drawing/2014/main" id="{D23622CD-B45F-440B-80A8-3F52334834BA}"/>
              </a:ext>
            </a:extLst>
          </p:cNvPr>
          <p:cNvSpPr>
            <a:spLocks xmlns:a="http://schemas.openxmlformats.org/drawingml/2006/main" noGrp="1"/>
          </p:cNvSpPr>
          <p:nvPr/>
        </p:nvSpPr>
        <p:spPr>
          <a:xfrm xmlns:a="http://schemas.openxmlformats.org/drawingml/2006/main">
            <a:off x="7239000" y="18097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FFFFFF"/>
                </a:solidFill>
              </a:defRPr>
            </a:defPPr>
            <a:lvl1pPr algn="l">
              <a:defRPr sz="825" b="1">
                <a:solidFill>
                  <a:srgbClr val="FFFFFF"/>
                </a:solidFill>
              </a:defRPr>
            </a:lvl1pPr>
            <a:lvl2pPr algn="l">
              <a:defRPr sz="825" b="1">
                <a:solidFill>
                  <a:srgbClr val="FFFFFF"/>
                </a:solidFill>
              </a:defRPr>
            </a:lvl2pPr>
            <a:lvl3pPr algn="l">
              <a:defRPr sz="825" b="1">
                <a:solidFill>
                  <a:srgbClr val="FFFFFF"/>
                </a:solidFill>
              </a:defRPr>
            </a:lvl3pPr>
            <a:lvl4pPr algn="l">
              <a:defRPr sz="825" b="1">
                <a:solidFill>
                  <a:srgbClr val="FFFFFF"/>
                </a:solidFill>
              </a:defRPr>
            </a:lvl4pPr>
            <a:lvl5pPr algn="l">
              <a:defRPr sz="825" b="1">
                <a:solidFill>
                  <a:srgbClr val="FFFFFF"/>
                </a:solidFill>
              </a:defRPr>
            </a:lvl5pPr>
            <a:lvl6pPr algn="l">
              <a:defRPr sz="825" b="1">
                <a:solidFill>
                  <a:srgbClr val="FFFFFF"/>
                </a:solidFill>
              </a:defRPr>
            </a:lvl6pPr>
            <a:lvl7pPr algn="l">
              <a:defRPr sz="825" b="1">
                <a:solidFill>
                  <a:srgbClr val="FFFFFF"/>
                </a:solidFill>
              </a:defRPr>
            </a:lvl7pPr>
            <a:lvl8pPr algn="l">
              <a:defRPr sz="825" b="1">
                <a:solidFill>
                  <a:srgbClr val="FFFFFF"/>
                </a:solidFill>
              </a:defRPr>
            </a:lvl8pPr>
            <a:lvl9pPr algn="l">
              <a:defRPr sz="825" b="1">
                <a:solidFill>
                  <a:srgbClr val="FFFFFF"/>
                </a:solidFill>
              </a:defRPr>
            </a:lvl9pPr>
          </a:lstStyle>
          <a:p xmlns:a="http://schemas.openxmlformats.org/drawingml/2006/main">
            <a:pPr algn="l">
              <a:defRPr sz="825" b="1">
                <a:solidFill>
                  <a:srgbClr val="FFFFFF"/>
                </a:solidFill>
              </a:defRPr>
            </a:pPr>
            <a:r>
              <a:rPr sz="825" b="1">
                <a:solidFill>
                  <a:srgbClr val="FFFFFF"/>
                </a:solidFill>
              </a:rPr>
              <a:t>Exceptions</a:t>
            </a:r>
          </a:p>
        </p:txBody>
      </p:sp>
      <p:sp>
        <p:nvSpPr>
          <p:cNvPr id="11" name="">
            <a:extLst xmlns:a="http://schemas.openxmlformats.org/drawingml/2006/main">
              <a:ext uri="{FF2B5EF4-FFF2-40B4-BE49-F238E27FC236}">
                <a16:creationId xmlns:a16="http://schemas.microsoft.com/office/drawing/2014/main" id="{A1BC507D-C7A4-43C9-B142-D04B85B8CEFE}"/>
              </a:ext>
            </a:extLst>
          </p:cNvPr>
          <p:cNvSpPr>
            <a:spLocks xmlns:a="http://schemas.openxmlformats.org/drawingml/2006/main" noGrp="1"/>
          </p:cNvSpPr>
          <p:nvPr/>
        </p:nvSpPr>
        <p:spPr>
          <a:xfrm xmlns:a="http://schemas.openxmlformats.org/drawingml/2006/main">
            <a:off x="8420100" y="18097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FFFFFF"/>
                </a:solidFill>
              </a:defRPr>
            </a:defPPr>
            <a:lvl1pPr algn="l">
              <a:defRPr sz="825" b="1">
                <a:solidFill>
                  <a:srgbClr val="FFFFFF"/>
                </a:solidFill>
              </a:defRPr>
            </a:lvl1pPr>
            <a:lvl2pPr algn="l">
              <a:defRPr sz="825" b="1">
                <a:solidFill>
                  <a:srgbClr val="FFFFFF"/>
                </a:solidFill>
              </a:defRPr>
            </a:lvl2pPr>
            <a:lvl3pPr algn="l">
              <a:defRPr sz="825" b="1">
                <a:solidFill>
                  <a:srgbClr val="FFFFFF"/>
                </a:solidFill>
              </a:defRPr>
            </a:lvl3pPr>
            <a:lvl4pPr algn="l">
              <a:defRPr sz="825" b="1">
                <a:solidFill>
                  <a:srgbClr val="FFFFFF"/>
                </a:solidFill>
              </a:defRPr>
            </a:lvl4pPr>
            <a:lvl5pPr algn="l">
              <a:defRPr sz="825" b="1">
                <a:solidFill>
                  <a:srgbClr val="FFFFFF"/>
                </a:solidFill>
              </a:defRPr>
            </a:lvl5pPr>
            <a:lvl6pPr algn="l">
              <a:defRPr sz="825" b="1">
                <a:solidFill>
                  <a:srgbClr val="FFFFFF"/>
                </a:solidFill>
              </a:defRPr>
            </a:lvl6pPr>
            <a:lvl7pPr algn="l">
              <a:defRPr sz="825" b="1">
                <a:solidFill>
                  <a:srgbClr val="FFFFFF"/>
                </a:solidFill>
              </a:defRPr>
            </a:lvl7pPr>
            <a:lvl8pPr algn="l">
              <a:defRPr sz="825" b="1">
                <a:solidFill>
                  <a:srgbClr val="FFFFFF"/>
                </a:solidFill>
              </a:defRPr>
            </a:lvl8pPr>
            <a:lvl9pPr algn="l">
              <a:defRPr sz="825" b="1">
                <a:solidFill>
                  <a:srgbClr val="FFFFFF"/>
                </a:solidFill>
              </a:defRPr>
            </a:lvl9pPr>
          </a:lstStyle>
          <a:p xmlns:a="http://schemas.openxmlformats.org/drawingml/2006/main">
            <a:pPr algn="l">
              <a:defRPr sz="825" b="1">
                <a:solidFill>
                  <a:srgbClr val="FFFFFF"/>
                </a:solidFill>
              </a:defRPr>
            </a:pPr>
            <a:r>
              <a:rPr sz="825" b="1">
                <a:solidFill>
                  <a:srgbClr val="FFFFFF"/>
                </a:solidFill>
              </a:rPr>
              <a:t>Kupiec</a:t>
            </a:r>
          </a:p>
        </p:txBody>
      </p:sp>
      <p:sp>
        <p:nvSpPr>
          <p:cNvPr id="12" name="">
            <a:extLst xmlns:a="http://schemas.openxmlformats.org/drawingml/2006/main">
              <a:ext uri="{FF2B5EF4-FFF2-40B4-BE49-F238E27FC236}">
                <a16:creationId xmlns:a16="http://schemas.microsoft.com/office/drawing/2014/main" id="{9F4D11D3-AA16-4AA0-A5D5-3C68F2FAA331}"/>
              </a:ext>
            </a:extLst>
          </p:cNvPr>
          <p:cNvSpPr>
            <a:spLocks xmlns:a="http://schemas.openxmlformats.org/drawingml/2006/main" noGrp="1"/>
          </p:cNvSpPr>
          <p:nvPr/>
        </p:nvSpPr>
        <p:spPr>
          <a:xfrm xmlns:a="http://schemas.openxmlformats.org/drawingml/2006/main">
            <a:off x="9525000" y="1809750"/>
            <a:ext cx="110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FFFFFF"/>
                </a:solidFill>
              </a:defRPr>
            </a:defPPr>
            <a:lvl1pPr algn="l">
              <a:defRPr sz="825" b="1">
                <a:solidFill>
                  <a:srgbClr val="FFFFFF"/>
                </a:solidFill>
              </a:defRPr>
            </a:lvl1pPr>
            <a:lvl2pPr algn="l">
              <a:defRPr sz="825" b="1">
                <a:solidFill>
                  <a:srgbClr val="FFFFFF"/>
                </a:solidFill>
              </a:defRPr>
            </a:lvl2pPr>
            <a:lvl3pPr algn="l">
              <a:defRPr sz="825" b="1">
                <a:solidFill>
                  <a:srgbClr val="FFFFFF"/>
                </a:solidFill>
              </a:defRPr>
            </a:lvl3pPr>
            <a:lvl4pPr algn="l">
              <a:defRPr sz="825" b="1">
                <a:solidFill>
                  <a:srgbClr val="FFFFFF"/>
                </a:solidFill>
              </a:defRPr>
            </a:lvl4pPr>
            <a:lvl5pPr algn="l">
              <a:defRPr sz="825" b="1">
                <a:solidFill>
                  <a:srgbClr val="FFFFFF"/>
                </a:solidFill>
              </a:defRPr>
            </a:lvl5pPr>
            <a:lvl6pPr algn="l">
              <a:defRPr sz="825" b="1">
                <a:solidFill>
                  <a:srgbClr val="FFFFFF"/>
                </a:solidFill>
              </a:defRPr>
            </a:lvl6pPr>
            <a:lvl7pPr algn="l">
              <a:defRPr sz="825" b="1">
                <a:solidFill>
                  <a:srgbClr val="FFFFFF"/>
                </a:solidFill>
              </a:defRPr>
            </a:lvl7pPr>
            <a:lvl8pPr algn="l">
              <a:defRPr sz="825" b="1">
                <a:solidFill>
                  <a:srgbClr val="FFFFFF"/>
                </a:solidFill>
              </a:defRPr>
            </a:lvl8pPr>
            <a:lvl9pPr algn="l">
              <a:defRPr sz="825" b="1">
                <a:solidFill>
                  <a:srgbClr val="FFFFFF"/>
                </a:solidFill>
              </a:defRPr>
            </a:lvl9pPr>
          </a:lstStyle>
          <a:p xmlns:a="http://schemas.openxmlformats.org/drawingml/2006/main">
            <a:pPr algn="l">
              <a:defRPr sz="825" b="1">
                <a:solidFill>
                  <a:srgbClr val="FFFFFF"/>
                </a:solidFill>
              </a:defRPr>
            </a:pPr>
            <a:r>
              <a:rPr sz="825" b="1">
                <a:solidFill>
                  <a:srgbClr val="FFFFFF"/>
                </a:solidFill>
              </a:rPr>
              <a:t>Independence</a:t>
            </a:r>
          </a:p>
        </p:txBody>
      </p:sp>
      <p:sp>
        <p:nvSpPr>
          <p:cNvPr id="13" name="">
            <a:extLst xmlns:a="http://schemas.openxmlformats.org/drawingml/2006/main">
              <a:ext uri="{FF2B5EF4-FFF2-40B4-BE49-F238E27FC236}">
                <a16:creationId xmlns:a16="http://schemas.microsoft.com/office/drawing/2014/main" id="{401B274D-1E53-42F9-A955-C12E55F4191F}"/>
              </a:ext>
            </a:extLst>
          </p:cNvPr>
          <p:cNvSpPr>
            <a:spLocks xmlns:a="http://schemas.openxmlformats.org/drawingml/2006/main" noGrp="1"/>
          </p:cNvSpPr>
          <p:nvPr/>
        </p:nvSpPr>
        <p:spPr>
          <a:xfrm xmlns:a="http://schemas.openxmlformats.org/drawingml/2006/main">
            <a:off x="10687050" y="18097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FFFFFF"/>
                </a:solidFill>
              </a:defRPr>
            </a:defPPr>
            <a:lvl1pPr algn="l">
              <a:defRPr sz="825" b="1">
                <a:solidFill>
                  <a:srgbClr val="FFFFFF"/>
                </a:solidFill>
              </a:defRPr>
            </a:lvl1pPr>
            <a:lvl2pPr algn="l">
              <a:defRPr sz="825" b="1">
                <a:solidFill>
                  <a:srgbClr val="FFFFFF"/>
                </a:solidFill>
              </a:defRPr>
            </a:lvl2pPr>
            <a:lvl3pPr algn="l">
              <a:defRPr sz="825" b="1">
                <a:solidFill>
                  <a:srgbClr val="FFFFFF"/>
                </a:solidFill>
              </a:defRPr>
            </a:lvl3pPr>
            <a:lvl4pPr algn="l">
              <a:defRPr sz="825" b="1">
                <a:solidFill>
                  <a:srgbClr val="FFFFFF"/>
                </a:solidFill>
              </a:defRPr>
            </a:lvl4pPr>
            <a:lvl5pPr algn="l">
              <a:defRPr sz="825" b="1">
                <a:solidFill>
                  <a:srgbClr val="FFFFFF"/>
                </a:solidFill>
              </a:defRPr>
            </a:lvl5pPr>
            <a:lvl6pPr algn="l">
              <a:defRPr sz="825" b="1">
                <a:solidFill>
                  <a:srgbClr val="FFFFFF"/>
                </a:solidFill>
              </a:defRPr>
            </a:lvl6pPr>
            <a:lvl7pPr algn="l">
              <a:defRPr sz="825" b="1">
                <a:solidFill>
                  <a:srgbClr val="FFFFFF"/>
                </a:solidFill>
              </a:defRPr>
            </a:lvl7pPr>
            <a:lvl8pPr algn="l">
              <a:defRPr sz="825" b="1">
                <a:solidFill>
                  <a:srgbClr val="FFFFFF"/>
                </a:solidFill>
              </a:defRPr>
            </a:lvl8pPr>
            <a:lvl9pPr algn="l">
              <a:defRPr sz="825" b="1">
                <a:solidFill>
                  <a:srgbClr val="FFFFFF"/>
                </a:solidFill>
              </a:defRPr>
            </a:lvl9pPr>
          </a:lstStyle>
          <a:p xmlns:a="http://schemas.openxmlformats.org/drawingml/2006/main">
            <a:pPr algn="l">
              <a:defRPr sz="825" b="1">
                <a:solidFill>
                  <a:srgbClr val="FFFFFF"/>
                </a:solidFill>
              </a:defRPr>
            </a:pPr>
            <a:r>
              <a:rPr sz="825" b="1">
                <a:solidFill>
                  <a:srgbClr val="FFFFFF"/>
                </a:solidFill>
              </a:rPr>
              <a:t>Decision</a:t>
            </a:r>
          </a:p>
        </p:txBody>
      </p:sp>
      <p:sp>
        <p:nvSpPr>
          <p:cNvPr id="14" name="">
            <a:extLst xmlns:a="http://schemas.openxmlformats.org/drawingml/2006/main">
              <a:ext uri="{FF2B5EF4-FFF2-40B4-BE49-F238E27FC236}">
                <a16:creationId xmlns:a16="http://schemas.microsoft.com/office/drawing/2014/main" id="{98DFBE27-FEB8-4CB3-BAA3-9AEAFEFEDAC8}"/>
              </a:ext>
            </a:extLst>
          </p:cNvPr>
          <p:cNvSpPr>
            <a:spLocks xmlns:a="http://schemas.openxmlformats.org/drawingml/2006/main" noGrp="1"/>
          </p:cNvSpPr>
          <p:nvPr/>
        </p:nvSpPr>
        <p:spPr>
          <a:xfrm xmlns:a="http://schemas.openxmlformats.org/drawingml/2006/main">
            <a:off x="5810250" y="22479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111111"/>
                </a:solidFill>
              </a:defRPr>
            </a:defPPr>
            <a:lvl1pPr algn="l">
              <a:defRPr sz="975" b="1">
                <a:solidFill>
                  <a:srgbClr val="111111"/>
                </a:solidFill>
              </a:defRPr>
            </a:lvl1pPr>
            <a:lvl2pPr algn="l">
              <a:defRPr sz="975" b="1">
                <a:solidFill>
                  <a:srgbClr val="111111"/>
                </a:solidFill>
              </a:defRPr>
            </a:lvl2pPr>
            <a:lvl3pPr algn="l">
              <a:defRPr sz="975" b="1">
                <a:solidFill>
                  <a:srgbClr val="111111"/>
                </a:solidFill>
              </a:defRPr>
            </a:lvl3pPr>
            <a:lvl4pPr algn="l">
              <a:defRPr sz="975" b="1">
                <a:solidFill>
                  <a:srgbClr val="111111"/>
                </a:solidFill>
              </a:defRPr>
            </a:lvl4pPr>
            <a:lvl5pPr algn="l">
              <a:defRPr sz="975" b="1">
                <a:solidFill>
                  <a:srgbClr val="111111"/>
                </a:solidFill>
              </a:defRPr>
            </a:lvl5pPr>
            <a:lvl6pPr algn="l">
              <a:defRPr sz="975" b="1">
                <a:solidFill>
                  <a:srgbClr val="111111"/>
                </a:solidFill>
              </a:defRPr>
            </a:lvl6pPr>
            <a:lvl7pPr algn="l">
              <a:defRPr sz="975" b="1">
                <a:solidFill>
                  <a:srgbClr val="111111"/>
                </a:solidFill>
              </a:defRPr>
            </a:lvl7pPr>
            <a:lvl8pPr algn="l">
              <a:defRPr sz="975" b="1">
                <a:solidFill>
                  <a:srgbClr val="111111"/>
                </a:solidFill>
              </a:defRPr>
            </a:lvl8pPr>
            <a:lvl9pPr algn="l">
              <a:defRPr sz="975" b="1">
                <a:solidFill>
                  <a:srgbClr val="111111"/>
                </a:solidFill>
              </a:defRPr>
            </a:lvl9pPr>
          </a:lstStyle>
          <a:p xmlns:a="http://schemas.openxmlformats.org/drawingml/2006/main">
            <a:pPr algn="l">
              <a:defRPr sz="975" b="1">
                <a:solidFill>
                  <a:srgbClr val="111111"/>
                </a:solidFill>
              </a:defRPr>
            </a:pPr>
            <a:r>
              <a:rPr sz="975" b="1">
                <a:solidFill>
                  <a:srgbClr val="111111"/>
                </a:solidFill>
              </a:rPr>
              <a:t>GJR-HS</a:t>
            </a:r>
          </a:p>
        </p:txBody>
      </p:sp>
      <p:sp>
        <p:nvSpPr>
          <p:cNvPr id="15" name="">
            <a:extLst xmlns:a="http://schemas.openxmlformats.org/drawingml/2006/main">
              <a:ext uri="{FF2B5EF4-FFF2-40B4-BE49-F238E27FC236}">
                <a16:creationId xmlns:a16="http://schemas.microsoft.com/office/drawing/2014/main" id="{C508CBD1-768D-476F-9272-6C44175235F2}"/>
              </a:ext>
            </a:extLst>
          </p:cNvPr>
          <p:cNvSpPr>
            <a:spLocks xmlns:a="http://schemas.openxmlformats.org/drawingml/2006/main" noGrp="1"/>
          </p:cNvSpPr>
          <p:nvPr/>
        </p:nvSpPr>
        <p:spPr>
          <a:xfrm xmlns:a="http://schemas.openxmlformats.org/drawingml/2006/main">
            <a:off x="7239000" y="224790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111111"/>
                </a:solidFill>
              </a:defRPr>
            </a:defPPr>
            <a:lvl1pPr algn="l">
              <a:defRPr sz="900" b="0">
                <a:solidFill>
                  <a:srgbClr val="111111"/>
                </a:solidFill>
              </a:defRPr>
            </a:lvl1pPr>
            <a:lvl2pPr algn="l">
              <a:defRPr sz="900" b="0">
                <a:solidFill>
                  <a:srgbClr val="111111"/>
                </a:solidFill>
              </a:defRPr>
            </a:lvl2pPr>
            <a:lvl3pPr algn="l">
              <a:defRPr sz="900" b="0">
                <a:solidFill>
                  <a:srgbClr val="111111"/>
                </a:solidFill>
              </a:defRPr>
            </a:lvl3pPr>
            <a:lvl4pPr algn="l">
              <a:defRPr sz="900" b="0">
                <a:solidFill>
                  <a:srgbClr val="111111"/>
                </a:solidFill>
              </a:defRPr>
            </a:lvl4pPr>
            <a:lvl5pPr algn="l">
              <a:defRPr sz="900" b="0">
                <a:solidFill>
                  <a:srgbClr val="111111"/>
                </a:solidFill>
              </a:defRPr>
            </a:lvl5pPr>
            <a:lvl6pPr algn="l">
              <a:defRPr sz="900" b="0">
                <a:solidFill>
                  <a:srgbClr val="111111"/>
                </a:solidFill>
              </a:defRPr>
            </a:lvl6pPr>
            <a:lvl7pPr algn="l">
              <a:defRPr sz="900" b="0">
                <a:solidFill>
                  <a:srgbClr val="111111"/>
                </a:solidFill>
              </a:defRPr>
            </a:lvl7pPr>
            <a:lvl8pPr algn="l">
              <a:defRPr sz="900" b="0">
                <a:solidFill>
                  <a:srgbClr val="111111"/>
                </a:solidFill>
              </a:defRPr>
            </a:lvl8pPr>
            <a:lvl9pPr algn="l">
              <a:defRPr sz="900" b="0">
                <a:solidFill>
                  <a:srgbClr val="111111"/>
                </a:solidFill>
              </a:defRPr>
            </a:lvl9pPr>
          </a:lstStyle>
          <a:p xmlns:a="http://schemas.openxmlformats.org/drawingml/2006/main">
            <a:pPr algn="l">
              <a:defRPr sz="900" b="0">
                <a:solidFill>
                  <a:srgbClr val="111111"/>
                </a:solidFill>
              </a:defRPr>
            </a:pPr>
            <a:r>
              <a:rPr sz="900" b="0">
                <a:solidFill>
                  <a:srgbClr val="111111"/>
                </a:solidFill>
              </a:rPr>
              <a:t>34 / 31.2</a:t>
            </a:r>
          </a:p>
        </p:txBody>
      </p:sp>
      <p:sp>
        <p:nvSpPr>
          <p:cNvPr id="16" name="">
            <a:extLst xmlns:a="http://schemas.openxmlformats.org/drawingml/2006/main">
              <a:ext uri="{FF2B5EF4-FFF2-40B4-BE49-F238E27FC236}">
                <a16:creationId xmlns:a16="http://schemas.microsoft.com/office/drawing/2014/main" id="{BD736680-A24A-494D-BEA2-E4AE17A36692}"/>
              </a:ext>
            </a:extLst>
          </p:cNvPr>
          <p:cNvSpPr>
            <a:spLocks xmlns:a="http://schemas.openxmlformats.org/drawingml/2006/main" noGrp="1"/>
          </p:cNvSpPr>
          <p:nvPr/>
        </p:nvSpPr>
        <p:spPr>
          <a:xfrm xmlns:a="http://schemas.openxmlformats.org/drawingml/2006/main">
            <a:off x="8420100" y="22479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111111"/>
                </a:solidFill>
              </a:defRPr>
            </a:defPPr>
            <a:lvl1pPr algn="l">
              <a:defRPr sz="900" b="0">
                <a:solidFill>
                  <a:srgbClr val="111111"/>
                </a:solidFill>
              </a:defRPr>
            </a:lvl1pPr>
            <a:lvl2pPr algn="l">
              <a:defRPr sz="900" b="0">
                <a:solidFill>
                  <a:srgbClr val="111111"/>
                </a:solidFill>
              </a:defRPr>
            </a:lvl2pPr>
            <a:lvl3pPr algn="l">
              <a:defRPr sz="900" b="0">
                <a:solidFill>
                  <a:srgbClr val="111111"/>
                </a:solidFill>
              </a:defRPr>
            </a:lvl3pPr>
            <a:lvl4pPr algn="l">
              <a:defRPr sz="900" b="0">
                <a:solidFill>
                  <a:srgbClr val="111111"/>
                </a:solidFill>
              </a:defRPr>
            </a:lvl4pPr>
            <a:lvl5pPr algn="l">
              <a:defRPr sz="900" b="0">
                <a:solidFill>
                  <a:srgbClr val="111111"/>
                </a:solidFill>
              </a:defRPr>
            </a:lvl5pPr>
            <a:lvl6pPr algn="l">
              <a:defRPr sz="900" b="0">
                <a:solidFill>
                  <a:srgbClr val="111111"/>
                </a:solidFill>
              </a:defRPr>
            </a:lvl6pPr>
            <a:lvl7pPr algn="l">
              <a:defRPr sz="900" b="0">
                <a:solidFill>
                  <a:srgbClr val="111111"/>
                </a:solidFill>
              </a:defRPr>
            </a:lvl7pPr>
            <a:lvl8pPr algn="l">
              <a:defRPr sz="900" b="0">
                <a:solidFill>
                  <a:srgbClr val="111111"/>
                </a:solidFill>
              </a:defRPr>
            </a:lvl8pPr>
            <a:lvl9pPr algn="l">
              <a:defRPr sz="900" b="0">
                <a:solidFill>
                  <a:srgbClr val="111111"/>
                </a:solidFill>
              </a:defRPr>
            </a:lvl9pPr>
          </a:lstStyle>
          <a:p xmlns:a="http://schemas.openxmlformats.org/drawingml/2006/main">
            <a:pPr algn="l">
              <a:defRPr sz="900" b="0">
                <a:solidFill>
                  <a:srgbClr val="111111"/>
                </a:solidFill>
              </a:defRPr>
            </a:pPr>
            <a:r>
              <a:rPr sz="900" b="0">
                <a:solidFill>
                  <a:srgbClr val="111111"/>
                </a:solidFill>
              </a:rPr>
              <a:t>0.618</a:t>
            </a:r>
          </a:p>
        </p:txBody>
      </p:sp>
      <p:sp>
        <p:nvSpPr>
          <p:cNvPr id="17" name="">
            <a:extLst xmlns:a="http://schemas.openxmlformats.org/drawingml/2006/main">
              <a:ext uri="{FF2B5EF4-FFF2-40B4-BE49-F238E27FC236}">
                <a16:creationId xmlns:a16="http://schemas.microsoft.com/office/drawing/2014/main" id="{A0A84782-3CD0-49A3-87AE-B81BD7B9C0F2}"/>
              </a:ext>
            </a:extLst>
          </p:cNvPr>
          <p:cNvSpPr>
            <a:spLocks xmlns:a="http://schemas.openxmlformats.org/drawingml/2006/main" noGrp="1"/>
          </p:cNvSpPr>
          <p:nvPr/>
        </p:nvSpPr>
        <p:spPr>
          <a:xfrm xmlns:a="http://schemas.openxmlformats.org/drawingml/2006/main">
            <a:off x="9525000" y="2247900"/>
            <a:ext cx="102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1B6B50"/>
                </a:solidFill>
              </a:defRPr>
            </a:defPPr>
            <a:lvl1pPr algn="l">
              <a:defRPr sz="900" b="0">
                <a:solidFill>
                  <a:srgbClr val="1B6B50"/>
                </a:solidFill>
              </a:defRPr>
            </a:lvl1pPr>
            <a:lvl2pPr algn="l">
              <a:defRPr sz="900" b="0">
                <a:solidFill>
                  <a:srgbClr val="1B6B50"/>
                </a:solidFill>
              </a:defRPr>
            </a:lvl2pPr>
            <a:lvl3pPr algn="l">
              <a:defRPr sz="900" b="0">
                <a:solidFill>
                  <a:srgbClr val="1B6B50"/>
                </a:solidFill>
              </a:defRPr>
            </a:lvl3pPr>
            <a:lvl4pPr algn="l">
              <a:defRPr sz="900" b="0">
                <a:solidFill>
                  <a:srgbClr val="1B6B50"/>
                </a:solidFill>
              </a:defRPr>
            </a:lvl4pPr>
            <a:lvl5pPr algn="l">
              <a:defRPr sz="900" b="0">
                <a:solidFill>
                  <a:srgbClr val="1B6B50"/>
                </a:solidFill>
              </a:defRPr>
            </a:lvl5pPr>
            <a:lvl6pPr algn="l">
              <a:defRPr sz="900" b="0">
                <a:solidFill>
                  <a:srgbClr val="1B6B50"/>
                </a:solidFill>
              </a:defRPr>
            </a:lvl6pPr>
            <a:lvl7pPr algn="l">
              <a:defRPr sz="900" b="0">
                <a:solidFill>
                  <a:srgbClr val="1B6B50"/>
                </a:solidFill>
              </a:defRPr>
            </a:lvl7pPr>
            <a:lvl8pPr algn="l">
              <a:defRPr sz="900" b="0">
                <a:solidFill>
                  <a:srgbClr val="1B6B50"/>
                </a:solidFill>
              </a:defRPr>
            </a:lvl8pPr>
            <a:lvl9pPr algn="l">
              <a:defRPr sz="900" b="0">
                <a:solidFill>
                  <a:srgbClr val="1B6B50"/>
                </a:solidFill>
              </a:defRPr>
            </a:lvl9pPr>
          </a:lstStyle>
          <a:p xmlns:a="http://schemas.openxmlformats.org/drawingml/2006/main">
            <a:pPr algn="l">
              <a:defRPr sz="900" b="0">
                <a:solidFill>
                  <a:srgbClr val="1B6B50"/>
                </a:solidFill>
              </a:defRPr>
            </a:pPr>
            <a:r>
              <a:rPr sz="900" b="0">
                <a:solidFill>
                  <a:srgbClr val="1B6B50"/>
                </a:solidFill>
              </a:rPr>
              <a:t>0.056</a:t>
            </a:r>
          </a:p>
        </p:txBody>
      </p:sp>
      <p:sp>
        <p:nvSpPr>
          <p:cNvPr id="18" name="">
            <a:extLst xmlns:a="http://schemas.openxmlformats.org/drawingml/2006/main">
              <a:ext uri="{FF2B5EF4-FFF2-40B4-BE49-F238E27FC236}">
                <a16:creationId xmlns:a16="http://schemas.microsoft.com/office/drawing/2014/main" id="{7140206A-4CE8-4611-85A5-FB8AF0B3C158}"/>
              </a:ext>
            </a:extLst>
          </p:cNvPr>
          <p:cNvSpPr>
            <a:spLocks xmlns:a="http://schemas.openxmlformats.org/drawingml/2006/main" noGrp="1"/>
          </p:cNvSpPr>
          <p:nvPr/>
        </p:nvSpPr>
        <p:spPr>
          <a:xfrm xmlns:a="http://schemas.openxmlformats.org/drawingml/2006/main">
            <a:off x="10687050" y="22479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B6B50"/>
                </a:solidFill>
              </a:defRPr>
            </a:defPPr>
            <a:lvl1pPr algn="l">
              <a:defRPr sz="825" b="1">
                <a:solidFill>
                  <a:srgbClr val="1B6B50"/>
                </a:solidFill>
              </a:defRPr>
            </a:lvl1pPr>
            <a:lvl2pPr algn="l">
              <a:defRPr sz="825" b="1">
                <a:solidFill>
                  <a:srgbClr val="1B6B50"/>
                </a:solidFill>
              </a:defRPr>
            </a:lvl2pPr>
            <a:lvl3pPr algn="l">
              <a:defRPr sz="825" b="1">
                <a:solidFill>
                  <a:srgbClr val="1B6B50"/>
                </a:solidFill>
              </a:defRPr>
            </a:lvl3pPr>
            <a:lvl4pPr algn="l">
              <a:defRPr sz="825" b="1">
                <a:solidFill>
                  <a:srgbClr val="1B6B50"/>
                </a:solidFill>
              </a:defRPr>
            </a:lvl4pPr>
            <a:lvl5pPr algn="l">
              <a:defRPr sz="825" b="1">
                <a:solidFill>
                  <a:srgbClr val="1B6B50"/>
                </a:solidFill>
              </a:defRPr>
            </a:lvl5pPr>
            <a:lvl6pPr algn="l">
              <a:defRPr sz="825" b="1">
                <a:solidFill>
                  <a:srgbClr val="1B6B50"/>
                </a:solidFill>
              </a:defRPr>
            </a:lvl6pPr>
            <a:lvl7pPr algn="l">
              <a:defRPr sz="825" b="1">
                <a:solidFill>
                  <a:srgbClr val="1B6B50"/>
                </a:solidFill>
              </a:defRPr>
            </a:lvl7pPr>
            <a:lvl8pPr algn="l">
              <a:defRPr sz="825" b="1">
                <a:solidFill>
                  <a:srgbClr val="1B6B50"/>
                </a:solidFill>
              </a:defRPr>
            </a:lvl8pPr>
            <a:lvl9pPr algn="l">
              <a:defRPr sz="825" b="1">
                <a:solidFill>
                  <a:srgbClr val="1B6B50"/>
                </a:solidFill>
              </a:defRPr>
            </a:lvl9pPr>
          </a:lstStyle>
          <a:p xmlns:a="http://schemas.openxmlformats.org/drawingml/2006/main">
            <a:pPr algn="l">
              <a:defRPr sz="825" b="1">
                <a:solidFill>
                  <a:srgbClr val="1B6B50"/>
                </a:solidFill>
              </a:defRPr>
            </a:pPr>
            <a:r>
              <a:rPr sz="825" b="1">
                <a:solidFill>
                  <a:srgbClr val="1B6B50"/>
                </a:solidFill>
              </a:rPr>
              <a:t>PASS</a:t>
            </a:r>
          </a:p>
        </p:txBody>
      </p:sp>
      <p:sp>
        <p:nvSpPr>
          <p:cNvPr id="19" name="">
            <a:extLst xmlns:a="http://schemas.openxmlformats.org/drawingml/2006/main">
              <a:ext uri="{FF2B5EF4-FFF2-40B4-BE49-F238E27FC236}">
                <a16:creationId xmlns:a16="http://schemas.microsoft.com/office/drawing/2014/main" id="{01C56200-8C20-4B86-AA83-D41E5F0049FF}"/>
              </a:ext>
            </a:extLst>
          </p:cNvPr>
          <p:cNvSpPr>
            <a:spLocks xmlns:a="http://schemas.openxmlformats.org/drawingml/2006/main" noGrp="1"/>
          </p:cNvSpPr>
          <p:nvPr/>
        </p:nvSpPr>
        <p:spPr>
          <a:xfrm xmlns:a="http://schemas.openxmlformats.org/drawingml/2006/main">
            <a:off x="5734050" y="2743200"/>
            <a:ext cx="5581650" cy="476250"/>
          </a:xfrm>
          <a:prstGeom xmlns:a="http://schemas.openxmlformats.org/drawingml/2006/main" prst="rect">
            <a:avLst/>
          </a:prstGeom>
          <a:solidFill xmlns:a="http://schemas.openxmlformats.org/drawingml/2006/main">
            <a:srgbClr val="F5F5F2"/>
          </a:solidFill>
          <a:ln xmlns:a="http://schemas.openxmlformats.org/drawingml/2006/main" w="0">
            <a:solidFill>
              <a:srgbClr val="F5F5F2"/>
            </a:solidFill>
            <a:prstDash val="solid"/>
          </a:ln>
        </p:spPr>
      </p:sp>
      <p:sp>
        <p:nvSpPr>
          <p:cNvPr id="20" name="">
            <a:extLst xmlns:a="http://schemas.openxmlformats.org/drawingml/2006/main">
              <a:ext uri="{FF2B5EF4-FFF2-40B4-BE49-F238E27FC236}">
                <a16:creationId xmlns:a16="http://schemas.microsoft.com/office/drawing/2014/main" id="{CC71037B-6C73-4DFC-9A8D-2EBE8498E079}"/>
              </a:ext>
            </a:extLst>
          </p:cNvPr>
          <p:cNvSpPr>
            <a:spLocks xmlns:a="http://schemas.openxmlformats.org/drawingml/2006/main" noGrp="1"/>
          </p:cNvSpPr>
          <p:nvPr/>
        </p:nvSpPr>
        <p:spPr>
          <a:xfrm xmlns:a="http://schemas.openxmlformats.org/drawingml/2006/main">
            <a:off x="5810250" y="28003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111111"/>
                </a:solidFill>
              </a:defRPr>
            </a:defPPr>
            <a:lvl1pPr algn="l">
              <a:defRPr sz="975" b="0">
                <a:solidFill>
                  <a:srgbClr val="111111"/>
                </a:solidFill>
              </a:defRPr>
            </a:lvl1pPr>
            <a:lvl2pPr algn="l">
              <a:defRPr sz="975" b="0">
                <a:solidFill>
                  <a:srgbClr val="111111"/>
                </a:solidFill>
              </a:defRPr>
            </a:lvl2pPr>
            <a:lvl3pPr algn="l">
              <a:defRPr sz="975" b="0">
                <a:solidFill>
                  <a:srgbClr val="111111"/>
                </a:solidFill>
              </a:defRPr>
            </a:lvl3pPr>
            <a:lvl4pPr algn="l">
              <a:defRPr sz="975" b="0">
                <a:solidFill>
                  <a:srgbClr val="111111"/>
                </a:solidFill>
              </a:defRPr>
            </a:lvl4pPr>
            <a:lvl5pPr algn="l">
              <a:defRPr sz="975" b="0">
                <a:solidFill>
                  <a:srgbClr val="111111"/>
                </a:solidFill>
              </a:defRPr>
            </a:lvl5pPr>
            <a:lvl6pPr algn="l">
              <a:defRPr sz="975" b="0">
                <a:solidFill>
                  <a:srgbClr val="111111"/>
                </a:solidFill>
              </a:defRPr>
            </a:lvl6pPr>
            <a:lvl7pPr algn="l">
              <a:defRPr sz="975" b="0">
                <a:solidFill>
                  <a:srgbClr val="111111"/>
                </a:solidFill>
              </a:defRPr>
            </a:lvl7pPr>
            <a:lvl8pPr algn="l">
              <a:defRPr sz="975" b="0">
                <a:solidFill>
                  <a:srgbClr val="111111"/>
                </a:solidFill>
              </a:defRPr>
            </a:lvl8pPr>
            <a:lvl9pPr algn="l">
              <a:defRPr sz="975" b="0">
                <a:solidFill>
                  <a:srgbClr val="111111"/>
                </a:solidFill>
              </a:defRPr>
            </a:lvl9pPr>
          </a:lstStyle>
          <a:p xmlns:a="http://schemas.openxmlformats.org/drawingml/2006/main">
            <a:pPr algn="l">
              <a:defRPr sz="975" b="0">
                <a:solidFill>
                  <a:srgbClr val="111111"/>
                </a:solidFill>
              </a:defRPr>
            </a:pPr>
            <a:r>
              <a:rPr sz="975" b="0">
                <a:solidFill>
                  <a:srgbClr val="111111"/>
                </a:solidFill>
              </a:rPr>
              <a:t>EWMA-HS</a:t>
            </a:r>
          </a:p>
        </p:txBody>
      </p:sp>
      <p:sp>
        <p:nvSpPr>
          <p:cNvPr id="21" name="">
            <a:extLst xmlns:a="http://schemas.openxmlformats.org/drawingml/2006/main">
              <a:ext uri="{FF2B5EF4-FFF2-40B4-BE49-F238E27FC236}">
                <a16:creationId xmlns:a16="http://schemas.microsoft.com/office/drawing/2014/main" id="{5273011E-D3E5-486F-ABF7-D7C6DCFAABF9}"/>
              </a:ext>
            </a:extLst>
          </p:cNvPr>
          <p:cNvSpPr>
            <a:spLocks xmlns:a="http://schemas.openxmlformats.org/drawingml/2006/main" noGrp="1"/>
          </p:cNvSpPr>
          <p:nvPr/>
        </p:nvSpPr>
        <p:spPr>
          <a:xfrm xmlns:a="http://schemas.openxmlformats.org/drawingml/2006/main">
            <a:off x="7239000" y="280035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111111"/>
                </a:solidFill>
              </a:defRPr>
            </a:defPPr>
            <a:lvl1pPr algn="l">
              <a:defRPr sz="900" b="0">
                <a:solidFill>
                  <a:srgbClr val="111111"/>
                </a:solidFill>
              </a:defRPr>
            </a:lvl1pPr>
            <a:lvl2pPr algn="l">
              <a:defRPr sz="900" b="0">
                <a:solidFill>
                  <a:srgbClr val="111111"/>
                </a:solidFill>
              </a:defRPr>
            </a:lvl2pPr>
            <a:lvl3pPr algn="l">
              <a:defRPr sz="900" b="0">
                <a:solidFill>
                  <a:srgbClr val="111111"/>
                </a:solidFill>
              </a:defRPr>
            </a:lvl3pPr>
            <a:lvl4pPr algn="l">
              <a:defRPr sz="900" b="0">
                <a:solidFill>
                  <a:srgbClr val="111111"/>
                </a:solidFill>
              </a:defRPr>
            </a:lvl4pPr>
            <a:lvl5pPr algn="l">
              <a:defRPr sz="900" b="0">
                <a:solidFill>
                  <a:srgbClr val="111111"/>
                </a:solidFill>
              </a:defRPr>
            </a:lvl5pPr>
            <a:lvl6pPr algn="l">
              <a:defRPr sz="900" b="0">
                <a:solidFill>
                  <a:srgbClr val="111111"/>
                </a:solidFill>
              </a:defRPr>
            </a:lvl6pPr>
            <a:lvl7pPr algn="l">
              <a:defRPr sz="900" b="0">
                <a:solidFill>
                  <a:srgbClr val="111111"/>
                </a:solidFill>
              </a:defRPr>
            </a:lvl7pPr>
            <a:lvl8pPr algn="l">
              <a:defRPr sz="900" b="0">
                <a:solidFill>
                  <a:srgbClr val="111111"/>
                </a:solidFill>
              </a:defRPr>
            </a:lvl8pPr>
            <a:lvl9pPr algn="l">
              <a:defRPr sz="900" b="0">
                <a:solidFill>
                  <a:srgbClr val="111111"/>
                </a:solidFill>
              </a:defRPr>
            </a:lvl9pPr>
          </a:lstStyle>
          <a:p xmlns:a="http://schemas.openxmlformats.org/drawingml/2006/main">
            <a:pPr algn="l">
              <a:defRPr sz="900" b="0">
                <a:solidFill>
                  <a:srgbClr val="111111"/>
                </a:solidFill>
              </a:defRPr>
            </a:pPr>
            <a:r>
              <a:rPr sz="900" b="0">
                <a:solidFill>
                  <a:srgbClr val="111111"/>
                </a:solidFill>
              </a:rPr>
              <a:t>32 / 31.2</a:t>
            </a:r>
          </a:p>
        </p:txBody>
      </p:sp>
      <p:sp>
        <p:nvSpPr>
          <p:cNvPr id="22" name="">
            <a:extLst xmlns:a="http://schemas.openxmlformats.org/drawingml/2006/main">
              <a:ext uri="{FF2B5EF4-FFF2-40B4-BE49-F238E27FC236}">
                <a16:creationId xmlns:a16="http://schemas.microsoft.com/office/drawing/2014/main" id="{78BA922C-E600-4F56-9FD9-D16610822F7E}"/>
              </a:ext>
            </a:extLst>
          </p:cNvPr>
          <p:cNvSpPr>
            <a:spLocks xmlns:a="http://schemas.openxmlformats.org/drawingml/2006/main" noGrp="1"/>
          </p:cNvSpPr>
          <p:nvPr/>
        </p:nvSpPr>
        <p:spPr>
          <a:xfrm xmlns:a="http://schemas.openxmlformats.org/drawingml/2006/main">
            <a:off x="8420100" y="28003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111111"/>
                </a:solidFill>
              </a:defRPr>
            </a:defPPr>
            <a:lvl1pPr algn="l">
              <a:defRPr sz="900" b="0">
                <a:solidFill>
                  <a:srgbClr val="111111"/>
                </a:solidFill>
              </a:defRPr>
            </a:lvl1pPr>
            <a:lvl2pPr algn="l">
              <a:defRPr sz="900" b="0">
                <a:solidFill>
                  <a:srgbClr val="111111"/>
                </a:solidFill>
              </a:defRPr>
            </a:lvl2pPr>
            <a:lvl3pPr algn="l">
              <a:defRPr sz="900" b="0">
                <a:solidFill>
                  <a:srgbClr val="111111"/>
                </a:solidFill>
              </a:defRPr>
            </a:lvl3pPr>
            <a:lvl4pPr algn="l">
              <a:defRPr sz="900" b="0">
                <a:solidFill>
                  <a:srgbClr val="111111"/>
                </a:solidFill>
              </a:defRPr>
            </a:lvl4pPr>
            <a:lvl5pPr algn="l">
              <a:defRPr sz="900" b="0">
                <a:solidFill>
                  <a:srgbClr val="111111"/>
                </a:solidFill>
              </a:defRPr>
            </a:lvl5pPr>
            <a:lvl6pPr algn="l">
              <a:defRPr sz="900" b="0">
                <a:solidFill>
                  <a:srgbClr val="111111"/>
                </a:solidFill>
              </a:defRPr>
            </a:lvl6pPr>
            <a:lvl7pPr algn="l">
              <a:defRPr sz="900" b="0">
                <a:solidFill>
                  <a:srgbClr val="111111"/>
                </a:solidFill>
              </a:defRPr>
            </a:lvl7pPr>
            <a:lvl8pPr algn="l">
              <a:defRPr sz="900" b="0">
                <a:solidFill>
                  <a:srgbClr val="111111"/>
                </a:solidFill>
              </a:defRPr>
            </a:lvl8pPr>
            <a:lvl9pPr algn="l">
              <a:defRPr sz="900" b="0">
                <a:solidFill>
                  <a:srgbClr val="111111"/>
                </a:solidFill>
              </a:defRPr>
            </a:lvl9pPr>
          </a:lstStyle>
          <a:p xmlns:a="http://schemas.openxmlformats.org/drawingml/2006/main">
            <a:pPr algn="l">
              <a:defRPr sz="900" b="0">
                <a:solidFill>
                  <a:srgbClr val="111111"/>
                </a:solidFill>
              </a:defRPr>
            </a:pPr>
            <a:r>
              <a:rPr sz="900" b="0">
                <a:solidFill>
                  <a:srgbClr val="111111"/>
                </a:solidFill>
              </a:rPr>
              <a:t>0.885</a:t>
            </a:r>
          </a:p>
        </p:txBody>
      </p:sp>
      <p:sp>
        <p:nvSpPr>
          <p:cNvPr id="23" name="">
            <a:extLst xmlns:a="http://schemas.openxmlformats.org/drawingml/2006/main">
              <a:ext uri="{FF2B5EF4-FFF2-40B4-BE49-F238E27FC236}">
                <a16:creationId xmlns:a16="http://schemas.microsoft.com/office/drawing/2014/main" id="{51E86500-41AC-4A6B-A3AB-BA177F4D1538}"/>
              </a:ext>
            </a:extLst>
          </p:cNvPr>
          <p:cNvSpPr>
            <a:spLocks xmlns:a="http://schemas.openxmlformats.org/drawingml/2006/main" noGrp="1"/>
          </p:cNvSpPr>
          <p:nvPr/>
        </p:nvSpPr>
        <p:spPr>
          <a:xfrm xmlns:a="http://schemas.openxmlformats.org/drawingml/2006/main">
            <a:off x="9525000" y="2800350"/>
            <a:ext cx="102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B42318"/>
                </a:solidFill>
              </a:defRPr>
            </a:defPPr>
            <a:lvl1pPr algn="l">
              <a:defRPr sz="900" b="0">
                <a:solidFill>
                  <a:srgbClr val="B42318"/>
                </a:solidFill>
              </a:defRPr>
            </a:lvl1pPr>
            <a:lvl2pPr algn="l">
              <a:defRPr sz="900" b="0">
                <a:solidFill>
                  <a:srgbClr val="B42318"/>
                </a:solidFill>
              </a:defRPr>
            </a:lvl2pPr>
            <a:lvl3pPr algn="l">
              <a:defRPr sz="900" b="0">
                <a:solidFill>
                  <a:srgbClr val="B42318"/>
                </a:solidFill>
              </a:defRPr>
            </a:lvl3pPr>
            <a:lvl4pPr algn="l">
              <a:defRPr sz="900" b="0">
                <a:solidFill>
                  <a:srgbClr val="B42318"/>
                </a:solidFill>
              </a:defRPr>
            </a:lvl4pPr>
            <a:lvl5pPr algn="l">
              <a:defRPr sz="900" b="0">
                <a:solidFill>
                  <a:srgbClr val="B42318"/>
                </a:solidFill>
              </a:defRPr>
            </a:lvl5pPr>
            <a:lvl6pPr algn="l">
              <a:defRPr sz="900" b="0">
                <a:solidFill>
                  <a:srgbClr val="B42318"/>
                </a:solidFill>
              </a:defRPr>
            </a:lvl6pPr>
            <a:lvl7pPr algn="l">
              <a:defRPr sz="900" b="0">
                <a:solidFill>
                  <a:srgbClr val="B42318"/>
                </a:solidFill>
              </a:defRPr>
            </a:lvl7pPr>
            <a:lvl8pPr algn="l">
              <a:defRPr sz="900" b="0">
                <a:solidFill>
                  <a:srgbClr val="B42318"/>
                </a:solidFill>
              </a:defRPr>
            </a:lvl8pPr>
            <a:lvl9pPr algn="l">
              <a:defRPr sz="900" b="0">
                <a:solidFill>
                  <a:srgbClr val="B42318"/>
                </a:solidFill>
              </a:defRPr>
            </a:lvl9pPr>
          </a:lstStyle>
          <a:p xmlns:a="http://schemas.openxmlformats.org/drawingml/2006/main">
            <a:pPr algn="l">
              <a:defRPr sz="900" b="0">
                <a:solidFill>
                  <a:srgbClr val="B42318"/>
                </a:solidFill>
              </a:defRPr>
            </a:pPr>
            <a:r>
              <a:rPr sz="900" b="0">
                <a:solidFill>
                  <a:srgbClr val="B42318"/>
                </a:solidFill>
              </a:rPr>
              <a:t>0.044</a:t>
            </a:r>
          </a:p>
        </p:txBody>
      </p:sp>
      <p:sp>
        <p:nvSpPr>
          <p:cNvPr id="24" name="">
            <a:extLst xmlns:a="http://schemas.openxmlformats.org/drawingml/2006/main">
              <a:ext uri="{FF2B5EF4-FFF2-40B4-BE49-F238E27FC236}">
                <a16:creationId xmlns:a16="http://schemas.microsoft.com/office/drawing/2014/main" id="{2A198C0C-94BF-4C10-A7AF-4C3129D4E18F}"/>
              </a:ext>
            </a:extLst>
          </p:cNvPr>
          <p:cNvSpPr>
            <a:spLocks xmlns:a="http://schemas.openxmlformats.org/drawingml/2006/main" noGrp="1"/>
          </p:cNvSpPr>
          <p:nvPr/>
        </p:nvSpPr>
        <p:spPr>
          <a:xfrm xmlns:a="http://schemas.openxmlformats.org/drawingml/2006/main">
            <a:off x="10687050" y="28003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B42318"/>
                </a:solidFill>
              </a:defRPr>
            </a:defPPr>
            <a:lvl1pPr algn="l">
              <a:defRPr sz="825" b="1">
                <a:solidFill>
                  <a:srgbClr val="B42318"/>
                </a:solidFill>
              </a:defRPr>
            </a:lvl1pPr>
            <a:lvl2pPr algn="l">
              <a:defRPr sz="825" b="1">
                <a:solidFill>
                  <a:srgbClr val="B42318"/>
                </a:solidFill>
              </a:defRPr>
            </a:lvl2pPr>
            <a:lvl3pPr algn="l">
              <a:defRPr sz="825" b="1">
                <a:solidFill>
                  <a:srgbClr val="B42318"/>
                </a:solidFill>
              </a:defRPr>
            </a:lvl3pPr>
            <a:lvl4pPr algn="l">
              <a:defRPr sz="825" b="1">
                <a:solidFill>
                  <a:srgbClr val="B42318"/>
                </a:solidFill>
              </a:defRPr>
            </a:lvl4pPr>
            <a:lvl5pPr algn="l">
              <a:defRPr sz="825" b="1">
                <a:solidFill>
                  <a:srgbClr val="B42318"/>
                </a:solidFill>
              </a:defRPr>
            </a:lvl5pPr>
            <a:lvl6pPr algn="l">
              <a:defRPr sz="825" b="1">
                <a:solidFill>
                  <a:srgbClr val="B42318"/>
                </a:solidFill>
              </a:defRPr>
            </a:lvl6pPr>
            <a:lvl7pPr algn="l">
              <a:defRPr sz="825" b="1">
                <a:solidFill>
                  <a:srgbClr val="B42318"/>
                </a:solidFill>
              </a:defRPr>
            </a:lvl7pPr>
            <a:lvl8pPr algn="l">
              <a:defRPr sz="825" b="1">
                <a:solidFill>
                  <a:srgbClr val="B42318"/>
                </a:solidFill>
              </a:defRPr>
            </a:lvl8pPr>
            <a:lvl9pPr algn="l">
              <a:defRPr sz="825" b="1">
                <a:solidFill>
                  <a:srgbClr val="B42318"/>
                </a:solidFill>
              </a:defRPr>
            </a:lvl9pPr>
          </a:lstStyle>
          <a:p xmlns:a="http://schemas.openxmlformats.org/drawingml/2006/main">
            <a:pPr algn="l">
              <a:defRPr sz="825" b="1">
                <a:solidFill>
                  <a:srgbClr val="B42318"/>
                </a:solidFill>
              </a:defRPr>
            </a:pPr>
            <a:r>
              <a:rPr sz="825" b="1">
                <a:solidFill>
                  <a:srgbClr val="B42318"/>
                </a:solidFill>
              </a:rPr>
              <a:t>REVIEW</a:t>
            </a:r>
          </a:p>
        </p:txBody>
      </p:sp>
      <p:sp>
        <p:nvSpPr>
          <p:cNvPr id="25" name="">
            <a:extLst xmlns:a="http://schemas.openxmlformats.org/drawingml/2006/main">
              <a:ext uri="{FF2B5EF4-FFF2-40B4-BE49-F238E27FC236}">
                <a16:creationId xmlns:a16="http://schemas.microsoft.com/office/drawing/2014/main" id="{F1C15990-26B3-49D8-A73B-EA0BC46563B1}"/>
              </a:ext>
            </a:extLst>
          </p:cNvPr>
          <p:cNvSpPr>
            <a:spLocks xmlns:a="http://schemas.openxmlformats.org/drawingml/2006/main" noGrp="1"/>
          </p:cNvSpPr>
          <p:nvPr/>
        </p:nvSpPr>
        <p:spPr>
          <a:xfrm xmlns:a="http://schemas.openxmlformats.org/drawingml/2006/main">
            <a:off x="5810250" y="33528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111111"/>
                </a:solidFill>
              </a:defRPr>
            </a:defPPr>
            <a:lvl1pPr algn="l">
              <a:defRPr sz="975" b="0">
                <a:solidFill>
                  <a:srgbClr val="111111"/>
                </a:solidFill>
              </a:defRPr>
            </a:lvl1pPr>
            <a:lvl2pPr algn="l">
              <a:defRPr sz="975" b="0">
                <a:solidFill>
                  <a:srgbClr val="111111"/>
                </a:solidFill>
              </a:defRPr>
            </a:lvl2pPr>
            <a:lvl3pPr algn="l">
              <a:defRPr sz="975" b="0">
                <a:solidFill>
                  <a:srgbClr val="111111"/>
                </a:solidFill>
              </a:defRPr>
            </a:lvl3pPr>
            <a:lvl4pPr algn="l">
              <a:defRPr sz="975" b="0">
                <a:solidFill>
                  <a:srgbClr val="111111"/>
                </a:solidFill>
              </a:defRPr>
            </a:lvl4pPr>
            <a:lvl5pPr algn="l">
              <a:defRPr sz="975" b="0">
                <a:solidFill>
                  <a:srgbClr val="111111"/>
                </a:solidFill>
              </a:defRPr>
            </a:lvl5pPr>
            <a:lvl6pPr algn="l">
              <a:defRPr sz="975" b="0">
                <a:solidFill>
                  <a:srgbClr val="111111"/>
                </a:solidFill>
              </a:defRPr>
            </a:lvl6pPr>
            <a:lvl7pPr algn="l">
              <a:defRPr sz="975" b="0">
                <a:solidFill>
                  <a:srgbClr val="111111"/>
                </a:solidFill>
              </a:defRPr>
            </a:lvl7pPr>
            <a:lvl8pPr algn="l">
              <a:defRPr sz="975" b="0">
                <a:solidFill>
                  <a:srgbClr val="111111"/>
                </a:solidFill>
              </a:defRPr>
            </a:lvl8pPr>
            <a:lvl9pPr algn="l">
              <a:defRPr sz="975" b="0">
                <a:solidFill>
                  <a:srgbClr val="111111"/>
                </a:solidFill>
              </a:defRPr>
            </a:lvl9pPr>
          </a:lstStyle>
          <a:p xmlns:a="http://schemas.openxmlformats.org/drawingml/2006/main">
            <a:pPr algn="l">
              <a:defRPr sz="975" b="0">
                <a:solidFill>
                  <a:srgbClr val="111111"/>
                </a:solidFill>
              </a:defRPr>
            </a:pPr>
            <a:r>
              <a:rPr sz="975" b="0">
                <a:solidFill>
                  <a:srgbClr val="111111"/>
                </a:solidFill>
              </a:rPr>
              <a:t>GARCH-HS</a:t>
            </a:r>
          </a:p>
        </p:txBody>
      </p:sp>
      <p:sp>
        <p:nvSpPr>
          <p:cNvPr id="26" name="">
            <a:extLst xmlns:a="http://schemas.openxmlformats.org/drawingml/2006/main">
              <a:ext uri="{FF2B5EF4-FFF2-40B4-BE49-F238E27FC236}">
                <a16:creationId xmlns:a16="http://schemas.microsoft.com/office/drawing/2014/main" id="{0074A1A4-C3B9-4A24-B258-0C410AD37597}"/>
              </a:ext>
            </a:extLst>
          </p:cNvPr>
          <p:cNvSpPr>
            <a:spLocks xmlns:a="http://schemas.openxmlformats.org/drawingml/2006/main" noGrp="1"/>
          </p:cNvSpPr>
          <p:nvPr/>
        </p:nvSpPr>
        <p:spPr>
          <a:xfrm xmlns:a="http://schemas.openxmlformats.org/drawingml/2006/main">
            <a:off x="7239000" y="335280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111111"/>
                </a:solidFill>
              </a:defRPr>
            </a:defPPr>
            <a:lvl1pPr algn="l">
              <a:defRPr sz="900" b="0">
                <a:solidFill>
                  <a:srgbClr val="111111"/>
                </a:solidFill>
              </a:defRPr>
            </a:lvl1pPr>
            <a:lvl2pPr algn="l">
              <a:defRPr sz="900" b="0">
                <a:solidFill>
                  <a:srgbClr val="111111"/>
                </a:solidFill>
              </a:defRPr>
            </a:lvl2pPr>
            <a:lvl3pPr algn="l">
              <a:defRPr sz="900" b="0">
                <a:solidFill>
                  <a:srgbClr val="111111"/>
                </a:solidFill>
              </a:defRPr>
            </a:lvl3pPr>
            <a:lvl4pPr algn="l">
              <a:defRPr sz="900" b="0">
                <a:solidFill>
                  <a:srgbClr val="111111"/>
                </a:solidFill>
              </a:defRPr>
            </a:lvl4pPr>
            <a:lvl5pPr algn="l">
              <a:defRPr sz="900" b="0">
                <a:solidFill>
                  <a:srgbClr val="111111"/>
                </a:solidFill>
              </a:defRPr>
            </a:lvl5pPr>
            <a:lvl6pPr algn="l">
              <a:defRPr sz="900" b="0">
                <a:solidFill>
                  <a:srgbClr val="111111"/>
                </a:solidFill>
              </a:defRPr>
            </a:lvl6pPr>
            <a:lvl7pPr algn="l">
              <a:defRPr sz="900" b="0">
                <a:solidFill>
                  <a:srgbClr val="111111"/>
                </a:solidFill>
              </a:defRPr>
            </a:lvl7pPr>
            <a:lvl8pPr algn="l">
              <a:defRPr sz="900" b="0">
                <a:solidFill>
                  <a:srgbClr val="111111"/>
                </a:solidFill>
              </a:defRPr>
            </a:lvl8pPr>
            <a:lvl9pPr algn="l">
              <a:defRPr sz="900" b="0">
                <a:solidFill>
                  <a:srgbClr val="111111"/>
                </a:solidFill>
              </a:defRPr>
            </a:lvl9pPr>
          </a:lstStyle>
          <a:p xmlns:a="http://schemas.openxmlformats.org/drawingml/2006/main">
            <a:pPr algn="l">
              <a:defRPr sz="900" b="0">
                <a:solidFill>
                  <a:srgbClr val="111111"/>
                </a:solidFill>
              </a:defRPr>
            </a:pPr>
            <a:r>
              <a:rPr sz="900" b="0">
                <a:solidFill>
                  <a:srgbClr val="111111"/>
                </a:solidFill>
              </a:rPr>
              <a:t>33 / 31.2</a:t>
            </a:r>
          </a:p>
        </p:txBody>
      </p:sp>
      <p:sp>
        <p:nvSpPr>
          <p:cNvPr id="27" name="">
            <a:extLst xmlns:a="http://schemas.openxmlformats.org/drawingml/2006/main">
              <a:ext uri="{FF2B5EF4-FFF2-40B4-BE49-F238E27FC236}">
                <a16:creationId xmlns:a16="http://schemas.microsoft.com/office/drawing/2014/main" id="{B6FF26AF-3262-41A1-823F-8D7E4FF57BFB}"/>
              </a:ext>
            </a:extLst>
          </p:cNvPr>
          <p:cNvSpPr>
            <a:spLocks xmlns:a="http://schemas.openxmlformats.org/drawingml/2006/main" noGrp="1"/>
          </p:cNvSpPr>
          <p:nvPr/>
        </p:nvSpPr>
        <p:spPr>
          <a:xfrm xmlns:a="http://schemas.openxmlformats.org/drawingml/2006/main">
            <a:off x="8420100" y="33528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111111"/>
                </a:solidFill>
              </a:defRPr>
            </a:defPPr>
            <a:lvl1pPr algn="l">
              <a:defRPr sz="900" b="0">
                <a:solidFill>
                  <a:srgbClr val="111111"/>
                </a:solidFill>
              </a:defRPr>
            </a:lvl1pPr>
            <a:lvl2pPr algn="l">
              <a:defRPr sz="900" b="0">
                <a:solidFill>
                  <a:srgbClr val="111111"/>
                </a:solidFill>
              </a:defRPr>
            </a:lvl2pPr>
            <a:lvl3pPr algn="l">
              <a:defRPr sz="900" b="0">
                <a:solidFill>
                  <a:srgbClr val="111111"/>
                </a:solidFill>
              </a:defRPr>
            </a:lvl3pPr>
            <a:lvl4pPr algn="l">
              <a:defRPr sz="900" b="0">
                <a:solidFill>
                  <a:srgbClr val="111111"/>
                </a:solidFill>
              </a:defRPr>
            </a:lvl4pPr>
            <a:lvl5pPr algn="l">
              <a:defRPr sz="900" b="0">
                <a:solidFill>
                  <a:srgbClr val="111111"/>
                </a:solidFill>
              </a:defRPr>
            </a:lvl5pPr>
            <a:lvl6pPr algn="l">
              <a:defRPr sz="900" b="0">
                <a:solidFill>
                  <a:srgbClr val="111111"/>
                </a:solidFill>
              </a:defRPr>
            </a:lvl6pPr>
            <a:lvl7pPr algn="l">
              <a:defRPr sz="900" b="0">
                <a:solidFill>
                  <a:srgbClr val="111111"/>
                </a:solidFill>
              </a:defRPr>
            </a:lvl7pPr>
            <a:lvl8pPr algn="l">
              <a:defRPr sz="900" b="0">
                <a:solidFill>
                  <a:srgbClr val="111111"/>
                </a:solidFill>
              </a:defRPr>
            </a:lvl8pPr>
            <a:lvl9pPr algn="l">
              <a:defRPr sz="900" b="0">
                <a:solidFill>
                  <a:srgbClr val="111111"/>
                </a:solidFill>
              </a:defRPr>
            </a:lvl9pPr>
          </a:lstStyle>
          <a:p xmlns:a="http://schemas.openxmlformats.org/drawingml/2006/main">
            <a:pPr algn="l">
              <a:defRPr sz="900" b="0">
                <a:solidFill>
                  <a:srgbClr val="111111"/>
                </a:solidFill>
              </a:defRPr>
            </a:pPr>
            <a:r>
              <a:rPr sz="900" b="0">
                <a:solidFill>
                  <a:srgbClr val="111111"/>
                </a:solidFill>
              </a:rPr>
              <a:t>0.747</a:t>
            </a:r>
          </a:p>
        </p:txBody>
      </p:sp>
      <p:sp>
        <p:nvSpPr>
          <p:cNvPr id="28" name="">
            <a:extLst xmlns:a="http://schemas.openxmlformats.org/drawingml/2006/main">
              <a:ext uri="{FF2B5EF4-FFF2-40B4-BE49-F238E27FC236}">
                <a16:creationId xmlns:a16="http://schemas.microsoft.com/office/drawing/2014/main" id="{C0155CFF-87B1-46E9-BBDD-F84BF9A23C08}"/>
              </a:ext>
            </a:extLst>
          </p:cNvPr>
          <p:cNvSpPr>
            <a:spLocks xmlns:a="http://schemas.openxmlformats.org/drawingml/2006/main" noGrp="1"/>
          </p:cNvSpPr>
          <p:nvPr/>
        </p:nvSpPr>
        <p:spPr>
          <a:xfrm xmlns:a="http://schemas.openxmlformats.org/drawingml/2006/main">
            <a:off x="9525000" y="3352800"/>
            <a:ext cx="102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B42318"/>
                </a:solidFill>
              </a:defRPr>
            </a:defPPr>
            <a:lvl1pPr algn="l">
              <a:defRPr sz="900" b="0">
                <a:solidFill>
                  <a:srgbClr val="B42318"/>
                </a:solidFill>
              </a:defRPr>
            </a:lvl1pPr>
            <a:lvl2pPr algn="l">
              <a:defRPr sz="900" b="0">
                <a:solidFill>
                  <a:srgbClr val="B42318"/>
                </a:solidFill>
              </a:defRPr>
            </a:lvl2pPr>
            <a:lvl3pPr algn="l">
              <a:defRPr sz="900" b="0">
                <a:solidFill>
                  <a:srgbClr val="B42318"/>
                </a:solidFill>
              </a:defRPr>
            </a:lvl3pPr>
            <a:lvl4pPr algn="l">
              <a:defRPr sz="900" b="0">
                <a:solidFill>
                  <a:srgbClr val="B42318"/>
                </a:solidFill>
              </a:defRPr>
            </a:lvl4pPr>
            <a:lvl5pPr algn="l">
              <a:defRPr sz="900" b="0">
                <a:solidFill>
                  <a:srgbClr val="B42318"/>
                </a:solidFill>
              </a:defRPr>
            </a:lvl5pPr>
            <a:lvl6pPr algn="l">
              <a:defRPr sz="900" b="0">
                <a:solidFill>
                  <a:srgbClr val="B42318"/>
                </a:solidFill>
              </a:defRPr>
            </a:lvl6pPr>
            <a:lvl7pPr algn="l">
              <a:defRPr sz="900" b="0">
                <a:solidFill>
                  <a:srgbClr val="B42318"/>
                </a:solidFill>
              </a:defRPr>
            </a:lvl7pPr>
            <a:lvl8pPr algn="l">
              <a:defRPr sz="900" b="0">
                <a:solidFill>
                  <a:srgbClr val="B42318"/>
                </a:solidFill>
              </a:defRPr>
            </a:lvl8pPr>
            <a:lvl9pPr algn="l">
              <a:defRPr sz="900" b="0">
                <a:solidFill>
                  <a:srgbClr val="B42318"/>
                </a:solidFill>
              </a:defRPr>
            </a:lvl9pPr>
          </a:lstStyle>
          <a:p xmlns:a="http://schemas.openxmlformats.org/drawingml/2006/main">
            <a:pPr algn="l">
              <a:defRPr sz="900" b="0">
                <a:solidFill>
                  <a:srgbClr val="B42318"/>
                </a:solidFill>
              </a:defRPr>
            </a:pPr>
            <a:r>
              <a:rPr sz="900" b="0">
                <a:solidFill>
                  <a:srgbClr val="B42318"/>
                </a:solidFill>
              </a:rPr>
              <a:t>0.005</a:t>
            </a:r>
          </a:p>
        </p:txBody>
      </p:sp>
      <p:sp>
        <p:nvSpPr>
          <p:cNvPr id="29" name="">
            <a:extLst xmlns:a="http://schemas.openxmlformats.org/drawingml/2006/main">
              <a:ext uri="{FF2B5EF4-FFF2-40B4-BE49-F238E27FC236}">
                <a16:creationId xmlns:a16="http://schemas.microsoft.com/office/drawing/2014/main" id="{EEE525EF-4911-4FA4-B1F8-DBC18111774D}"/>
              </a:ext>
            </a:extLst>
          </p:cNvPr>
          <p:cNvSpPr>
            <a:spLocks xmlns:a="http://schemas.openxmlformats.org/drawingml/2006/main" noGrp="1"/>
          </p:cNvSpPr>
          <p:nvPr/>
        </p:nvSpPr>
        <p:spPr>
          <a:xfrm xmlns:a="http://schemas.openxmlformats.org/drawingml/2006/main">
            <a:off x="10687050" y="33528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B42318"/>
                </a:solidFill>
              </a:defRPr>
            </a:defPPr>
            <a:lvl1pPr algn="l">
              <a:defRPr sz="825" b="1">
                <a:solidFill>
                  <a:srgbClr val="B42318"/>
                </a:solidFill>
              </a:defRPr>
            </a:lvl1pPr>
            <a:lvl2pPr algn="l">
              <a:defRPr sz="825" b="1">
                <a:solidFill>
                  <a:srgbClr val="B42318"/>
                </a:solidFill>
              </a:defRPr>
            </a:lvl2pPr>
            <a:lvl3pPr algn="l">
              <a:defRPr sz="825" b="1">
                <a:solidFill>
                  <a:srgbClr val="B42318"/>
                </a:solidFill>
              </a:defRPr>
            </a:lvl3pPr>
            <a:lvl4pPr algn="l">
              <a:defRPr sz="825" b="1">
                <a:solidFill>
                  <a:srgbClr val="B42318"/>
                </a:solidFill>
              </a:defRPr>
            </a:lvl4pPr>
            <a:lvl5pPr algn="l">
              <a:defRPr sz="825" b="1">
                <a:solidFill>
                  <a:srgbClr val="B42318"/>
                </a:solidFill>
              </a:defRPr>
            </a:lvl5pPr>
            <a:lvl6pPr algn="l">
              <a:defRPr sz="825" b="1">
                <a:solidFill>
                  <a:srgbClr val="B42318"/>
                </a:solidFill>
              </a:defRPr>
            </a:lvl6pPr>
            <a:lvl7pPr algn="l">
              <a:defRPr sz="825" b="1">
                <a:solidFill>
                  <a:srgbClr val="B42318"/>
                </a:solidFill>
              </a:defRPr>
            </a:lvl7pPr>
            <a:lvl8pPr algn="l">
              <a:defRPr sz="825" b="1">
                <a:solidFill>
                  <a:srgbClr val="B42318"/>
                </a:solidFill>
              </a:defRPr>
            </a:lvl8pPr>
            <a:lvl9pPr algn="l">
              <a:defRPr sz="825" b="1">
                <a:solidFill>
                  <a:srgbClr val="B42318"/>
                </a:solidFill>
              </a:defRPr>
            </a:lvl9pPr>
          </a:lstStyle>
          <a:p xmlns:a="http://schemas.openxmlformats.org/drawingml/2006/main">
            <a:pPr algn="l">
              <a:defRPr sz="825" b="1">
                <a:solidFill>
                  <a:srgbClr val="B42318"/>
                </a:solidFill>
              </a:defRPr>
            </a:pPr>
            <a:r>
              <a:rPr sz="825" b="1">
                <a:solidFill>
                  <a:srgbClr val="B42318"/>
                </a:solidFill>
              </a:rPr>
              <a:t>REVIEW</a:t>
            </a:r>
          </a:p>
        </p:txBody>
      </p:sp>
      <p:sp>
        <p:nvSpPr>
          <p:cNvPr id="30" name="">
            <a:extLst xmlns:a="http://schemas.openxmlformats.org/drawingml/2006/main">
              <a:ext uri="{FF2B5EF4-FFF2-40B4-BE49-F238E27FC236}">
                <a16:creationId xmlns:a16="http://schemas.microsoft.com/office/drawing/2014/main" id="{AF69543D-81CC-4DDF-86BC-E1087C406341}"/>
              </a:ext>
            </a:extLst>
          </p:cNvPr>
          <p:cNvSpPr>
            <a:spLocks xmlns:a="http://schemas.openxmlformats.org/drawingml/2006/main" noGrp="1"/>
          </p:cNvSpPr>
          <p:nvPr/>
        </p:nvSpPr>
        <p:spPr>
          <a:xfrm xmlns:a="http://schemas.openxmlformats.org/drawingml/2006/main">
            <a:off x="5734050" y="3848100"/>
            <a:ext cx="5581650" cy="476250"/>
          </a:xfrm>
          <a:prstGeom xmlns:a="http://schemas.openxmlformats.org/drawingml/2006/main" prst="rect">
            <a:avLst/>
          </a:prstGeom>
          <a:solidFill xmlns:a="http://schemas.openxmlformats.org/drawingml/2006/main">
            <a:srgbClr val="F5F5F2"/>
          </a:solidFill>
          <a:ln xmlns:a="http://schemas.openxmlformats.org/drawingml/2006/main" w="0">
            <a:solidFill>
              <a:srgbClr val="F5F5F2"/>
            </a:solidFill>
            <a:prstDash val="solid"/>
          </a:ln>
        </p:spPr>
      </p:sp>
      <p:sp>
        <p:nvSpPr>
          <p:cNvPr id="31" name="">
            <a:extLst xmlns:a="http://schemas.openxmlformats.org/drawingml/2006/main">
              <a:ext uri="{FF2B5EF4-FFF2-40B4-BE49-F238E27FC236}">
                <a16:creationId xmlns:a16="http://schemas.microsoft.com/office/drawing/2014/main" id="{C238A10D-339B-49EE-9459-21C9D71E10EA}"/>
              </a:ext>
            </a:extLst>
          </p:cNvPr>
          <p:cNvSpPr>
            <a:spLocks xmlns:a="http://schemas.openxmlformats.org/drawingml/2006/main" noGrp="1"/>
          </p:cNvSpPr>
          <p:nvPr/>
        </p:nvSpPr>
        <p:spPr>
          <a:xfrm xmlns:a="http://schemas.openxmlformats.org/drawingml/2006/main">
            <a:off x="5810250" y="39052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0">
                <a:solidFill>
                  <a:srgbClr val="111111"/>
                </a:solidFill>
              </a:defRPr>
            </a:defPPr>
            <a:lvl1pPr algn="l">
              <a:defRPr sz="975" b="0">
                <a:solidFill>
                  <a:srgbClr val="111111"/>
                </a:solidFill>
              </a:defRPr>
            </a:lvl1pPr>
            <a:lvl2pPr algn="l">
              <a:defRPr sz="975" b="0">
                <a:solidFill>
                  <a:srgbClr val="111111"/>
                </a:solidFill>
              </a:defRPr>
            </a:lvl2pPr>
            <a:lvl3pPr algn="l">
              <a:defRPr sz="975" b="0">
                <a:solidFill>
                  <a:srgbClr val="111111"/>
                </a:solidFill>
              </a:defRPr>
            </a:lvl3pPr>
            <a:lvl4pPr algn="l">
              <a:defRPr sz="975" b="0">
                <a:solidFill>
                  <a:srgbClr val="111111"/>
                </a:solidFill>
              </a:defRPr>
            </a:lvl4pPr>
            <a:lvl5pPr algn="l">
              <a:defRPr sz="975" b="0">
                <a:solidFill>
                  <a:srgbClr val="111111"/>
                </a:solidFill>
              </a:defRPr>
            </a:lvl5pPr>
            <a:lvl6pPr algn="l">
              <a:defRPr sz="975" b="0">
                <a:solidFill>
                  <a:srgbClr val="111111"/>
                </a:solidFill>
              </a:defRPr>
            </a:lvl6pPr>
            <a:lvl7pPr algn="l">
              <a:defRPr sz="975" b="0">
                <a:solidFill>
                  <a:srgbClr val="111111"/>
                </a:solidFill>
              </a:defRPr>
            </a:lvl7pPr>
            <a:lvl8pPr algn="l">
              <a:defRPr sz="975" b="0">
                <a:solidFill>
                  <a:srgbClr val="111111"/>
                </a:solidFill>
              </a:defRPr>
            </a:lvl8pPr>
            <a:lvl9pPr algn="l">
              <a:defRPr sz="975" b="0">
                <a:solidFill>
                  <a:srgbClr val="111111"/>
                </a:solidFill>
              </a:defRPr>
            </a:lvl9pPr>
          </a:lstStyle>
          <a:p xmlns:a="http://schemas.openxmlformats.org/drawingml/2006/main">
            <a:pPr algn="l">
              <a:defRPr sz="975" b="0">
                <a:solidFill>
                  <a:srgbClr val="111111"/>
                </a:solidFill>
              </a:defRPr>
            </a:pPr>
            <a:r>
              <a:rPr sz="975" b="0">
                <a:solidFill>
                  <a:srgbClr val="111111"/>
                </a:solidFill>
              </a:rPr>
              <a:t>HS</a:t>
            </a:r>
          </a:p>
        </p:txBody>
      </p:sp>
      <p:sp>
        <p:nvSpPr>
          <p:cNvPr id="32" name="">
            <a:extLst xmlns:a="http://schemas.openxmlformats.org/drawingml/2006/main">
              <a:ext uri="{FF2B5EF4-FFF2-40B4-BE49-F238E27FC236}">
                <a16:creationId xmlns:a16="http://schemas.microsoft.com/office/drawing/2014/main" id="{2ACA0C40-B195-4CB5-8A59-73C5703DFB86}"/>
              </a:ext>
            </a:extLst>
          </p:cNvPr>
          <p:cNvSpPr>
            <a:spLocks xmlns:a="http://schemas.openxmlformats.org/drawingml/2006/main" noGrp="1"/>
          </p:cNvSpPr>
          <p:nvPr/>
        </p:nvSpPr>
        <p:spPr>
          <a:xfrm xmlns:a="http://schemas.openxmlformats.org/drawingml/2006/main">
            <a:off x="7239000" y="390525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111111"/>
                </a:solidFill>
              </a:defRPr>
            </a:defPPr>
            <a:lvl1pPr algn="l">
              <a:defRPr sz="900" b="0">
                <a:solidFill>
                  <a:srgbClr val="111111"/>
                </a:solidFill>
              </a:defRPr>
            </a:lvl1pPr>
            <a:lvl2pPr algn="l">
              <a:defRPr sz="900" b="0">
                <a:solidFill>
                  <a:srgbClr val="111111"/>
                </a:solidFill>
              </a:defRPr>
            </a:lvl2pPr>
            <a:lvl3pPr algn="l">
              <a:defRPr sz="900" b="0">
                <a:solidFill>
                  <a:srgbClr val="111111"/>
                </a:solidFill>
              </a:defRPr>
            </a:lvl3pPr>
            <a:lvl4pPr algn="l">
              <a:defRPr sz="900" b="0">
                <a:solidFill>
                  <a:srgbClr val="111111"/>
                </a:solidFill>
              </a:defRPr>
            </a:lvl4pPr>
            <a:lvl5pPr algn="l">
              <a:defRPr sz="900" b="0">
                <a:solidFill>
                  <a:srgbClr val="111111"/>
                </a:solidFill>
              </a:defRPr>
            </a:lvl5pPr>
            <a:lvl6pPr algn="l">
              <a:defRPr sz="900" b="0">
                <a:solidFill>
                  <a:srgbClr val="111111"/>
                </a:solidFill>
              </a:defRPr>
            </a:lvl6pPr>
            <a:lvl7pPr algn="l">
              <a:defRPr sz="900" b="0">
                <a:solidFill>
                  <a:srgbClr val="111111"/>
                </a:solidFill>
              </a:defRPr>
            </a:lvl7pPr>
            <a:lvl8pPr algn="l">
              <a:defRPr sz="900" b="0">
                <a:solidFill>
                  <a:srgbClr val="111111"/>
                </a:solidFill>
              </a:defRPr>
            </a:lvl8pPr>
            <a:lvl9pPr algn="l">
              <a:defRPr sz="900" b="0">
                <a:solidFill>
                  <a:srgbClr val="111111"/>
                </a:solidFill>
              </a:defRPr>
            </a:lvl9pPr>
          </a:lstStyle>
          <a:p xmlns:a="http://schemas.openxmlformats.org/drawingml/2006/main">
            <a:pPr algn="l">
              <a:defRPr sz="900" b="0">
                <a:solidFill>
                  <a:srgbClr val="111111"/>
                </a:solidFill>
              </a:defRPr>
            </a:pPr>
            <a:r>
              <a:rPr sz="900" b="0">
                <a:solidFill>
                  <a:srgbClr val="111111"/>
                </a:solidFill>
              </a:rPr>
              <a:t>36 / 31.2</a:t>
            </a:r>
          </a:p>
        </p:txBody>
      </p:sp>
      <p:sp>
        <p:nvSpPr>
          <p:cNvPr id="33" name="">
            <a:extLst xmlns:a="http://schemas.openxmlformats.org/drawingml/2006/main">
              <a:ext uri="{FF2B5EF4-FFF2-40B4-BE49-F238E27FC236}">
                <a16:creationId xmlns:a16="http://schemas.microsoft.com/office/drawing/2014/main" id="{5214FF6B-4ECE-45ED-8BF9-53E7567AA40F}"/>
              </a:ext>
            </a:extLst>
          </p:cNvPr>
          <p:cNvSpPr>
            <a:spLocks xmlns:a="http://schemas.openxmlformats.org/drawingml/2006/main" noGrp="1"/>
          </p:cNvSpPr>
          <p:nvPr/>
        </p:nvSpPr>
        <p:spPr>
          <a:xfrm xmlns:a="http://schemas.openxmlformats.org/drawingml/2006/main">
            <a:off x="8420100" y="39052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111111"/>
                </a:solidFill>
              </a:defRPr>
            </a:defPPr>
            <a:lvl1pPr algn="l">
              <a:defRPr sz="900" b="0">
                <a:solidFill>
                  <a:srgbClr val="111111"/>
                </a:solidFill>
              </a:defRPr>
            </a:lvl1pPr>
            <a:lvl2pPr algn="l">
              <a:defRPr sz="900" b="0">
                <a:solidFill>
                  <a:srgbClr val="111111"/>
                </a:solidFill>
              </a:defRPr>
            </a:lvl2pPr>
            <a:lvl3pPr algn="l">
              <a:defRPr sz="900" b="0">
                <a:solidFill>
                  <a:srgbClr val="111111"/>
                </a:solidFill>
              </a:defRPr>
            </a:lvl3pPr>
            <a:lvl4pPr algn="l">
              <a:defRPr sz="900" b="0">
                <a:solidFill>
                  <a:srgbClr val="111111"/>
                </a:solidFill>
              </a:defRPr>
            </a:lvl4pPr>
            <a:lvl5pPr algn="l">
              <a:defRPr sz="900" b="0">
                <a:solidFill>
                  <a:srgbClr val="111111"/>
                </a:solidFill>
              </a:defRPr>
            </a:lvl5pPr>
            <a:lvl6pPr algn="l">
              <a:defRPr sz="900" b="0">
                <a:solidFill>
                  <a:srgbClr val="111111"/>
                </a:solidFill>
              </a:defRPr>
            </a:lvl6pPr>
            <a:lvl7pPr algn="l">
              <a:defRPr sz="900" b="0">
                <a:solidFill>
                  <a:srgbClr val="111111"/>
                </a:solidFill>
              </a:defRPr>
            </a:lvl7pPr>
            <a:lvl8pPr algn="l">
              <a:defRPr sz="900" b="0">
                <a:solidFill>
                  <a:srgbClr val="111111"/>
                </a:solidFill>
              </a:defRPr>
            </a:lvl8pPr>
            <a:lvl9pPr algn="l">
              <a:defRPr sz="900" b="0">
                <a:solidFill>
                  <a:srgbClr val="111111"/>
                </a:solidFill>
              </a:defRPr>
            </a:lvl9pPr>
          </a:lstStyle>
          <a:p xmlns:a="http://schemas.openxmlformats.org/drawingml/2006/main">
            <a:pPr algn="l">
              <a:defRPr sz="900" b="0">
                <a:solidFill>
                  <a:srgbClr val="111111"/>
                </a:solidFill>
              </a:defRPr>
            </a:pPr>
            <a:r>
              <a:rPr sz="900" b="0">
                <a:solidFill>
                  <a:srgbClr val="111111"/>
                </a:solidFill>
              </a:rPr>
              <a:t>0.398</a:t>
            </a:r>
          </a:p>
        </p:txBody>
      </p:sp>
      <p:sp>
        <p:nvSpPr>
          <p:cNvPr id="34" name="">
            <a:extLst xmlns:a="http://schemas.openxmlformats.org/drawingml/2006/main">
              <a:ext uri="{FF2B5EF4-FFF2-40B4-BE49-F238E27FC236}">
                <a16:creationId xmlns:a16="http://schemas.microsoft.com/office/drawing/2014/main" id="{CA34CB02-A522-48FA-81D4-A0ECE277A446}"/>
              </a:ext>
            </a:extLst>
          </p:cNvPr>
          <p:cNvSpPr>
            <a:spLocks xmlns:a="http://schemas.openxmlformats.org/drawingml/2006/main" noGrp="1"/>
          </p:cNvSpPr>
          <p:nvPr/>
        </p:nvSpPr>
        <p:spPr>
          <a:xfrm xmlns:a="http://schemas.openxmlformats.org/drawingml/2006/main">
            <a:off x="9525000" y="3905250"/>
            <a:ext cx="102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B42318"/>
                </a:solidFill>
              </a:defRPr>
            </a:defPPr>
            <a:lvl1pPr algn="l">
              <a:defRPr sz="900" b="0">
                <a:solidFill>
                  <a:srgbClr val="B42318"/>
                </a:solidFill>
              </a:defRPr>
            </a:lvl1pPr>
            <a:lvl2pPr algn="l">
              <a:defRPr sz="900" b="0">
                <a:solidFill>
                  <a:srgbClr val="B42318"/>
                </a:solidFill>
              </a:defRPr>
            </a:lvl2pPr>
            <a:lvl3pPr algn="l">
              <a:defRPr sz="900" b="0">
                <a:solidFill>
                  <a:srgbClr val="B42318"/>
                </a:solidFill>
              </a:defRPr>
            </a:lvl3pPr>
            <a:lvl4pPr algn="l">
              <a:defRPr sz="900" b="0">
                <a:solidFill>
                  <a:srgbClr val="B42318"/>
                </a:solidFill>
              </a:defRPr>
            </a:lvl4pPr>
            <a:lvl5pPr algn="l">
              <a:defRPr sz="900" b="0">
                <a:solidFill>
                  <a:srgbClr val="B42318"/>
                </a:solidFill>
              </a:defRPr>
            </a:lvl5pPr>
            <a:lvl6pPr algn="l">
              <a:defRPr sz="900" b="0">
                <a:solidFill>
                  <a:srgbClr val="B42318"/>
                </a:solidFill>
              </a:defRPr>
            </a:lvl6pPr>
            <a:lvl7pPr algn="l">
              <a:defRPr sz="900" b="0">
                <a:solidFill>
                  <a:srgbClr val="B42318"/>
                </a:solidFill>
              </a:defRPr>
            </a:lvl7pPr>
            <a:lvl8pPr algn="l">
              <a:defRPr sz="900" b="0">
                <a:solidFill>
                  <a:srgbClr val="B42318"/>
                </a:solidFill>
              </a:defRPr>
            </a:lvl8pPr>
            <a:lvl9pPr algn="l">
              <a:defRPr sz="900" b="0">
                <a:solidFill>
                  <a:srgbClr val="B42318"/>
                </a:solidFill>
              </a:defRPr>
            </a:lvl9pPr>
          </a:lstStyle>
          <a:p xmlns:a="http://schemas.openxmlformats.org/drawingml/2006/main">
            <a:pPr algn="l">
              <a:defRPr sz="900" b="0">
                <a:solidFill>
                  <a:srgbClr val="B42318"/>
                </a:solidFill>
              </a:defRPr>
            </a:pPr>
            <a:r>
              <a:rPr sz="900" b="0">
                <a:solidFill>
                  <a:srgbClr val="B42318"/>
                </a:solidFill>
              </a:rPr>
              <a:t>0.001</a:t>
            </a:r>
          </a:p>
        </p:txBody>
      </p:sp>
      <p:sp>
        <p:nvSpPr>
          <p:cNvPr id="35" name="">
            <a:extLst xmlns:a="http://schemas.openxmlformats.org/drawingml/2006/main">
              <a:ext uri="{FF2B5EF4-FFF2-40B4-BE49-F238E27FC236}">
                <a16:creationId xmlns:a16="http://schemas.microsoft.com/office/drawing/2014/main" id="{E3FC0E16-B20C-4F1E-A236-066ADF87A7F3}"/>
              </a:ext>
            </a:extLst>
          </p:cNvPr>
          <p:cNvSpPr>
            <a:spLocks xmlns:a="http://schemas.openxmlformats.org/drawingml/2006/main" noGrp="1"/>
          </p:cNvSpPr>
          <p:nvPr/>
        </p:nvSpPr>
        <p:spPr>
          <a:xfrm xmlns:a="http://schemas.openxmlformats.org/drawingml/2006/main">
            <a:off x="10687050" y="39052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B42318"/>
                </a:solidFill>
              </a:defRPr>
            </a:defPPr>
            <a:lvl1pPr algn="l">
              <a:defRPr sz="825" b="1">
                <a:solidFill>
                  <a:srgbClr val="B42318"/>
                </a:solidFill>
              </a:defRPr>
            </a:lvl1pPr>
            <a:lvl2pPr algn="l">
              <a:defRPr sz="825" b="1">
                <a:solidFill>
                  <a:srgbClr val="B42318"/>
                </a:solidFill>
              </a:defRPr>
            </a:lvl2pPr>
            <a:lvl3pPr algn="l">
              <a:defRPr sz="825" b="1">
                <a:solidFill>
                  <a:srgbClr val="B42318"/>
                </a:solidFill>
              </a:defRPr>
            </a:lvl3pPr>
            <a:lvl4pPr algn="l">
              <a:defRPr sz="825" b="1">
                <a:solidFill>
                  <a:srgbClr val="B42318"/>
                </a:solidFill>
              </a:defRPr>
            </a:lvl4pPr>
            <a:lvl5pPr algn="l">
              <a:defRPr sz="825" b="1">
                <a:solidFill>
                  <a:srgbClr val="B42318"/>
                </a:solidFill>
              </a:defRPr>
            </a:lvl5pPr>
            <a:lvl6pPr algn="l">
              <a:defRPr sz="825" b="1">
                <a:solidFill>
                  <a:srgbClr val="B42318"/>
                </a:solidFill>
              </a:defRPr>
            </a:lvl6pPr>
            <a:lvl7pPr algn="l">
              <a:defRPr sz="825" b="1">
                <a:solidFill>
                  <a:srgbClr val="B42318"/>
                </a:solidFill>
              </a:defRPr>
            </a:lvl7pPr>
            <a:lvl8pPr algn="l">
              <a:defRPr sz="825" b="1">
                <a:solidFill>
                  <a:srgbClr val="B42318"/>
                </a:solidFill>
              </a:defRPr>
            </a:lvl8pPr>
            <a:lvl9pPr algn="l">
              <a:defRPr sz="825" b="1">
                <a:solidFill>
                  <a:srgbClr val="B42318"/>
                </a:solidFill>
              </a:defRPr>
            </a:lvl9pPr>
          </a:lstStyle>
          <a:p xmlns:a="http://schemas.openxmlformats.org/drawingml/2006/main">
            <a:pPr algn="l">
              <a:defRPr sz="825" b="1">
                <a:solidFill>
                  <a:srgbClr val="B42318"/>
                </a:solidFill>
              </a:defRPr>
            </a:pPr>
            <a:r>
              <a:rPr sz="825" b="1">
                <a:solidFill>
                  <a:srgbClr val="B42318"/>
                </a:solidFill>
              </a:rPr>
              <a:t>REVIEW</a:t>
            </a:r>
          </a:p>
        </p:txBody>
      </p:sp>
      <p:sp>
        <p:nvSpPr>
          <p:cNvPr id="36" name="">
            <a:extLst xmlns:a="http://schemas.openxmlformats.org/drawingml/2006/main">
              <a:ext uri="{FF2B5EF4-FFF2-40B4-BE49-F238E27FC236}">
                <a16:creationId xmlns:a16="http://schemas.microsoft.com/office/drawing/2014/main" id="{A0AF407D-F780-4A51-B2EE-515EE5781440}"/>
              </a:ext>
            </a:extLst>
          </p:cNvPr>
          <p:cNvSpPr>
            <a:spLocks xmlns:a="http://schemas.openxmlformats.org/drawingml/2006/main" noGrp="1"/>
          </p:cNvSpPr>
          <p:nvPr/>
        </p:nvSpPr>
        <p:spPr>
          <a:xfrm xmlns:a="http://schemas.openxmlformats.org/drawingml/2006/main">
            <a:off x="514350" y="4991100"/>
            <a:ext cx="10801350" cy="495300"/>
          </a:xfrm>
          <a:prstGeom xmlns:a="http://schemas.openxmlformats.org/drawingml/2006/main" prst="rect">
            <a:avLst/>
          </a:prstGeom>
          <a:solidFill xmlns:a="http://schemas.openxmlformats.org/drawingml/2006/main">
            <a:srgbClr val="DDE8E7"/>
          </a:solidFill>
          <a:ln xmlns:a="http://schemas.openxmlformats.org/drawingml/2006/main" w="0">
            <a:solidFill>
              <a:srgbClr val="DDE8E7"/>
            </a:solidFill>
            <a:prstDash val="solid"/>
          </a:ln>
        </p:spPr>
      </p:sp>
      <p:sp>
        <p:nvSpPr>
          <p:cNvPr id="37" name="">
            <a:extLst xmlns:a="http://schemas.openxmlformats.org/drawingml/2006/main">
              <a:ext uri="{FF2B5EF4-FFF2-40B4-BE49-F238E27FC236}">
                <a16:creationId xmlns:a16="http://schemas.microsoft.com/office/drawing/2014/main" id="{12DE2A22-1370-402C-A88D-37E72F21761D}"/>
              </a:ext>
            </a:extLst>
          </p:cNvPr>
          <p:cNvSpPr>
            <a:spLocks xmlns:a="http://schemas.openxmlformats.org/drawingml/2006/main" noGrp="1"/>
          </p:cNvSpPr>
          <p:nvPr/>
        </p:nvSpPr>
        <p:spPr>
          <a:xfrm xmlns:a="http://schemas.openxmlformats.org/drawingml/2006/main">
            <a:off x="514350" y="4991100"/>
            <a:ext cx="47625" cy="4953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38" name="">
            <a:extLst xmlns:a="http://schemas.openxmlformats.org/drawingml/2006/main">
              <a:ext uri="{FF2B5EF4-FFF2-40B4-BE49-F238E27FC236}">
                <a16:creationId xmlns:a16="http://schemas.microsoft.com/office/drawing/2014/main" id="{0541A12D-1ABF-4F85-88D2-5D04505B2948}"/>
              </a:ext>
            </a:extLst>
          </p:cNvPr>
          <p:cNvSpPr>
            <a:spLocks xmlns:a="http://schemas.openxmlformats.org/drawingml/2006/main" noGrp="1"/>
          </p:cNvSpPr>
          <p:nvPr/>
        </p:nvSpPr>
        <p:spPr>
          <a:xfrm xmlns:a="http://schemas.openxmlformats.org/drawingml/2006/main">
            <a:off x="685800" y="5038725"/>
            <a:ext cx="10515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353535"/>
                </a:solidFill>
              </a:defRPr>
            </a:defPPr>
            <a:lvl1pPr algn="l">
              <a:defRPr sz="1050" b="1">
                <a:solidFill>
                  <a:srgbClr val="353535"/>
                </a:solidFill>
              </a:defRPr>
            </a:lvl1pPr>
            <a:lvl2pPr algn="l">
              <a:defRPr sz="1050" b="1">
                <a:solidFill>
                  <a:srgbClr val="353535"/>
                </a:solidFill>
              </a:defRPr>
            </a:lvl2pPr>
            <a:lvl3pPr algn="l">
              <a:defRPr sz="1050" b="1">
                <a:solidFill>
                  <a:srgbClr val="353535"/>
                </a:solidFill>
              </a:defRPr>
            </a:lvl3pPr>
            <a:lvl4pPr algn="l">
              <a:defRPr sz="1050" b="1">
                <a:solidFill>
                  <a:srgbClr val="353535"/>
                </a:solidFill>
              </a:defRPr>
            </a:lvl4pPr>
            <a:lvl5pPr algn="l">
              <a:defRPr sz="1050" b="1">
                <a:solidFill>
                  <a:srgbClr val="353535"/>
                </a:solidFill>
              </a:defRPr>
            </a:lvl5pPr>
            <a:lvl6pPr algn="l">
              <a:defRPr sz="1050" b="1">
                <a:solidFill>
                  <a:srgbClr val="353535"/>
                </a:solidFill>
              </a:defRPr>
            </a:lvl6pPr>
            <a:lvl7pPr algn="l">
              <a:defRPr sz="1050" b="1">
                <a:solidFill>
                  <a:srgbClr val="353535"/>
                </a:solidFill>
              </a:defRPr>
            </a:lvl7pPr>
            <a:lvl8pPr algn="l">
              <a:defRPr sz="1050" b="1">
                <a:solidFill>
                  <a:srgbClr val="353535"/>
                </a:solidFill>
              </a:defRPr>
            </a:lvl8pPr>
            <a:lvl9pPr algn="l">
              <a:defRPr sz="1050" b="1">
                <a:solidFill>
                  <a:srgbClr val="353535"/>
                </a:solidFill>
              </a:defRPr>
            </a:lvl9pPr>
          </a:lstStyle>
          <a:p xmlns:a="http://schemas.openxmlformats.org/drawingml/2006/main">
            <a:pPr algn="l">
              <a:defRPr sz="1050" b="1">
                <a:solidFill>
                  <a:srgbClr val="353535"/>
                </a:solidFill>
              </a:defRPr>
            </a:pPr>
            <a:r>
              <a:rPr sz="1050" b="1">
                <a:solidFill>
                  <a:srgbClr val="353535"/>
                </a:solidFill>
              </a:rPr>
              <a:t>Primary: GJR-HS  |  Challenger: EWMA-HS  |  Transparent benchmark: Historical Simulation</a:t>
            </a:r>
          </a:p>
        </p:txBody>
      </p:sp>
      <p:sp>
        <p:nvSpPr>
          <p:cNvPr id="39" name="">
            <a:extLst xmlns:a="http://schemas.openxmlformats.org/drawingml/2006/main">
              <a:ext uri="{FF2B5EF4-FFF2-40B4-BE49-F238E27FC236}">
                <a16:creationId xmlns:a16="http://schemas.microsoft.com/office/drawing/2014/main" id="{ECA14ADF-3CF9-4BC6-91FD-FFC6883A4A27}"/>
              </a:ext>
            </a:extLst>
          </p:cNvPr>
          <p:cNvSpPr>
            <a:spLocks xmlns:a="http://schemas.openxmlformats.org/drawingml/2006/main" noGrp="1"/>
          </p:cNvSpPr>
          <p:nvPr/>
        </p:nvSpPr>
        <p:spPr>
          <a:xfrm xmlns:a="http://schemas.openxmlformats.org/drawingml/2006/main">
            <a:off x="514350" y="5791200"/>
            <a:ext cx="38100" cy="4572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40" name="">
            <a:extLst xmlns:a="http://schemas.openxmlformats.org/drawingml/2006/main">
              <a:ext uri="{FF2B5EF4-FFF2-40B4-BE49-F238E27FC236}">
                <a16:creationId xmlns:a16="http://schemas.microsoft.com/office/drawing/2014/main" id="{35158BC3-3869-4DD8-9BCC-801B1E95E75E}"/>
              </a:ext>
            </a:extLst>
          </p:cNvPr>
          <p:cNvSpPr>
            <a:spLocks xmlns:a="http://schemas.openxmlformats.org/drawingml/2006/main" noGrp="1"/>
          </p:cNvSpPr>
          <p:nvPr/>
        </p:nvSpPr>
        <p:spPr>
          <a:xfrm xmlns:a="http://schemas.openxmlformats.org/drawingml/2006/main">
            <a:off x="666750" y="5753100"/>
            <a:ext cx="1061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Comparison metrics</a:t>
            </a:r>
          </a:p>
        </p:txBody>
      </p:sp>
      <p:sp>
        <p:nvSpPr>
          <p:cNvPr id="41" name="">
            <a:extLst xmlns:a="http://schemas.openxmlformats.org/drawingml/2006/main">
              <a:ext uri="{FF2B5EF4-FFF2-40B4-BE49-F238E27FC236}">
                <a16:creationId xmlns:a16="http://schemas.microsoft.com/office/drawing/2014/main" id="{8BCF873D-9621-442B-A86B-4F9671B92263}"/>
              </a:ext>
            </a:extLst>
          </p:cNvPr>
          <p:cNvSpPr>
            <a:spLocks xmlns:a="http://schemas.openxmlformats.org/drawingml/2006/main" noGrp="1"/>
          </p:cNvSpPr>
          <p:nvPr/>
        </p:nvSpPr>
        <p:spPr>
          <a:xfrm xmlns:a="http://schemas.openxmlformats.org/drawingml/2006/main">
            <a:off x="666750" y="5991225"/>
            <a:ext cx="1061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Exceptions, exception ratio, average VaR, VaR volatility, worst loss, Expected Shortfall, p-values and traffic-light zone.</a:t>
            </a:r>
          </a:p>
        </p:txBody>
      </p:sp>
      <p:sp>
        <p:nvSpPr>
          <p:cNvPr id="42" name="">
            <a:extLst xmlns:a="http://schemas.openxmlformats.org/drawingml/2006/main">
              <a:ext uri="{FF2B5EF4-FFF2-40B4-BE49-F238E27FC236}">
                <a16:creationId xmlns:a16="http://schemas.microsoft.com/office/drawing/2014/main" id="{7EE058C9-30D1-45FC-A721-A29D59DBA635}"/>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43" name="">
            <a:extLst xmlns:a="http://schemas.openxmlformats.org/drawingml/2006/main">
              <a:ext uri="{FF2B5EF4-FFF2-40B4-BE49-F238E27FC236}">
                <a16:creationId xmlns:a16="http://schemas.microsoft.com/office/drawing/2014/main" id="{2BDE4D9D-1F70-4F83-8DB3-3B854664B6F8}"/>
              </a:ext>
            </a:extLst>
          </p:cNvPr>
          <p:cNvSpPr>
            <a:spLocks xmlns:a="http://schemas.openxmlformats.org/drawingml/2006/main" noGrp="1"/>
          </p:cNvSpPr>
          <p:nvPr/>
        </p:nvSpPr>
        <p:spPr>
          <a:xfrm xmlns:a="http://schemas.openxmlformats.org/drawingml/2006/main">
            <a:off x="51435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0">
                <a:solidFill>
                  <a:srgbClr val="707070"/>
                </a:solidFill>
              </a:defRPr>
            </a:defPPr>
            <a:lvl1pPr algn="l">
              <a:defRPr sz="600" b="0">
                <a:solidFill>
                  <a:srgbClr val="707070"/>
                </a:solidFill>
              </a:defRPr>
            </a:lvl1pPr>
            <a:lvl2pPr algn="l">
              <a:defRPr sz="600" b="0">
                <a:solidFill>
                  <a:srgbClr val="707070"/>
                </a:solidFill>
              </a:defRPr>
            </a:lvl2pPr>
            <a:lvl3pPr algn="l">
              <a:defRPr sz="600" b="0">
                <a:solidFill>
                  <a:srgbClr val="707070"/>
                </a:solidFill>
              </a:defRPr>
            </a:lvl3pPr>
            <a:lvl4pPr algn="l">
              <a:defRPr sz="600" b="0">
                <a:solidFill>
                  <a:srgbClr val="707070"/>
                </a:solidFill>
              </a:defRPr>
            </a:lvl4pPr>
            <a:lvl5pPr algn="l">
              <a:defRPr sz="600" b="0">
                <a:solidFill>
                  <a:srgbClr val="707070"/>
                </a:solidFill>
              </a:defRPr>
            </a:lvl5pPr>
            <a:lvl6pPr algn="l">
              <a:defRPr sz="600" b="0">
                <a:solidFill>
                  <a:srgbClr val="707070"/>
                </a:solidFill>
              </a:defRPr>
            </a:lvl6pPr>
            <a:lvl7pPr algn="l">
              <a:defRPr sz="600" b="0">
                <a:solidFill>
                  <a:srgbClr val="707070"/>
                </a:solidFill>
              </a:defRPr>
            </a:lvl7pPr>
            <a:lvl8pPr algn="l">
              <a:defRPr sz="600" b="0">
                <a:solidFill>
                  <a:srgbClr val="707070"/>
                </a:solidFill>
              </a:defRPr>
            </a:lvl8pPr>
            <a:lvl9pPr algn="l">
              <a:defRPr sz="600" b="0">
                <a:solidFill>
                  <a:srgbClr val="707070"/>
                </a:solidFill>
              </a:defRPr>
            </a:lvl9pPr>
          </a:lstStyle>
          <a:p xmlns:a="http://schemas.openxmlformats.org/drawingml/2006/main">
            <a:pPr algn="l">
              <a:defRPr sz="600" b="0">
                <a:solidFill>
                  <a:srgbClr val="707070"/>
                </a:solidFill>
              </a:defRPr>
            </a:pPr>
            <a:r>
              <a:rPr sz="600" b="0">
                <a:solidFill>
                  <a:srgbClr val="707070"/>
                </a:solidFill>
              </a:rPr>
              <a:t>QFI risk engine  |  saved data through 23 October 2026</a:t>
            </a:r>
          </a:p>
        </p:txBody>
      </p:sp>
      <p:sp>
        <p:nvSpPr>
          <p:cNvPr id="44" name="">
            <a:extLst xmlns:a="http://schemas.openxmlformats.org/drawingml/2006/main">
              <a:ext uri="{FF2B5EF4-FFF2-40B4-BE49-F238E27FC236}">
                <a16:creationId xmlns:a16="http://schemas.microsoft.com/office/drawing/2014/main" id="{77926B8E-03E9-45EE-8EE7-95ECA8F795FB}"/>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111111"/>
                </a:solidFill>
              </a:defRPr>
            </a:defPPr>
            <a:lvl1pPr algn="r">
              <a:defRPr sz="675" b="1">
                <a:solidFill>
                  <a:srgbClr val="111111"/>
                </a:solidFill>
              </a:defRPr>
            </a:lvl1pPr>
            <a:lvl2pPr algn="r">
              <a:defRPr sz="675" b="1">
                <a:solidFill>
                  <a:srgbClr val="111111"/>
                </a:solidFill>
              </a:defRPr>
            </a:lvl2pPr>
            <a:lvl3pPr algn="r">
              <a:defRPr sz="675" b="1">
                <a:solidFill>
                  <a:srgbClr val="111111"/>
                </a:solidFill>
              </a:defRPr>
            </a:lvl3pPr>
            <a:lvl4pPr algn="r">
              <a:defRPr sz="675" b="1">
                <a:solidFill>
                  <a:srgbClr val="111111"/>
                </a:solidFill>
              </a:defRPr>
            </a:lvl4pPr>
            <a:lvl5pPr algn="r">
              <a:defRPr sz="675" b="1">
                <a:solidFill>
                  <a:srgbClr val="111111"/>
                </a:solidFill>
              </a:defRPr>
            </a:lvl5pPr>
            <a:lvl6pPr algn="r">
              <a:defRPr sz="675" b="1">
                <a:solidFill>
                  <a:srgbClr val="111111"/>
                </a:solidFill>
              </a:defRPr>
            </a:lvl6pPr>
            <a:lvl7pPr algn="r">
              <a:defRPr sz="675" b="1">
                <a:solidFill>
                  <a:srgbClr val="111111"/>
                </a:solidFill>
              </a:defRPr>
            </a:lvl7pPr>
            <a:lvl8pPr algn="r">
              <a:defRPr sz="675" b="1">
                <a:solidFill>
                  <a:srgbClr val="111111"/>
                </a:solidFill>
              </a:defRPr>
            </a:lvl8pPr>
            <a:lvl9pPr algn="r">
              <a:defRPr sz="675" b="1">
                <a:solidFill>
                  <a:srgbClr val="111111"/>
                </a:solidFill>
              </a:defRPr>
            </a:lvl9pPr>
          </a:lstStyle>
          <a:p xmlns:a="http://schemas.openxmlformats.org/drawingml/2006/main">
            <a:pPr algn="r">
              <a:defRPr sz="675" b="1">
                <a:solidFill>
                  <a:srgbClr val="111111"/>
                </a:solidFill>
              </a:defRPr>
            </a:pPr>
            <a:r>
              <a:rPr sz="675" b="1">
                <a:solidFill>
                  <a:srgbClr val="111111"/>
                </a:solidFill>
              </a:rPr>
              <a:t>11</a:t>
            </a:r>
          </a:p>
        </p:txBody>
      </p:sp>
    </p:spTree>
    <p:extLst>
      <p:ext uri="{BB962C8B-B14F-4D97-AF65-F5344CB8AC3E}">
        <p14:creationId xmlns:p14="http://schemas.microsoft.com/office/powerpoint/2010/main" val="11078372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02A5459-A147-403D-8D77-5EC0654AE372}"/>
              </a:ext>
            </a:extLst>
          </p:cNvPr>
          <p:cNvSpPr>
            <a:spLocks xmlns:a="http://schemas.openxmlformats.org/drawingml/2006/main" noGrp="1"/>
          </p:cNvSpPr>
          <p:nvPr/>
        </p:nvSpPr>
        <p:spPr>
          <a:xfrm xmlns:a="http://schemas.openxmlformats.org/drawingml/2006/main">
            <a:off x="514350" y="266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PHASE 10</a:t>
            </a:r>
          </a:p>
        </p:txBody>
      </p:sp>
      <p:sp>
        <p:nvSpPr>
          <p:cNvPr id="2" name="">
            <a:extLst xmlns:a="http://schemas.openxmlformats.org/drawingml/2006/main">
              <a:ext uri="{FF2B5EF4-FFF2-40B4-BE49-F238E27FC236}">
                <a16:creationId xmlns:a16="http://schemas.microsoft.com/office/drawing/2014/main" id="{91DAD99E-CF57-45C0-B196-4165F1EC5A5C}"/>
              </a:ext>
            </a:extLst>
          </p:cNvPr>
          <p:cNvSpPr>
            <a:spLocks xmlns:a="http://schemas.openxmlformats.org/drawingml/2006/main" noGrp="1"/>
          </p:cNvSpPr>
          <p:nvPr/>
        </p:nvSpPr>
        <p:spPr>
          <a:xfrm xmlns:a="http://schemas.openxmlformats.org/drawingml/2006/main">
            <a:off x="514350" y="6096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11111"/>
                </a:solidFill>
              </a:defRPr>
            </a:defPPr>
            <a:lvl1pPr algn="l">
              <a:defRPr sz="2550" b="1">
                <a:solidFill>
                  <a:srgbClr val="111111"/>
                </a:solidFill>
              </a:defRPr>
            </a:lvl1pPr>
            <a:lvl2pPr algn="l">
              <a:defRPr sz="2550" b="1">
                <a:solidFill>
                  <a:srgbClr val="111111"/>
                </a:solidFill>
              </a:defRPr>
            </a:lvl2pPr>
            <a:lvl3pPr algn="l">
              <a:defRPr sz="2550" b="1">
                <a:solidFill>
                  <a:srgbClr val="111111"/>
                </a:solidFill>
              </a:defRPr>
            </a:lvl3pPr>
            <a:lvl4pPr algn="l">
              <a:defRPr sz="2550" b="1">
                <a:solidFill>
                  <a:srgbClr val="111111"/>
                </a:solidFill>
              </a:defRPr>
            </a:lvl4pPr>
            <a:lvl5pPr algn="l">
              <a:defRPr sz="2550" b="1">
                <a:solidFill>
                  <a:srgbClr val="111111"/>
                </a:solidFill>
              </a:defRPr>
            </a:lvl5pPr>
            <a:lvl6pPr algn="l">
              <a:defRPr sz="2550" b="1">
                <a:solidFill>
                  <a:srgbClr val="111111"/>
                </a:solidFill>
              </a:defRPr>
            </a:lvl6pPr>
            <a:lvl7pPr algn="l">
              <a:defRPr sz="2550" b="1">
                <a:solidFill>
                  <a:srgbClr val="111111"/>
                </a:solidFill>
              </a:defRPr>
            </a:lvl7pPr>
            <a:lvl8pPr algn="l">
              <a:defRPr sz="2550" b="1">
                <a:solidFill>
                  <a:srgbClr val="111111"/>
                </a:solidFill>
              </a:defRPr>
            </a:lvl8pPr>
            <a:lvl9pPr algn="l">
              <a:defRPr sz="2550" b="1">
                <a:solidFill>
                  <a:srgbClr val="111111"/>
                </a:solidFill>
              </a:defRPr>
            </a:lvl9pPr>
          </a:lstStyle>
          <a:p xmlns:a="http://schemas.openxmlformats.org/drawingml/2006/main">
            <a:pPr algn="l">
              <a:defRPr sz="2550" b="1">
                <a:solidFill>
                  <a:srgbClr val="111111"/>
                </a:solidFill>
              </a:defRPr>
            </a:pPr>
            <a:r>
              <a:rPr sz="2550" b="1">
                <a:solidFill>
                  <a:srgbClr val="111111"/>
                </a:solidFill>
              </a:rPr>
              <a:t>Phase 10  Stress testing</a:t>
            </a:r>
          </a:p>
        </p:txBody>
      </p:sp>
      <p:sp>
        <p:nvSpPr>
          <p:cNvPr id="3" name="">
            <a:extLst xmlns:a="http://schemas.openxmlformats.org/drawingml/2006/main">
              <a:ext uri="{FF2B5EF4-FFF2-40B4-BE49-F238E27FC236}">
                <a16:creationId xmlns:a16="http://schemas.microsoft.com/office/drawing/2014/main" id="{C720FE0B-CC1E-47F3-B87C-D279A13A0DBE}"/>
              </a:ext>
            </a:extLst>
          </p:cNvPr>
          <p:cNvSpPr>
            <a:spLocks xmlns:a="http://schemas.openxmlformats.org/drawingml/2006/main" noGrp="1"/>
          </p:cNvSpPr>
          <p:nvPr/>
        </p:nvSpPr>
        <p:spPr>
          <a:xfrm xmlns:a="http://schemas.openxmlformats.org/drawingml/2006/main">
            <a:off x="514350" y="11430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VaR supports daily monitoring; stress testing asks whether the portfolio can survive a crisis</a:t>
            </a:r>
          </a:p>
        </p:txBody>
      </p:sp>
      <p:sp>
        <p:nvSpPr>
          <p:cNvPr id="4" name="">
            <a:extLst xmlns:a="http://schemas.openxmlformats.org/drawingml/2006/main">
              <a:ext uri="{FF2B5EF4-FFF2-40B4-BE49-F238E27FC236}">
                <a16:creationId xmlns:a16="http://schemas.microsoft.com/office/drawing/2014/main" id="{D0E12B0C-70D6-4995-A462-AE732E9E0F0D}"/>
              </a:ext>
            </a:extLst>
          </p:cNvPr>
          <p:cNvSpPr>
            <a:spLocks xmlns:a="http://schemas.openxmlformats.org/drawingml/2006/main" noGrp="1"/>
          </p:cNvSpPr>
          <p:nvPr/>
        </p:nvSpPr>
        <p:spPr>
          <a:xfrm xmlns:a="http://schemas.openxmlformats.org/drawingml/2006/main">
            <a:off x="514350" y="1495425"/>
            <a:ext cx="111633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4B21435E-F0D8-4A41-ACE5-C1F8566C4213}"/>
              </a:ext>
            </a:extLst>
          </p:cNvPr>
          <p:cNvSpPr>
            <a:spLocks xmlns:a="http://schemas.openxmlformats.org/drawingml/2006/main" noGrp="1"/>
          </p:cNvSpPr>
          <p:nvPr/>
        </p:nvSpPr>
        <p:spPr>
          <a:xfrm xmlns:a="http://schemas.openxmlformats.org/drawingml/2006/main">
            <a:off x="10496550" y="1657350"/>
            <a:ext cx="1066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3900" b="1">
                <a:solidFill>
                  <a:srgbClr val="111111"/>
                </a:solidFill>
              </a:defRPr>
            </a:defPPr>
            <a:lvl1pPr algn="r">
              <a:defRPr sz="3900" b="1">
                <a:solidFill>
                  <a:srgbClr val="111111"/>
                </a:solidFill>
              </a:defRPr>
            </a:lvl1pPr>
            <a:lvl2pPr algn="r">
              <a:defRPr sz="3900" b="1">
                <a:solidFill>
                  <a:srgbClr val="111111"/>
                </a:solidFill>
              </a:defRPr>
            </a:lvl2pPr>
            <a:lvl3pPr algn="r">
              <a:defRPr sz="3900" b="1">
                <a:solidFill>
                  <a:srgbClr val="111111"/>
                </a:solidFill>
              </a:defRPr>
            </a:lvl3pPr>
            <a:lvl4pPr algn="r">
              <a:defRPr sz="3900" b="1">
                <a:solidFill>
                  <a:srgbClr val="111111"/>
                </a:solidFill>
              </a:defRPr>
            </a:lvl4pPr>
            <a:lvl5pPr algn="r">
              <a:defRPr sz="3900" b="1">
                <a:solidFill>
                  <a:srgbClr val="111111"/>
                </a:solidFill>
              </a:defRPr>
            </a:lvl5pPr>
            <a:lvl6pPr algn="r">
              <a:defRPr sz="3900" b="1">
                <a:solidFill>
                  <a:srgbClr val="111111"/>
                </a:solidFill>
              </a:defRPr>
            </a:lvl6pPr>
            <a:lvl7pPr algn="r">
              <a:defRPr sz="3900" b="1">
                <a:solidFill>
                  <a:srgbClr val="111111"/>
                </a:solidFill>
              </a:defRPr>
            </a:lvl7pPr>
            <a:lvl8pPr algn="r">
              <a:defRPr sz="3900" b="1">
                <a:solidFill>
                  <a:srgbClr val="111111"/>
                </a:solidFill>
              </a:defRPr>
            </a:lvl8pPr>
            <a:lvl9pPr algn="r">
              <a:defRPr sz="3900" b="1">
                <a:solidFill>
                  <a:srgbClr val="111111"/>
                </a:solidFill>
              </a:defRPr>
            </a:lvl9pPr>
          </a:lstStyle>
          <a:p xmlns:a="http://schemas.openxmlformats.org/drawingml/2006/main">
            <a:pPr algn="r">
              <a:defRPr sz="3900" b="1">
                <a:solidFill>
                  <a:srgbClr val="111111"/>
                </a:solidFill>
              </a:defRPr>
            </a:pPr>
            <a:r>
              <a:rPr sz="3900" b="1">
                <a:solidFill>
                  <a:srgbClr val="111111"/>
                </a:solidFill>
              </a:rPr>
              <a:t>10</a:t>
            </a:r>
          </a:p>
        </p:txBody>
      </p:sp>
      <p:sp>
        <p:nvSpPr>
          <p:cNvPr id="6" name="">
            <a:extLst xmlns:a="http://schemas.openxmlformats.org/drawingml/2006/main">
              <a:ext uri="{FF2B5EF4-FFF2-40B4-BE49-F238E27FC236}">
                <a16:creationId xmlns:a16="http://schemas.microsoft.com/office/drawing/2014/main" id="{8470CC96-839A-4EC7-8AD5-FD508D8FF9F3}"/>
              </a:ext>
            </a:extLst>
          </p:cNvPr>
          <p:cNvSpPr>
            <a:spLocks xmlns:a="http://schemas.openxmlformats.org/drawingml/2006/main" noGrp="1"/>
          </p:cNvSpPr>
          <p:nvPr/>
        </p:nvSpPr>
        <p:spPr>
          <a:xfrm xmlns:a="http://schemas.openxmlformats.org/drawingml/2006/main">
            <a:off x="504825" y="1724025"/>
            <a:ext cx="7543800" cy="335280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7" name="">
            <a:extLst xmlns:a="http://schemas.openxmlformats.org/drawingml/2006/main">
              <a:ext uri="{FF2B5EF4-FFF2-40B4-BE49-F238E27FC236}">
                <a16:creationId xmlns:a16="http://schemas.microsoft.com/office/drawing/2014/main" id="{F2E158C2-85B3-4249-8B69-F54FDF53CA8E}"/>
              </a:ext>
            </a:extLst>
          </p:cNvPr>
          <p:cNvSpPr>
            <a:spLocks xmlns:a="http://schemas.openxmlformats.org/drawingml/2006/main" noGrp="1"/>
          </p:cNvSpPr>
          <p:nvPr/>
        </p:nvSpPr>
        <p:spPr>
          <a:xfrm xmlns:a="http://schemas.openxmlformats.org/drawingml/2006/main">
            <a:off x="628650" y="1800225"/>
            <a:ext cx="7296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Stress scenario loss ranking</a:t>
            </a:r>
          </a:p>
        </p:txBody>
      </p:sp>
      <p:pic>
        <p:nvPicPr>
          <p:cNvPr id="8" name="">
            <a:extLst xmlns:a="http://schemas.openxmlformats.org/drawingml/2006/main">
              <a:ext uri="{FF2B5EF4-FFF2-40B4-BE49-F238E27FC236}">
                <a16:creationId xmlns:a16="http://schemas.microsoft.com/office/drawing/2014/main" id="{97169899-00E0-412F-A164-91E096B0B56F}"/>
              </a:ext>
            </a:extLst>
          </p:cNvPr>
          <p:cNvPicPr>
            <a:picLocks xmlns:a="http://schemas.openxmlformats.org/drawingml/2006/main" noChangeAspect="1"/>
          </p:cNvPicPr>
          <p:nvPr/>
        </p:nvPicPr>
        <p:blipFill>
          <a:blip xmlns:r="http://schemas.openxmlformats.org/officeDocument/2006/relationships" xmlns:a="http://schemas.openxmlformats.org/drawingml/2006/main" r:embed="R42adf58d478b45b1"/>
          <a:stretch xmlns:a="http://schemas.openxmlformats.org/drawingml/2006/main"/>
        </p:blipFill>
        <p:spPr>
          <a:xfrm xmlns:a="http://schemas.openxmlformats.org/drawingml/2006/main">
            <a:off x="575445" y="2009775"/>
            <a:ext cx="7402559" cy="30384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C402E19-9710-429A-A5AE-FD48EDE233BC}"/>
              </a:ext>
            </a:extLst>
          </p:cNvPr>
          <p:cNvSpPr>
            <a:spLocks xmlns:a="http://schemas.openxmlformats.org/drawingml/2006/main" noGrp="1"/>
          </p:cNvSpPr>
          <p:nvPr/>
        </p:nvSpPr>
        <p:spPr>
          <a:xfrm xmlns:a="http://schemas.openxmlformats.org/drawingml/2006/main">
            <a:off x="8420100" y="19621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B42318"/>
                </a:solidFill>
              </a:defRPr>
            </a:defPPr>
            <a:lvl1pPr algn="l">
              <a:defRPr sz="2100" b="1">
                <a:solidFill>
                  <a:srgbClr val="B42318"/>
                </a:solidFill>
              </a:defRPr>
            </a:lvl1pPr>
            <a:lvl2pPr algn="l">
              <a:defRPr sz="2100" b="1">
                <a:solidFill>
                  <a:srgbClr val="B42318"/>
                </a:solidFill>
              </a:defRPr>
            </a:lvl2pPr>
            <a:lvl3pPr algn="l">
              <a:defRPr sz="2100" b="1">
                <a:solidFill>
                  <a:srgbClr val="B42318"/>
                </a:solidFill>
              </a:defRPr>
            </a:lvl3pPr>
            <a:lvl4pPr algn="l">
              <a:defRPr sz="2100" b="1">
                <a:solidFill>
                  <a:srgbClr val="B42318"/>
                </a:solidFill>
              </a:defRPr>
            </a:lvl4pPr>
            <a:lvl5pPr algn="l">
              <a:defRPr sz="2100" b="1">
                <a:solidFill>
                  <a:srgbClr val="B42318"/>
                </a:solidFill>
              </a:defRPr>
            </a:lvl5pPr>
            <a:lvl6pPr algn="l">
              <a:defRPr sz="2100" b="1">
                <a:solidFill>
                  <a:srgbClr val="B42318"/>
                </a:solidFill>
              </a:defRPr>
            </a:lvl6pPr>
            <a:lvl7pPr algn="l">
              <a:defRPr sz="2100" b="1">
                <a:solidFill>
                  <a:srgbClr val="B42318"/>
                </a:solidFill>
              </a:defRPr>
            </a:lvl7pPr>
            <a:lvl8pPr algn="l">
              <a:defRPr sz="2100" b="1">
                <a:solidFill>
                  <a:srgbClr val="B42318"/>
                </a:solidFill>
              </a:defRPr>
            </a:lvl8pPr>
            <a:lvl9pPr algn="l">
              <a:defRPr sz="2100" b="1">
                <a:solidFill>
                  <a:srgbClr val="B42318"/>
                </a:solidFill>
              </a:defRPr>
            </a:lvl9pPr>
          </a:lstStyle>
          <a:p xmlns:a="http://schemas.openxmlformats.org/drawingml/2006/main">
            <a:pPr algn="l">
              <a:defRPr sz="2100" b="1">
                <a:solidFill>
                  <a:srgbClr val="B42318"/>
                </a:solidFill>
              </a:defRPr>
            </a:pPr>
            <a:r>
              <a:rPr sz="2100" b="1">
                <a:solidFill>
                  <a:srgbClr val="B42318"/>
                </a:solidFill>
              </a:rPr>
              <a:t>$4.40M</a:t>
            </a:r>
          </a:p>
        </p:txBody>
      </p:sp>
      <p:sp>
        <p:nvSpPr>
          <p:cNvPr id="10" name="">
            <a:extLst xmlns:a="http://schemas.openxmlformats.org/drawingml/2006/main">
              <a:ext uri="{FF2B5EF4-FFF2-40B4-BE49-F238E27FC236}">
                <a16:creationId xmlns:a16="http://schemas.microsoft.com/office/drawing/2014/main" id="{F1768F4F-EAF9-40A5-8330-6BBD51220910}"/>
              </a:ext>
            </a:extLst>
          </p:cNvPr>
          <p:cNvSpPr>
            <a:spLocks xmlns:a="http://schemas.openxmlformats.org/drawingml/2006/main" noGrp="1"/>
          </p:cNvSpPr>
          <p:nvPr/>
        </p:nvSpPr>
        <p:spPr>
          <a:xfrm xmlns:a="http://schemas.openxmlformats.org/drawingml/2006/main">
            <a:off x="8420100" y="23622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2008 crisis replay</a:t>
            </a:r>
          </a:p>
        </p:txBody>
      </p:sp>
      <p:sp>
        <p:nvSpPr>
          <p:cNvPr id="11" name="">
            <a:extLst xmlns:a="http://schemas.openxmlformats.org/drawingml/2006/main">
              <a:ext uri="{FF2B5EF4-FFF2-40B4-BE49-F238E27FC236}">
                <a16:creationId xmlns:a16="http://schemas.microsoft.com/office/drawing/2014/main" id="{B6186045-41B6-4BDB-8187-2B1FF814C2F7}"/>
              </a:ext>
            </a:extLst>
          </p:cNvPr>
          <p:cNvSpPr>
            <a:spLocks xmlns:a="http://schemas.openxmlformats.org/drawingml/2006/main" noGrp="1"/>
          </p:cNvSpPr>
          <p:nvPr/>
        </p:nvSpPr>
        <p:spPr>
          <a:xfrm xmlns:a="http://schemas.openxmlformats.org/drawingml/2006/main">
            <a:off x="8420100" y="28765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B42318"/>
                </a:solidFill>
              </a:defRPr>
            </a:defPPr>
            <a:lvl1pPr algn="l">
              <a:defRPr sz="2100" b="1">
                <a:solidFill>
                  <a:srgbClr val="B42318"/>
                </a:solidFill>
              </a:defRPr>
            </a:lvl1pPr>
            <a:lvl2pPr algn="l">
              <a:defRPr sz="2100" b="1">
                <a:solidFill>
                  <a:srgbClr val="B42318"/>
                </a:solidFill>
              </a:defRPr>
            </a:lvl2pPr>
            <a:lvl3pPr algn="l">
              <a:defRPr sz="2100" b="1">
                <a:solidFill>
                  <a:srgbClr val="B42318"/>
                </a:solidFill>
              </a:defRPr>
            </a:lvl3pPr>
            <a:lvl4pPr algn="l">
              <a:defRPr sz="2100" b="1">
                <a:solidFill>
                  <a:srgbClr val="B42318"/>
                </a:solidFill>
              </a:defRPr>
            </a:lvl4pPr>
            <a:lvl5pPr algn="l">
              <a:defRPr sz="2100" b="1">
                <a:solidFill>
                  <a:srgbClr val="B42318"/>
                </a:solidFill>
              </a:defRPr>
            </a:lvl5pPr>
            <a:lvl6pPr algn="l">
              <a:defRPr sz="2100" b="1">
                <a:solidFill>
                  <a:srgbClr val="B42318"/>
                </a:solidFill>
              </a:defRPr>
            </a:lvl6pPr>
            <a:lvl7pPr algn="l">
              <a:defRPr sz="2100" b="1">
                <a:solidFill>
                  <a:srgbClr val="B42318"/>
                </a:solidFill>
              </a:defRPr>
            </a:lvl7pPr>
            <a:lvl8pPr algn="l">
              <a:defRPr sz="2100" b="1">
                <a:solidFill>
                  <a:srgbClr val="B42318"/>
                </a:solidFill>
              </a:defRPr>
            </a:lvl8pPr>
            <a:lvl9pPr algn="l">
              <a:defRPr sz="2100" b="1">
                <a:solidFill>
                  <a:srgbClr val="B42318"/>
                </a:solidFill>
              </a:defRPr>
            </a:lvl9pPr>
          </a:lstStyle>
          <a:p xmlns:a="http://schemas.openxmlformats.org/drawingml/2006/main">
            <a:pPr algn="l">
              <a:defRPr sz="2100" b="1">
                <a:solidFill>
                  <a:srgbClr val="B42318"/>
                </a:solidFill>
              </a:defRPr>
            </a:pPr>
            <a:r>
              <a:rPr sz="2100" b="1">
                <a:solidFill>
                  <a:srgbClr val="B42318"/>
                </a:solidFill>
              </a:rPr>
              <a:t>$3.46M</a:t>
            </a:r>
          </a:p>
        </p:txBody>
      </p:sp>
      <p:sp>
        <p:nvSpPr>
          <p:cNvPr id="12" name="">
            <a:extLst xmlns:a="http://schemas.openxmlformats.org/drawingml/2006/main">
              <a:ext uri="{FF2B5EF4-FFF2-40B4-BE49-F238E27FC236}">
                <a16:creationId xmlns:a16="http://schemas.microsoft.com/office/drawing/2014/main" id="{CFE0086C-9E32-4A06-BA72-2002DC2E09F0}"/>
              </a:ext>
            </a:extLst>
          </p:cNvPr>
          <p:cNvSpPr>
            <a:spLocks xmlns:a="http://schemas.openxmlformats.org/drawingml/2006/main" noGrp="1"/>
          </p:cNvSpPr>
          <p:nvPr/>
        </p:nvSpPr>
        <p:spPr>
          <a:xfrm xmlns:a="http://schemas.openxmlformats.org/drawingml/2006/main">
            <a:off x="8420100" y="32766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COVID crash replay</a:t>
            </a:r>
          </a:p>
        </p:txBody>
      </p:sp>
      <p:sp>
        <p:nvSpPr>
          <p:cNvPr id="13" name="">
            <a:extLst xmlns:a="http://schemas.openxmlformats.org/drawingml/2006/main">
              <a:ext uri="{FF2B5EF4-FFF2-40B4-BE49-F238E27FC236}">
                <a16:creationId xmlns:a16="http://schemas.microsoft.com/office/drawing/2014/main" id="{2598FB44-A5CA-4D53-ACE8-12010F4EF96F}"/>
              </a:ext>
            </a:extLst>
          </p:cNvPr>
          <p:cNvSpPr>
            <a:spLocks xmlns:a="http://schemas.openxmlformats.org/drawingml/2006/main" noGrp="1"/>
          </p:cNvSpPr>
          <p:nvPr/>
        </p:nvSpPr>
        <p:spPr>
          <a:xfrm xmlns:a="http://schemas.openxmlformats.org/drawingml/2006/main">
            <a:off x="8420100" y="37909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11111"/>
                </a:solidFill>
              </a:defRPr>
            </a:defPPr>
            <a:lvl1pPr algn="l">
              <a:defRPr sz="2100" b="1">
                <a:solidFill>
                  <a:srgbClr val="111111"/>
                </a:solidFill>
              </a:defRPr>
            </a:lvl1pPr>
            <a:lvl2pPr algn="l">
              <a:defRPr sz="2100" b="1">
                <a:solidFill>
                  <a:srgbClr val="111111"/>
                </a:solidFill>
              </a:defRPr>
            </a:lvl2pPr>
            <a:lvl3pPr algn="l">
              <a:defRPr sz="2100" b="1">
                <a:solidFill>
                  <a:srgbClr val="111111"/>
                </a:solidFill>
              </a:defRPr>
            </a:lvl3pPr>
            <a:lvl4pPr algn="l">
              <a:defRPr sz="2100" b="1">
                <a:solidFill>
                  <a:srgbClr val="111111"/>
                </a:solidFill>
              </a:defRPr>
            </a:lvl4pPr>
            <a:lvl5pPr algn="l">
              <a:defRPr sz="2100" b="1">
                <a:solidFill>
                  <a:srgbClr val="111111"/>
                </a:solidFill>
              </a:defRPr>
            </a:lvl5pPr>
            <a:lvl6pPr algn="l">
              <a:defRPr sz="2100" b="1">
                <a:solidFill>
                  <a:srgbClr val="111111"/>
                </a:solidFill>
              </a:defRPr>
            </a:lvl6pPr>
            <a:lvl7pPr algn="l">
              <a:defRPr sz="2100" b="1">
                <a:solidFill>
                  <a:srgbClr val="111111"/>
                </a:solidFill>
              </a:defRPr>
            </a:lvl7pPr>
            <a:lvl8pPr algn="l">
              <a:defRPr sz="2100" b="1">
                <a:solidFill>
                  <a:srgbClr val="111111"/>
                </a:solidFill>
              </a:defRPr>
            </a:lvl8pPr>
            <a:lvl9pPr algn="l">
              <a:defRPr sz="2100" b="1">
                <a:solidFill>
                  <a:srgbClr val="111111"/>
                </a:solidFill>
              </a:defRPr>
            </a:lvl9pPr>
          </a:lstStyle>
          <a:p xmlns:a="http://schemas.openxmlformats.org/drawingml/2006/main">
            <a:pPr algn="l">
              <a:defRPr sz="2100" b="1">
                <a:solidFill>
                  <a:srgbClr val="111111"/>
                </a:solidFill>
              </a:defRPr>
            </a:pPr>
            <a:r>
              <a:rPr sz="2100" b="1">
                <a:solidFill>
                  <a:srgbClr val="111111"/>
                </a:solidFill>
              </a:rPr>
              <a:t>$957K</a:t>
            </a:r>
          </a:p>
        </p:txBody>
      </p:sp>
      <p:sp>
        <p:nvSpPr>
          <p:cNvPr id="14" name="">
            <a:extLst xmlns:a="http://schemas.openxmlformats.org/drawingml/2006/main">
              <a:ext uri="{FF2B5EF4-FFF2-40B4-BE49-F238E27FC236}">
                <a16:creationId xmlns:a16="http://schemas.microsoft.com/office/drawing/2014/main" id="{8F4089B7-F494-42D8-8CC2-FDB059CABB3E}"/>
              </a:ext>
            </a:extLst>
          </p:cNvPr>
          <p:cNvSpPr>
            <a:spLocks xmlns:a="http://schemas.openxmlformats.org/drawingml/2006/main" noGrp="1"/>
          </p:cNvSpPr>
          <p:nvPr/>
        </p:nvSpPr>
        <p:spPr>
          <a:xfrm xmlns:a="http://schemas.openxmlformats.org/drawingml/2006/main">
            <a:off x="8420100" y="41910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stressed VaR</a:t>
            </a:r>
          </a:p>
        </p:txBody>
      </p:sp>
      <p:sp>
        <p:nvSpPr>
          <p:cNvPr id="15" name="">
            <a:extLst xmlns:a="http://schemas.openxmlformats.org/drawingml/2006/main">
              <a:ext uri="{FF2B5EF4-FFF2-40B4-BE49-F238E27FC236}">
                <a16:creationId xmlns:a16="http://schemas.microsoft.com/office/drawing/2014/main" id="{4C7F9361-DF16-478F-AA0A-77F77D5ABF12}"/>
              </a:ext>
            </a:extLst>
          </p:cNvPr>
          <p:cNvSpPr>
            <a:spLocks xmlns:a="http://schemas.openxmlformats.org/drawingml/2006/main" noGrp="1"/>
          </p:cNvSpPr>
          <p:nvPr/>
        </p:nvSpPr>
        <p:spPr>
          <a:xfrm xmlns:a="http://schemas.openxmlformats.org/drawingml/2006/main">
            <a:off x="514350" y="542925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16" name="">
            <a:extLst xmlns:a="http://schemas.openxmlformats.org/drawingml/2006/main">
              <a:ext uri="{FF2B5EF4-FFF2-40B4-BE49-F238E27FC236}">
                <a16:creationId xmlns:a16="http://schemas.microsoft.com/office/drawing/2014/main" id="{2440F53D-F1BC-4C9B-B7DD-17C8D3B76277}"/>
              </a:ext>
            </a:extLst>
          </p:cNvPr>
          <p:cNvSpPr>
            <a:spLocks xmlns:a="http://schemas.openxmlformats.org/drawingml/2006/main" noGrp="1"/>
          </p:cNvSpPr>
          <p:nvPr/>
        </p:nvSpPr>
        <p:spPr>
          <a:xfrm xmlns:a="http://schemas.openxmlformats.org/drawingml/2006/main">
            <a:off x="666750" y="5391150"/>
            <a:ext cx="480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Historical</a:t>
            </a:r>
          </a:p>
        </p:txBody>
      </p:sp>
      <p:sp>
        <p:nvSpPr>
          <p:cNvPr id="17" name="">
            <a:extLst xmlns:a="http://schemas.openxmlformats.org/drawingml/2006/main">
              <a:ext uri="{FF2B5EF4-FFF2-40B4-BE49-F238E27FC236}">
                <a16:creationId xmlns:a16="http://schemas.microsoft.com/office/drawing/2014/main" id="{3FE54F8B-C917-4F81-BF11-B175FF3DADB7}"/>
              </a:ext>
            </a:extLst>
          </p:cNvPr>
          <p:cNvSpPr>
            <a:spLocks xmlns:a="http://schemas.openxmlformats.org/drawingml/2006/main" noGrp="1"/>
          </p:cNvSpPr>
          <p:nvPr/>
        </p:nvSpPr>
        <p:spPr>
          <a:xfrm xmlns:a="http://schemas.openxmlformats.org/drawingml/2006/main">
            <a:off x="666750" y="5629275"/>
            <a:ext cx="4800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2008, COVID, 2022 inflation, 2023 banking stress and the technology selloff.</a:t>
            </a:r>
          </a:p>
        </p:txBody>
      </p:sp>
      <p:sp>
        <p:nvSpPr>
          <p:cNvPr id="18" name="">
            <a:extLst xmlns:a="http://schemas.openxmlformats.org/drawingml/2006/main">
              <a:ext uri="{FF2B5EF4-FFF2-40B4-BE49-F238E27FC236}">
                <a16:creationId xmlns:a16="http://schemas.microsoft.com/office/drawing/2014/main" id="{424E6D29-FF17-4548-80F7-19D69842956C}"/>
              </a:ext>
            </a:extLst>
          </p:cNvPr>
          <p:cNvSpPr>
            <a:spLocks xmlns:a="http://schemas.openxmlformats.org/drawingml/2006/main" noGrp="1"/>
          </p:cNvSpPr>
          <p:nvPr/>
        </p:nvSpPr>
        <p:spPr>
          <a:xfrm xmlns:a="http://schemas.openxmlformats.org/drawingml/2006/main">
            <a:off x="5886450" y="542925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19" name="">
            <a:extLst xmlns:a="http://schemas.openxmlformats.org/drawingml/2006/main">
              <a:ext uri="{FF2B5EF4-FFF2-40B4-BE49-F238E27FC236}">
                <a16:creationId xmlns:a16="http://schemas.microsoft.com/office/drawing/2014/main" id="{14C4A316-CB94-4648-89F9-389A32F5F681}"/>
              </a:ext>
            </a:extLst>
          </p:cNvPr>
          <p:cNvSpPr>
            <a:spLocks xmlns:a="http://schemas.openxmlformats.org/drawingml/2006/main" noGrp="1"/>
          </p:cNvSpPr>
          <p:nvPr/>
        </p:nvSpPr>
        <p:spPr>
          <a:xfrm xmlns:a="http://schemas.openxmlformats.org/drawingml/2006/main">
            <a:off x="6038850" y="5391150"/>
            <a:ext cx="480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Hypothetical</a:t>
            </a:r>
          </a:p>
        </p:txBody>
      </p:sp>
      <p:sp>
        <p:nvSpPr>
          <p:cNvPr id="20" name="">
            <a:extLst xmlns:a="http://schemas.openxmlformats.org/drawingml/2006/main">
              <a:ext uri="{FF2B5EF4-FFF2-40B4-BE49-F238E27FC236}">
                <a16:creationId xmlns:a16="http://schemas.microsoft.com/office/drawing/2014/main" id="{70AAE0D9-17E1-4FC6-987D-5CD0C48266A1}"/>
              </a:ext>
            </a:extLst>
          </p:cNvPr>
          <p:cNvSpPr>
            <a:spLocks xmlns:a="http://schemas.openxmlformats.org/drawingml/2006/main" noGrp="1"/>
          </p:cNvSpPr>
          <p:nvPr/>
        </p:nvSpPr>
        <p:spPr>
          <a:xfrm xmlns:a="http://schemas.openxmlformats.org/drawingml/2006/main">
            <a:off x="6038850" y="5629275"/>
            <a:ext cx="4800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Market falls, doubled volatility, correlation spikes and sector-specific shocks.</a:t>
            </a:r>
          </a:p>
        </p:txBody>
      </p:sp>
      <p:sp>
        <p:nvSpPr>
          <p:cNvPr id="21" name="">
            <a:extLst xmlns:a="http://schemas.openxmlformats.org/drawingml/2006/main">
              <a:ext uri="{FF2B5EF4-FFF2-40B4-BE49-F238E27FC236}">
                <a16:creationId xmlns:a16="http://schemas.microsoft.com/office/drawing/2014/main" id="{6C0634F8-3A38-4D0D-9A73-05E3B9894050}"/>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22" name="">
            <a:extLst xmlns:a="http://schemas.openxmlformats.org/drawingml/2006/main">
              <a:ext uri="{FF2B5EF4-FFF2-40B4-BE49-F238E27FC236}">
                <a16:creationId xmlns:a16="http://schemas.microsoft.com/office/drawing/2014/main" id="{DC445AB4-69DD-4360-9E37-C8CF778FC15B}"/>
              </a:ext>
            </a:extLst>
          </p:cNvPr>
          <p:cNvSpPr>
            <a:spLocks xmlns:a="http://schemas.openxmlformats.org/drawingml/2006/main" noGrp="1"/>
          </p:cNvSpPr>
          <p:nvPr/>
        </p:nvSpPr>
        <p:spPr>
          <a:xfrm xmlns:a="http://schemas.openxmlformats.org/drawingml/2006/main">
            <a:off x="51435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0">
                <a:solidFill>
                  <a:srgbClr val="707070"/>
                </a:solidFill>
              </a:defRPr>
            </a:defPPr>
            <a:lvl1pPr algn="l">
              <a:defRPr sz="600" b="0">
                <a:solidFill>
                  <a:srgbClr val="707070"/>
                </a:solidFill>
              </a:defRPr>
            </a:lvl1pPr>
            <a:lvl2pPr algn="l">
              <a:defRPr sz="600" b="0">
                <a:solidFill>
                  <a:srgbClr val="707070"/>
                </a:solidFill>
              </a:defRPr>
            </a:lvl2pPr>
            <a:lvl3pPr algn="l">
              <a:defRPr sz="600" b="0">
                <a:solidFill>
                  <a:srgbClr val="707070"/>
                </a:solidFill>
              </a:defRPr>
            </a:lvl3pPr>
            <a:lvl4pPr algn="l">
              <a:defRPr sz="600" b="0">
                <a:solidFill>
                  <a:srgbClr val="707070"/>
                </a:solidFill>
              </a:defRPr>
            </a:lvl4pPr>
            <a:lvl5pPr algn="l">
              <a:defRPr sz="600" b="0">
                <a:solidFill>
                  <a:srgbClr val="707070"/>
                </a:solidFill>
              </a:defRPr>
            </a:lvl5pPr>
            <a:lvl6pPr algn="l">
              <a:defRPr sz="600" b="0">
                <a:solidFill>
                  <a:srgbClr val="707070"/>
                </a:solidFill>
              </a:defRPr>
            </a:lvl6pPr>
            <a:lvl7pPr algn="l">
              <a:defRPr sz="600" b="0">
                <a:solidFill>
                  <a:srgbClr val="707070"/>
                </a:solidFill>
              </a:defRPr>
            </a:lvl7pPr>
            <a:lvl8pPr algn="l">
              <a:defRPr sz="600" b="0">
                <a:solidFill>
                  <a:srgbClr val="707070"/>
                </a:solidFill>
              </a:defRPr>
            </a:lvl8pPr>
            <a:lvl9pPr algn="l">
              <a:defRPr sz="600" b="0">
                <a:solidFill>
                  <a:srgbClr val="707070"/>
                </a:solidFill>
              </a:defRPr>
            </a:lvl9pPr>
          </a:lstStyle>
          <a:p xmlns:a="http://schemas.openxmlformats.org/drawingml/2006/main">
            <a:pPr algn="l">
              <a:defRPr sz="600" b="0">
                <a:solidFill>
                  <a:srgbClr val="707070"/>
                </a:solidFill>
              </a:defRPr>
            </a:pPr>
            <a:r>
              <a:rPr sz="600" b="0">
                <a:solidFill>
                  <a:srgbClr val="707070"/>
                </a:solidFill>
              </a:rPr>
              <a:t>QFI risk engine  |  saved data through 23 October 2026</a:t>
            </a:r>
          </a:p>
        </p:txBody>
      </p:sp>
      <p:sp>
        <p:nvSpPr>
          <p:cNvPr id="23" name="">
            <a:extLst xmlns:a="http://schemas.openxmlformats.org/drawingml/2006/main">
              <a:ext uri="{FF2B5EF4-FFF2-40B4-BE49-F238E27FC236}">
                <a16:creationId xmlns:a16="http://schemas.microsoft.com/office/drawing/2014/main" id="{BEC5FB30-2972-47D5-A449-2736E7E35C52}"/>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111111"/>
                </a:solidFill>
              </a:defRPr>
            </a:defPPr>
            <a:lvl1pPr algn="r">
              <a:defRPr sz="675" b="1">
                <a:solidFill>
                  <a:srgbClr val="111111"/>
                </a:solidFill>
              </a:defRPr>
            </a:lvl1pPr>
            <a:lvl2pPr algn="r">
              <a:defRPr sz="675" b="1">
                <a:solidFill>
                  <a:srgbClr val="111111"/>
                </a:solidFill>
              </a:defRPr>
            </a:lvl2pPr>
            <a:lvl3pPr algn="r">
              <a:defRPr sz="675" b="1">
                <a:solidFill>
                  <a:srgbClr val="111111"/>
                </a:solidFill>
              </a:defRPr>
            </a:lvl3pPr>
            <a:lvl4pPr algn="r">
              <a:defRPr sz="675" b="1">
                <a:solidFill>
                  <a:srgbClr val="111111"/>
                </a:solidFill>
              </a:defRPr>
            </a:lvl4pPr>
            <a:lvl5pPr algn="r">
              <a:defRPr sz="675" b="1">
                <a:solidFill>
                  <a:srgbClr val="111111"/>
                </a:solidFill>
              </a:defRPr>
            </a:lvl5pPr>
            <a:lvl6pPr algn="r">
              <a:defRPr sz="675" b="1">
                <a:solidFill>
                  <a:srgbClr val="111111"/>
                </a:solidFill>
              </a:defRPr>
            </a:lvl6pPr>
            <a:lvl7pPr algn="r">
              <a:defRPr sz="675" b="1">
                <a:solidFill>
                  <a:srgbClr val="111111"/>
                </a:solidFill>
              </a:defRPr>
            </a:lvl7pPr>
            <a:lvl8pPr algn="r">
              <a:defRPr sz="675" b="1">
                <a:solidFill>
                  <a:srgbClr val="111111"/>
                </a:solidFill>
              </a:defRPr>
            </a:lvl8pPr>
            <a:lvl9pPr algn="r">
              <a:defRPr sz="675" b="1">
                <a:solidFill>
                  <a:srgbClr val="111111"/>
                </a:solidFill>
              </a:defRPr>
            </a:lvl9pPr>
          </a:lstStyle>
          <a:p xmlns:a="http://schemas.openxmlformats.org/drawingml/2006/main">
            <a:pPr algn="r">
              <a:defRPr sz="675" b="1">
                <a:solidFill>
                  <a:srgbClr val="111111"/>
                </a:solidFill>
              </a:defRPr>
            </a:pPr>
            <a:r>
              <a:rPr sz="675" b="1">
                <a:solidFill>
                  <a:srgbClr val="111111"/>
                </a:solidFill>
              </a:rPr>
              <a:t>12</a:t>
            </a:r>
          </a:p>
        </p:txBody>
      </p:sp>
    </p:spTree>
    <p:extLst>
      <p:ext uri="{BB962C8B-B14F-4D97-AF65-F5344CB8AC3E}">
        <p14:creationId xmlns:p14="http://schemas.microsoft.com/office/powerpoint/2010/main" val="146136996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68C717C-988F-4D05-B240-F2C5AC14CA9A}"/>
              </a:ext>
            </a:extLst>
          </p:cNvPr>
          <p:cNvSpPr>
            <a:spLocks xmlns:a="http://schemas.openxmlformats.org/drawingml/2006/main" noGrp="1"/>
          </p:cNvSpPr>
          <p:nvPr/>
        </p:nvSpPr>
        <p:spPr>
          <a:xfrm xmlns:a="http://schemas.openxmlformats.org/drawingml/2006/main">
            <a:off x="514350" y="266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RESULTS</a:t>
            </a:r>
          </a:p>
        </p:txBody>
      </p:sp>
      <p:sp>
        <p:nvSpPr>
          <p:cNvPr id="2" name="">
            <a:extLst xmlns:a="http://schemas.openxmlformats.org/drawingml/2006/main">
              <a:ext uri="{FF2B5EF4-FFF2-40B4-BE49-F238E27FC236}">
                <a16:creationId xmlns:a16="http://schemas.microsoft.com/office/drawing/2014/main" id="{AD013249-E924-44AB-A174-442B1EC9BB0D}"/>
              </a:ext>
            </a:extLst>
          </p:cNvPr>
          <p:cNvSpPr>
            <a:spLocks xmlns:a="http://schemas.openxmlformats.org/drawingml/2006/main" noGrp="1"/>
          </p:cNvSpPr>
          <p:nvPr/>
        </p:nvSpPr>
        <p:spPr>
          <a:xfrm xmlns:a="http://schemas.openxmlformats.org/drawingml/2006/main">
            <a:off x="514350" y="6096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11111"/>
                </a:solidFill>
              </a:defRPr>
            </a:defPPr>
            <a:lvl1pPr algn="l">
              <a:defRPr sz="2550" b="1">
                <a:solidFill>
                  <a:srgbClr val="111111"/>
                </a:solidFill>
              </a:defRPr>
            </a:lvl1pPr>
            <a:lvl2pPr algn="l">
              <a:defRPr sz="2550" b="1">
                <a:solidFill>
                  <a:srgbClr val="111111"/>
                </a:solidFill>
              </a:defRPr>
            </a:lvl2pPr>
            <a:lvl3pPr algn="l">
              <a:defRPr sz="2550" b="1">
                <a:solidFill>
                  <a:srgbClr val="111111"/>
                </a:solidFill>
              </a:defRPr>
            </a:lvl3pPr>
            <a:lvl4pPr algn="l">
              <a:defRPr sz="2550" b="1">
                <a:solidFill>
                  <a:srgbClr val="111111"/>
                </a:solidFill>
              </a:defRPr>
            </a:lvl4pPr>
            <a:lvl5pPr algn="l">
              <a:defRPr sz="2550" b="1">
                <a:solidFill>
                  <a:srgbClr val="111111"/>
                </a:solidFill>
              </a:defRPr>
            </a:lvl5pPr>
            <a:lvl6pPr algn="l">
              <a:defRPr sz="2550" b="1">
                <a:solidFill>
                  <a:srgbClr val="111111"/>
                </a:solidFill>
              </a:defRPr>
            </a:lvl6pPr>
            <a:lvl7pPr algn="l">
              <a:defRPr sz="2550" b="1">
                <a:solidFill>
                  <a:srgbClr val="111111"/>
                </a:solidFill>
              </a:defRPr>
            </a:lvl7pPr>
            <a:lvl8pPr algn="l">
              <a:defRPr sz="2550" b="1">
                <a:solidFill>
                  <a:srgbClr val="111111"/>
                </a:solidFill>
              </a:defRPr>
            </a:lvl8pPr>
            <a:lvl9pPr algn="l">
              <a:defRPr sz="2550" b="1">
                <a:solidFill>
                  <a:srgbClr val="111111"/>
                </a:solidFill>
              </a:defRPr>
            </a:lvl9pPr>
          </a:lstStyle>
          <a:p xmlns:a="http://schemas.openxmlformats.org/drawingml/2006/main">
            <a:pPr algn="l">
              <a:defRPr sz="2550" b="1">
                <a:solidFill>
                  <a:srgbClr val="111111"/>
                </a:solidFill>
              </a:defRPr>
            </a:pPr>
            <a:r>
              <a:rPr sz="2550" b="1">
                <a:solidFill>
                  <a:srgbClr val="111111"/>
                </a:solidFill>
              </a:rPr>
              <a:t>Strong returns came with a 34.9% drawdown</a:t>
            </a:r>
          </a:p>
        </p:txBody>
      </p:sp>
      <p:sp>
        <p:nvSpPr>
          <p:cNvPr id="3" name="">
            <a:extLst xmlns:a="http://schemas.openxmlformats.org/drawingml/2006/main">
              <a:ext uri="{FF2B5EF4-FFF2-40B4-BE49-F238E27FC236}">
                <a16:creationId xmlns:a16="http://schemas.microsoft.com/office/drawing/2014/main" id="{F7895444-5D8A-43FF-8F11-B6849E7A891D}"/>
              </a:ext>
            </a:extLst>
          </p:cNvPr>
          <p:cNvSpPr>
            <a:spLocks xmlns:a="http://schemas.openxmlformats.org/drawingml/2006/main" noGrp="1"/>
          </p:cNvSpPr>
          <p:nvPr/>
        </p:nvSpPr>
        <p:spPr>
          <a:xfrm xmlns:a="http://schemas.openxmlformats.org/drawingml/2006/main">
            <a:off x="514350" y="11430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Historical performance is not a forecast; the path reveals the risk taken to achieve it</a:t>
            </a:r>
          </a:p>
        </p:txBody>
      </p:sp>
      <p:sp>
        <p:nvSpPr>
          <p:cNvPr id="4" name="">
            <a:extLst xmlns:a="http://schemas.openxmlformats.org/drawingml/2006/main">
              <a:ext uri="{FF2B5EF4-FFF2-40B4-BE49-F238E27FC236}">
                <a16:creationId xmlns:a16="http://schemas.microsoft.com/office/drawing/2014/main" id="{47DBAA61-E90B-4EEB-B156-C95A0730A0AA}"/>
              </a:ext>
            </a:extLst>
          </p:cNvPr>
          <p:cNvSpPr>
            <a:spLocks xmlns:a="http://schemas.openxmlformats.org/drawingml/2006/main" noGrp="1"/>
          </p:cNvSpPr>
          <p:nvPr/>
        </p:nvSpPr>
        <p:spPr>
          <a:xfrm xmlns:a="http://schemas.openxmlformats.org/drawingml/2006/main">
            <a:off x="514350" y="1495425"/>
            <a:ext cx="111633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1789C81F-E79C-478C-9B72-B21119A501D7}"/>
              </a:ext>
            </a:extLst>
          </p:cNvPr>
          <p:cNvSpPr>
            <a:spLocks xmlns:a="http://schemas.openxmlformats.org/drawingml/2006/main" noGrp="1"/>
          </p:cNvSpPr>
          <p:nvPr/>
        </p:nvSpPr>
        <p:spPr>
          <a:xfrm xmlns:a="http://schemas.openxmlformats.org/drawingml/2006/main">
            <a:off x="504825" y="1724025"/>
            <a:ext cx="7258050" cy="300990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6" name="">
            <a:extLst xmlns:a="http://schemas.openxmlformats.org/drawingml/2006/main">
              <a:ext uri="{FF2B5EF4-FFF2-40B4-BE49-F238E27FC236}">
                <a16:creationId xmlns:a16="http://schemas.microsoft.com/office/drawing/2014/main" id="{4BB5FC5A-E65C-4075-A854-CD6C3850FB78}"/>
              </a:ext>
            </a:extLst>
          </p:cNvPr>
          <p:cNvSpPr>
            <a:spLocks xmlns:a="http://schemas.openxmlformats.org/drawingml/2006/main" noGrp="1"/>
          </p:cNvSpPr>
          <p:nvPr/>
        </p:nvSpPr>
        <p:spPr>
          <a:xfrm xmlns:a="http://schemas.openxmlformats.org/drawingml/2006/main">
            <a:off x="628650" y="1800225"/>
            <a:ext cx="701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Portfolio drawdown from the previous peak</a:t>
            </a:r>
          </a:p>
        </p:txBody>
      </p:sp>
      <p:pic>
        <p:nvPicPr>
          <p:cNvPr id="7" name="">
            <a:extLst xmlns:a="http://schemas.openxmlformats.org/drawingml/2006/main">
              <a:ext uri="{FF2B5EF4-FFF2-40B4-BE49-F238E27FC236}">
                <a16:creationId xmlns:a16="http://schemas.microsoft.com/office/drawing/2014/main" id="{9252F490-529D-4F02-971C-8EAA21195B39}"/>
              </a:ext>
            </a:extLst>
          </p:cNvPr>
          <p:cNvPicPr>
            <a:picLocks xmlns:a="http://schemas.openxmlformats.org/drawingml/2006/main" noChangeAspect="1"/>
          </p:cNvPicPr>
          <p:nvPr/>
        </p:nvPicPr>
        <p:blipFill>
          <a:blip xmlns:r="http://schemas.openxmlformats.org/officeDocument/2006/relationships" xmlns:a="http://schemas.openxmlformats.org/drawingml/2006/main" r:embed="Rbba50454960d48e2"/>
          <a:stretch xmlns:a="http://schemas.openxmlformats.org/drawingml/2006/main"/>
        </p:blipFill>
        <p:spPr>
          <a:xfrm xmlns:a="http://schemas.openxmlformats.org/drawingml/2006/main">
            <a:off x="514350" y="2410812"/>
            <a:ext cx="7239000" cy="1893501"/>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7416C11-6F5C-4C2F-9905-36AEBF8B0E4B}"/>
              </a:ext>
            </a:extLst>
          </p:cNvPr>
          <p:cNvSpPr>
            <a:spLocks xmlns:a="http://schemas.openxmlformats.org/drawingml/2006/main" noGrp="1"/>
          </p:cNvSpPr>
          <p:nvPr/>
        </p:nvSpPr>
        <p:spPr>
          <a:xfrm xmlns:a="http://schemas.openxmlformats.org/drawingml/2006/main">
            <a:off x="8153400" y="19431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55E63"/>
                </a:solidFill>
              </a:defRPr>
            </a:defPPr>
            <a:lvl1pPr algn="l">
              <a:defRPr sz="2100" b="1">
                <a:solidFill>
                  <a:srgbClr val="155E63"/>
                </a:solidFill>
              </a:defRPr>
            </a:lvl1pPr>
            <a:lvl2pPr algn="l">
              <a:defRPr sz="2100" b="1">
                <a:solidFill>
                  <a:srgbClr val="155E63"/>
                </a:solidFill>
              </a:defRPr>
            </a:lvl2pPr>
            <a:lvl3pPr algn="l">
              <a:defRPr sz="2100" b="1">
                <a:solidFill>
                  <a:srgbClr val="155E63"/>
                </a:solidFill>
              </a:defRPr>
            </a:lvl3pPr>
            <a:lvl4pPr algn="l">
              <a:defRPr sz="2100" b="1">
                <a:solidFill>
                  <a:srgbClr val="155E63"/>
                </a:solidFill>
              </a:defRPr>
            </a:lvl4pPr>
            <a:lvl5pPr algn="l">
              <a:defRPr sz="2100" b="1">
                <a:solidFill>
                  <a:srgbClr val="155E63"/>
                </a:solidFill>
              </a:defRPr>
            </a:lvl5pPr>
            <a:lvl6pPr algn="l">
              <a:defRPr sz="2100" b="1">
                <a:solidFill>
                  <a:srgbClr val="155E63"/>
                </a:solidFill>
              </a:defRPr>
            </a:lvl6pPr>
            <a:lvl7pPr algn="l">
              <a:defRPr sz="2100" b="1">
                <a:solidFill>
                  <a:srgbClr val="155E63"/>
                </a:solidFill>
              </a:defRPr>
            </a:lvl7pPr>
            <a:lvl8pPr algn="l">
              <a:defRPr sz="2100" b="1">
                <a:solidFill>
                  <a:srgbClr val="155E63"/>
                </a:solidFill>
              </a:defRPr>
            </a:lvl8pPr>
            <a:lvl9pPr algn="l">
              <a:defRPr sz="2100" b="1">
                <a:solidFill>
                  <a:srgbClr val="155E63"/>
                </a:solidFill>
              </a:defRPr>
            </a:lvl9pPr>
          </a:lstStyle>
          <a:p xmlns:a="http://schemas.openxmlformats.org/drawingml/2006/main">
            <a:pPr algn="l">
              <a:defRPr sz="2100" b="1">
                <a:solidFill>
                  <a:srgbClr val="155E63"/>
                </a:solidFill>
              </a:defRPr>
            </a:pPr>
            <a:r>
              <a:rPr sz="2100" b="1">
                <a:solidFill>
                  <a:srgbClr val="155E63"/>
                </a:solidFill>
              </a:rPr>
              <a:t>31.6%</a:t>
            </a:r>
          </a:p>
        </p:txBody>
      </p:sp>
      <p:sp>
        <p:nvSpPr>
          <p:cNvPr id="9" name="">
            <a:extLst xmlns:a="http://schemas.openxmlformats.org/drawingml/2006/main">
              <a:ext uri="{FF2B5EF4-FFF2-40B4-BE49-F238E27FC236}">
                <a16:creationId xmlns:a16="http://schemas.microsoft.com/office/drawing/2014/main" id="{EC1569F7-E4A9-43F9-8BF5-0B163FCA4B66}"/>
              </a:ext>
            </a:extLst>
          </p:cNvPr>
          <p:cNvSpPr>
            <a:spLocks xmlns:a="http://schemas.openxmlformats.org/drawingml/2006/main" noGrp="1"/>
          </p:cNvSpPr>
          <p:nvPr/>
        </p:nvSpPr>
        <p:spPr>
          <a:xfrm xmlns:a="http://schemas.openxmlformats.org/drawingml/2006/main">
            <a:off x="8153400" y="23431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annualized return</a:t>
            </a:r>
          </a:p>
        </p:txBody>
      </p:sp>
      <p:sp>
        <p:nvSpPr>
          <p:cNvPr id="10" name="">
            <a:extLst xmlns:a="http://schemas.openxmlformats.org/drawingml/2006/main">
              <a:ext uri="{FF2B5EF4-FFF2-40B4-BE49-F238E27FC236}">
                <a16:creationId xmlns:a16="http://schemas.microsoft.com/office/drawing/2014/main" id="{7335DCAA-854E-4196-ACD9-2980EE13625E}"/>
              </a:ext>
            </a:extLst>
          </p:cNvPr>
          <p:cNvSpPr>
            <a:spLocks xmlns:a="http://schemas.openxmlformats.org/drawingml/2006/main" noGrp="1"/>
          </p:cNvSpPr>
          <p:nvPr/>
        </p:nvSpPr>
        <p:spPr>
          <a:xfrm xmlns:a="http://schemas.openxmlformats.org/drawingml/2006/main">
            <a:off x="8153400" y="28575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11111"/>
                </a:solidFill>
              </a:defRPr>
            </a:defPPr>
            <a:lvl1pPr algn="l">
              <a:defRPr sz="2100" b="1">
                <a:solidFill>
                  <a:srgbClr val="111111"/>
                </a:solidFill>
              </a:defRPr>
            </a:lvl1pPr>
            <a:lvl2pPr algn="l">
              <a:defRPr sz="2100" b="1">
                <a:solidFill>
                  <a:srgbClr val="111111"/>
                </a:solidFill>
              </a:defRPr>
            </a:lvl2pPr>
            <a:lvl3pPr algn="l">
              <a:defRPr sz="2100" b="1">
                <a:solidFill>
                  <a:srgbClr val="111111"/>
                </a:solidFill>
              </a:defRPr>
            </a:lvl3pPr>
            <a:lvl4pPr algn="l">
              <a:defRPr sz="2100" b="1">
                <a:solidFill>
                  <a:srgbClr val="111111"/>
                </a:solidFill>
              </a:defRPr>
            </a:lvl4pPr>
            <a:lvl5pPr algn="l">
              <a:defRPr sz="2100" b="1">
                <a:solidFill>
                  <a:srgbClr val="111111"/>
                </a:solidFill>
              </a:defRPr>
            </a:lvl5pPr>
            <a:lvl6pPr algn="l">
              <a:defRPr sz="2100" b="1">
                <a:solidFill>
                  <a:srgbClr val="111111"/>
                </a:solidFill>
              </a:defRPr>
            </a:lvl6pPr>
            <a:lvl7pPr algn="l">
              <a:defRPr sz="2100" b="1">
                <a:solidFill>
                  <a:srgbClr val="111111"/>
                </a:solidFill>
              </a:defRPr>
            </a:lvl7pPr>
            <a:lvl8pPr algn="l">
              <a:defRPr sz="2100" b="1">
                <a:solidFill>
                  <a:srgbClr val="111111"/>
                </a:solidFill>
              </a:defRPr>
            </a:lvl8pPr>
            <a:lvl9pPr algn="l">
              <a:defRPr sz="2100" b="1">
                <a:solidFill>
                  <a:srgbClr val="111111"/>
                </a:solidFill>
              </a:defRPr>
            </a:lvl9pPr>
          </a:lstStyle>
          <a:p xmlns:a="http://schemas.openxmlformats.org/drawingml/2006/main">
            <a:pPr algn="l">
              <a:defRPr sz="2100" b="1">
                <a:solidFill>
                  <a:srgbClr val="111111"/>
                </a:solidFill>
              </a:defRPr>
            </a:pPr>
            <a:r>
              <a:rPr sz="2100" b="1">
                <a:solidFill>
                  <a:srgbClr val="111111"/>
                </a:solidFill>
              </a:rPr>
              <a:t>21.9%</a:t>
            </a:r>
          </a:p>
        </p:txBody>
      </p:sp>
      <p:sp>
        <p:nvSpPr>
          <p:cNvPr id="11" name="">
            <a:extLst xmlns:a="http://schemas.openxmlformats.org/drawingml/2006/main">
              <a:ext uri="{FF2B5EF4-FFF2-40B4-BE49-F238E27FC236}">
                <a16:creationId xmlns:a16="http://schemas.microsoft.com/office/drawing/2014/main" id="{A08DF749-2D93-4BFC-BF26-24BC4AC7278F}"/>
              </a:ext>
            </a:extLst>
          </p:cNvPr>
          <p:cNvSpPr>
            <a:spLocks xmlns:a="http://schemas.openxmlformats.org/drawingml/2006/main" noGrp="1"/>
          </p:cNvSpPr>
          <p:nvPr/>
        </p:nvSpPr>
        <p:spPr>
          <a:xfrm xmlns:a="http://schemas.openxmlformats.org/drawingml/2006/main">
            <a:off x="8153400" y="32575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annualized volatility</a:t>
            </a:r>
          </a:p>
        </p:txBody>
      </p:sp>
      <p:sp>
        <p:nvSpPr>
          <p:cNvPr id="12" name="">
            <a:extLst xmlns:a="http://schemas.openxmlformats.org/drawingml/2006/main">
              <a:ext uri="{FF2B5EF4-FFF2-40B4-BE49-F238E27FC236}">
                <a16:creationId xmlns:a16="http://schemas.microsoft.com/office/drawing/2014/main" id="{ACCA33D3-286B-487C-888B-6A8DC8911A22}"/>
              </a:ext>
            </a:extLst>
          </p:cNvPr>
          <p:cNvSpPr>
            <a:spLocks xmlns:a="http://schemas.openxmlformats.org/drawingml/2006/main" noGrp="1"/>
          </p:cNvSpPr>
          <p:nvPr/>
        </p:nvSpPr>
        <p:spPr>
          <a:xfrm xmlns:a="http://schemas.openxmlformats.org/drawingml/2006/main">
            <a:off x="8153400" y="37719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B42318"/>
                </a:solidFill>
              </a:defRPr>
            </a:defPPr>
            <a:lvl1pPr algn="l">
              <a:defRPr sz="2100" b="1">
                <a:solidFill>
                  <a:srgbClr val="B42318"/>
                </a:solidFill>
              </a:defRPr>
            </a:lvl1pPr>
            <a:lvl2pPr algn="l">
              <a:defRPr sz="2100" b="1">
                <a:solidFill>
                  <a:srgbClr val="B42318"/>
                </a:solidFill>
              </a:defRPr>
            </a:lvl2pPr>
            <a:lvl3pPr algn="l">
              <a:defRPr sz="2100" b="1">
                <a:solidFill>
                  <a:srgbClr val="B42318"/>
                </a:solidFill>
              </a:defRPr>
            </a:lvl3pPr>
            <a:lvl4pPr algn="l">
              <a:defRPr sz="2100" b="1">
                <a:solidFill>
                  <a:srgbClr val="B42318"/>
                </a:solidFill>
              </a:defRPr>
            </a:lvl4pPr>
            <a:lvl5pPr algn="l">
              <a:defRPr sz="2100" b="1">
                <a:solidFill>
                  <a:srgbClr val="B42318"/>
                </a:solidFill>
              </a:defRPr>
            </a:lvl5pPr>
            <a:lvl6pPr algn="l">
              <a:defRPr sz="2100" b="1">
                <a:solidFill>
                  <a:srgbClr val="B42318"/>
                </a:solidFill>
              </a:defRPr>
            </a:lvl6pPr>
            <a:lvl7pPr algn="l">
              <a:defRPr sz="2100" b="1">
                <a:solidFill>
                  <a:srgbClr val="B42318"/>
                </a:solidFill>
              </a:defRPr>
            </a:lvl7pPr>
            <a:lvl8pPr algn="l">
              <a:defRPr sz="2100" b="1">
                <a:solidFill>
                  <a:srgbClr val="B42318"/>
                </a:solidFill>
              </a:defRPr>
            </a:lvl8pPr>
            <a:lvl9pPr algn="l">
              <a:defRPr sz="2100" b="1">
                <a:solidFill>
                  <a:srgbClr val="B42318"/>
                </a:solidFill>
              </a:defRPr>
            </a:lvl9pPr>
          </a:lstStyle>
          <a:p xmlns:a="http://schemas.openxmlformats.org/drawingml/2006/main">
            <a:pPr algn="l">
              <a:defRPr sz="2100" b="1">
                <a:solidFill>
                  <a:srgbClr val="B42318"/>
                </a:solidFill>
              </a:defRPr>
            </a:pPr>
            <a:r>
              <a:rPr sz="2100" b="1">
                <a:solidFill>
                  <a:srgbClr val="B42318"/>
                </a:solidFill>
              </a:rPr>
              <a:t>-34.9%</a:t>
            </a:r>
          </a:p>
        </p:txBody>
      </p:sp>
      <p:sp>
        <p:nvSpPr>
          <p:cNvPr id="13" name="">
            <a:extLst xmlns:a="http://schemas.openxmlformats.org/drawingml/2006/main">
              <a:ext uri="{FF2B5EF4-FFF2-40B4-BE49-F238E27FC236}">
                <a16:creationId xmlns:a16="http://schemas.microsoft.com/office/drawing/2014/main" id="{F00F7862-B1A0-4FF9-BDDA-991BB7814FDF}"/>
              </a:ext>
            </a:extLst>
          </p:cNvPr>
          <p:cNvSpPr>
            <a:spLocks xmlns:a="http://schemas.openxmlformats.org/drawingml/2006/main" noGrp="1"/>
          </p:cNvSpPr>
          <p:nvPr/>
        </p:nvSpPr>
        <p:spPr>
          <a:xfrm xmlns:a="http://schemas.openxmlformats.org/drawingml/2006/main">
            <a:off x="8153400" y="41719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maximum drawdown</a:t>
            </a:r>
          </a:p>
        </p:txBody>
      </p:sp>
      <p:sp>
        <p:nvSpPr>
          <p:cNvPr id="14" name="">
            <a:extLst xmlns:a="http://schemas.openxmlformats.org/drawingml/2006/main">
              <a:ext uri="{FF2B5EF4-FFF2-40B4-BE49-F238E27FC236}">
                <a16:creationId xmlns:a16="http://schemas.microsoft.com/office/drawing/2014/main" id="{87FE7CD1-3A11-49F3-804B-41DDC3229EEC}"/>
              </a:ext>
            </a:extLst>
          </p:cNvPr>
          <p:cNvSpPr>
            <a:spLocks xmlns:a="http://schemas.openxmlformats.org/drawingml/2006/main" noGrp="1"/>
          </p:cNvSpPr>
          <p:nvPr/>
        </p:nvSpPr>
        <p:spPr>
          <a:xfrm xmlns:a="http://schemas.openxmlformats.org/drawingml/2006/main">
            <a:off x="514350" y="5105400"/>
            <a:ext cx="10610850" cy="514350"/>
          </a:xfrm>
          <a:prstGeom xmlns:a="http://schemas.openxmlformats.org/drawingml/2006/main" prst="rect">
            <a:avLst/>
          </a:prstGeom>
          <a:solidFill xmlns:a="http://schemas.openxmlformats.org/drawingml/2006/main">
            <a:srgbClr val="F5F5F2"/>
          </a:solidFill>
          <a:ln xmlns:a="http://schemas.openxmlformats.org/drawingml/2006/main" w="0">
            <a:solidFill>
              <a:srgbClr val="F5F5F2"/>
            </a:solidFill>
            <a:prstDash val="solid"/>
          </a:ln>
        </p:spPr>
      </p:sp>
      <p:sp>
        <p:nvSpPr>
          <p:cNvPr id="15" name="">
            <a:extLst xmlns:a="http://schemas.openxmlformats.org/drawingml/2006/main">
              <a:ext uri="{FF2B5EF4-FFF2-40B4-BE49-F238E27FC236}">
                <a16:creationId xmlns:a16="http://schemas.microsoft.com/office/drawing/2014/main" id="{EF083FF8-4675-4174-93D8-170ACE0C7FC8}"/>
              </a:ext>
            </a:extLst>
          </p:cNvPr>
          <p:cNvSpPr>
            <a:spLocks xmlns:a="http://schemas.openxmlformats.org/drawingml/2006/main" noGrp="1"/>
          </p:cNvSpPr>
          <p:nvPr/>
        </p:nvSpPr>
        <p:spPr>
          <a:xfrm xmlns:a="http://schemas.openxmlformats.org/drawingml/2006/main">
            <a:off x="514350" y="5105400"/>
            <a:ext cx="47625" cy="5143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16" name="">
            <a:extLst xmlns:a="http://schemas.openxmlformats.org/drawingml/2006/main">
              <a:ext uri="{FF2B5EF4-FFF2-40B4-BE49-F238E27FC236}">
                <a16:creationId xmlns:a16="http://schemas.microsoft.com/office/drawing/2014/main" id="{C3AC2C98-7108-4717-8883-1B030150008B}"/>
              </a:ext>
            </a:extLst>
          </p:cNvPr>
          <p:cNvSpPr>
            <a:spLocks xmlns:a="http://schemas.openxmlformats.org/drawingml/2006/main" noGrp="1"/>
          </p:cNvSpPr>
          <p:nvPr/>
        </p:nvSpPr>
        <p:spPr>
          <a:xfrm xmlns:a="http://schemas.openxmlformats.org/drawingml/2006/main">
            <a:off x="685800" y="5153025"/>
            <a:ext cx="1032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353535"/>
                </a:solidFill>
              </a:defRPr>
            </a:defPPr>
            <a:lvl1pPr algn="l">
              <a:defRPr sz="1050" b="1">
                <a:solidFill>
                  <a:srgbClr val="353535"/>
                </a:solidFill>
              </a:defRPr>
            </a:lvl1pPr>
            <a:lvl2pPr algn="l">
              <a:defRPr sz="1050" b="1">
                <a:solidFill>
                  <a:srgbClr val="353535"/>
                </a:solidFill>
              </a:defRPr>
            </a:lvl2pPr>
            <a:lvl3pPr algn="l">
              <a:defRPr sz="1050" b="1">
                <a:solidFill>
                  <a:srgbClr val="353535"/>
                </a:solidFill>
              </a:defRPr>
            </a:lvl3pPr>
            <a:lvl4pPr algn="l">
              <a:defRPr sz="1050" b="1">
                <a:solidFill>
                  <a:srgbClr val="353535"/>
                </a:solidFill>
              </a:defRPr>
            </a:lvl4pPr>
            <a:lvl5pPr algn="l">
              <a:defRPr sz="1050" b="1">
                <a:solidFill>
                  <a:srgbClr val="353535"/>
                </a:solidFill>
              </a:defRPr>
            </a:lvl5pPr>
            <a:lvl6pPr algn="l">
              <a:defRPr sz="1050" b="1">
                <a:solidFill>
                  <a:srgbClr val="353535"/>
                </a:solidFill>
              </a:defRPr>
            </a:lvl6pPr>
            <a:lvl7pPr algn="l">
              <a:defRPr sz="1050" b="1">
                <a:solidFill>
                  <a:srgbClr val="353535"/>
                </a:solidFill>
              </a:defRPr>
            </a:lvl7pPr>
            <a:lvl8pPr algn="l">
              <a:defRPr sz="1050" b="1">
                <a:solidFill>
                  <a:srgbClr val="353535"/>
                </a:solidFill>
              </a:defRPr>
            </a:lvl8pPr>
            <a:lvl9pPr algn="l">
              <a:defRPr sz="1050" b="1">
                <a:solidFill>
                  <a:srgbClr val="353535"/>
                </a:solidFill>
              </a:defRPr>
            </a:lvl9pPr>
          </a:lstStyle>
          <a:p xmlns:a="http://schemas.openxmlformats.org/drawingml/2006/main">
            <a:pPr algn="l">
              <a:defRPr sz="1050" b="1">
                <a:solidFill>
                  <a:srgbClr val="353535"/>
                </a:solidFill>
              </a:defRPr>
            </a:pPr>
            <a:r>
              <a:rPr sz="1050" b="1">
                <a:solidFill>
                  <a:srgbClr val="353535"/>
                </a:solidFill>
              </a:rPr>
              <a:t>Sharpe 1.28  |  beta 1.19  |  correlation with SPY 0.90</a:t>
            </a:r>
          </a:p>
        </p:txBody>
      </p:sp>
      <p:sp>
        <p:nvSpPr>
          <p:cNvPr id="17" name="">
            <a:extLst xmlns:a="http://schemas.openxmlformats.org/drawingml/2006/main">
              <a:ext uri="{FF2B5EF4-FFF2-40B4-BE49-F238E27FC236}">
                <a16:creationId xmlns:a16="http://schemas.microsoft.com/office/drawing/2014/main" id="{1E8341E1-0267-467F-B72C-9C876D580D9E}"/>
              </a:ext>
            </a:extLst>
          </p:cNvPr>
          <p:cNvSpPr>
            <a:spLocks xmlns:a="http://schemas.openxmlformats.org/drawingml/2006/main" noGrp="1"/>
          </p:cNvSpPr>
          <p:nvPr/>
        </p:nvSpPr>
        <p:spPr>
          <a:xfrm xmlns:a="http://schemas.openxmlformats.org/drawingml/2006/main">
            <a:off x="514350" y="5829300"/>
            <a:ext cx="38100" cy="4572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18" name="">
            <a:extLst xmlns:a="http://schemas.openxmlformats.org/drawingml/2006/main">
              <a:ext uri="{FF2B5EF4-FFF2-40B4-BE49-F238E27FC236}">
                <a16:creationId xmlns:a16="http://schemas.microsoft.com/office/drawing/2014/main" id="{AD4DEAAD-246E-47B6-A849-D4885A0949F3}"/>
              </a:ext>
            </a:extLst>
          </p:cNvPr>
          <p:cNvSpPr>
            <a:spLocks xmlns:a="http://schemas.openxmlformats.org/drawingml/2006/main" noGrp="1"/>
          </p:cNvSpPr>
          <p:nvPr/>
        </p:nvSpPr>
        <p:spPr>
          <a:xfrm xmlns:a="http://schemas.openxmlformats.org/drawingml/2006/main">
            <a:off x="666750" y="5791200"/>
            <a:ext cx="10458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Interpretation</a:t>
            </a:r>
          </a:p>
        </p:txBody>
      </p:sp>
      <p:sp>
        <p:nvSpPr>
          <p:cNvPr id="19" name="">
            <a:extLst xmlns:a="http://schemas.openxmlformats.org/drawingml/2006/main">
              <a:ext uri="{FF2B5EF4-FFF2-40B4-BE49-F238E27FC236}">
                <a16:creationId xmlns:a16="http://schemas.microsoft.com/office/drawing/2014/main" id="{F3774D96-C1FF-4496-A582-D6C8229C08DD}"/>
              </a:ext>
            </a:extLst>
          </p:cNvPr>
          <p:cNvSpPr>
            <a:spLocks xmlns:a="http://schemas.openxmlformats.org/drawingml/2006/main" noGrp="1"/>
          </p:cNvSpPr>
          <p:nvPr/>
        </p:nvSpPr>
        <p:spPr>
          <a:xfrm xmlns:a="http://schemas.openxmlformats.org/drawingml/2006/main">
            <a:off x="666750" y="6029325"/>
            <a:ext cx="10458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Ten stocks reduce company-specific risk, but high market correlation leaves the portfolio exposed to broad equity shocks.</a:t>
            </a:r>
          </a:p>
        </p:txBody>
      </p:sp>
      <p:sp>
        <p:nvSpPr>
          <p:cNvPr id="20" name="">
            <a:extLst xmlns:a="http://schemas.openxmlformats.org/drawingml/2006/main">
              <a:ext uri="{FF2B5EF4-FFF2-40B4-BE49-F238E27FC236}">
                <a16:creationId xmlns:a16="http://schemas.microsoft.com/office/drawing/2014/main" id="{DCF9B6F6-ABF7-4A6A-94E1-9B37B1DC5857}"/>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21" name="">
            <a:extLst xmlns:a="http://schemas.openxmlformats.org/drawingml/2006/main">
              <a:ext uri="{FF2B5EF4-FFF2-40B4-BE49-F238E27FC236}">
                <a16:creationId xmlns:a16="http://schemas.microsoft.com/office/drawing/2014/main" id="{21074F86-B04E-4FDF-870C-036D1D7F643B}"/>
              </a:ext>
            </a:extLst>
          </p:cNvPr>
          <p:cNvSpPr>
            <a:spLocks xmlns:a="http://schemas.openxmlformats.org/drawingml/2006/main" noGrp="1"/>
          </p:cNvSpPr>
          <p:nvPr/>
        </p:nvSpPr>
        <p:spPr>
          <a:xfrm xmlns:a="http://schemas.openxmlformats.org/drawingml/2006/main">
            <a:off x="51435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0">
                <a:solidFill>
                  <a:srgbClr val="707070"/>
                </a:solidFill>
              </a:defRPr>
            </a:defPPr>
            <a:lvl1pPr algn="l">
              <a:defRPr sz="600" b="0">
                <a:solidFill>
                  <a:srgbClr val="707070"/>
                </a:solidFill>
              </a:defRPr>
            </a:lvl1pPr>
            <a:lvl2pPr algn="l">
              <a:defRPr sz="600" b="0">
                <a:solidFill>
                  <a:srgbClr val="707070"/>
                </a:solidFill>
              </a:defRPr>
            </a:lvl2pPr>
            <a:lvl3pPr algn="l">
              <a:defRPr sz="600" b="0">
                <a:solidFill>
                  <a:srgbClr val="707070"/>
                </a:solidFill>
              </a:defRPr>
            </a:lvl3pPr>
            <a:lvl4pPr algn="l">
              <a:defRPr sz="600" b="0">
                <a:solidFill>
                  <a:srgbClr val="707070"/>
                </a:solidFill>
              </a:defRPr>
            </a:lvl4pPr>
            <a:lvl5pPr algn="l">
              <a:defRPr sz="600" b="0">
                <a:solidFill>
                  <a:srgbClr val="707070"/>
                </a:solidFill>
              </a:defRPr>
            </a:lvl5pPr>
            <a:lvl6pPr algn="l">
              <a:defRPr sz="600" b="0">
                <a:solidFill>
                  <a:srgbClr val="707070"/>
                </a:solidFill>
              </a:defRPr>
            </a:lvl6pPr>
            <a:lvl7pPr algn="l">
              <a:defRPr sz="600" b="0">
                <a:solidFill>
                  <a:srgbClr val="707070"/>
                </a:solidFill>
              </a:defRPr>
            </a:lvl7pPr>
            <a:lvl8pPr algn="l">
              <a:defRPr sz="600" b="0">
                <a:solidFill>
                  <a:srgbClr val="707070"/>
                </a:solidFill>
              </a:defRPr>
            </a:lvl8pPr>
            <a:lvl9pPr algn="l">
              <a:defRPr sz="600" b="0">
                <a:solidFill>
                  <a:srgbClr val="707070"/>
                </a:solidFill>
              </a:defRPr>
            </a:lvl9pPr>
          </a:lstStyle>
          <a:p xmlns:a="http://schemas.openxmlformats.org/drawingml/2006/main">
            <a:pPr algn="l">
              <a:defRPr sz="600" b="0">
                <a:solidFill>
                  <a:srgbClr val="707070"/>
                </a:solidFill>
              </a:defRPr>
            </a:pPr>
            <a:r>
              <a:rPr sz="600" b="0">
                <a:solidFill>
                  <a:srgbClr val="707070"/>
                </a:solidFill>
              </a:rPr>
              <a:t>QFI risk engine  |  saved data through 23 October 2026</a:t>
            </a:r>
          </a:p>
        </p:txBody>
      </p:sp>
      <p:sp>
        <p:nvSpPr>
          <p:cNvPr id="22" name="">
            <a:extLst xmlns:a="http://schemas.openxmlformats.org/drawingml/2006/main">
              <a:ext uri="{FF2B5EF4-FFF2-40B4-BE49-F238E27FC236}">
                <a16:creationId xmlns:a16="http://schemas.microsoft.com/office/drawing/2014/main" id="{5897EFE9-EFF1-4F18-B23F-DA4502C311B2}"/>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111111"/>
                </a:solidFill>
              </a:defRPr>
            </a:defPPr>
            <a:lvl1pPr algn="r">
              <a:defRPr sz="675" b="1">
                <a:solidFill>
                  <a:srgbClr val="111111"/>
                </a:solidFill>
              </a:defRPr>
            </a:lvl1pPr>
            <a:lvl2pPr algn="r">
              <a:defRPr sz="675" b="1">
                <a:solidFill>
                  <a:srgbClr val="111111"/>
                </a:solidFill>
              </a:defRPr>
            </a:lvl2pPr>
            <a:lvl3pPr algn="r">
              <a:defRPr sz="675" b="1">
                <a:solidFill>
                  <a:srgbClr val="111111"/>
                </a:solidFill>
              </a:defRPr>
            </a:lvl3pPr>
            <a:lvl4pPr algn="r">
              <a:defRPr sz="675" b="1">
                <a:solidFill>
                  <a:srgbClr val="111111"/>
                </a:solidFill>
              </a:defRPr>
            </a:lvl4pPr>
            <a:lvl5pPr algn="r">
              <a:defRPr sz="675" b="1">
                <a:solidFill>
                  <a:srgbClr val="111111"/>
                </a:solidFill>
              </a:defRPr>
            </a:lvl5pPr>
            <a:lvl6pPr algn="r">
              <a:defRPr sz="675" b="1">
                <a:solidFill>
                  <a:srgbClr val="111111"/>
                </a:solidFill>
              </a:defRPr>
            </a:lvl6pPr>
            <a:lvl7pPr algn="r">
              <a:defRPr sz="675" b="1">
                <a:solidFill>
                  <a:srgbClr val="111111"/>
                </a:solidFill>
              </a:defRPr>
            </a:lvl7pPr>
            <a:lvl8pPr algn="r">
              <a:defRPr sz="675" b="1">
                <a:solidFill>
                  <a:srgbClr val="111111"/>
                </a:solidFill>
              </a:defRPr>
            </a:lvl8pPr>
            <a:lvl9pPr algn="r">
              <a:defRPr sz="675" b="1">
                <a:solidFill>
                  <a:srgbClr val="111111"/>
                </a:solidFill>
              </a:defRPr>
            </a:lvl9pPr>
          </a:lstStyle>
          <a:p xmlns:a="http://schemas.openxmlformats.org/drawingml/2006/main">
            <a:pPr algn="r">
              <a:defRPr sz="675" b="1">
                <a:solidFill>
                  <a:srgbClr val="111111"/>
                </a:solidFill>
              </a:defRPr>
            </a:pPr>
            <a:r>
              <a:rPr sz="675" b="1">
                <a:solidFill>
                  <a:srgbClr val="111111"/>
                </a:solidFill>
              </a:rPr>
              <a:t>13</a:t>
            </a:r>
          </a:p>
        </p:txBody>
      </p:sp>
    </p:spTree>
    <p:extLst>
      <p:ext uri="{BB962C8B-B14F-4D97-AF65-F5344CB8AC3E}">
        <p14:creationId xmlns:p14="http://schemas.microsoft.com/office/powerpoint/2010/main" val="40042598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9C0DAE94-08E6-4B4E-BB86-2270C58DA471}"/>
              </a:ext>
            </a:extLst>
          </p:cNvPr>
          <p:cNvSpPr>
            <a:spLocks xmlns:a="http://schemas.openxmlformats.org/drawingml/2006/main" noGrp="1"/>
          </p:cNvSpPr>
          <p:nvPr/>
        </p:nvSpPr>
        <p:spPr>
          <a:xfrm xmlns:a="http://schemas.openxmlformats.org/drawingml/2006/main">
            <a:off x="514350" y="266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RESULTS</a:t>
            </a:r>
          </a:p>
        </p:txBody>
      </p:sp>
      <p:sp>
        <p:nvSpPr>
          <p:cNvPr id="2" name="">
            <a:extLst xmlns:a="http://schemas.openxmlformats.org/drawingml/2006/main">
              <a:ext uri="{FF2B5EF4-FFF2-40B4-BE49-F238E27FC236}">
                <a16:creationId xmlns:a16="http://schemas.microsoft.com/office/drawing/2014/main" id="{BBB1B5B2-6929-4B60-8AA1-F063235C8232}"/>
              </a:ext>
            </a:extLst>
          </p:cNvPr>
          <p:cNvSpPr>
            <a:spLocks xmlns:a="http://schemas.openxmlformats.org/drawingml/2006/main" noGrp="1"/>
          </p:cNvSpPr>
          <p:nvPr/>
        </p:nvSpPr>
        <p:spPr>
          <a:xfrm xmlns:a="http://schemas.openxmlformats.org/drawingml/2006/main">
            <a:off x="514350" y="6096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11111"/>
                </a:solidFill>
              </a:defRPr>
            </a:defPPr>
            <a:lvl1pPr algn="l">
              <a:defRPr sz="2550" b="1">
                <a:solidFill>
                  <a:srgbClr val="111111"/>
                </a:solidFill>
              </a:defRPr>
            </a:lvl1pPr>
            <a:lvl2pPr algn="l">
              <a:defRPr sz="2550" b="1">
                <a:solidFill>
                  <a:srgbClr val="111111"/>
                </a:solidFill>
              </a:defRPr>
            </a:lvl2pPr>
            <a:lvl3pPr algn="l">
              <a:defRPr sz="2550" b="1">
                <a:solidFill>
                  <a:srgbClr val="111111"/>
                </a:solidFill>
              </a:defRPr>
            </a:lvl3pPr>
            <a:lvl4pPr algn="l">
              <a:defRPr sz="2550" b="1">
                <a:solidFill>
                  <a:srgbClr val="111111"/>
                </a:solidFill>
              </a:defRPr>
            </a:lvl4pPr>
            <a:lvl5pPr algn="l">
              <a:defRPr sz="2550" b="1">
                <a:solidFill>
                  <a:srgbClr val="111111"/>
                </a:solidFill>
              </a:defRPr>
            </a:lvl5pPr>
            <a:lvl6pPr algn="l">
              <a:defRPr sz="2550" b="1">
                <a:solidFill>
                  <a:srgbClr val="111111"/>
                </a:solidFill>
              </a:defRPr>
            </a:lvl6pPr>
            <a:lvl7pPr algn="l">
              <a:defRPr sz="2550" b="1">
                <a:solidFill>
                  <a:srgbClr val="111111"/>
                </a:solidFill>
              </a:defRPr>
            </a:lvl7pPr>
            <a:lvl8pPr algn="l">
              <a:defRPr sz="2550" b="1">
                <a:solidFill>
                  <a:srgbClr val="111111"/>
                </a:solidFill>
              </a:defRPr>
            </a:lvl8pPr>
            <a:lvl9pPr algn="l">
              <a:defRPr sz="2550" b="1">
                <a:solidFill>
                  <a:srgbClr val="111111"/>
                </a:solidFill>
              </a:defRPr>
            </a:lvl9pPr>
          </a:lstStyle>
          <a:p xmlns:a="http://schemas.openxmlformats.org/drawingml/2006/main">
            <a:pPr algn="l">
              <a:defRPr sz="2550" b="1">
                <a:solidFill>
                  <a:srgbClr val="111111"/>
                </a:solidFill>
              </a:defRPr>
            </a:pPr>
            <a:r>
              <a:rPr sz="2550" b="1">
                <a:solidFill>
                  <a:srgbClr val="111111"/>
                </a:solidFill>
              </a:rPr>
              <a:t>Current model choice moves one-day VaR from $240K to $337K</a:t>
            </a:r>
          </a:p>
        </p:txBody>
      </p:sp>
      <p:sp>
        <p:nvSpPr>
          <p:cNvPr id="3" name="">
            <a:extLst xmlns:a="http://schemas.openxmlformats.org/drawingml/2006/main">
              <a:ext uri="{FF2B5EF4-FFF2-40B4-BE49-F238E27FC236}">
                <a16:creationId xmlns:a16="http://schemas.microsoft.com/office/drawing/2014/main" id="{AE0FCCE6-2A02-4631-9712-CFADF191605D}"/>
              </a:ext>
            </a:extLst>
          </p:cNvPr>
          <p:cNvSpPr>
            <a:spLocks xmlns:a="http://schemas.openxmlformats.org/drawingml/2006/main" noGrp="1"/>
          </p:cNvSpPr>
          <p:nvPr/>
        </p:nvSpPr>
        <p:spPr>
          <a:xfrm xmlns:a="http://schemas.openxmlformats.org/drawingml/2006/main">
            <a:off x="514350" y="11430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All figures use 99% confidence, a one-day horizon and today's $10 million portfolio value</a:t>
            </a:r>
          </a:p>
        </p:txBody>
      </p:sp>
      <p:sp>
        <p:nvSpPr>
          <p:cNvPr id="4" name="">
            <a:extLst xmlns:a="http://schemas.openxmlformats.org/drawingml/2006/main">
              <a:ext uri="{FF2B5EF4-FFF2-40B4-BE49-F238E27FC236}">
                <a16:creationId xmlns:a16="http://schemas.microsoft.com/office/drawing/2014/main" id="{2D447A5E-43F8-44B6-8940-E1E7DFE96433}"/>
              </a:ext>
            </a:extLst>
          </p:cNvPr>
          <p:cNvSpPr>
            <a:spLocks xmlns:a="http://schemas.openxmlformats.org/drawingml/2006/main" noGrp="1"/>
          </p:cNvSpPr>
          <p:nvPr/>
        </p:nvSpPr>
        <p:spPr>
          <a:xfrm xmlns:a="http://schemas.openxmlformats.org/drawingml/2006/main">
            <a:off x="514350" y="1495425"/>
            <a:ext cx="111633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2E85F04A-7C0F-4ACC-876A-A9F50349A71D}"/>
              </a:ext>
            </a:extLst>
          </p:cNvPr>
          <p:cNvSpPr>
            <a:spLocks xmlns:a="http://schemas.openxmlformats.org/drawingml/2006/main" noGrp="1"/>
          </p:cNvSpPr>
          <p:nvPr/>
        </p:nvSpPr>
        <p:spPr>
          <a:xfrm xmlns:a="http://schemas.openxmlformats.org/drawingml/2006/main">
            <a:off x="504825" y="1724025"/>
            <a:ext cx="6686550" cy="266700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6" name="">
            <a:extLst xmlns:a="http://schemas.openxmlformats.org/drawingml/2006/main">
              <a:ext uri="{FF2B5EF4-FFF2-40B4-BE49-F238E27FC236}">
                <a16:creationId xmlns:a16="http://schemas.microsoft.com/office/drawing/2014/main" id="{22066E3C-CA0B-4338-A941-3B444456B12C}"/>
              </a:ext>
            </a:extLst>
          </p:cNvPr>
          <p:cNvSpPr>
            <a:spLocks xmlns:a="http://schemas.openxmlformats.org/drawingml/2006/main" noGrp="1"/>
          </p:cNvSpPr>
          <p:nvPr/>
        </p:nvSpPr>
        <p:spPr>
          <a:xfrm xmlns:a="http://schemas.openxmlformats.org/drawingml/2006/main">
            <a:off x="628650" y="1800225"/>
            <a:ext cx="6438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Historical portfolio return and P&amp;L distribution</a:t>
            </a:r>
          </a:p>
        </p:txBody>
      </p:sp>
      <p:pic>
        <p:nvPicPr>
          <p:cNvPr id="7" name="">
            <a:extLst xmlns:a="http://schemas.openxmlformats.org/drawingml/2006/main">
              <a:ext uri="{FF2B5EF4-FFF2-40B4-BE49-F238E27FC236}">
                <a16:creationId xmlns:a16="http://schemas.microsoft.com/office/drawing/2014/main" id="{ECFC89B1-8753-4500-A787-3585D01342FC}"/>
              </a:ext>
            </a:extLst>
          </p:cNvPr>
          <p:cNvPicPr>
            <a:picLocks xmlns:a="http://schemas.openxmlformats.org/drawingml/2006/main" noChangeAspect="1"/>
          </p:cNvPicPr>
          <p:nvPr/>
        </p:nvPicPr>
        <p:blipFill>
          <a:blip xmlns:r="http://schemas.openxmlformats.org/officeDocument/2006/relationships" xmlns:a="http://schemas.openxmlformats.org/drawingml/2006/main" r:embed="Re6114f0290194b88"/>
          <a:stretch xmlns:a="http://schemas.openxmlformats.org/drawingml/2006/main"/>
        </p:blipFill>
        <p:spPr>
          <a:xfrm xmlns:a="http://schemas.openxmlformats.org/drawingml/2006/main">
            <a:off x="514350" y="2112873"/>
            <a:ext cx="6667500" cy="2146479"/>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00420E9-1CBB-428B-94F8-7D79EE275E6B}"/>
              </a:ext>
            </a:extLst>
          </p:cNvPr>
          <p:cNvSpPr>
            <a:spLocks xmlns:a="http://schemas.openxmlformats.org/drawingml/2006/main" noGrp="1"/>
          </p:cNvSpPr>
          <p:nvPr/>
        </p:nvSpPr>
        <p:spPr>
          <a:xfrm xmlns:a="http://schemas.openxmlformats.org/drawingml/2006/main">
            <a:off x="7620000" y="173355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11111"/>
                </a:solidFill>
              </a:defRPr>
            </a:defPPr>
            <a:lvl1pPr algn="l">
              <a:defRPr sz="1050" b="1">
                <a:solidFill>
                  <a:srgbClr val="111111"/>
                </a:solidFill>
              </a:defRPr>
            </a:lvl1pPr>
            <a:lvl2pPr algn="l">
              <a:defRPr sz="1050" b="1">
                <a:solidFill>
                  <a:srgbClr val="111111"/>
                </a:solidFill>
              </a:defRPr>
            </a:lvl2pPr>
            <a:lvl3pPr algn="l">
              <a:defRPr sz="1050" b="1">
                <a:solidFill>
                  <a:srgbClr val="111111"/>
                </a:solidFill>
              </a:defRPr>
            </a:lvl3pPr>
            <a:lvl4pPr algn="l">
              <a:defRPr sz="1050" b="1">
                <a:solidFill>
                  <a:srgbClr val="111111"/>
                </a:solidFill>
              </a:defRPr>
            </a:lvl4pPr>
            <a:lvl5pPr algn="l">
              <a:defRPr sz="1050" b="1">
                <a:solidFill>
                  <a:srgbClr val="111111"/>
                </a:solidFill>
              </a:defRPr>
            </a:lvl5pPr>
            <a:lvl6pPr algn="l">
              <a:defRPr sz="1050" b="1">
                <a:solidFill>
                  <a:srgbClr val="111111"/>
                </a:solidFill>
              </a:defRPr>
            </a:lvl6pPr>
            <a:lvl7pPr algn="l">
              <a:defRPr sz="1050" b="1">
                <a:solidFill>
                  <a:srgbClr val="111111"/>
                </a:solidFill>
              </a:defRPr>
            </a:lvl7pPr>
            <a:lvl8pPr algn="l">
              <a:defRPr sz="1050" b="1">
                <a:solidFill>
                  <a:srgbClr val="111111"/>
                </a:solidFill>
              </a:defRPr>
            </a:lvl8pPr>
            <a:lvl9pPr algn="l">
              <a:defRPr sz="1050" b="1">
                <a:solidFill>
                  <a:srgbClr val="111111"/>
                </a:solidFill>
              </a:defRPr>
            </a:lvl9pPr>
          </a:lstStyle>
          <a:p xmlns:a="http://schemas.openxmlformats.org/drawingml/2006/main">
            <a:pPr algn="l">
              <a:defRPr sz="1050" b="1">
                <a:solidFill>
                  <a:srgbClr val="111111"/>
                </a:solidFill>
              </a:defRPr>
            </a:pPr>
            <a:r>
              <a:rPr sz="1050" b="1">
                <a:solidFill>
                  <a:srgbClr val="111111"/>
                </a:solidFill>
              </a:rPr>
              <a:t>HS</a:t>
            </a:r>
          </a:p>
        </p:txBody>
      </p:sp>
      <p:sp>
        <p:nvSpPr>
          <p:cNvPr id="9" name="">
            <a:extLst xmlns:a="http://schemas.openxmlformats.org/drawingml/2006/main">
              <a:ext uri="{FF2B5EF4-FFF2-40B4-BE49-F238E27FC236}">
                <a16:creationId xmlns:a16="http://schemas.microsoft.com/office/drawing/2014/main" id="{2D5ED379-5A6C-4462-BD29-1B09D5E54E74}"/>
              </a:ext>
            </a:extLst>
          </p:cNvPr>
          <p:cNvSpPr>
            <a:spLocks xmlns:a="http://schemas.openxmlformats.org/drawingml/2006/main" noGrp="1"/>
          </p:cNvSpPr>
          <p:nvPr/>
        </p:nvSpPr>
        <p:spPr>
          <a:xfrm xmlns:a="http://schemas.openxmlformats.org/drawingml/2006/main">
            <a:off x="8934450" y="17335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55E63"/>
                </a:solidFill>
              </a:defRPr>
            </a:defPPr>
            <a:lvl1pPr algn="l">
              <a:defRPr sz="1350" b="1">
                <a:solidFill>
                  <a:srgbClr val="155E63"/>
                </a:solidFill>
              </a:defRPr>
            </a:lvl1pPr>
            <a:lvl2pPr algn="l">
              <a:defRPr sz="1350" b="1">
                <a:solidFill>
                  <a:srgbClr val="155E63"/>
                </a:solidFill>
              </a:defRPr>
            </a:lvl2pPr>
            <a:lvl3pPr algn="l">
              <a:defRPr sz="1350" b="1">
                <a:solidFill>
                  <a:srgbClr val="155E63"/>
                </a:solidFill>
              </a:defRPr>
            </a:lvl3pPr>
            <a:lvl4pPr algn="l">
              <a:defRPr sz="1350" b="1">
                <a:solidFill>
                  <a:srgbClr val="155E63"/>
                </a:solidFill>
              </a:defRPr>
            </a:lvl4pPr>
            <a:lvl5pPr algn="l">
              <a:defRPr sz="1350" b="1">
                <a:solidFill>
                  <a:srgbClr val="155E63"/>
                </a:solidFill>
              </a:defRPr>
            </a:lvl5pPr>
            <a:lvl6pPr algn="l">
              <a:defRPr sz="1350" b="1">
                <a:solidFill>
                  <a:srgbClr val="155E63"/>
                </a:solidFill>
              </a:defRPr>
            </a:lvl6pPr>
            <a:lvl7pPr algn="l">
              <a:defRPr sz="1350" b="1">
                <a:solidFill>
                  <a:srgbClr val="155E63"/>
                </a:solidFill>
              </a:defRPr>
            </a:lvl7pPr>
            <a:lvl8pPr algn="l">
              <a:defRPr sz="1350" b="1">
                <a:solidFill>
                  <a:srgbClr val="155E63"/>
                </a:solidFill>
              </a:defRPr>
            </a:lvl8pPr>
            <a:lvl9pPr algn="l">
              <a:defRPr sz="1350" b="1">
                <a:solidFill>
                  <a:srgbClr val="155E63"/>
                </a:solidFill>
              </a:defRPr>
            </a:lvl9pPr>
          </a:lstStyle>
          <a:p xmlns:a="http://schemas.openxmlformats.org/drawingml/2006/main">
            <a:pPr algn="l">
              <a:defRPr sz="1350" b="1">
                <a:solidFill>
                  <a:srgbClr val="155E63"/>
                </a:solidFill>
              </a:defRPr>
            </a:pPr>
            <a:r>
              <a:rPr sz="1350" b="1">
                <a:solidFill>
                  <a:srgbClr val="155E63"/>
                </a:solidFill>
              </a:rPr>
              <a:t>$337K</a:t>
            </a:r>
          </a:p>
        </p:txBody>
      </p:sp>
      <p:sp>
        <p:nvSpPr>
          <p:cNvPr id="10" name="">
            <a:extLst xmlns:a="http://schemas.openxmlformats.org/drawingml/2006/main">
              <a:ext uri="{FF2B5EF4-FFF2-40B4-BE49-F238E27FC236}">
                <a16:creationId xmlns:a16="http://schemas.microsoft.com/office/drawing/2014/main" id="{02698EC2-3BDC-4BCD-8D36-AAECD24D0F4A}"/>
              </a:ext>
            </a:extLst>
          </p:cNvPr>
          <p:cNvSpPr>
            <a:spLocks xmlns:a="http://schemas.openxmlformats.org/drawingml/2006/main" noGrp="1"/>
          </p:cNvSpPr>
          <p:nvPr/>
        </p:nvSpPr>
        <p:spPr>
          <a:xfrm xmlns:a="http://schemas.openxmlformats.org/drawingml/2006/main">
            <a:off x="10134600" y="17335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B42318"/>
                </a:solidFill>
              </a:defRPr>
            </a:defPPr>
            <a:lvl1pPr algn="l">
              <a:defRPr sz="1350" b="1">
                <a:solidFill>
                  <a:srgbClr val="B42318"/>
                </a:solidFill>
              </a:defRPr>
            </a:lvl1pPr>
            <a:lvl2pPr algn="l">
              <a:defRPr sz="1350" b="1">
                <a:solidFill>
                  <a:srgbClr val="B42318"/>
                </a:solidFill>
              </a:defRPr>
            </a:lvl2pPr>
            <a:lvl3pPr algn="l">
              <a:defRPr sz="1350" b="1">
                <a:solidFill>
                  <a:srgbClr val="B42318"/>
                </a:solidFill>
              </a:defRPr>
            </a:lvl3pPr>
            <a:lvl4pPr algn="l">
              <a:defRPr sz="1350" b="1">
                <a:solidFill>
                  <a:srgbClr val="B42318"/>
                </a:solidFill>
              </a:defRPr>
            </a:lvl4pPr>
            <a:lvl5pPr algn="l">
              <a:defRPr sz="1350" b="1">
                <a:solidFill>
                  <a:srgbClr val="B42318"/>
                </a:solidFill>
              </a:defRPr>
            </a:lvl5pPr>
            <a:lvl6pPr algn="l">
              <a:defRPr sz="1350" b="1">
                <a:solidFill>
                  <a:srgbClr val="B42318"/>
                </a:solidFill>
              </a:defRPr>
            </a:lvl6pPr>
            <a:lvl7pPr algn="l">
              <a:defRPr sz="1350" b="1">
                <a:solidFill>
                  <a:srgbClr val="B42318"/>
                </a:solidFill>
              </a:defRPr>
            </a:lvl7pPr>
            <a:lvl8pPr algn="l">
              <a:defRPr sz="1350" b="1">
                <a:solidFill>
                  <a:srgbClr val="B42318"/>
                </a:solidFill>
              </a:defRPr>
            </a:lvl8pPr>
            <a:lvl9pPr algn="l">
              <a:defRPr sz="1350" b="1">
                <a:solidFill>
                  <a:srgbClr val="B42318"/>
                </a:solidFill>
              </a:defRPr>
            </a:lvl9pPr>
          </a:lstStyle>
          <a:p xmlns:a="http://schemas.openxmlformats.org/drawingml/2006/main">
            <a:pPr algn="l">
              <a:defRPr sz="1350" b="1">
                <a:solidFill>
                  <a:srgbClr val="B42318"/>
                </a:solidFill>
              </a:defRPr>
            </a:pPr>
            <a:r>
              <a:rPr sz="1350" b="1">
                <a:solidFill>
                  <a:srgbClr val="B42318"/>
                </a:solidFill>
              </a:rPr>
              <a:t>$463K</a:t>
            </a:r>
          </a:p>
        </p:txBody>
      </p:sp>
      <p:sp>
        <p:nvSpPr>
          <p:cNvPr id="11" name="">
            <a:extLst xmlns:a="http://schemas.openxmlformats.org/drawingml/2006/main">
              <a:ext uri="{FF2B5EF4-FFF2-40B4-BE49-F238E27FC236}">
                <a16:creationId xmlns:a16="http://schemas.microsoft.com/office/drawing/2014/main" id="{98687B4C-57E1-4EA3-840D-684774721252}"/>
              </a:ext>
            </a:extLst>
          </p:cNvPr>
          <p:cNvSpPr>
            <a:spLocks xmlns:a="http://schemas.openxmlformats.org/drawingml/2006/main" noGrp="1"/>
          </p:cNvSpPr>
          <p:nvPr/>
        </p:nvSpPr>
        <p:spPr>
          <a:xfrm xmlns:a="http://schemas.openxmlformats.org/drawingml/2006/main">
            <a:off x="8934450" y="200025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75" b="0">
                <a:solidFill>
                  <a:srgbClr val="707070"/>
                </a:solidFill>
              </a:defRPr>
            </a:defPPr>
            <a:lvl1pPr algn="l">
              <a:defRPr sz="675" b="0">
                <a:solidFill>
                  <a:srgbClr val="707070"/>
                </a:solidFill>
              </a:defRPr>
            </a:lvl1pPr>
            <a:lvl2pPr algn="l">
              <a:defRPr sz="675" b="0">
                <a:solidFill>
                  <a:srgbClr val="707070"/>
                </a:solidFill>
              </a:defRPr>
            </a:lvl2pPr>
            <a:lvl3pPr algn="l">
              <a:defRPr sz="675" b="0">
                <a:solidFill>
                  <a:srgbClr val="707070"/>
                </a:solidFill>
              </a:defRPr>
            </a:lvl3pPr>
            <a:lvl4pPr algn="l">
              <a:defRPr sz="675" b="0">
                <a:solidFill>
                  <a:srgbClr val="707070"/>
                </a:solidFill>
              </a:defRPr>
            </a:lvl4pPr>
            <a:lvl5pPr algn="l">
              <a:defRPr sz="675" b="0">
                <a:solidFill>
                  <a:srgbClr val="707070"/>
                </a:solidFill>
              </a:defRPr>
            </a:lvl5pPr>
            <a:lvl6pPr algn="l">
              <a:defRPr sz="675" b="0">
                <a:solidFill>
                  <a:srgbClr val="707070"/>
                </a:solidFill>
              </a:defRPr>
            </a:lvl6pPr>
            <a:lvl7pPr algn="l">
              <a:defRPr sz="675" b="0">
                <a:solidFill>
                  <a:srgbClr val="707070"/>
                </a:solidFill>
              </a:defRPr>
            </a:lvl7pPr>
            <a:lvl8pPr algn="l">
              <a:defRPr sz="675" b="0">
                <a:solidFill>
                  <a:srgbClr val="707070"/>
                </a:solidFill>
              </a:defRPr>
            </a:lvl8pPr>
            <a:lvl9pPr algn="l">
              <a:defRPr sz="675" b="0">
                <a:solidFill>
                  <a:srgbClr val="707070"/>
                </a:solidFill>
              </a:defRPr>
            </a:lvl9pPr>
          </a:lstStyle>
          <a:p xmlns:a="http://schemas.openxmlformats.org/drawingml/2006/main">
            <a:pPr algn="l">
              <a:defRPr sz="675" b="0">
                <a:solidFill>
                  <a:srgbClr val="707070"/>
                </a:solidFill>
              </a:defRPr>
            </a:pPr>
            <a:r>
              <a:rPr sz="675" b="0">
                <a:solidFill>
                  <a:srgbClr val="707070"/>
                </a:solidFill>
              </a:rPr>
              <a:t>VaR</a:t>
            </a:r>
          </a:p>
        </p:txBody>
      </p:sp>
      <p:sp>
        <p:nvSpPr>
          <p:cNvPr id="12" name="">
            <a:extLst xmlns:a="http://schemas.openxmlformats.org/drawingml/2006/main">
              <a:ext uri="{FF2B5EF4-FFF2-40B4-BE49-F238E27FC236}">
                <a16:creationId xmlns:a16="http://schemas.microsoft.com/office/drawing/2014/main" id="{AD8F2699-16AE-4052-99C8-F5122B9C48D0}"/>
              </a:ext>
            </a:extLst>
          </p:cNvPr>
          <p:cNvSpPr>
            <a:spLocks xmlns:a="http://schemas.openxmlformats.org/drawingml/2006/main" noGrp="1"/>
          </p:cNvSpPr>
          <p:nvPr/>
        </p:nvSpPr>
        <p:spPr>
          <a:xfrm xmlns:a="http://schemas.openxmlformats.org/drawingml/2006/main">
            <a:off x="10134600" y="200025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75" b="0">
                <a:solidFill>
                  <a:srgbClr val="707070"/>
                </a:solidFill>
              </a:defRPr>
            </a:defPPr>
            <a:lvl1pPr algn="l">
              <a:defRPr sz="675" b="0">
                <a:solidFill>
                  <a:srgbClr val="707070"/>
                </a:solidFill>
              </a:defRPr>
            </a:lvl1pPr>
            <a:lvl2pPr algn="l">
              <a:defRPr sz="675" b="0">
                <a:solidFill>
                  <a:srgbClr val="707070"/>
                </a:solidFill>
              </a:defRPr>
            </a:lvl2pPr>
            <a:lvl3pPr algn="l">
              <a:defRPr sz="675" b="0">
                <a:solidFill>
                  <a:srgbClr val="707070"/>
                </a:solidFill>
              </a:defRPr>
            </a:lvl3pPr>
            <a:lvl4pPr algn="l">
              <a:defRPr sz="675" b="0">
                <a:solidFill>
                  <a:srgbClr val="707070"/>
                </a:solidFill>
              </a:defRPr>
            </a:lvl4pPr>
            <a:lvl5pPr algn="l">
              <a:defRPr sz="675" b="0">
                <a:solidFill>
                  <a:srgbClr val="707070"/>
                </a:solidFill>
              </a:defRPr>
            </a:lvl5pPr>
            <a:lvl6pPr algn="l">
              <a:defRPr sz="675" b="0">
                <a:solidFill>
                  <a:srgbClr val="707070"/>
                </a:solidFill>
              </a:defRPr>
            </a:lvl6pPr>
            <a:lvl7pPr algn="l">
              <a:defRPr sz="675" b="0">
                <a:solidFill>
                  <a:srgbClr val="707070"/>
                </a:solidFill>
              </a:defRPr>
            </a:lvl7pPr>
            <a:lvl8pPr algn="l">
              <a:defRPr sz="675" b="0">
                <a:solidFill>
                  <a:srgbClr val="707070"/>
                </a:solidFill>
              </a:defRPr>
            </a:lvl8pPr>
            <a:lvl9pPr algn="l">
              <a:defRPr sz="675" b="0">
                <a:solidFill>
                  <a:srgbClr val="707070"/>
                </a:solidFill>
              </a:defRPr>
            </a:lvl9pPr>
          </a:lstStyle>
          <a:p xmlns:a="http://schemas.openxmlformats.org/drawingml/2006/main">
            <a:pPr algn="l">
              <a:defRPr sz="675" b="0">
                <a:solidFill>
                  <a:srgbClr val="707070"/>
                </a:solidFill>
              </a:defRPr>
            </a:pPr>
            <a:r>
              <a:rPr sz="675" b="0">
                <a:solidFill>
                  <a:srgbClr val="707070"/>
                </a:solidFill>
              </a:rPr>
              <a:t>ES</a:t>
            </a:r>
          </a:p>
        </p:txBody>
      </p:sp>
      <p:sp>
        <p:nvSpPr>
          <p:cNvPr id="13" name="">
            <a:extLst xmlns:a="http://schemas.openxmlformats.org/drawingml/2006/main">
              <a:ext uri="{FF2B5EF4-FFF2-40B4-BE49-F238E27FC236}">
                <a16:creationId xmlns:a16="http://schemas.microsoft.com/office/drawing/2014/main" id="{C1D1A639-DB25-46D1-9A7A-DB6090D5211D}"/>
              </a:ext>
            </a:extLst>
          </p:cNvPr>
          <p:cNvSpPr>
            <a:spLocks xmlns:a="http://schemas.openxmlformats.org/drawingml/2006/main" noGrp="1"/>
          </p:cNvSpPr>
          <p:nvPr/>
        </p:nvSpPr>
        <p:spPr>
          <a:xfrm xmlns:a="http://schemas.openxmlformats.org/drawingml/2006/main">
            <a:off x="7620000" y="2286000"/>
            <a:ext cx="36576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14" name="">
            <a:extLst xmlns:a="http://schemas.openxmlformats.org/drawingml/2006/main">
              <a:ext uri="{FF2B5EF4-FFF2-40B4-BE49-F238E27FC236}">
                <a16:creationId xmlns:a16="http://schemas.microsoft.com/office/drawing/2014/main" id="{8F06FCC6-A2BD-4546-A1D0-A5B3D00162C4}"/>
              </a:ext>
            </a:extLst>
          </p:cNvPr>
          <p:cNvSpPr>
            <a:spLocks xmlns:a="http://schemas.openxmlformats.org/drawingml/2006/main" noGrp="1"/>
          </p:cNvSpPr>
          <p:nvPr/>
        </p:nvSpPr>
        <p:spPr>
          <a:xfrm xmlns:a="http://schemas.openxmlformats.org/drawingml/2006/main">
            <a:off x="7620000" y="255270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11111"/>
                </a:solidFill>
              </a:defRPr>
            </a:defPPr>
            <a:lvl1pPr algn="l">
              <a:defRPr sz="1050" b="1">
                <a:solidFill>
                  <a:srgbClr val="111111"/>
                </a:solidFill>
              </a:defRPr>
            </a:lvl1pPr>
            <a:lvl2pPr algn="l">
              <a:defRPr sz="1050" b="1">
                <a:solidFill>
                  <a:srgbClr val="111111"/>
                </a:solidFill>
              </a:defRPr>
            </a:lvl2pPr>
            <a:lvl3pPr algn="l">
              <a:defRPr sz="1050" b="1">
                <a:solidFill>
                  <a:srgbClr val="111111"/>
                </a:solidFill>
              </a:defRPr>
            </a:lvl3pPr>
            <a:lvl4pPr algn="l">
              <a:defRPr sz="1050" b="1">
                <a:solidFill>
                  <a:srgbClr val="111111"/>
                </a:solidFill>
              </a:defRPr>
            </a:lvl4pPr>
            <a:lvl5pPr algn="l">
              <a:defRPr sz="1050" b="1">
                <a:solidFill>
                  <a:srgbClr val="111111"/>
                </a:solidFill>
              </a:defRPr>
            </a:lvl5pPr>
            <a:lvl6pPr algn="l">
              <a:defRPr sz="1050" b="1">
                <a:solidFill>
                  <a:srgbClr val="111111"/>
                </a:solidFill>
              </a:defRPr>
            </a:lvl6pPr>
            <a:lvl7pPr algn="l">
              <a:defRPr sz="1050" b="1">
                <a:solidFill>
                  <a:srgbClr val="111111"/>
                </a:solidFill>
              </a:defRPr>
            </a:lvl7pPr>
            <a:lvl8pPr algn="l">
              <a:defRPr sz="1050" b="1">
                <a:solidFill>
                  <a:srgbClr val="111111"/>
                </a:solidFill>
              </a:defRPr>
            </a:lvl8pPr>
            <a:lvl9pPr algn="l">
              <a:defRPr sz="1050" b="1">
                <a:solidFill>
                  <a:srgbClr val="111111"/>
                </a:solidFill>
              </a:defRPr>
            </a:lvl9pPr>
          </a:lstStyle>
          <a:p xmlns:a="http://schemas.openxmlformats.org/drawingml/2006/main">
            <a:pPr algn="l">
              <a:defRPr sz="1050" b="1">
                <a:solidFill>
                  <a:srgbClr val="111111"/>
                </a:solidFill>
              </a:defRPr>
            </a:pPr>
            <a:r>
              <a:rPr sz="1050" b="1">
                <a:solidFill>
                  <a:srgbClr val="111111"/>
                </a:solidFill>
              </a:rPr>
              <a:t>EWMA-HS</a:t>
            </a:r>
          </a:p>
        </p:txBody>
      </p:sp>
      <p:sp>
        <p:nvSpPr>
          <p:cNvPr id="15" name="">
            <a:extLst xmlns:a="http://schemas.openxmlformats.org/drawingml/2006/main">
              <a:ext uri="{FF2B5EF4-FFF2-40B4-BE49-F238E27FC236}">
                <a16:creationId xmlns:a16="http://schemas.microsoft.com/office/drawing/2014/main" id="{9D282877-A5DD-4337-864E-553A3388C1C8}"/>
              </a:ext>
            </a:extLst>
          </p:cNvPr>
          <p:cNvSpPr>
            <a:spLocks xmlns:a="http://schemas.openxmlformats.org/drawingml/2006/main" noGrp="1"/>
          </p:cNvSpPr>
          <p:nvPr/>
        </p:nvSpPr>
        <p:spPr>
          <a:xfrm xmlns:a="http://schemas.openxmlformats.org/drawingml/2006/main">
            <a:off x="8934450" y="25527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55E63"/>
                </a:solidFill>
              </a:defRPr>
            </a:defPPr>
            <a:lvl1pPr algn="l">
              <a:defRPr sz="1350" b="1">
                <a:solidFill>
                  <a:srgbClr val="155E63"/>
                </a:solidFill>
              </a:defRPr>
            </a:lvl1pPr>
            <a:lvl2pPr algn="l">
              <a:defRPr sz="1350" b="1">
                <a:solidFill>
                  <a:srgbClr val="155E63"/>
                </a:solidFill>
              </a:defRPr>
            </a:lvl2pPr>
            <a:lvl3pPr algn="l">
              <a:defRPr sz="1350" b="1">
                <a:solidFill>
                  <a:srgbClr val="155E63"/>
                </a:solidFill>
              </a:defRPr>
            </a:lvl3pPr>
            <a:lvl4pPr algn="l">
              <a:defRPr sz="1350" b="1">
                <a:solidFill>
                  <a:srgbClr val="155E63"/>
                </a:solidFill>
              </a:defRPr>
            </a:lvl4pPr>
            <a:lvl5pPr algn="l">
              <a:defRPr sz="1350" b="1">
                <a:solidFill>
                  <a:srgbClr val="155E63"/>
                </a:solidFill>
              </a:defRPr>
            </a:lvl5pPr>
            <a:lvl6pPr algn="l">
              <a:defRPr sz="1350" b="1">
                <a:solidFill>
                  <a:srgbClr val="155E63"/>
                </a:solidFill>
              </a:defRPr>
            </a:lvl6pPr>
            <a:lvl7pPr algn="l">
              <a:defRPr sz="1350" b="1">
                <a:solidFill>
                  <a:srgbClr val="155E63"/>
                </a:solidFill>
              </a:defRPr>
            </a:lvl7pPr>
            <a:lvl8pPr algn="l">
              <a:defRPr sz="1350" b="1">
                <a:solidFill>
                  <a:srgbClr val="155E63"/>
                </a:solidFill>
              </a:defRPr>
            </a:lvl8pPr>
            <a:lvl9pPr algn="l">
              <a:defRPr sz="1350" b="1">
                <a:solidFill>
                  <a:srgbClr val="155E63"/>
                </a:solidFill>
              </a:defRPr>
            </a:lvl9pPr>
          </a:lstStyle>
          <a:p xmlns:a="http://schemas.openxmlformats.org/drawingml/2006/main">
            <a:pPr algn="l">
              <a:defRPr sz="1350" b="1">
                <a:solidFill>
                  <a:srgbClr val="155E63"/>
                </a:solidFill>
              </a:defRPr>
            </a:pPr>
            <a:r>
              <a:rPr sz="1350" b="1">
                <a:solidFill>
                  <a:srgbClr val="155E63"/>
                </a:solidFill>
              </a:rPr>
              <a:t>$240K</a:t>
            </a:r>
          </a:p>
        </p:txBody>
      </p:sp>
      <p:sp>
        <p:nvSpPr>
          <p:cNvPr id="16" name="">
            <a:extLst xmlns:a="http://schemas.openxmlformats.org/drawingml/2006/main">
              <a:ext uri="{FF2B5EF4-FFF2-40B4-BE49-F238E27FC236}">
                <a16:creationId xmlns:a16="http://schemas.microsoft.com/office/drawing/2014/main" id="{3855BDEA-F6A3-4CB6-9C55-62C3D42B5E07}"/>
              </a:ext>
            </a:extLst>
          </p:cNvPr>
          <p:cNvSpPr>
            <a:spLocks xmlns:a="http://schemas.openxmlformats.org/drawingml/2006/main" noGrp="1"/>
          </p:cNvSpPr>
          <p:nvPr/>
        </p:nvSpPr>
        <p:spPr>
          <a:xfrm xmlns:a="http://schemas.openxmlformats.org/drawingml/2006/main">
            <a:off x="10134600" y="25527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B42318"/>
                </a:solidFill>
              </a:defRPr>
            </a:defPPr>
            <a:lvl1pPr algn="l">
              <a:defRPr sz="1350" b="1">
                <a:solidFill>
                  <a:srgbClr val="B42318"/>
                </a:solidFill>
              </a:defRPr>
            </a:lvl1pPr>
            <a:lvl2pPr algn="l">
              <a:defRPr sz="1350" b="1">
                <a:solidFill>
                  <a:srgbClr val="B42318"/>
                </a:solidFill>
              </a:defRPr>
            </a:lvl2pPr>
            <a:lvl3pPr algn="l">
              <a:defRPr sz="1350" b="1">
                <a:solidFill>
                  <a:srgbClr val="B42318"/>
                </a:solidFill>
              </a:defRPr>
            </a:lvl3pPr>
            <a:lvl4pPr algn="l">
              <a:defRPr sz="1350" b="1">
                <a:solidFill>
                  <a:srgbClr val="B42318"/>
                </a:solidFill>
              </a:defRPr>
            </a:lvl4pPr>
            <a:lvl5pPr algn="l">
              <a:defRPr sz="1350" b="1">
                <a:solidFill>
                  <a:srgbClr val="B42318"/>
                </a:solidFill>
              </a:defRPr>
            </a:lvl5pPr>
            <a:lvl6pPr algn="l">
              <a:defRPr sz="1350" b="1">
                <a:solidFill>
                  <a:srgbClr val="B42318"/>
                </a:solidFill>
              </a:defRPr>
            </a:lvl6pPr>
            <a:lvl7pPr algn="l">
              <a:defRPr sz="1350" b="1">
                <a:solidFill>
                  <a:srgbClr val="B42318"/>
                </a:solidFill>
              </a:defRPr>
            </a:lvl7pPr>
            <a:lvl8pPr algn="l">
              <a:defRPr sz="1350" b="1">
                <a:solidFill>
                  <a:srgbClr val="B42318"/>
                </a:solidFill>
              </a:defRPr>
            </a:lvl8pPr>
            <a:lvl9pPr algn="l">
              <a:defRPr sz="1350" b="1">
                <a:solidFill>
                  <a:srgbClr val="B42318"/>
                </a:solidFill>
              </a:defRPr>
            </a:lvl9pPr>
          </a:lstStyle>
          <a:p xmlns:a="http://schemas.openxmlformats.org/drawingml/2006/main">
            <a:pPr algn="l">
              <a:defRPr sz="1350" b="1">
                <a:solidFill>
                  <a:srgbClr val="B42318"/>
                </a:solidFill>
              </a:defRPr>
            </a:pPr>
            <a:r>
              <a:rPr sz="1350" b="1">
                <a:solidFill>
                  <a:srgbClr val="B42318"/>
                </a:solidFill>
              </a:rPr>
              <a:t>$277K</a:t>
            </a:r>
          </a:p>
        </p:txBody>
      </p:sp>
      <p:sp>
        <p:nvSpPr>
          <p:cNvPr id="17" name="">
            <a:extLst xmlns:a="http://schemas.openxmlformats.org/drawingml/2006/main">
              <a:ext uri="{FF2B5EF4-FFF2-40B4-BE49-F238E27FC236}">
                <a16:creationId xmlns:a16="http://schemas.microsoft.com/office/drawing/2014/main" id="{F9082CD6-4C90-41B6-95C1-3C9A54C91418}"/>
              </a:ext>
            </a:extLst>
          </p:cNvPr>
          <p:cNvSpPr>
            <a:spLocks xmlns:a="http://schemas.openxmlformats.org/drawingml/2006/main" noGrp="1"/>
          </p:cNvSpPr>
          <p:nvPr/>
        </p:nvSpPr>
        <p:spPr>
          <a:xfrm xmlns:a="http://schemas.openxmlformats.org/drawingml/2006/main">
            <a:off x="8934450" y="28194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75" b="0">
                <a:solidFill>
                  <a:srgbClr val="707070"/>
                </a:solidFill>
              </a:defRPr>
            </a:defPPr>
            <a:lvl1pPr algn="l">
              <a:defRPr sz="675" b="0">
                <a:solidFill>
                  <a:srgbClr val="707070"/>
                </a:solidFill>
              </a:defRPr>
            </a:lvl1pPr>
            <a:lvl2pPr algn="l">
              <a:defRPr sz="675" b="0">
                <a:solidFill>
                  <a:srgbClr val="707070"/>
                </a:solidFill>
              </a:defRPr>
            </a:lvl2pPr>
            <a:lvl3pPr algn="l">
              <a:defRPr sz="675" b="0">
                <a:solidFill>
                  <a:srgbClr val="707070"/>
                </a:solidFill>
              </a:defRPr>
            </a:lvl3pPr>
            <a:lvl4pPr algn="l">
              <a:defRPr sz="675" b="0">
                <a:solidFill>
                  <a:srgbClr val="707070"/>
                </a:solidFill>
              </a:defRPr>
            </a:lvl4pPr>
            <a:lvl5pPr algn="l">
              <a:defRPr sz="675" b="0">
                <a:solidFill>
                  <a:srgbClr val="707070"/>
                </a:solidFill>
              </a:defRPr>
            </a:lvl5pPr>
            <a:lvl6pPr algn="l">
              <a:defRPr sz="675" b="0">
                <a:solidFill>
                  <a:srgbClr val="707070"/>
                </a:solidFill>
              </a:defRPr>
            </a:lvl6pPr>
            <a:lvl7pPr algn="l">
              <a:defRPr sz="675" b="0">
                <a:solidFill>
                  <a:srgbClr val="707070"/>
                </a:solidFill>
              </a:defRPr>
            </a:lvl7pPr>
            <a:lvl8pPr algn="l">
              <a:defRPr sz="675" b="0">
                <a:solidFill>
                  <a:srgbClr val="707070"/>
                </a:solidFill>
              </a:defRPr>
            </a:lvl8pPr>
            <a:lvl9pPr algn="l">
              <a:defRPr sz="675" b="0">
                <a:solidFill>
                  <a:srgbClr val="707070"/>
                </a:solidFill>
              </a:defRPr>
            </a:lvl9pPr>
          </a:lstStyle>
          <a:p xmlns:a="http://schemas.openxmlformats.org/drawingml/2006/main">
            <a:pPr algn="l">
              <a:defRPr sz="675" b="0">
                <a:solidFill>
                  <a:srgbClr val="707070"/>
                </a:solidFill>
              </a:defRPr>
            </a:pPr>
            <a:r>
              <a:rPr sz="675" b="0">
                <a:solidFill>
                  <a:srgbClr val="707070"/>
                </a:solidFill>
              </a:rPr>
              <a:t>VaR</a:t>
            </a:r>
          </a:p>
        </p:txBody>
      </p:sp>
      <p:sp>
        <p:nvSpPr>
          <p:cNvPr id="18" name="">
            <a:extLst xmlns:a="http://schemas.openxmlformats.org/drawingml/2006/main">
              <a:ext uri="{FF2B5EF4-FFF2-40B4-BE49-F238E27FC236}">
                <a16:creationId xmlns:a16="http://schemas.microsoft.com/office/drawing/2014/main" id="{1C5BB004-75CE-45CB-892E-756055E2373A}"/>
              </a:ext>
            </a:extLst>
          </p:cNvPr>
          <p:cNvSpPr>
            <a:spLocks xmlns:a="http://schemas.openxmlformats.org/drawingml/2006/main" noGrp="1"/>
          </p:cNvSpPr>
          <p:nvPr/>
        </p:nvSpPr>
        <p:spPr>
          <a:xfrm xmlns:a="http://schemas.openxmlformats.org/drawingml/2006/main">
            <a:off x="10134600" y="28194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75" b="0">
                <a:solidFill>
                  <a:srgbClr val="707070"/>
                </a:solidFill>
              </a:defRPr>
            </a:defPPr>
            <a:lvl1pPr algn="l">
              <a:defRPr sz="675" b="0">
                <a:solidFill>
                  <a:srgbClr val="707070"/>
                </a:solidFill>
              </a:defRPr>
            </a:lvl1pPr>
            <a:lvl2pPr algn="l">
              <a:defRPr sz="675" b="0">
                <a:solidFill>
                  <a:srgbClr val="707070"/>
                </a:solidFill>
              </a:defRPr>
            </a:lvl2pPr>
            <a:lvl3pPr algn="l">
              <a:defRPr sz="675" b="0">
                <a:solidFill>
                  <a:srgbClr val="707070"/>
                </a:solidFill>
              </a:defRPr>
            </a:lvl3pPr>
            <a:lvl4pPr algn="l">
              <a:defRPr sz="675" b="0">
                <a:solidFill>
                  <a:srgbClr val="707070"/>
                </a:solidFill>
              </a:defRPr>
            </a:lvl4pPr>
            <a:lvl5pPr algn="l">
              <a:defRPr sz="675" b="0">
                <a:solidFill>
                  <a:srgbClr val="707070"/>
                </a:solidFill>
              </a:defRPr>
            </a:lvl5pPr>
            <a:lvl6pPr algn="l">
              <a:defRPr sz="675" b="0">
                <a:solidFill>
                  <a:srgbClr val="707070"/>
                </a:solidFill>
              </a:defRPr>
            </a:lvl6pPr>
            <a:lvl7pPr algn="l">
              <a:defRPr sz="675" b="0">
                <a:solidFill>
                  <a:srgbClr val="707070"/>
                </a:solidFill>
              </a:defRPr>
            </a:lvl7pPr>
            <a:lvl8pPr algn="l">
              <a:defRPr sz="675" b="0">
                <a:solidFill>
                  <a:srgbClr val="707070"/>
                </a:solidFill>
              </a:defRPr>
            </a:lvl8pPr>
            <a:lvl9pPr algn="l">
              <a:defRPr sz="675" b="0">
                <a:solidFill>
                  <a:srgbClr val="707070"/>
                </a:solidFill>
              </a:defRPr>
            </a:lvl9pPr>
          </a:lstStyle>
          <a:p xmlns:a="http://schemas.openxmlformats.org/drawingml/2006/main">
            <a:pPr algn="l">
              <a:defRPr sz="675" b="0">
                <a:solidFill>
                  <a:srgbClr val="707070"/>
                </a:solidFill>
              </a:defRPr>
            </a:pPr>
            <a:r>
              <a:rPr sz="675" b="0">
                <a:solidFill>
                  <a:srgbClr val="707070"/>
                </a:solidFill>
              </a:rPr>
              <a:t>ES</a:t>
            </a:r>
          </a:p>
        </p:txBody>
      </p:sp>
      <p:sp>
        <p:nvSpPr>
          <p:cNvPr id="19" name="">
            <a:extLst xmlns:a="http://schemas.openxmlformats.org/drawingml/2006/main">
              <a:ext uri="{FF2B5EF4-FFF2-40B4-BE49-F238E27FC236}">
                <a16:creationId xmlns:a16="http://schemas.microsoft.com/office/drawing/2014/main" id="{C51F1942-7734-431E-B4C0-EBFAD36E3EC8}"/>
              </a:ext>
            </a:extLst>
          </p:cNvPr>
          <p:cNvSpPr>
            <a:spLocks xmlns:a="http://schemas.openxmlformats.org/drawingml/2006/main" noGrp="1"/>
          </p:cNvSpPr>
          <p:nvPr/>
        </p:nvSpPr>
        <p:spPr>
          <a:xfrm xmlns:a="http://schemas.openxmlformats.org/drawingml/2006/main">
            <a:off x="7620000" y="3105150"/>
            <a:ext cx="36576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20" name="">
            <a:extLst xmlns:a="http://schemas.openxmlformats.org/drawingml/2006/main">
              <a:ext uri="{FF2B5EF4-FFF2-40B4-BE49-F238E27FC236}">
                <a16:creationId xmlns:a16="http://schemas.microsoft.com/office/drawing/2014/main" id="{F07122F7-8B80-45B0-8DE4-30BBF8FC0ECB}"/>
              </a:ext>
            </a:extLst>
          </p:cNvPr>
          <p:cNvSpPr>
            <a:spLocks xmlns:a="http://schemas.openxmlformats.org/drawingml/2006/main" noGrp="1"/>
          </p:cNvSpPr>
          <p:nvPr/>
        </p:nvSpPr>
        <p:spPr>
          <a:xfrm xmlns:a="http://schemas.openxmlformats.org/drawingml/2006/main">
            <a:off x="7620000" y="337185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11111"/>
                </a:solidFill>
              </a:defRPr>
            </a:defPPr>
            <a:lvl1pPr algn="l">
              <a:defRPr sz="1050" b="1">
                <a:solidFill>
                  <a:srgbClr val="111111"/>
                </a:solidFill>
              </a:defRPr>
            </a:lvl1pPr>
            <a:lvl2pPr algn="l">
              <a:defRPr sz="1050" b="1">
                <a:solidFill>
                  <a:srgbClr val="111111"/>
                </a:solidFill>
              </a:defRPr>
            </a:lvl2pPr>
            <a:lvl3pPr algn="l">
              <a:defRPr sz="1050" b="1">
                <a:solidFill>
                  <a:srgbClr val="111111"/>
                </a:solidFill>
              </a:defRPr>
            </a:lvl3pPr>
            <a:lvl4pPr algn="l">
              <a:defRPr sz="1050" b="1">
                <a:solidFill>
                  <a:srgbClr val="111111"/>
                </a:solidFill>
              </a:defRPr>
            </a:lvl4pPr>
            <a:lvl5pPr algn="l">
              <a:defRPr sz="1050" b="1">
                <a:solidFill>
                  <a:srgbClr val="111111"/>
                </a:solidFill>
              </a:defRPr>
            </a:lvl5pPr>
            <a:lvl6pPr algn="l">
              <a:defRPr sz="1050" b="1">
                <a:solidFill>
                  <a:srgbClr val="111111"/>
                </a:solidFill>
              </a:defRPr>
            </a:lvl6pPr>
            <a:lvl7pPr algn="l">
              <a:defRPr sz="1050" b="1">
                <a:solidFill>
                  <a:srgbClr val="111111"/>
                </a:solidFill>
              </a:defRPr>
            </a:lvl7pPr>
            <a:lvl8pPr algn="l">
              <a:defRPr sz="1050" b="1">
                <a:solidFill>
                  <a:srgbClr val="111111"/>
                </a:solidFill>
              </a:defRPr>
            </a:lvl8pPr>
            <a:lvl9pPr algn="l">
              <a:defRPr sz="1050" b="1">
                <a:solidFill>
                  <a:srgbClr val="111111"/>
                </a:solidFill>
              </a:defRPr>
            </a:lvl9pPr>
          </a:lstStyle>
          <a:p xmlns:a="http://schemas.openxmlformats.org/drawingml/2006/main">
            <a:pPr algn="l">
              <a:defRPr sz="1050" b="1">
                <a:solidFill>
                  <a:srgbClr val="111111"/>
                </a:solidFill>
              </a:defRPr>
            </a:pPr>
            <a:r>
              <a:rPr sz="1050" b="1">
                <a:solidFill>
                  <a:srgbClr val="111111"/>
                </a:solidFill>
              </a:rPr>
              <a:t>GARCH-HS</a:t>
            </a:r>
          </a:p>
        </p:txBody>
      </p:sp>
      <p:sp>
        <p:nvSpPr>
          <p:cNvPr id="21" name="">
            <a:extLst xmlns:a="http://schemas.openxmlformats.org/drawingml/2006/main">
              <a:ext uri="{FF2B5EF4-FFF2-40B4-BE49-F238E27FC236}">
                <a16:creationId xmlns:a16="http://schemas.microsoft.com/office/drawing/2014/main" id="{17EE9DC2-78B3-411D-B014-2E493DF4F290}"/>
              </a:ext>
            </a:extLst>
          </p:cNvPr>
          <p:cNvSpPr>
            <a:spLocks xmlns:a="http://schemas.openxmlformats.org/drawingml/2006/main" noGrp="1"/>
          </p:cNvSpPr>
          <p:nvPr/>
        </p:nvSpPr>
        <p:spPr>
          <a:xfrm xmlns:a="http://schemas.openxmlformats.org/drawingml/2006/main">
            <a:off x="8934450" y="33718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55E63"/>
                </a:solidFill>
              </a:defRPr>
            </a:defPPr>
            <a:lvl1pPr algn="l">
              <a:defRPr sz="1350" b="1">
                <a:solidFill>
                  <a:srgbClr val="155E63"/>
                </a:solidFill>
              </a:defRPr>
            </a:lvl1pPr>
            <a:lvl2pPr algn="l">
              <a:defRPr sz="1350" b="1">
                <a:solidFill>
                  <a:srgbClr val="155E63"/>
                </a:solidFill>
              </a:defRPr>
            </a:lvl2pPr>
            <a:lvl3pPr algn="l">
              <a:defRPr sz="1350" b="1">
                <a:solidFill>
                  <a:srgbClr val="155E63"/>
                </a:solidFill>
              </a:defRPr>
            </a:lvl3pPr>
            <a:lvl4pPr algn="l">
              <a:defRPr sz="1350" b="1">
                <a:solidFill>
                  <a:srgbClr val="155E63"/>
                </a:solidFill>
              </a:defRPr>
            </a:lvl4pPr>
            <a:lvl5pPr algn="l">
              <a:defRPr sz="1350" b="1">
                <a:solidFill>
                  <a:srgbClr val="155E63"/>
                </a:solidFill>
              </a:defRPr>
            </a:lvl5pPr>
            <a:lvl6pPr algn="l">
              <a:defRPr sz="1350" b="1">
                <a:solidFill>
                  <a:srgbClr val="155E63"/>
                </a:solidFill>
              </a:defRPr>
            </a:lvl6pPr>
            <a:lvl7pPr algn="l">
              <a:defRPr sz="1350" b="1">
                <a:solidFill>
                  <a:srgbClr val="155E63"/>
                </a:solidFill>
              </a:defRPr>
            </a:lvl7pPr>
            <a:lvl8pPr algn="l">
              <a:defRPr sz="1350" b="1">
                <a:solidFill>
                  <a:srgbClr val="155E63"/>
                </a:solidFill>
              </a:defRPr>
            </a:lvl8pPr>
            <a:lvl9pPr algn="l">
              <a:defRPr sz="1350" b="1">
                <a:solidFill>
                  <a:srgbClr val="155E63"/>
                </a:solidFill>
              </a:defRPr>
            </a:lvl9pPr>
          </a:lstStyle>
          <a:p xmlns:a="http://schemas.openxmlformats.org/drawingml/2006/main">
            <a:pPr algn="l">
              <a:defRPr sz="1350" b="1">
                <a:solidFill>
                  <a:srgbClr val="155E63"/>
                </a:solidFill>
              </a:defRPr>
            </a:pPr>
            <a:r>
              <a:rPr sz="1350" b="1">
                <a:solidFill>
                  <a:srgbClr val="155E63"/>
                </a:solidFill>
              </a:rPr>
              <a:t>$275K</a:t>
            </a:r>
          </a:p>
        </p:txBody>
      </p:sp>
      <p:sp>
        <p:nvSpPr>
          <p:cNvPr id="22" name="">
            <a:extLst xmlns:a="http://schemas.openxmlformats.org/drawingml/2006/main">
              <a:ext uri="{FF2B5EF4-FFF2-40B4-BE49-F238E27FC236}">
                <a16:creationId xmlns:a16="http://schemas.microsoft.com/office/drawing/2014/main" id="{715FB344-5690-46BB-B143-C7737B40A0AE}"/>
              </a:ext>
            </a:extLst>
          </p:cNvPr>
          <p:cNvSpPr>
            <a:spLocks xmlns:a="http://schemas.openxmlformats.org/drawingml/2006/main" noGrp="1"/>
          </p:cNvSpPr>
          <p:nvPr/>
        </p:nvSpPr>
        <p:spPr>
          <a:xfrm xmlns:a="http://schemas.openxmlformats.org/drawingml/2006/main">
            <a:off x="10134600" y="33718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B42318"/>
                </a:solidFill>
              </a:defRPr>
            </a:defPPr>
            <a:lvl1pPr algn="l">
              <a:defRPr sz="1350" b="1">
                <a:solidFill>
                  <a:srgbClr val="B42318"/>
                </a:solidFill>
              </a:defRPr>
            </a:lvl1pPr>
            <a:lvl2pPr algn="l">
              <a:defRPr sz="1350" b="1">
                <a:solidFill>
                  <a:srgbClr val="B42318"/>
                </a:solidFill>
              </a:defRPr>
            </a:lvl2pPr>
            <a:lvl3pPr algn="l">
              <a:defRPr sz="1350" b="1">
                <a:solidFill>
                  <a:srgbClr val="B42318"/>
                </a:solidFill>
              </a:defRPr>
            </a:lvl3pPr>
            <a:lvl4pPr algn="l">
              <a:defRPr sz="1350" b="1">
                <a:solidFill>
                  <a:srgbClr val="B42318"/>
                </a:solidFill>
              </a:defRPr>
            </a:lvl4pPr>
            <a:lvl5pPr algn="l">
              <a:defRPr sz="1350" b="1">
                <a:solidFill>
                  <a:srgbClr val="B42318"/>
                </a:solidFill>
              </a:defRPr>
            </a:lvl5pPr>
            <a:lvl6pPr algn="l">
              <a:defRPr sz="1350" b="1">
                <a:solidFill>
                  <a:srgbClr val="B42318"/>
                </a:solidFill>
              </a:defRPr>
            </a:lvl6pPr>
            <a:lvl7pPr algn="l">
              <a:defRPr sz="1350" b="1">
                <a:solidFill>
                  <a:srgbClr val="B42318"/>
                </a:solidFill>
              </a:defRPr>
            </a:lvl7pPr>
            <a:lvl8pPr algn="l">
              <a:defRPr sz="1350" b="1">
                <a:solidFill>
                  <a:srgbClr val="B42318"/>
                </a:solidFill>
              </a:defRPr>
            </a:lvl8pPr>
            <a:lvl9pPr algn="l">
              <a:defRPr sz="1350" b="1">
                <a:solidFill>
                  <a:srgbClr val="B42318"/>
                </a:solidFill>
              </a:defRPr>
            </a:lvl9pPr>
          </a:lstStyle>
          <a:p xmlns:a="http://schemas.openxmlformats.org/drawingml/2006/main">
            <a:pPr algn="l">
              <a:defRPr sz="1350" b="1">
                <a:solidFill>
                  <a:srgbClr val="B42318"/>
                </a:solidFill>
              </a:defRPr>
            </a:pPr>
            <a:r>
              <a:rPr sz="1350" b="1">
                <a:solidFill>
                  <a:srgbClr val="B42318"/>
                </a:solidFill>
              </a:rPr>
              <a:t>$319K</a:t>
            </a:r>
          </a:p>
        </p:txBody>
      </p:sp>
      <p:sp>
        <p:nvSpPr>
          <p:cNvPr id="23" name="">
            <a:extLst xmlns:a="http://schemas.openxmlformats.org/drawingml/2006/main">
              <a:ext uri="{FF2B5EF4-FFF2-40B4-BE49-F238E27FC236}">
                <a16:creationId xmlns:a16="http://schemas.microsoft.com/office/drawing/2014/main" id="{2BD4A441-E679-4A07-915F-2076492377F7}"/>
              </a:ext>
            </a:extLst>
          </p:cNvPr>
          <p:cNvSpPr>
            <a:spLocks xmlns:a="http://schemas.openxmlformats.org/drawingml/2006/main" noGrp="1"/>
          </p:cNvSpPr>
          <p:nvPr/>
        </p:nvSpPr>
        <p:spPr>
          <a:xfrm xmlns:a="http://schemas.openxmlformats.org/drawingml/2006/main">
            <a:off x="8934450" y="363855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75" b="0">
                <a:solidFill>
                  <a:srgbClr val="707070"/>
                </a:solidFill>
              </a:defRPr>
            </a:defPPr>
            <a:lvl1pPr algn="l">
              <a:defRPr sz="675" b="0">
                <a:solidFill>
                  <a:srgbClr val="707070"/>
                </a:solidFill>
              </a:defRPr>
            </a:lvl1pPr>
            <a:lvl2pPr algn="l">
              <a:defRPr sz="675" b="0">
                <a:solidFill>
                  <a:srgbClr val="707070"/>
                </a:solidFill>
              </a:defRPr>
            </a:lvl2pPr>
            <a:lvl3pPr algn="l">
              <a:defRPr sz="675" b="0">
                <a:solidFill>
                  <a:srgbClr val="707070"/>
                </a:solidFill>
              </a:defRPr>
            </a:lvl3pPr>
            <a:lvl4pPr algn="l">
              <a:defRPr sz="675" b="0">
                <a:solidFill>
                  <a:srgbClr val="707070"/>
                </a:solidFill>
              </a:defRPr>
            </a:lvl4pPr>
            <a:lvl5pPr algn="l">
              <a:defRPr sz="675" b="0">
                <a:solidFill>
                  <a:srgbClr val="707070"/>
                </a:solidFill>
              </a:defRPr>
            </a:lvl5pPr>
            <a:lvl6pPr algn="l">
              <a:defRPr sz="675" b="0">
                <a:solidFill>
                  <a:srgbClr val="707070"/>
                </a:solidFill>
              </a:defRPr>
            </a:lvl6pPr>
            <a:lvl7pPr algn="l">
              <a:defRPr sz="675" b="0">
                <a:solidFill>
                  <a:srgbClr val="707070"/>
                </a:solidFill>
              </a:defRPr>
            </a:lvl7pPr>
            <a:lvl8pPr algn="l">
              <a:defRPr sz="675" b="0">
                <a:solidFill>
                  <a:srgbClr val="707070"/>
                </a:solidFill>
              </a:defRPr>
            </a:lvl8pPr>
            <a:lvl9pPr algn="l">
              <a:defRPr sz="675" b="0">
                <a:solidFill>
                  <a:srgbClr val="707070"/>
                </a:solidFill>
              </a:defRPr>
            </a:lvl9pPr>
          </a:lstStyle>
          <a:p xmlns:a="http://schemas.openxmlformats.org/drawingml/2006/main">
            <a:pPr algn="l">
              <a:defRPr sz="675" b="0">
                <a:solidFill>
                  <a:srgbClr val="707070"/>
                </a:solidFill>
              </a:defRPr>
            </a:pPr>
            <a:r>
              <a:rPr sz="675" b="0">
                <a:solidFill>
                  <a:srgbClr val="707070"/>
                </a:solidFill>
              </a:rPr>
              <a:t>VaR</a:t>
            </a:r>
          </a:p>
        </p:txBody>
      </p:sp>
      <p:sp>
        <p:nvSpPr>
          <p:cNvPr id="24" name="">
            <a:extLst xmlns:a="http://schemas.openxmlformats.org/drawingml/2006/main">
              <a:ext uri="{FF2B5EF4-FFF2-40B4-BE49-F238E27FC236}">
                <a16:creationId xmlns:a16="http://schemas.microsoft.com/office/drawing/2014/main" id="{8D591323-FCD2-4EC3-9484-D92128F42C4A}"/>
              </a:ext>
            </a:extLst>
          </p:cNvPr>
          <p:cNvSpPr>
            <a:spLocks xmlns:a="http://schemas.openxmlformats.org/drawingml/2006/main" noGrp="1"/>
          </p:cNvSpPr>
          <p:nvPr/>
        </p:nvSpPr>
        <p:spPr>
          <a:xfrm xmlns:a="http://schemas.openxmlformats.org/drawingml/2006/main">
            <a:off x="10134600" y="363855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75" b="0">
                <a:solidFill>
                  <a:srgbClr val="707070"/>
                </a:solidFill>
              </a:defRPr>
            </a:defPPr>
            <a:lvl1pPr algn="l">
              <a:defRPr sz="675" b="0">
                <a:solidFill>
                  <a:srgbClr val="707070"/>
                </a:solidFill>
              </a:defRPr>
            </a:lvl1pPr>
            <a:lvl2pPr algn="l">
              <a:defRPr sz="675" b="0">
                <a:solidFill>
                  <a:srgbClr val="707070"/>
                </a:solidFill>
              </a:defRPr>
            </a:lvl2pPr>
            <a:lvl3pPr algn="l">
              <a:defRPr sz="675" b="0">
                <a:solidFill>
                  <a:srgbClr val="707070"/>
                </a:solidFill>
              </a:defRPr>
            </a:lvl3pPr>
            <a:lvl4pPr algn="l">
              <a:defRPr sz="675" b="0">
                <a:solidFill>
                  <a:srgbClr val="707070"/>
                </a:solidFill>
              </a:defRPr>
            </a:lvl4pPr>
            <a:lvl5pPr algn="l">
              <a:defRPr sz="675" b="0">
                <a:solidFill>
                  <a:srgbClr val="707070"/>
                </a:solidFill>
              </a:defRPr>
            </a:lvl5pPr>
            <a:lvl6pPr algn="l">
              <a:defRPr sz="675" b="0">
                <a:solidFill>
                  <a:srgbClr val="707070"/>
                </a:solidFill>
              </a:defRPr>
            </a:lvl6pPr>
            <a:lvl7pPr algn="l">
              <a:defRPr sz="675" b="0">
                <a:solidFill>
                  <a:srgbClr val="707070"/>
                </a:solidFill>
              </a:defRPr>
            </a:lvl7pPr>
            <a:lvl8pPr algn="l">
              <a:defRPr sz="675" b="0">
                <a:solidFill>
                  <a:srgbClr val="707070"/>
                </a:solidFill>
              </a:defRPr>
            </a:lvl8pPr>
            <a:lvl9pPr algn="l">
              <a:defRPr sz="675" b="0">
                <a:solidFill>
                  <a:srgbClr val="707070"/>
                </a:solidFill>
              </a:defRPr>
            </a:lvl9pPr>
          </a:lstStyle>
          <a:p xmlns:a="http://schemas.openxmlformats.org/drawingml/2006/main">
            <a:pPr algn="l">
              <a:defRPr sz="675" b="0">
                <a:solidFill>
                  <a:srgbClr val="707070"/>
                </a:solidFill>
              </a:defRPr>
            </a:pPr>
            <a:r>
              <a:rPr sz="675" b="0">
                <a:solidFill>
                  <a:srgbClr val="707070"/>
                </a:solidFill>
              </a:rPr>
              <a:t>ES</a:t>
            </a:r>
          </a:p>
        </p:txBody>
      </p:sp>
      <p:sp>
        <p:nvSpPr>
          <p:cNvPr id="25" name="">
            <a:extLst xmlns:a="http://schemas.openxmlformats.org/drawingml/2006/main">
              <a:ext uri="{FF2B5EF4-FFF2-40B4-BE49-F238E27FC236}">
                <a16:creationId xmlns:a16="http://schemas.microsoft.com/office/drawing/2014/main" id="{E7F97572-9707-4DE2-BA74-8D6572B179C8}"/>
              </a:ext>
            </a:extLst>
          </p:cNvPr>
          <p:cNvSpPr>
            <a:spLocks xmlns:a="http://schemas.openxmlformats.org/drawingml/2006/main" noGrp="1"/>
          </p:cNvSpPr>
          <p:nvPr/>
        </p:nvSpPr>
        <p:spPr>
          <a:xfrm xmlns:a="http://schemas.openxmlformats.org/drawingml/2006/main">
            <a:off x="7620000" y="3924300"/>
            <a:ext cx="36576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26" name="">
            <a:extLst xmlns:a="http://schemas.openxmlformats.org/drawingml/2006/main">
              <a:ext uri="{FF2B5EF4-FFF2-40B4-BE49-F238E27FC236}">
                <a16:creationId xmlns:a16="http://schemas.microsoft.com/office/drawing/2014/main" id="{9B81BEBD-CE40-4CB9-806F-12DC2B8E36EE}"/>
              </a:ext>
            </a:extLst>
          </p:cNvPr>
          <p:cNvSpPr>
            <a:spLocks xmlns:a="http://schemas.openxmlformats.org/drawingml/2006/main" noGrp="1"/>
          </p:cNvSpPr>
          <p:nvPr/>
        </p:nvSpPr>
        <p:spPr>
          <a:xfrm xmlns:a="http://schemas.openxmlformats.org/drawingml/2006/main">
            <a:off x="7620000" y="419100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11111"/>
                </a:solidFill>
              </a:defRPr>
            </a:defPPr>
            <a:lvl1pPr algn="l">
              <a:defRPr sz="1050" b="1">
                <a:solidFill>
                  <a:srgbClr val="111111"/>
                </a:solidFill>
              </a:defRPr>
            </a:lvl1pPr>
            <a:lvl2pPr algn="l">
              <a:defRPr sz="1050" b="1">
                <a:solidFill>
                  <a:srgbClr val="111111"/>
                </a:solidFill>
              </a:defRPr>
            </a:lvl2pPr>
            <a:lvl3pPr algn="l">
              <a:defRPr sz="1050" b="1">
                <a:solidFill>
                  <a:srgbClr val="111111"/>
                </a:solidFill>
              </a:defRPr>
            </a:lvl3pPr>
            <a:lvl4pPr algn="l">
              <a:defRPr sz="1050" b="1">
                <a:solidFill>
                  <a:srgbClr val="111111"/>
                </a:solidFill>
              </a:defRPr>
            </a:lvl4pPr>
            <a:lvl5pPr algn="l">
              <a:defRPr sz="1050" b="1">
                <a:solidFill>
                  <a:srgbClr val="111111"/>
                </a:solidFill>
              </a:defRPr>
            </a:lvl5pPr>
            <a:lvl6pPr algn="l">
              <a:defRPr sz="1050" b="1">
                <a:solidFill>
                  <a:srgbClr val="111111"/>
                </a:solidFill>
              </a:defRPr>
            </a:lvl6pPr>
            <a:lvl7pPr algn="l">
              <a:defRPr sz="1050" b="1">
                <a:solidFill>
                  <a:srgbClr val="111111"/>
                </a:solidFill>
              </a:defRPr>
            </a:lvl7pPr>
            <a:lvl8pPr algn="l">
              <a:defRPr sz="1050" b="1">
                <a:solidFill>
                  <a:srgbClr val="111111"/>
                </a:solidFill>
              </a:defRPr>
            </a:lvl8pPr>
            <a:lvl9pPr algn="l">
              <a:defRPr sz="1050" b="1">
                <a:solidFill>
                  <a:srgbClr val="111111"/>
                </a:solidFill>
              </a:defRPr>
            </a:lvl9pPr>
          </a:lstStyle>
          <a:p xmlns:a="http://schemas.openxmlformats.org/drawingml/2006/main">
            <a:pPr algn="l">
              <a:defRPr sz="1050" b="1">
                <a:solidFill>
                  <a:srgbClr val="111111"/>
                </a:solidFill>
              </a:defRPr>
            </a:pPr>
            <a:r>
              <a:rPr sz="1050" b="1">
                <a:solidFill>
                  <a:srgbClr val="111111"/>
                </a:solidFill>
              </a:rPr>
              <a:t>GJR-HS</a:t>
            </a:r>
          </a:p>
        </p:txBody>
      </p:sp>
      <p:sp>
        <p:nvSpPr>
          <p:cNvPr id="27" name="">
            <a:extLst xmlns:a="http://schemas.openxmlformats.org/drawingml/2006/main">
              <a:ext uri="{FF2B5EF4-FFF2-40B4-BE49-F238E27FC236}">
                <a16:creationId xmlns:a16="http://schemas.microsoft.com/office/drawing/2014/main" id="{096E3C41-DCEB-4919-90E6-FCB13E6D650B}"/>
              </a:ext>
            </a:extLst>
          </p:cNvPr>
          <p:cNvSpPr>
            <a:spLocks xmlns:a="http://schemas.openxmlformats.org/drawingml/2006/main" noGrp="1"/>
          </p:cNvSpPr>
          <p:nvPr/>
        </p:nvSpPr>
        <p:spPr>
          <a:xfrm xmlns:a="http://schemas.openxmlformats.org/drawingml/2006/main">
            <a:off x="8934450" y="419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55E63"/>
                </a:solidFill>
              </a:defRPr>
            </a:defPPr>
            <a:lvl1pPr algn="l">
              <a:defRPr sz="1350" b="1">
                <a:solidFill>
                  <a:srgbClr val="155E63"/>
                </a:solidFill>
              </a:defRPr>
            </a:lvl1pPr>
            <a:lvl2pPr algn="l">
              <a:defRPr sz="1350" b="1">
                <a:solidFill>
                  <a:srgbClr val="155E63"/>
                </a:solidFill>
              </a:defRPr>
            </a:lvl2pPr>
            <a:lvl3pPr algn="l">
              <a:defRPr sz="1350" b="1">
                <a:solidFill>
                  <a:srgbClr val="155E63"/>
                </a:solidFill>
              </a:defRPr>
            </a:lvl3pPr>
            <a:lvl4pPr algn="l">
              <a:defRPr sz="1350" b="1">
                <a:solidFill>
                  <a:srgbClr val="155E63"/>
                </a:solidFill>
              </a:defRPr>
            </a:lvl4pPr>
            <a:lvl5pPr algn="l">
              <a:defRPr sz="1350" b="1">
                <a:solidFill>
                  <a:srgbClr val="155E63"/>
                </a:solidFill>
              </a:defRPr>
            </a:lvl5pPr>
            <a:lvl6pPr algn="l">
              <a:defRPr sz="1350" b="1">
                <a:solidFill>
                  <a:srgbClr val="155E63"/>
                </a:solidFill>
              </a:defRPr>
            </a:lvl6pPr>
            <a:lvl7pPr algn="l">
              <a:defRPr sz="1350" b="1">
                <a:solidFill>
                  <a:srgbClr val="155E63"/>
                </a:solidFill>
              </a:defRPr>
            </a:lvl7pPr>
            <a:lvl8pPr algn="l">
              <a:defRPr sz="1350" b="1">
                <a:solidFill>
                  <a:srgbClr val="155E63"/>
                </a:solidFill>
              </a:defRPr>
            </a:lvl8pPr>
            <a:lvl9pPr algn="l">
              <a:defRPr sz="1350" b="1">
                <a:solidFill>
                  <a:srgbClr val="155E63"/>
                </a:solidFill>
              </a:defRPr>
            </a:lvl9pPr>
          </a:lstStyle>
          <a:p xmlns:a="http://schemas.openxmlformats.org/drawingml/2006/main">
            <a:pPr algn="l">
              <a:defRPr sz="1350" b="1">
                <a:solidFill>
                  <a:srgbClr val="155E63"/>
                </a:solidFill>
              </a:defRPr>
            </a:pPr>
            <a:r>
              <a:rPr sz="1350" b="1">
                <a:solidFill>
                  <a:srgbClr val="155E63"/>
                </a:solidFill>
              </a:rPr>
              <a:t>$297K</a:t>
            </a:r>
          </a:p>
        </p:txBody>
      </p:sp>
      <p:sp>
        <p:nvSpPr>
          <p:cNvPr id="28" name="">
            <a:extLst xmlns:a="http://schemas.openxmlformats.org/drawingml/2006/main">
              <a:ext uri="{FF2B5EF4-FFF2-40B4-BE49-F238E27FC236}">
                <a16:creationId xmlns:a16="http://schemas.microsoft.com/office/drawing/2014/main" id="{B0A07C30-D8CD-42DA-B99B-51E9E44F1135}"/>
              </a:ext>
            </a:extLst>
          </p:cNvPr>
          <p:cNvSpPr>
            <a:spLocks xmlns:a="http://schemas.openxmlformats.org/drawingml/2006/main" noGrp="1"/>
          </p:cNvSpPr>
          <p:nvPr/>
        </p:nvSpPr>
        <p:spPr>
          <a:xfrm xmlns:a="http://schemas.openxmlformats.org/drawingml/2006/main">
            <a:off x="10134600" y="419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B42318"/>
                </a:solidFill>
              </a:defRPr>
            </a:defPPr>
            <a:lvl1pPr algn="l">
              <a:defRPr sz="1350" b="1">
                <a:solidFill>
                  <a:srgbClr val="B42318"/>
                </a:solidFill>
              </a:defRPr>
            </a:lvl1pPr>
            <a:lvl2pPr algn="l">
              <a:defRPr sz="1350" b="1">
                <a:solidFill>
                  <a:srgbClr val="B42318"/>
                </a:solidFill>
              </a:defRPr>
            </a:lvl2pPr>
            <a:lvl3pPr algn="l">
              <a:defRPr sz="1350" b="1">
                <a:solidFill>
                  <a:srgbClr val="B42318"/>
                </a:solidFill>
              </a:defRPr>
            </a:lvl3pPr>
            <a:lvl4pPr algn="l">
              <a:defRPr sz="1350" b="1">
                <a:solidFill>
                  <a:srgbClr val="B42318"/>
                </a:solidFill>
              </a:defRPr>
            </a:lvl4pPr>
            <a:lvl5pPr algn="l">
              <a:defRPr sz="1350" b="1">
                <a:solidFill>
                  <a:srgbClr val="B42318"/>
                </a:solidFill>
              </a:defRPr>
            </a:lvl5pPr>
            <a:lvl6pPr algn="l">
              <a:defRPr sz="1350" b="1">
                <a:solidFill>
                  <a:srgbClr val="B42318"/>
                </a:solidFill>
              </a:defRPr>
            </a:lvl6pPr>
            <a:lvl7pPr algn="l">
              <a:defRPr sz="1350" b="1">
                <a:solidFill>
                  <a:srgbClr val="B42318"/>
                </a:solidFill>
              </a:defRPr>
            </a:lvl7pPr>
            <a:lvl8pPr algn="l">
              <a:defRPr sz="1350" b="1">
                <a:solidFill>
                  <a:srgbClr val="B42318"/>
                </a:solidFill>
              </a:defRPr>
            </a:lvl8pPr>
            <a:lvl9pPr algn="l">
              <a:defRPr sz="1350" b="1">
                <a:solidFill>
                  <a:srgbClr val="B42318"/>
                </a:solidFill>
              </a:defRPr>
            </a:lvl9pPr>
          </a:lstStyle>
          <a:p xmlns:a="http://schemas.openxmlformats.org/drawingml/2006/main">
            <a:pPr algn="l">
              <a:defRPr sz="1350" b="1">
                <a:solidFill>
                  <a:srgbClr val="B42318"/>
                </a:solidFill>
              </a:defRPr>
            </a:pPr>
            <a:r>
              <a:rPr sz="1350" b="1">
                <a:solidFill>
                  <a:srgbClr val="B42318"/>
                </a:solidFill>
              </a:rPr>
              <a:t>$339K</a:t>
            </a:r>
          </a:p>
        </p:txBody>
      </p:sp>
      <p:sp>
        <p:nvSpPr>
          <p:cNvPr id="29" name="">
            <a:extLst xmlns:a="http://schemas.openxmlformats.org/drawingml/2006/main">
              <a:ext uri="{FF2B5EF4-FFF2-40B4-BE49-F238E27FC236}">
                <a16:creationId xmlns:a16="http://schemas.microsoft.com/office/drawing/2014/main" id="{1C79C3C9-F4ED-4BA9-A2DB-79DB0A9C9D71}"/>
              </a:ext>
            </a:extLst>
          </p:cNvPr>
          <p:cNvSpPr>
            <a:spLocks xmlns:a="http://schemas.openxmlformats.org/drawingml/2006/main" noGrp="1"/>
          </p:cNvSpPr>
          <p:nvPr/>
        </p:nvSpPr>
        <p:spPr>
          <a:xfrm xmlns:a="http://schemas.openxmlformats.org/drawingml/2006/main">
            <a:off x="8934450" y="44577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75" b="0">
                <a:solidFill>
                  <a:srgbClr val="707070"/>
                </a:solidFill>
              </a:defRPr>
            </a:defPPr>
            <a:lvl1pPr algn="l">
              <a:defRPr sz="675" b="0">
                <a:solidFill>
                  <a:srgbClr val="707070"/>
                </a:solidFill>
              </a:defRPr>
            </a:lvl1pPr>
            <a:lvl2pPr algn="l">
              <a:defRPr sz="675" b="0">
                <a:solidFill>
                  <a:srgbClr val="707070"/>
                </a:solidFill>
              </a:defRPr>
            </a:lvl2pPr>
            <a:lvl3pPr algn="l">
              <a:defRPr sz="675" b="0">
                <a:solidFill>
                  <a:srgbClr val="707070"/>
                </a:solidFill>
              </a:defRPr>
            </a:lvl3pPr>
            <a:lvl4pPr algn="l">
              <a:defRPr sz="675" b="0">
                <a:solidFill>
                  <a:srgbClr val="707070"/>
                </a:solidFill>
              </a:defRPr>
            </a:lvl4pPr>
            <a:lvl5pPr algn="l">
              <a:defRPr sz="675" b="0">
                <a:solidFill>
                  <a:srgbClr val="707070"/>
                </a:solidFill>
              </a:defRPr>
            </a:lvl5pPr>
            <a:lvl6pPr algn="l">
              <a:defRPr sz="675" b="0">
                <a:solidFill>
                  <a:srgbClr val="707070"/>
                </a:solidFill>
              </a:defRPr>
            </a:lvl6pPr>
            <a:lvl7pPr algn="l">
              <a:defRPr sz="675" b="0">
                <a:solidFill>
                  <a:srgbClr val="707070"/>
                </a:solidFill>
              </a:defRPr>
            </a:lvl7pPr>
            <a:lvl8pPr algn="l">
              <a:defRPr sz="675" b="0">
                <a:solidFill>
                  <a:srgbClr val="707070"/>
                </a:solidFill>
              </a:defRPr>
            </a:lvl8pPr>
            <a:lvl9pPr algn="l">
              <a:defRPr sz="675" b="0">
                <a:solidFill>
                  <a:srgbClr val="707070"/>
                </a:solidFill>
              </a:defRPr>
            </a:lvl9pPr>
          </a:lstStyle>
          <a:p xmlns:a="http://schemas.openxmlformats.org/drawingml/2006/main">
            <a:pPr algn="l">
              <a:defRPr sz="675" b="0">
                <a:solidFill>
                  <a:srgbClr val="707070"/>
                </a:solidFill>
              </a:defRPr>
            </a:pPr>
            <a:r>
              <a:rPr sz="675" b="0">
                <a:solidFill>
                  <a:srgbClr val="707070"/>
                </a:solidFill>
              </a:rPr>
              <a:t>VaR</a:t>
            </a:r>
          </a:p>
        </p:txBody>
      </p:sp>
      <p:sp>
        <p:nvSpPr>
          <p:cNvPr id="30" name="">
            <a:extLst xmlns:a="http://schemas.openxmlformats.org/drawingml/2006/main">
              <a:ext uri="{FF2B5EF4-FFF2-40B4-BE49-F238E27FC236}">
                <a16:creationId xmlns:a16="http://schemas.microsoft.com/office/drawing/2014/main" id="{05506103-CD70-4488-B1E0-8B7BE6FD70C2}"/>
              </a:ext>
            </a:extLst>
          </p:cNvPr>
          <p:cNvSpPr>
            <a:spLocks xmlns:a="http://schemas.openxmlformats.org/drawingml/2006/main" noGrp="1"/>
          </p:cNvSpPr>
          <p:nvPr/>
        </p:nvSpPr>
        <p:spPr>
          <a:xfrm xmlns:a="http://schemas.openxmlformats.org/drawingml/2006/main">
            <a:off x="10134600" y="44577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75" b="0">
                <a:solidFill>
                  <a:srgbClr val="707070"/>
                </a:solidFill>
              </a:defRPr>
            </a:defPPr>
            <a:lvl1pPr algn="l">
              <a:defRPr sz="675" b="0">
                <a:solidFill>
                  <a:srgbClr val="707070"/>
                </a:solidFill>
              </a:defRPr>
            </a:lvl1pPr>
            <a:lvl2pPr algn="l">
              <a:defRPr sz="675" b="0">
                <a:solidFill>
                  <a:srgbClr val="707070"/>
                </a:solidFill>
              </a:defRPr>
            </a:lvl2pPr>
            <a:lvl3pPr algn="l">
              <a:defRPr sz="675" b="0">
                <a:solidFill>
                  <a:srgbClr val="707070"/>
                </a:solidFill>
              </a:defRPr>
            </a:lvl3pPr>
            <a:lvl4pPr algn="l">
              <a:defRPr sz="675" b="0">
                <a:solidFill>
                  <a:srgbClr val="707070"/>
                </a:solidFill>
              </a:defRPr>
            </a:lvl4pPr>
            <a:lvl5pPr algn="l">
              <a:defRPr sz="675" b="0">
                <a:solidFill>
                  <a:srgbClr val="707070"/>
                </a:solidFill>
              </a:defRPr>
            </a:lvl5pPr>
            <a:lvl6pPr algn="l">
              <a:defRPr sz="675" b="0">
                <a:solidFill>
                  <a:srgbClr val="707070"/>
                </a:solidFill>
              </a:defRPr>
            </a:lvl6pPr>
            <a:lvl7pPr algn="l">
              <a:defRPr sz="675" b="0">
                <a:solidFill>
                  <a:srgbClr val="707070"/>
                </a:solidFill>
              </a:defRPr>
            </a:lvl7pPr>
            <a:lvl8pPr algn="l">
              <a:defRPr sz="675" b="0">
                <a:solidFill>
                  <a:srgbClr val="707070"/>
                </a:solidFill>
              </a:defRPr>
            </a:lvl8pPr>
            <a:lvl9pPr algn="l">
              <a:defRPr sz="675" b="0">
                <a:solidFill>
                  <a:srgbClr val="707070"/>
                </a:solidFill>
              </a:defRPr>
            </a:lvl9pPr>
          </a:lstStyle>
          <a:p xmlns:a="http://schemas.openxmlformats.org/drawingml/2006/main">
            <a:pPr algn="l">
              <a:defRPr sz="675" b="0">
                <a:solidFill>
                  <a:srgbClr val="707070"/>
                </a:solidFill>
              </a:defRPr>
            </a:pPr>
            <a:r>
              <a:rPr sz="675" b="0">
                <a:solidFill>
                  <a:srgbClr val="707070"/>
                </a:solidFill>
              </a:rPr>
              <a:t>ES</a:t>
            </a:r>
          </a:p>
        </p:txBody>
      </p:sp>
      <p:sp>
        <p:nvSpPr>
          <p:cNvPr id="31" name="">
            <a:extLst xmlns:a="http://schemas.openxmlformats.org/drawingml/2006/main">
              <a:ext uri="{FF2B5EF4-FFF2-40B4-BE49-F238E27FC236}">
                <a16:creationId xmlns:a16="http://schemas.microsoft.com/office/drawing/2014/main" id="{95714037-8CD5-4A35-9393-F0CD7B0CB178}"/>
              </a:ext>
            </a:extLst>
          </p:cNvPr>
          <p:cNvSpPr>
            <a:spLocks xmlns:a="http://schemas.openxmlformats.org/drawingml/2006/main" noGrp="1"/>
          </p:cNvSpPr>
          <p:nvPr/>
        </p:nvSpPr>
        <p:spPr>
          <a:xfrm xmlns:a="http://schemas.openxmlformats.org/drawingml/2006/main">
            <a:off x="514350" y="4857750"/>
            <a:ext cx="10763250" cy="571500"/>
          </a:xfrm>
          <a:prstGeom xmlns:a="http://schemas.openxmlformats.org/drawingml/2006/main" prst="rect">
            <a:avLst/>
          </a:prstGeom>
          <a:solidFill xmlns:a="http://schemas.openxmlformats.org/drawingml/2006/main">
            <a:srgbClr val="F3DEDA"/>
          </a:solidFill>
          <a:ln xmlns:a="http://schemas.openxmlformats.org/drawingml/2006/main" w="0">
            <a:solidFill>
              <a:srgbClr val="F3DEDA"/>
            </a:solidFill>
            <a:prstDash val="solid"/>
          </a:ln>
        </p:spPr>
      </p:sp>
      <p:sp>
        <p:nvSpPr>
          <p:cNvPr id="32" name="">
            <a:extLst xmlns:a="http://schemas.openxmlformats.org/drawingml/2006/main">
              <a:ext uri="{FF2B5EF4-FFF2-40B4-BE49-F238E27FC236}">
                <a16:creationId xmlns:a16="http://schemas.microsoft.com/office/drawing/2014/main" id="{BF997357-A32C-4F03-B49F-B18F5C4826DE}"/>
              </a:ext>
            </a:extLst>
          </p:cNvPr>
          <p:cNvSpPr>
            <a:spLocks xmlns:a="http://schemas.openxmlformats.org/drawingml/2006/main" noGrp="1"/>
          </p:cNvSpPr>
          <p:nvPr/>
        </p:nvSpPr>
        <p:spPr>
          <a:xfrm xmlns:a="http://schemas.openxmlformats.org/drawingml/2006/main">
            <a:off x="514350" y="4857750"/>
            <a:ext cx="47625" cy="5715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33" name="">
            <a:extLst xmlns:a="http://schemas.openxmlformats.org/drawingml/2006/main">
              <a:ext uri="{FF2B5EF4-FFF2-40B4-BE49-F238E27FC236}">
                <a16:creationId xmlns:a16="http://schemas.microsoft.com/office/drawing/2014/main" id="{ED821948-408E-4B86-BF4A-0A13DA6A9F73}"/>
              </a:ext>
            </a:extLst>
          </p:cNvPr>
          <p:cNvSpPr>
            <a:spLocks xmlns:a="http://schemas.openxmlformats.org/drawingml/2006/main" noGrp="1"/>
          </p:cNvSpPr>
          <p:nvPr/>
        </p:nvSpPr>
        <p:spPr>
          <a:xfrm xmlns:a="http://schemas.openxmlformats.org/drawingml/2006/main">
            <a:off x="685800" y="4905375"/>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353535"/>
                </a:solidFill>
              </a:defRPr>
            </a:defPPr>
            <a:lvl1pPr algn="l">
              <a:defRPr sz="1050" b="1">
                <a:solidFill>
                  <a:srgbClr val="353535"/>
                </a:solidFill>
              </a:defRPr>
            </a:lvl1pPr>
            <a:lvl2pPr algn="l">
              <a:defRPr sz="1050" b="1">
                <a:solidFill>
                  <a:srgbClr val="353535"/>
                </a:solidFill>
              </a:defRPr>
            </a:lvl2pPr>
            <a:lvl3pPr algn="l">
              <a:defRPr sz="1050" b="1">
                <a:solidFill>
                  <a:srgbClr val="353535"/>
                </a:solidFill>
              </a:defRPr>
            </a:lvl3pPr>
            <a:lvl4pPr algn="l">
              <a:defRPr sz="1050" b="1">
                <a:solidFill>
                  <a:srgbClr val="353535"/>
                </a:solidFill>
              </a:defRPr>
            </a:lvl4pPr>
            <a:lvl5pPr algn="l">
              <a:defRPr sz="1050" b="1">
                <a:solidFill>
                  <a:srgbClr val="353535"/>
                </a:solidFill>
              </a:defRPr>
            </a:lvl5pPr>
            <a:lvl6pPr algn="l">
              <a:defRPr sz="1050" b="1">
                <a:solidFill>
                  <a:srgbClr val="353535"/>
                </a:solidFill>
              </a:defRPr>
            </a:lvl6pPr>
            <a:lvl7pPr algn="l">
              <a:defRPr sz="1050" b="1">
                <a:solidFill>
                  <a:srgbClr val="353535"/>
                </a:solidFill>
              </a:defRPr>
            </a:lvl7pPr>
            <a:lvl8pPr algn="l">
              <a:defRPr sz="1050" b="1">
                <a:solidFill>
                  <a:srgbClr val="353535"/>
                </a:solidFill>
              </a:defRPr>
            </a:lvl8pPr>
            <a:lvl9pPr algn="l">
              <a:defRPr sz="1050" b="1">
                <a:solidFill>
                  <a:srgbClr val="353535"/>
                </a:solidFill>
              </a:defRPr>
            </a:lvl9pPr>
          </a:lstStyle>
          <a:p xmlns:a="http://schemas.openxmlformats.org/drawingml/2006/main">
            <a:pPr algn="l">
              <a:defRPr sz="1050" b="1">
                <a:solidFill>
                  <a:srgbClr val="353535"/>
                </a:solidFill>
              </a:defRPr>
            </a:pPr>
            <a:r>
              <a:rPr sz="1050" b="1">
                <a:solidFill>
                  <a:srgbClr val="353535"/>
                </a:solidFill>
              </a:rPr>
              <a:t>Model risk is visible: the method changes the threshold, so governance keeps a primary model, challenger and benchmark</a:t>
            </a:r>
          </a:p>
        </p:txBody>
      </p:sp>
      <p:sp>
        <p:nvSpPr>
          <p:cNvPr id="34" name="">
            <a:extLst xmlns:a="http://schemas.openxmlformats.org/drawingml/2006/main">
              <a:ext uri="{FF2B5EF4-FFF2-40B4-BE49-F238E27FC236}">
                <a16:creationId xmlns:a16="http://schemas.microsoft.com/office/drawing/2014/main" id="{08FEDBDA-995D-4B3E-9996-8CD3EC62C48D}"/>
              </a:ext>
            </a:extLst>
          </p:cNvPr>
          <p:cNvSpPr>
            <a:spLocks xmlns:a="http://schemas.openxmlformats.org/drawingml/2006/main" noGrp="1"/>
          </p:cNvSpPr>
          <p:nvPr/>
        </p:nvSpPr>
        <p:spPr>
          <a:xfrm xmlns:a="http://schemas.openxmlformats.org/drawingml/2006/main">
            <a:off x="514350" y="579120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35" name="">
            <a:extLst xmlns:a="http://schemas.openxmlformats.org/drawingml/2006/main">
              <a:ext uri="{FF2B5EF4-FFF2-40B4-BE49-F238E27FC236}">
                <a16:creationId xmlns:a16="http://schemas.microsoft.com/office/drawing/2014/main" id="{D7B48FC1-E0D3-4011-9084-36DE08679230}"/>
              </a:ext>
            </a:extLst>
          </p:cNvPr>
          <p:cNvSpPr>
            <a:spLocks xmlns:a="http://schemas.openxmlformats.org/drawingml/2006/main" noGrp="1"/>
          </p:cNvSpPr>
          <p:nvPr/>
        </p:nvSpPr>
        <p:spPr>
          <a:xfrm xmlns:a="http://schemas.openxmlformats.org/drawingml/2006/main">
            <a:off x="666750" y="5753100"/>
            <a:ext cx="1061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Rule</a:t>
            </a:r>
          </a:p>
        </p:txBody>
      </p:sp>
      <p:sp>
        <p:nvSpPr>
          <p:cNvPr id="36" name="">
            <a:extLst xmlns:a="http://schemas.openxmlformats.org/drawingml/2006/main">
              <a:ext uri="{FF2B5EF4-FFF2-40B4-BE49-F238E27FC236}">
                <a16:creationId xmlns:a16="http://schemas.microsoft.com/office/drawing/2014/main" id="{62D649D6-2298-4AA4-AA37-7DF84274B119}"/>
              </a:ext>
            </a:extLst>
          </p:cNvPr>
          <p:cNvSpPr>
            <a:spLocks xmlns:a="http://schemas.openxmlformats.org/drawingml/2006/main" noGrp="1"/>
          </p:cNvSpPr>
          <p:nvPr/>
        </p:nvSpPr>
        <p:spPr>
          <a:xfrm xmlns:a="http://schemas.openxmlformats.org/drawingml/2006/main">
            <a:off x="666750" y="5991225"/>
            <a:ext cx="1061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Expected Shortfall must remain above VaR because it averages losses after the threshold is crossed.</a:t>
            </a:r>
          </a:p>
        </p:txBody>
      </p:sp>
      <p:sp>
        <p:nvSpPr>
          <p:cNvPr id="37" name="">
            <a:extLst xmlns:a="http://schemas.openxmlformats.org/drawingml/2006/main">
              <a:ext uri="{FF2B5EF4-FFF2-40B4-BE49-F238E27FC236}">
                <a16:creationId xmlns:a16="http://schemas.microsoft.com/office/drawing/2014/main" id="{3141E4D2-79E1-4CB8-83AF-E03E09EDC346}"/>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38" name="">
            <a:extLst xmlns:a="http://schemas.openxmlformats.org/drawingml/2006/main">
              <a:ext uri="{FF2B5EF4-FFF2-40B4-BE49-F238E27FC236}">
                <a16:creationId xmlns:a16="http://schemas.microsoft.com/office/drawing/2014/main" id="{A98D62A7-28CD-45C9-BD35-4FDC2483008C}"/>
              </a:ext>
            </a:extLst>
          </p:cNvPr>
          <p:cNvSpPr>
            <a:spLocks xmlns:a="http://schemas.openxmlformats.org/drawingml/2006/main" noGrp="1"/>
          </p:cNvSpPr>
          <p:nvPr/>
        </p:nvSpPr>
        <p:spPr>
          <a:xfrm xmlns:a="http://schemas.openxmlformats.org/drawingml/2006/main">
            <a:off x="51435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0">
                <a:solidFill>
                  <a:srgbClr val="707070"/>
                </a:solidFill>
              </a:defRPr>
            </a:defPPr>
            <a:lvl1pPr algn="l">
              <a:defRPr sz="600" b="0">
                <a:solidFill>
                  <a:srgbClr val="707070"/>
                </a:solidFill>
              </a:defRPr>
            </a:lvl1pPr>
            <a:lvl2pPr algn="l">
              <a:defRPr sz="600" b="0">
                <a:solidFill>
                  <a:srgbClr val="707070"/>
                </a:solidFill>
              </a:defRPr>
            </a:lvl2pPr>
            <a:lvl3pPr algn="l">
              <a:defRPr sz="600" b="0">
                <a:solidFill>
                  <a:srgbClr val="707070"/>
                </a:solidFill>
              </a:defRPr>
            </a:lvl3pPr>
            <a:lvl4pPr algn="l">
              <a:defRPr sz="600" b="0">
                <a:solidFill>
                  <a:srgbClr val="707070"/>
                </a:solidFill>
              </a:defRPr>
            </a:lvl4pPr>
            <a:lvl5pPr algn="l">
              <a:defRPr sz="600" b="0">
                <a:solidFill>
                  <a:srgbClr val="707070"/>
                </a:solidFill>
              </a:defRPr>
            </a:lvl5pPr>
            <a:lvl6pPr algn="l">
              <a:defRPr sz="600" b="0">
                <a:solidFill>
                  <a:srgbClr val="707070"/>
                </a:solidFill>
              </a:defRPr>
            </a:lvl6pPr>
            <a:lvl7pPr algn="l">
              <a:defRPr sz="600" b="0">
                <a:solidFill>
                  <a:srgbClr val="707070"/>
                </a:solidFill>
              </a:defRPr>
            </a:lvl7pPr>
            <a:lvl8pPr algn="l">
              <a:defRPr sz="600" b="0">
                <a:solidFill>
                  <a:srgbClr val="707070"/>
                </a:solidFill>
              </a:defRPr>
            </a:lvl8pPr>
            <a:lvl9pPr algn="l">
              <a:defRPr sz="600" b="0">
                <a:solidFill>
                  <a:srgbClr val="707070"/>
                </a:solidFill>
              </a:defRPr>
            </a:lvl9pPr>
          </a:lstStyle>
          <a:p xmlns:a="http://schemas.openxmlformats.org/drawingml/2006/main">
            <a:pPr algn="l">
              <a:defRPr sz="600" b="0">
                <a:solidFill>
                  <a:srgbClr val="707070"/>
                </a:solidFill>
              </a:defRPr>
            </a:pPr>
            <a:r>
              <a:rPr sz="600" b="0">
                <a:solidFill>
                  <a:srgbClr val="707070"/>
                </a:solidFill>
              </a:rPr>
              <a:t>QFI risk engine  |  saved data through 23 October 2026</a:t>
            </a:r>
          </a:p>
        </p:txBody>
      </p:sp>
      <p:sp>
        <p:nvSpPr>
          <p:cNvPr id="39" name="">
            <a:extLst xmlns:a="http://schemas.openxmlformats.org/drawingml/2006/main">
              <a:ext uri="{FF2B5EF4-FFF2-40B4-BE49-F238E27FC236}">
                <a16:creationId xmlns:a16="http://schemas.microsoft.com/office/drawing/2014/main" id="{4D160A3D-EA26-47DF-8130-E0133BA7F9D4}"/>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111111"/>
                </a:solidFill>
              </a:defRPr>
            </a:defPPr>
            <a:lvl1pPr algn="r">
              <a:defRPr sz="675" b="1">
                <a:solidFill>
                  <a:srgbClr val="111111"/>
                </a:solidFill>
              </a:defRPr>
            </a:lvl1pPr>
            <a:lvl2pPr algn="r">
              <a:defRPr sz="675" b="1">
                <a:solidFill>
                  <a:srgbClr val="111111"/>
                </a:solidFill>
              </a:defRPr>
            </a:lvl2pPr>
            <a:lvl3pPr algn="r">
              <a:defRPr sz="675" b="1">
                <a:solidFill>
                  <a:srgbClr val="111111"/>
                </a:solidFill>
              </a:defRPr>
            </a:lvl3pPr>
            <a:lvl4pPr algn="r">
              <a:defRPr sz="675" b="1">
                <a:solidFill>
                  <a:srgbClr val="111111"/>
                </a:solidFill>
              </a:defRPr>
            </a:lvl4pPr>
            <a:lvl5pPr algn="r">
              <a:defRPr sz="675" b="1">
                <a:solidFill>
                  <a:srgbClr val="111111"/>
                </a:solidFill>
              </a:defRPr>
            </a:lvl5pPr>
            <a:lvl6pPr algn="r">
              <a:defRPr sz="675" b="1">
                <a:solidFill>
                  <a:srgbClr val="111111"/>
                </a:solidFill>
              </a:defRPr>
            </a:lvl6pPr>
            <a:lvl7pPr algn="r">
              <a:defRPr sz="675" b="1">
                <a:solidFill>
                  <a:srgbClr val="111111"/>
                </a:solidFill>
              </a:defRPr>
            </a:lvl7pPr>
            <a:lvl8pPr algn="r">
              <a:defRPr sz="675" b="1">
                <a:solidFill>
                  <a:srgbClr val="111111"/>
                </a:solidFill>
              </a:defRPr>
            </a:lvl8pPr>
            <a:lvl9pPr algn="r">
              <a:defRPr sz="675" b="1">
                <a:solidFill>
                  <a:srgbClr val="111111"/>
                </a:solidFill>
              </a:defRPr>
            </a:lvl9pPr>
          </a:lstStyle>
          <a:p xmlns:a="http://schemas.openxmlformats.org/drawingml/2006/main">
            <a:pPr algn="r">
              <a:defRPr sz="675" b="1">
                <a:solidFill>
                  <a:srgbClr val="111111"/>
                </a:solidFill>
              </a:defRPr>
            </a:pPr>
            <a:r>
              <a:rPr sz="675" b="1">
                <a:solidFill>
                  <a:srgbClr val="111111"/>
                </a:solidFill>
              </a:rPr>
              <a:t>14</a:t>
            </a:r>
          </a:p>
        </p:txBody>
      </p:sp>
    </p:spTree>
    <p:extLst>
      <p:ext uri="{BB962C8B-B14F-4D97-AF65-F5344CB8AC3E}">
        <p14:creationId xmlns:p14="http://schemas.microsoft.com/office/powerpoint/2010/main" val="26665180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8B26900-0FE7-4D48-9454-01E455E9D1F2}"/>
              </a:ext>
            </a:extLst>
          </p:cNvPr>
          <p:cNvSpPr>
            <a:spLocks xmlns:a="http://schemas.openxmlformats.org/drawingml/2006/main" noGrp="1"/>
          </p:cNvSpPr>
          <p:nvPr/>
        </p:nvSpPr>
        <p:spPr>
          <a:xfrm xmlns:a="http://schemas.openxmlformats.org/drawingml/2006/main">
            <a:off x="514350" y="266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MODEL EVIDENCE</a:t>
            </a:r>
          </a:p>
        </p:txBody>
      </p:sp>
      <p:sp>
        <p:nvSpPr>
          <p:cNvPr id="2" name="">
            <a:extLst xmlns:a="http://schemas.openxmlformats.org/drawingml/2006/main">
              <a:ext uri="{FF2B5EF4-FFF2-40B4-BE49-F238E27FC236}">
                <a16:creationId xmlns:a16="http://schemas.microsoft.com/office/drawing/2014/main" id="{CD281D84-4695-462B-8340-ECD360EFADA0}"/>
              </a:ext>
            </a:extLst>
          </p:cNvPr>
          <p:cNvSpPr>
            <a:spLocks xmlns:a="http://schemas.openxmlformats.org/drawingml/2006/main" noGrp="1"/>
          </p:cNvSpPr>
          <p:nvPr/>
        </p:nvSpPr>
        <p:spPr>
          <a:xfrm xmlns:a="http://schemas.openxmlformats.org/drawingml/2006/main">
            <a:off x="514350" y="6096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11111"/>
                </a:solidFill>
              </a:defRPr>
            </a:defPPr>
            <a:lvl1pPr algn="l">
              <a:defRPr sz="2550" b="1">
                <a:solidFill>
                  <a:srgbClr val="111111"/>
                </a:solidFill>
              </a:defRPr>
            </a:lvl1pPr>
            <a:lvl2pPr algn="l">
              <a:defRPr sz="2550" b="1">
                <a:solidFill>
                  <a:srgbClr val="111111"/>
                </a:solidFill>
              </a:defRPr>
            </a:lvl2pPr>
            <a:lvl3pPr algn="l">
              <a:defRPr sz="2550" b="1">
                <a:solidFill>
                  <a:srgbClr val="111111"/>
                </a:solidFill>
              </a:defRPr>
            </a:lvl3pPr>
            <a:lvl4pPr algn="l">
              <a:defRPr sz="2550" b="1">
                <a:solidFill>
                  <a:srgbClr val="111111"/>
                </a:solidFill>
              </a:defRPr>
            </a:lvl4pPr>
            <a:lvl5pPr algn="l">
              <a:defRPr sz="2550" b="1">
                <a:solidFill>
                  <a:srgbClr val="111111"/>
                </a:solidFill>
              </a:defRPr>
            </a:lvl5pPr>
            <a:lvl6pPr algn="l">
              <a:defRPr sz="2550" b="1">
                <a:solidFill>
                  <a:srgbClr val="111111"/>
                </a:solidFill>
              </a:defRPr>
            </a:lvl6pPr>
            <a:lvl7pPr algn="l">
              <a:defRPr sz="2550" b="1">
                <a:solidFill>
                  <a:srgbClr val="111111"/>
                </a:solidFill>
              </a:defRPr>
            </a:lvl7pPr>
            <a:lvl8pPr algn="l">
              <a:defRPr sz="2550" b="1">
                <a:solidFill>
                  <a:srgbClr val="111111"/>
                </a:solidFill>
              </a:defRPr>
            </a:lvl8pPr>
            <a:lvl9pPr algn="l">
              <a:defRPr sz="2550" b="1">
                <a:solidFill>
                  <a:srgbClr val="111111"/>
                </a:solidFill>
              </a:defRPr>
            </a:lvl9pPr>
          </a:lstStyle>
          <a:p xmlns:a="http://schemas.openxmlformats.org/drawingml/2006/main">
            <a:pPr algn="l">
              <a:defRPr sz="2550" b="1">
                <a:solidFill>
                  <a:srgbClr val="111111"/>
                </a:solidFill>
              </a:defRPr>
            </a:pPr>
            <a:r>
              <a:rPr sz="2550" b="1">
                <a:solidFill>
                  <a:srgbClr val="111111"/>
                </a:solidFill>
              </a:rPr>
              <a:t>Volatility changes regime, and downside shocks matter more</a:t>
            </a:r>
          </a:p>
        </p:txBody>
      </p:sp>
      <p:sp>
        <p:nvSpPr>
          <p:cNvPr id="3" name="">
            <a:extLst xmlns:a="http://schemas.openxmlformats.org/drawingml/2006/main">
              <a:ext uri="{FF2B5EF4-FFF2-40B4-BE49-F238E27FC236}">
                <a16:creationId xmlns:a16="http://schemas.microsoft.com/office/drawing/2014/main" id="{6B5DC26B-452D-4EE0-AE70-06A8B751A4FB}"/>
              </a:ext>
            </a:extLst>
          </p:cNvPr>
          <p:cNvSpPr>
            <a:spLocks xmlns:a="http://schemas.openxmlformats.org/drawingml/2006/main" noGrp="1"/>
          </p:cNvSpPr>
          <p:nvPr/>
        </p:nvSpPr>
        <p:spPr>
          <a:xfrm xmlns:a="http://schemas.openxmlformats.org/drawingml/2006/main">
            <a:off x="514350" y="11430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The models respond to both persistence and asymmetry in equity returns</a:t>
            </a:r>
          </a:p>
        </p:txBody>
      </p:sp>
      <p:sp>
        <p:nvSpPr>
          <p:cNvPr id="4" name="">
            <a:extLst xmlns:a="http://schemas.openxmlformats.org/drawingml/2006/main">
              <a:ext uri="{FF2B5EF4-FFF2-40B4-BE49-F238E27FC236}">
                <a16:creationId xmlns:a16="http://schemas.microsoft.com/office/drawing/2014/main" id="{E95B0ED8-E744-41A5-B2AF-F7573719959D}"/>
              </a:ext>
            </a:extLst>
          </p:cNvPr>
          <p:cNvSpPr>
            <a:spLocks xmlns:a="http://schemas.openxmlformats.org/drawingml/2006/main" noGrp="1"/>
          </p:cNvSpPr>
          <p:nvPr/>
        </p:nvSpPr>
        <p:spPr>
          <a:xfrm xmlns:a="http://schemas.openxmlformats.org/drawingml/2006/main">
            <a:off x="514350" y="1495425"/>
            <a:ext cx="111633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383A7665-0492-49EF-B7B7-FE4EE6D15E31}"/>
              </a:ext>
            </a:extLst>
          </p:cNvPr>
          <p:cNvSpPr>
            <a:spLocks xmlns:a="http://schemas.openxmlformats.org/drawingml/2006/main" noGrp="1"/>
          </p:cNvSpPr>
          <p:nvPr/>
        </p:nvSpPr>
        <p:spPr>
          <a:xfrm xmlns:a="http://schemas.openxmlformats.org/drawingml/2006/main">
            <a:off x="504825" y="1724025"/>
            <a:ext cx="6896100" cy="262890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6" name="">
            <a:extLst xmlns:a="http://schemas.openxmlformats.org/drawingml/2006/main">
              <a:ext uri="{FF2B5EF4-FFF2-40B4-BE49-F238E27FC236}">
                <a16:creationId xmlns:a16="http://schemas.microsoft.com/office/drawing/2014/main" id="{3EC252DC-71F5-4FE1-9D48-DBB21488E6B5}"/>
              </a:ext>
            </a:extLst>
          </p:cNvPr>
          <p:cNvSpPr>
            <a:spLocks xmlns:a="http://schemas.openxmlformats.org/drawingml/2006/main" noGrp="1"/>
          </p:cNvSpPr>
          <p:nvPr/>
        </p:nvSpPr>
        <p:spPr>
          <a:xfrm xmlns:a="http://schemas.openxmlformats.org/drawingml/2006/main">
            <a:off x="628650" y="1800225"/>
            <a:ext cx="6648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Annualized volatility by model</a:t>
            </a:r>
          </a:p>
        </p:txBody>
      </p:sp>
      <p:pic>
        <p:nvPicPr>
          <p:cNvPr id="7" name="">
            <a:extLst xmlns:a="http://schemas.openxmlformats.org/drawingml/2006/main">
              <a:ext uri="{FF2B5EF4-FFF2-40B4-BE49-F238E27FC236}">
                <a16:creationId xmlns:a16="http://schemas.microsoft.com/office/drawing/2014/main" id="{6EE759DB-FD77-4CFC-AF42-2F657655023B}"/>
              </a:ext>
            </a:extLst>
          </p:cNvPr>
          <p:cNvPicPr>
            <a:picLocks xmlns:a="http://schemas.openxmlformats.org/drawingml/2006/main" noChangeAspect="1"/>
          </p:cNvPicPr>
          <p:nvPr/>
        </p:nvPicPr>
        <p:blipFill>
          <a:blip xmlns:r="http://schemas.openxmlformats.org/officeDocument/2006/relationships" xmlns:a="http://schemas.openxmlformats.org/drawingml/2006/main" r:embed="R47247a771a274d9f"/>
          <a:stretch xmlns:a="http://schemas.openxmlformats.org/drawingml/2006/main"/>
        </p:blipFill>
        <p:spPr>
          <a:xfrm xmlns:a="http://schemas.openxmlformats.org/drawingml/2006/main">
            <a:off x="757476" y="2009775"/>
            <a:ext cx="6390799" cy="23145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8EF318F-3F93-42DE-9E2E-728E73D39261}"/>
              </a:ext>
            </a:extLst>
          </p:cNvPr>
          <p:cNvSpPr>
            <a:spLocks xmlns:a="http://schemas.openxmlformats.org/drawingml/2006/main" noGrp="1"/>
          </p:cNvSpPr>
          <p:nvPr/>
        </p:nvSpPr>
        <p:spPr>
          <a:xfrm xmlns:a="http://schemas.openxmlformats.org/drawingml/2006/main">
            <a:off x="504825" y="4581525"/>
            <a:ext cx="6896100" cy="158115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9" name="">
            <a:extLst xmlns:a="http://schemas.openxmlformats.org/drawingml/2006/main">
              <a:ext uri="{FF2B5EF4-FFF2-40B4-BE49-F238E27FC236}">
                <a16:creationId xmlns:a16="http://schemas.microsoft.com/office/drawing/2014/main" id="{2FBF4193-FDC3-45D9-B397-08E2353B1EC6}"/>
              </a:ext>
            </a:extLst>
          </p:cNvPr>
          <p:cNvSpPr>
            <a:spLocks xmlns:a="http://schemas.openxmlformats.org/drawingml/2006/main" noGrp="1"/>
          </p:cNvSpPr>
          <p:nvPr/>
        </p:nvSpPr>
        <p:spPr>
          <a:xfrm xmlns:a="http://schemas.openxmlformats.org/drawingml/2006/main">
            <a:off x="628650" y="4657725"/>
            <a:ext cx="6648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Volatility regimes</a:t>
            </a:r>
          </a:p>
        </p:txBody>
      </p:sp>
      <p:pic>
        <p:nvPicPr>
          <p:cNvPr id="10" name="">
            <a:extLst xmlns:a="http://schemas.openxmlformats.org/drawingml/2006/main">
              <a:ext uri="{FF2B5EF4-FFF2-40B4-BE49-F238E27FC236}">
                <a16:creationId xmlns:a16="http://schemas.microsoft.com/office/drawing/2014/main" id="{B3F73505-279D-4CCD-8EAE-75F94A909F39}"/>
              </a:ext>
            </a:extLst>
          </p:cNvPr>
          <p:cNvPicPr>
            <a:picLocks xmlns:a="http://schemas.openxmlformats.org/drawingml/2006/main" noChangeAspect="1"/>
          </p:cNvPicPr>
          <p:nvPr/>
        </p:nvPicPr>
        <p:blipFill>
          <a:blip xmlns:r="http://schemas.openxmlformats.org/officeDocument/2006/relationships" xmlns:a="http://schemas.openxmlformats.org/drawingml/2006/main" r:embed="R6edcd7d7eeb448ec"/>
          <a:stretch xmlns:a="http://schemas.openxmlformats.org/drawingml/2006/main"/>
        </p:blipFill>
        <p:spPr>
          <a:xfrm xmlns:a="http://schemas.openxmlformats.org/drawingml/2006/main">
            <a:off x="1854168" y="4867275"/>
            <a:ext cx="4197414" cy="12668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217A3B51-8220-4E39-BC17-8E6E3BB85F31}"/>
              </a:ext>
            </a:extLst>
          </p:cNvPr>
          <p:cNvSpPr>
            <a:spLocks xmlns:a="http://schemas.openxmlformats.org/drawingml/2006/main" noGrp="1"/>
          </p:cNvSpPr>
          <p:nvPr/>
        </p:nvSpPr>
        <p:spPr>
          <a:xfrm xmlns:a="http://schemas.openxmlformats.org/drawingml/2006/main">
            <a:off x="7886700" y="1924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55E63"/>
                </a:solidFill>
              </a:defRPr>
            </a:defPPr>
            <a:lvl1pPr algn="l">
              <a:defRPr sz="2100" b="1">
                <a:solidFill>
                  <a:srgbClr val="155E63"/>
                </a:solidFill>
              </a:defRPr>
            </a:lvl1pPr>
            <a:lvl2pPr algn="l">
              <a:defRPr sz="2100" b="1">
                <a:solidFill>
                  <a:srgbClr val="155E63"/>
                </a:solidFill>
              </a:defRPr>
            </a:lvl2pPr>
            <a:lvl3pPr algn="l">
              <a:defRPr sz="2100" b="1">
                <a:solidFill>
                  <a:srgbClr val="155E63"/>
                </a:solidFill>
              </a:defRPr>
            </a:lvl3pPr>
            <a:lvl4pPr algn="l">
              <a:defRPr sz="2100" b="1">
                <a:solidFill>
                  <a:srgbClr val="155E63"/>
                </a:solidFill>
              </a:defRPr>
            </a:lvl4pPr>
            <a:lvl5pPr algn="l">
              <a:defRPr sz="2100" b="1">
                <a:solidFill>
                  <a:srgbClr val="155E63"/>
                </a:solidFill>
              </a:defRPr>
            </a:lvl5pPr>
            <a:lvl6pPr algn="l">
              <a:defRPr sz="2100" b="1">
                <a:solidFill>
                  <a:srgbClr val="155E63"/>
                </a:solidFill>
              </a:defRPr>
            </a:lvl6pPr>
            <a:lvl7pPr algn="l">
              <a:defRPr sz="2100" b="1">
                <a:solidFill>
                  <a:srgbClr val="155E63"/>
                </a:solidFill>
              </a:defRPr>
            </a:lvl7pPr>
            <a:lvl8pPr algn="l">
              <a:defRPr sz="2100" b="1">
                <a:solidFill>
                  <a:srgbClr val="155E63"/>
                </a:solidFill>
              </a:defRPr>
            </a:lvl8pPr>
            <a:lvl9pPr algn="l">
              <a:defRPr sz="2100" b="1">
                <a:solidFill>
                  <a:srgbClr val="155E63"/>
                </a:solidFill>
              </a:defRPr>
            </a:lvl9pPr>
          </a:lstStyle>
          <a:p xmlns:a="http://schemas.openxmlformats.org/drawingml/2006/main">
            <a:pPr algn="l">
              <a:defRPr sz="2100" b="1">
                <a:solidFill>
                  <a:srgbClr val="155E63"/>
                </a:solidFill>
              </a:defRPr>
            </a:pPr>
            <a:r>
              <a:rPr sz="2100" b="1">
                <a:solidFill>
                  <a:srgbClr val="155E63"/>
                </a:solidFill>
              </a:rPr>
              <a:t>0.967</a:t>
            </a:r>
          </a:p>
        </p:txBody>
      </p:sp>
      <p:sp>
        <p:nvSpPr>
          <p:cNvPr id="12" name="">
            <a:extLst xmlns:a="http://schemas.openxmlformats.org/drawingml/2006/main">
              <a:ext uri="{FF2B5EF4-FFF2-40B4-BE49-F238E27FC236}">
                <a16:creationId xmlns:a16="http://schemas.microsoft.com/office/drawing/2014/main" id="{D048BC45-CD7C-4388-8141-7749ED3CF5E6}"/>
              </a:ext>
            </a:extLst>
          </p:cNvPr>
          <p:cNvSpPr>
            <a:spLocks xmlns:a="http://schemas.openxmlformats.org/drawingml/2006/main" noGrp="1"/>
          </p:cNvSpPr>
          <p:nvPr/>
        </p:nvSpPr>
        <p:spPr>
          <a:xfrm xmlns:a="http://schemas.openxmlformats.org/drawingml/2006/main">
            <a:off x="7886700" y="23241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GJR persistence</a:t>
            </a:r>
          </a:p>
        </p:txBody>
      </p:sp>
      <p:sp>
        <p:nvSpPr>
          <p:cNvPr id="13" name="">
            <a:extLst xmlns:a="http://schemas.openxmlformats.org/drawingml/2006/main">
              <a:ext uri="{FF2B5EF4-FFF2-40B4-BE49-F238E27FC236}">
                <a16:creationId xmlns:a16="http://schemas.microsoft.com/office/drawing/2014/main" id="{D3262469-51CA-485D-B18A-CD53B7A8A021}"/>
              </a:ext>
            </a:extLst>
          </p:cNvPr>
          <p:cNvSpPr>
            <a:spLocks xmlns:a="http://schemas.openxmlformats.org/drawingml/2006/main" noGrp="1"/>
          </p:cNvSpPr>
          <p:nvPr/>
        </p:nvSpPr>
        <p:spPr>
          <a:xfrm xmlns:a="http://schemas.openxmlformats.org/drawingml/2006/main">
            <a:off x="7886700" y="28575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11111"/>
                </a:solidFill>
              </a:defRPr>
            </a:defPPr>
            <a:lvl1pPr algn="l">
              <a:defRPr sz="2100" b="1">
                <a:solidFill>
                  <a:srgbClr val="111111"/>
                </a:solidFill>
              </a:defRPr>
            </a:lvl1pPr>
            <a:lvl2pPr algn="l">
              <a:defRPr sz="2100" b="1">
                <a:solidFill>
                  <a:srgbClr val="111111"/>
                </a:solidFill>
              </a:defRPr>
            </a:lvl2pPr>
            <a:lvl3pPr algn="l">
              <a:defRPr sz="2100" b="1">
                <a:solidFill>
                  <a:srgbClr val="111111"/>
                </a:solidFill>
              </a:defRPr>
            </a:lvl3pPr>
            <a:lvl4pPr algn="l">
              <a:defRPr sz="2100" b="1">
                <a:solidFill>
                  <a:srgbClr val="111111"/>
                </a:solidFill>
              </a:defRPr>
            </a:lvl4pPr>
            <a:lvl5pPr algn="l">
              <a:defRPr sz="2100" b="1">
                <a:solidFill>
                  <a:srgbClr val="111111"/>
                </a:solidFill>
              </a:defRPr>
            </a:lvl5pPr>
            <a:lvl6pPr algn="l">
              <a:defRPr sz="2100" b="1">
                <a:solidFill>
                  <a:srgbClr val="111111"/>
                </a:solidFill>
              </a:defRPr>
            </a:lvl6pPr>
            <a:lvl7pPr algn="l">
              <a:defRPr sz="2100" b="1">
                <a:solidFill>
                  <a:srgbClr val="111111"/>
                </a:solidFill>
              </a:defRPr>
            </a:lvl7pPr>
            <a:lvl8pPr algn="l">
              <a:defRPr sz="2100" b="1">
                <a:solidFill>
                  <a:srgbClr val="111111"/>
                </a:solidFill>
              </a:defRPr>
            </a:lvl8pPr>
            <a:lvl9pPr algn="l">
              <a:defRPr sz="2100" b="1">
                <a:solidFill>
                  <a:srgbClr val="111111"/>
                </a:solidFill>
              </a:defRPr>
            </a:lvl9pPr>
          </a:lstStyle>
          <a:p xmlns:a="http://schemas.openxmlformats.org/drawingml/2006/main">
            <a:pPr algn="l">
              <a:defRPr sz="2100" b="1">
                <a:solidFill>
                  <a:srgbClr val="111111"/>
                </a:solidFill>
              </a:defRPr>
            </a:pPr>
            <a:r>
              <a:rPr sz="2100" b="1">
                <a:solidFill>
                  <a:srgbClr val="111111"/>
                </a:solidFill>
              </a:rPr>
              <a:t>20.8 days</a:t>
            </a:r>
          </a:p>
        </p:txBody>
      </p:sp>
      <p:sp>
        <p:nvSpPr>
          <p:cNvPr id="14" name="">
            <a:extLst xmlns:a="http://schemas.openxmlformats.org/drawingml/2006/main">
              <a:ext uri="{FF2B5EF4-FFF2-40B4-BE49-F238E27FC236}">
                <a16:creationId xmlns:a16="http://schemas.microsoft.com/office/drawing/2014/main" id="{12A8750A-1F27-4190-8792-310C9EC3B8FE}"/>
              </a:ext>
            </a:extLst>
          </p:cNvPr>
          <p:cNvSpPr>
            <a:spLocks xmlns:a="http://schemas.openxmlformats.org/drawingml/2006/main" noGrp="1"/>
          </p:cNvSpPr>
          <p:nvPr/>
        </p:nvSpPr>
        <p:spPr>
          <a:xfrm xmlns:a="http://schemas.openxmlformats.org/drawingml/2006/main">
            <a:off x="7886700" y="32575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shock half-life</a:t>
            </a:r>
          </a:p>
        </p:txBody>
      </p:sp>
      <p:sp>
        <p:nvSpPr>
          <p:cNvPr id="15" name="">
            <a:extLst xmlns:a="http://schemas.openxmlformats.org/drawingml/2006/main">
              <a:ext uri="{FF2B5EF4-FFF2-40B4-BE49-F238E27FC236}">
                <a16:creationId xmlns:a16="http://schemas.microsoft.com/office/drawing/2014/main" id="{59B4E8C8-3AB7-4E63-B586-E40B7D338D04}"/>
              </a:ext>
            </a:extLst>
          </p:cNvPr>
          <p:cNvSpPr>
            <a:spLocks xmlns:a="http://schemas.openxmlformats.org/drawingml/2006/main" noGrp="1"/>
          </p:cNvSpPr>
          <p:nvPr/>
        </p:nvSpPr>
        <p:spPr>
          <a:xfrm xmlns:a="http://schemas.openxmlformats.org/drawingml/2006/main">
            <a:off x="7886700" y="37909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B42318"/>
                </a:solidFill>
              </a:defRPr>
            </a:defPPr>
            <a:lvl1pPr algn="l">
              <a:defRPr sz="2100" b="1">
                <a:solidFill>
                  <a:srgbClr val="B42318"/>
                </a:solidFill>
              </a:defRPr>
            </a:lvl1pPr>
            <a:lvl2pPr algn="l">
              <a:defRPr sz="2100" b="1">
                <a:solidFill>
                  <a:srgbClr val="B42318"/>
                </a:solidFill>
              </a:defRPr>
            </a:lvl2pPr>
            <a:lvl3pPr algn="l">
              <a:defRPr sz="2100" b="1">
                <a:solidFill>
                  <a:srgbClr val="B42318"/>
                </a:solidFill>
              </a:defRPr>
            </a:lvl3pPr>
            <a:lvl4pPr algn="l">
              <a:defRPr sz="2100" b="1">
                <a:solidFill>
                  <a:srgbClr val="B42318"/>
                </a:solidFill>
              </a:defRPr>
            </a:lvl4pPr>
            <a:lvl5pPr algn="l">
              <a:defRPr sz="2100" b="1">
                <a:solidFill>
                  <a:srgbClr val="B42318"/>
                </a:solidFill>
              </a:defRPr>
            </a:lvl5pPr>
            <a:lvl6pPr algn="l">
              <a:defRPr sz="2100" b="1">
                <a:solidFill>
                  <a:srgbClr val="B42318"/>
                </a:solidFill>
              </a:defRPr>
            </a:lvl6pPr>
            <a:lvl7pPr algn="l">
              <a:defRPr sz="2100" b="1">
                <a:solidFill>
                  <a:srgbClr val="B42318"/>
                </a:solidFill>
              </a:defRPr>
            </a:lvl7pPr>
            <a:lvl8pPr algn="l">
              <a:defRPr sz="2100" b="1">
                <a:solidFill>
                  <a:srgbClr val="B42318"/>
                </a:solidFill>
              </a:defRPr>
            </a:lvl8pPr>
            <a:lvl9pPr algn="l">
              <a:defRPr sz="2100" b="1">
                <a:solidFill>
                  <a:srgbClr val="B42318"/>
                </a:solidFill>
              </a:defRPr>
            </a:lvl9pPr>
          </a:lstStyle>
          <a:p xmlns:a="http://schemas.openxmlformats.org/drawingml/2006/main">
            <a:pPr algn="l">
              <a:defRPr sz="2100" b="1">
                <a:solidFill>
                  <a:srgbClr val="B42318"/>
                </a:solidFill>
              </a:defRPr>
            </a:pPr>
            <a:r>
              <a:rPr sz="2100" b="1">
                <a:solidFill>
                  <a:srgbClr val="B42318"/>
                </a:solidFill>
              </a:rPr>
              <a:t>0.154</a:t>
            </a:r>
          </a:p>
        </p:txBody>
      </p:sp>
      <p:sp>
        <p:nvSpPr>
          <p:cNvPr id="16" name="">
            <a:extLst xmlns:a="http://schemas.openxmlformats.org/drawingml/2006/main">
              <a:ext uri="{FF2B5EF4-FFF2-40B4-BE49-F238E27FC236}">
                <a16:creationId xmlns:a16="http://schemas.microsoft.com/office/drawing/2014/main" id="{5D746B3D-4804-4DE9-8C9A-8B801B42912A}"/>
              </a:ext>
            </a:extLst>
          </p:cNvPr>
          <p:cNvSpPr>
            <a:spLocks xmlns:a="http://schemas.openxmlformats.org/drawingml/2006/main" noGrp="1"/>
          </p:cNvSpPr>
          <p:nvPr/>
        </p:nvSpPr>
        <p:spPr>
          <a:xfrm xmlns:a="http://schemas.openxmlformats.org/drawingml/2006/main">
            <a:off x="7886700" y="41910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downside leverage parameter</a:t>
            </a:r>
          </a:p>
        </p:txBody>
      </p:sp>
      <p:sp>
        <p:nvSpPr>
          <p:cNvPr id="17" name="">
            <a:extLst xmlns:a="http://schemas.openxmlformats.org/drawingml/2006/main">
              <a:ext uri="{FF2B5EF4-FFF2-40B4-BE49-F238E27FC236}">
                <a16:creationId xmlns:a16="http://schemas.microsoft.com/office/drawing/2014/main" id="{48F5AE00-2DB9-4B4D-940F-390ABCE188F8}"/>
              </a:ext>
            </a:extLst>
          </p:cNvPr>
          <p:cNvSpPr>
            <a:spLocks xmlns:a="http://schemas.openxmlformats.org/drawingml/2006/main" noGrp="1"/>
          </p:cNvSpPr>
          <p:nvPr/>
        </p:nvSpPr>
        <p:spPr>
          <a:xfrm xmlns:a="http://schemas.openxmlformats.org/drawingml/2006/main">
            <a:off x="7886700" y="4972050"/>
            <a:ext cx="38100" cy="4572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18" name="">
            <a:extLst xmlns:a="http://schemas.openxmlformats.org/drawingml/2006/main">
              <a:ext uri="{FF2B5EF4-FFF2-40B4-BE49-F238E27FC236}">
                <a16:creationId xmlns:a16="http://schemas.microsoft.com/office/drawing/2014/main" id="{67A129A2-9EA6-4E20-838F-C7B3CF02C08A}"/>
              </a:ext>
            </a:extLst>
          </p:cNvPr>
          <p:cNvSpPr>
            <a:spLocks xmlns:a="http://schemas.openxmlformats.org/drawingml/2006/main" noGrp="1"/>
          </p:cNvSpPr>
          <p:nvPr/>
        </p:nvSpPr>
        <p:spPr>
          <a:xfrm xmlns:a="http://schemas.openxmlformats.org/drawingml/2006/main">
            <a:off x="8039100" y="4933950"/>
            <a:ext cx="3181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Residual check</a:t>
            </a:r>
          </a:p>
        </p:txBody>
      </p:sp>
      <p:sp>
        <p:nvSpPr>
          <p:cNvPr id="19" name="">
            <a:extLst xmlns:a="http://schemas.openxmlformats.org/drawingml/2006/main">
              <a:ext uri="{FF2B5EF4-FFF2-40B4-BE49-F238E27FC236}">
                <a16:creationId xmlns:a16="http://schemas.microsoft.com/office/drawing/2014/main" id="{15149B95-4B97-4178-B467-E5633723295E}"/>
              </a:ext>
            </a:extLst>
          </p:cNvPr>
          <p:cNvSpPr>
            <a:spLocks xmlns:a="http://schemas.openxmlformats.org/drawingml/2006/main" noGrp="1"/>
          </p:cNvSpPr>
          <p:nvPr/>
        </p:nvSpPr>
        <p:spPr>
          <a:xfrm xmlns:a="http://schemas.openxmlformats.org/drawingml/2006/main">
            <a:off x="8039100" y="5172075"/>
            <a:ext cx="3181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Standardized-residual kurtosis falls from 12.0 to 4.5, but extreme tails remain.</a:t>
            </a:r>
          </a:p>
        </p:txBody>
      </p:sp>
      <p:sp>
        <p:nvSpPr>
          <p:cNvPr id="20" name="">
            <a:extLst xmlns:a="http://schemas.openxmlformats.org/drawingml/2006/main">
              <a:ext uri="{FF2B5EF4-FFF2-40B4-BE49-F238E27FC236}">
                <a16:creationId xmlns:a16="http://schemas.microsoft.com/office/drawing/2014/main" id="{0554A3EA-EB5C-4532-BD83-3F085694CA0C}"/>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21" name="">
            <a:extLst xmlns:a="http://schemas.openxmlformats.org/drawingml/2006/main">
              <a:ext uri="{FF2B5EF4-FFF2-40B4-BE49-F238E27FC236}">
                <a16:creationId xmlns:a16="http://schemas.microsoft.com/office/drawing/2014/main" id="{530183D0-FE34-43F2-B063-2EF5E6904173}"/>
              </a:ext>
            </a:extLst>
          </p:cNvPr>
          <p:cNvSpPr>
            <a:spLocks xmlns:a="http://schemas.openxmlformats.org/drawingml/2006/main" noGrp="1"/>
          </p:cNvSpPr>
          <p:nvPr/>
        </p:nvSpPr>
        <p:spPr>
          <a:xfrm xmlns:a="http://schemas.openxmlformats.org/drawingml/2006/main">
            <a:off x="51435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0">
                <a:solidFill>
                  <a:srgbClr val="707070"/>
                </a:solidFill>
              </a:defRPr>
            </a:defPPr>
            <a:lvl1pPr algn="l">
              <a:defRPr sz="600" b="0">
                <a:solidFill>
                  <a:srgbClr val="707070"/>
                </a:solidFill>
              </a:defRPr>
            </a:lvl1pPr>
            <a:lvl2pPr algn="l">
              <a:defRPr sz="600" b="0">
                <a:solidFill>
                  <a:srgbClr val="707070"/>
                </a:solidFill>
              </a:defRPr>
            </a:lvl2pPr>
            <a:lvl3pPr algn="l">
              <a:defRPr sz="600" b="0">
                <a:solidFill>
                  <a:srgbClr val="707070"/>
                </a:solidFill>
              </a:defRPr>
            </a:lvl3pPr>
            <a:lvl4pPr algn="l">
              <a:defRPr sz="600" b="0">
                <a:solidFill>
                  <a:srgbClr val="707070"/>
                </a:solidFill>
              </a:defRPr>
            </a:lvl4pPr>
            <a:lvl5pPr algn="l">
              <a:defRPr sz="600" b="0">
                <a:solidFill>
                  <a:srgbClr val="707070"/>
                </a:solidFill>
              </a:defRPr>
            </a:lvl5pPr>
            <a:lvl6pPr algn="l">
              <a:defRPr sz="600" b="0">
                <a:solidFill>
                  <a:srgbClr val="707070"/>
                </a:solidFill>
              </a:defRPr>
            </a:lvl6pPr>
            <a:lvl7pPr algn="l">
              <a:defRPr sz="600" b="0">
                <a:solidFill>
                  <a:srgbClr val="707070"/>
                </a:solidFill>
              </a:defRPr>
            </a:lvl7pPr>
            <a:lvl8pPr algn="l">
              <a:defRPr sz="600" b="0">
                <a:solidFill>
                  <a:srgbClr val="707070"/>
                </a:solidFill>
              </a:defRPr>
            </a:lvl8pPr>
            <a:lvl9pPr algn="l">
              <a:defRPr sz="600" b="0">
                <a:solidFill>
                  <a:srgbClr val="707070"/>
                </a:solidFill>
              </a:defRPr>
            </a:lvl9pPr>
          </a:lstStyle>
          <a:p xmlns:a="http://schemas.openxmlformats.org/drawingml/2006/main">
            <a:pPr algn="l">
              <a:defRPr sz="600" b="0">
                <a:solidFill>
                  <a:srgbClr val="707070"/>
                </a:solidFill>
              </a:defRPr>
            </a:pPr>
            <a:r>
              <a:rPr sz="600" b="0">
                <a:solidFill>
                  <a:srgbClr val="707070"/>
                </a:solidFill>
              </a:rPr>
              <a:t>QFI risk engine  |  saved data through 23 October 2026</a:t>
            </a:r>
          </a:p>
        </p:txBody>
      </p:sp>
      <p:sp>
        <p:nvSpPr>
          <p:cNvPr id="22" name="">
            <a:extLst xmlns:a="http://schemas.openxmlformats.org/drawingml/2006/main">
              <a:ext uri="{FF2B5EF4-FFF2-40B4-BE49-F238E27FC236}">
                <a16:creationId xmlns:a16="http://schemas.microsoft.com/office/drawing/2014/main" id="{B0A63674-E5E9-4FA5-AA4D-63B8C1C39B00}"/>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111111"/>
                </a:solidFill>
              </a:defRPr>
            </a:defPPr>
            <a:lvl1pPr algn="r">
              <a:defRPr sz="675" b="1">
                <a:solidFill>
                  <a:srgbClr val="111111"/>
                </a:solidFill>
              </a:defRPr>
            </a:lvl1pPr>
            <a:lvl2pPr algn="r">
              <a:defRPr sz="675" b="1">
                <a:solidFill>
                  <a:srgbClr val="111111"/>
                </a:solidFill>
              </a:defRPr>
            </a:lvl2pPr>
            <a:lvl3pPr algn="r">
              <a:defRPr sz="675" b="1">
                <a:solidFill>
                  <a:srgbClr val="111111"/>
                </a:solidFill>
              </a:defRPr>
            </a:lvl3pPr>
            <a:lvl4pPr algn="r">
              <a:defRPr sz="675" b="1">
                <a:solidFill>
                  <a:srgbClr val="111111"/>
                </a:solidFill>
              </a:defRPr>
            </a:lvl4pPr>
            <a:lvl5pPr algn="r">
              <a:defRPr sz="675" b="1">
                <a:solidFill>
                  <a:srgbClr val="111111"/>
                </a:solidFill>
              </a:defRPr>
            </a:lvl5pPr>
            <a:lvl6pPr algn="r">
              <a:defRPr sz="675" b="1">
                <a:solidFill>
                  <a:srgbClr val="111111"/>
                </a:solidFill>
              </a:defRPr>
            </a:lvl6pPr>
            <a:lvl7pPr algn="r">
              <a:defRPr sz="675" b="1">
                <a:solidFill>
                  <a:srgbClr val="111111"/>
                </a:solidFill>
              </a:defRPr>
            </a:lvl7pPr>
            <a:lvl8pPr algn="r">
              <a:defRPr sz="675" b="1">
                <a:solidFill>
                  <a:srgbClr val="111111"/>
                </a:solidFill>
              </a:defRPr>
            </a:lvl8pPr>
            <a:lvl9pPr algn="r">
              <a:defRPr sz="675" b="1">
                <a:solidFill>
                  <a:srgbClr val="111111"/>
                </a:solidFill>
              </a:defRPr>
            </a:lvl9pPr>
          </a:lstStyle>
          <a:p xmlns:a="http://schemas.openxmlformats.org/drawingml/2006/main">
            <a:pPr algn="r">
              <a:defRPr sz="675" b="1">
                <a:solidFill>
                  <a:srgbClr val="111111"/>
                </a:solidFill>
              </a:defRPr>
            </a:pPr>
            <a:r>
              <a:rPr sz="675" b="1">
                <a:solidFill>
                  <a:srgbClr val="111111"/>
                </a:solidFill>
              </a:rPr>
              <a:t>15</a:t>
            </a:r>
          </a:p>
        </p:txBody>
      </p:sp>
    </p:spTree>
    <p:extLst>
      <p:ext uri="{BB962C8B-B14F-4D97-AF65-F5344CB8AC3E}">
        <p14:creationId xmlns:p14="http://schemas.microsoft.com/office/powerpoint/2010/main" val="112964293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4B85CB0-EEE7-4736-9C96-8F17201E0981}"/>
              </a:ext>
            </a:extLst>
          </p:cNvPr>
          <p:cNvSpPr>
            <a:spLocks xmlns:a="http://schemas.openxmlformats.org/drawingml/2006/main" noGrp="1"/>
          </p:cNvSpPr>
          <p:nvPr/>
        </p:nvSpPr>
        <p:spPr>
          <a:xfrm xmlns:a="http://schemas.openxmlformats.org/drawingml/2006/main">
            <a:off x="514350" y="266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VALIDATION</a:t>
            </a:r>
          </a:p>
        </p:txBody>
      </p:sp>
      <p:sp>
        <p:nvSpPr>
          <p:cNvPr id="2" name="">
            <a:extLst xmlns:a="http://schemas.openxmlformats.org/drawingml/2006/main">
              <a:ext uri="{FF2B5EF4-FFF2-40B4-BE49-F238E27FC236}">
                <a16:creationId xmlns:a16="http://schemas.microsoft.com/office/drawing/2014/main" id="{97C8D14B-93F6-4948-867C-7EFD33A938D9}"/>
              </a:ext>
            </a:extLst>
          </p:cNvPr>
          <p:cNvSpPr>
            <a:spLocks xmlns:a="http://schemas.openxmlformats.org/drawingml/2006/main" noGrp="1"/>
          </p:cNvSpPr>
          <p:nvPr/>
        </p:nvSpPr>
        <p:spPr>
          <a:xfrm xmlns:a="http://schemas.openxmlformats.org/drawingml/2006/main">
            <a:off x="514350" y="6096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11111"/>
                </a:solidFill>
              </a:defRPr>
            </a:defPPr>
            <a:lvl1pPr algn="l">
              <a:defRPr sz="2550" b="1">
                <a:solidFill>
                  <a:srgbClr val="111111"/>
                </a:solidFill>
              </a:defRPr>
            </a:lvl1pPr>
            <a:lvl2pPr algn="l">
              <a:defRPr sz="2550" b="1">
                <a:solidFill>
                  <a:srgbClr val="111111"/>
                </a:solidFill>
              </a:defRPr>
            </a:lvl2pPr>
            <a:lvl3pPr algn="l">
              <a:defRPr sz="2550" b="1">
                <a:solidFill>
                  <a:srgbClr val="111111"/>
                </a:solidFill>
              </a:defRPr>
            </a:lvl3pPr>
            <a:lvl4pPr algn="l">
              <a:defRPr sz="2550" b="1">
                <a:solidFill>
                  <a:srgbClr val="111111"/>
                </a:solidFill>
              </a:defRPr>
            </a:lvl4pPr>
            <a:lvl5pPr algn="l">
              <a:defRPr sz="2550" b="1">
                <a:solidFill>
                  <a:srgbClr val="111111"/>
                </a:solidFill>
              </a:defRPr>
            </a:lvl5pPr>
            <a:lvl6pPr algn="l">
              <a:defRPr sz="2550" b="1">
                <a:solidFill>
                  <a:srgbClr val="111111"/>
                </a:solidFill>
              </a:defRPr>
            </a:lvl6pPr>
            <a:lvl7pPr algn="l">
              <a:defRPr sz="2550" b="1">
                <a:solidFill>
                  <a:srgbClr val="111111"/>
                </a:solidFill>
              </a:defRPr>
            </a:lvl7pPr>
            <a:lvl8pPr algn="l">
              <a:defRPr sz="2550" b="1">
                <a:solidFill>
                  <a:srgbClr val="111111"/>
                </a:solidFill>
              </a:defRPr>
            </a:lvl8pPr>
            <a:lvl9pPr algn="l">
              <a:defRPr sz="2550" b="1">
                <a:solidFill>
                  <a:srgbClr val="111111"/>
                </a:solidFill>
              </a:defRPr>
            </a:lvl9pPr>
          </a:lstStyle>
          <a:p xmlns:a="http://schemas.openxmlformats.org/drawingml/2006/main">
            <a:pPr algn="l">
              <a:defRPr sz="2550" b="1">
                <a:solidFill>
                  <a:srgbClr val="111111"/>
                </a:solidFill>
              </a:defRPr>
            </a:pPr>
            <a:r>
              <a:rPr sz="2550" b="1">
                <a:solidFill>
                  <a:srgbClr val="111111"/>
                </a:solidFill>
              </a:rPr>
              <a:t>GJR-HS is the only model that passes all 99% backtests</a:t>
            </a:r>
          </a:p>
        </p:txBody>
      </p:sp>
      <p:sp>
        <p:nvSpPr>
          <p:cNvPr id="3" name="">
            <a:extLst xmlns:a="http://schemas.openxmlformats.org/drawingml/2006/main">
              <a:ext uri="{FF2B5EF4-FFF2-40B4-BE49-F238E27FC236}">
                <a16:creationId xmlns:a16="http://schemas.microsoft.com/office/drawing/2014/main" id="{38ADE808-9002-4D83-AC08-44282EB03C06}"/>
              </a:ext>
            </a:extLst>
          </p:cNvPr>
          <p:cNvSpPr>
            <a:spLocks xmlns:a="http://schemas.openxmlformats.org/drawingml/2006/main" noGrp="1"/>
          </p:cNvSpPr>
          <p:nvPr/>
        </p:nvSpPr>
        <p:spPr>
          <a:xfrm xmlns:a="http://schemas.openxmlformats.org/drawingml/2006/main">
            <a:off x="514350" y="11430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A reasonable exception count is not enough when losses still arrive in clusters</a:t>
            </a:r>
          </a:p>
        </p:txBody>
      </p:sp>
      <p:sp>
        <p:nvSpPr>
          <p:cNvPr id="4" name="">
            <a:extLst xmlns:a="http://schemas.openxmlformats.org/drawingml/2006/main">
              <a:ext uri="{FF2B5EF4-FFF2-40B4-BE49-F238E27FC236}">
                <a16:creationId xmlns:a16="http://schemas.microsoft.com/office/drawing/2014/main" id="{C6934C00-4802-415F-B1E9-79B99B9A971D}"/>
              </a:ext>
            </a:extLst>
          </p:cNvPr>
          <p:cNvSpPr>
            <a:spLocks xmlns:a="http://schemas.openxmlformats.org/drawingml/2006/main" noGrp="1"/>
          </p:cNvSpPr>
          <p:nvPr/>
        </p:nvSpPr>
        <p:spPr>
          <a:xfrm xmlns:a="http://schemas.openxmlformats.org/drawingml/2006/main">
            <a:off x="514350" y="1495425"/>
            <a:ext cx="111633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EC289357-5A6F-4C70-8ED1-4DD179FD32FF}"/>
              </a:ext>
            </a:extLst>
          </p:cNvPr>
          <p:cNvSpPr>
            <a:spLocks xmlns:a="http://schemas.openxmlformats.org/drawingml/2006/main" noGrp="1"/>
          </p:cNvSpPr>
          <p:nvPr/>
        </p:nvSpPr>
        <p:spPr>
          <a:xfrm xmlns:a="http://schemas.openxmlformats.org/drawingml/2006/main">
            <a:off x="504825" y="1724025"/>
            <a:ext cx="7067550" cy="297180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6" name="">
            <a:extLst xmlns:a="http://schemas.openxmlformats.org/drawingml/2006/main">
              <a:ext uri="{FF2B5EF4-FFF2-40B4-BE49-F238E27FC236}">
                <a16:creationId xmlns:a16="http://schemas.microsoft.com/office/drawing/2014/main" id="{432B9925-9B74-4841-88DA-241123200904}"/>
              </a:ext>
            </a:extLst>
          </p:cNvPr>
          <p:cNvSpPr>
            <a:spLocks xmlns:a="http://schemas.openxmlformats.org/drawingml/2006/main" noGrp="1"/>
          </p:cNvSpPr>
          <p:nvPr/>
        </p:nvSpPr>
        <p:spPr>
          <a:xfrm xmlns:a="http://schemas.openxmlformats.org/drawingml/2006/main">
            <a:off x="628650" y="1800225"/>
            <a:ext cx="6819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Actual daily P&amp;L vs GJR-HS VaR</a:t>
            </a:r>
          </a:p>
        </p:txBody>
      </p:sp>
      <p:pic>
        <p:nvPicPr>
          <p:cNvPr id="7" name="">
            <a:extLst xmlns:a="http://schemas.openxmlformats.org/drawingml/2006/main">
              <a:ext uri="{FF2B5EF4-FFF2-40B4-BE49-F238E27FC236}">
                <a16:creationId xmlns:a16="http://schemas.microsoft.com/office/drawing/2014/main" id="{A3C52191-40F6-4150-9A14-28A640DE507F}"/>
              </a:ext>
            </a:extLst>
          </p:cNvPr>
          <p:cNvPicPr>
            <a:picLocks xmlns:a="http://schemas.openxmlformats.org/drawingml/2006/main" noChangeAspect="1"/>
          </p:cNvPicPr>
          <p:nvPr/>
        </p:nvPicPr>
        <p:blipFill>
          <a:blip xmlns:r="http://schemas.openxmlformats.org/officeDocument/2006/relationships" xmlns:a="http://schemas.openxmlformats.org/drawingml/2006/main" r:embed="R528f822a72024492"/>
          <a:stretch xmlns:a="http://schemas.openxmlformats.org/drawingml/2006/main"/>
        </p:blipFill>
        <p:spPr>
          <a:xfrm xmlns:a="http://schemas.openxmlformats.org/drawingml/2006/main">
            <a:off x="562902" y="2009775"/>
            <a:ext cx="6951395" cy="26574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F86337F-74CA-4AEB-869F-076A30214478}"/>
              </a:ext>
            </a:extLst>
          </p:cNvPr>
          <p:cNvSpPr>
            <a:spLocks xmlns:a="http://schemas.openxmlformats.org/drawingml/2006/main" noGrp="1"/>
          </p:cNvSpPr>
          <p:nvPr/>
        </p:nvSpPr>
        <p:spPr>
          <a:xfrm xmlns:a="http://schemas.openxmlformats.org/drawingml/2006/main">
            <a:off x="8020050" y="1905000"/>
            <a:ext cx="3105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B6B50"/>
                </a:solidFill>
              </a:defRPr>
            </a:defPPr>
            <a:lvl1pPr algn="l">
              <a:defRPr sz="2100" b="1">
                <a:solidFill>
                  <a:srgbClr val="1B6B50"/>
                </a:solidFill>
              </a:defRPr>
            </a:lvl1pPr>
            <a:lvl2pPr algn="l">
              <a:defRPr sz="2100" b="1">
                <a:solidFill>
                  <a:srgbClr val="1B6B50"/>
                </a:solidFill>
              </a:defRPr>
            </a:lvl2pPr>
            <a:lvl3pPr algn="l">
              <a:defRPr sz="2100" b="1">
                <a:solidFill>
                  <a:srgbClr val="1B6B50"/>
                </a:solidFill>
              </a:defRPr>
            </a:lvl3pPr>
            <a:lvl4pPr algn="l">
              <a:defRPr sz="2100" b="1">
                <a:solidFill>
                  <a:srgbClr val="1B6B50"/>
                </a:solidFill>
              </a:defRPr>
            </a:lvl4pPr>
            <a:lvl5pPr algn="l">
              <a:defRPr sz="2100" b="1">
                <a:solidFill>
                  <a:srgbClr val="1B6B50"/>
                </a:solidFill>
              </a:defRPr>
            </a:lvl5pPr>
            <a:lvl6pPr algn="l">
              <a:defRPr sz="2100" b="1">
                <a:solidFill>
                  <a:srgbClr val="1B6B50"/>
                </a:solidFill>
              </a:defRPr>
            </a:lvl6pPr>
            <a:lvl7pPr algn="l">
              <a:defRPr sz="2100" b="1">
                <a:solidFill>
                  <a:srgbClr val="1B6B50"/>
                </a:solidFill>
              </a:defRPr>
            </a:lvl7pPr>
            <a:lvl8pPr algn="l">
              <a:defRPr sz="2100" b="1">
                <a:solidFill>
                  <a:srgbClr val="1B6B50"/>
                </a:solidFill>
              </a:defRPr>
            </a:lvl8pPr>
            <a:lvl9pPr algn="l">
              <a:defRPr sz="2100" b="1">
                <a:solidFill>
                  <a:srgbClr val="1B6B50"/>
                </a:solidFill>
              </a:defRPr>
            </a:lvl9pPr>
          </a:lstStyle>
          <a:p xmlns:a="http://schemas.openxmlformats.org/drawingml/2006/main">
            <a:pPr algn="l">
              <a:defRPr sz="2100" b="1">
                <a:solidFill>
                  <a:srgbClr val="1B6B50"/>
                </a:solidFill>
              </a:defRPr>
            </a:pPr>
            <a:r>
              <a:rPr sz="2100" b="1">
                <a:solidFill>
                  <a:srgbClr val="1B6B50"/>
                </a:solidFill>
              </a:rPr>
              <a:t>0.618</a:t>
            </a:r>
          </a:p>
        </p:txBody>
      </p:sp>
      <p:sp>
        <p:nvSpPr>
          <p:cNvPr id="9" name="">
            <a:extLst xmlns:a="http://schemas.openxmlformats.org/drawingml/2006/main">
              <a:ext uri="{FF2B5EF4-FFF2-40B4-BE49-F238E27FC236}">
                <a16:creationId xmlns:a16="http://schemas.microsoft.com/office/drawing/2014/main" id="{D7A3F9A9-A607-4279-BED4-FE6B4BA39912}"/>
              </a:ext>
            </a:extLst>
          </p:cNvPr>
          <p:cNvSpPr>
            <a:spLocks xmlns:a="http://schemas.openxmlformats.org/drawingml/2006/main" noGrp="1"/>
          </p:cNvSpPr>
          <p:nvPr/>
        </p:nvSpPr>
        <p:spPr>
          <a:xfrm xmlns:a="http://schemas.openxmlformats.org/drawingml/2006/main">
            <a:off x="8020050" y="2305050"/>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Kupiec p-value</a:t>
            </a:r>
          </a:p>
        </p:txBody>
      </p:sp>
      <p:sp>
        <p:nvSpPr>
          <p:cNvPr id="10" name="">
            <a:extLst xmlns:a="http://schemas.openxmlformats.org/drawingml/2006/main">
              <a:ext uri="{FF2B5EF4-FFF2-40B4-BE49-F238E27FC236}">
                <a16:creationId xmlns:a16="http://schemas.microsoft.com/office/drawing/2014/main" id="{AAAA5C34-0B33-4C82-A362-AA6A9C65AC2D}"/>
              </a:ext>
            </a:extLst>
          </p:cNvPr>
          <p:cNvSpPr>
            <a:spLocks xmlns:a="http://schemas.openxmlformats.org/drawingml/2006/main" noGrp="1"/>
          </p:cNvSpPr>
          <p:nvPr/>
        </p:nvSpPr>
        <p:spPr>
          <a:xfrm xmlns:a="http://schemas.openxmlformats.org/drawingml/2006/main">
            <a:off x="8020050" y="2800350"/>
            <a:ext cx="3105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B6B50"/>
                </a:solidFill>
              </a:defRPr>
            </a:defPPr>
            <a:lvl1pPr algn="l">
              <a:defRPr sz="2100" b="1">
                <a:solidFill>
                  <a:srgbClr val="1B6B50"/>
                </a:solidFill>
              </a:defRPr>
            </a:lvl1pPr>
            <a:lvl2pPr algn="l">
              <a:defRPr sz="2100" b="1">
                <a:solidFill>
                  <a:srgbClr val="1B6B50"/>
                </a:solidFill>
              </a:defRPr>
            </a:lvl2pPr>
            <a:lvl3pPr algn="l">
              <a:defRPr sz="2100" b="1">
                <a:solidFill>
                  <a:srgbClr val="1B6B50"/>
                </a:solidFill>
              </a:defRPr>
            </a:lvl3pPr>
            <a:lvl4pPr algn="l">
              <a:defRPr sz="2100" b="1">
                <a:solidFill>
                  <a:srgbClr val="1B6B50"/>
                </a:solidFill>
              </a:defRPr>
            </a:lvl4pPr>
            <a:lvl5pPr algn="l">
              <a:defRPr sz="2100" b="1">
                <a:solidFill>
                  <a:srgbClr val="1B6B50"/>
                </a:solidFill>
              </a:defRPr>
            </a:lvl5pPr>
            <a:lvl6pPr algn="l">
              <a:defRPr sz="2100" b="1">
                <a:solidFill>
                  <a:srgbClr val="1B6B50"/>
                </a:solidFill>
              </a:defRPr>
            </a:lvl6pPr>
            <a:lvl7pPr algn="l">
              <a:defRPr sz="2100" b="1">
                <a:solidFill>
                  <a:srgbClr val="1B6B50"/>
                </a:solidFill>
              </a:defRPr>
            </a:lvl7pPr>
            <a:lvl8pPr algn="l">
              <a:defRPr sz="2100" b="1">
                <a:solidFill>
                  <a:srgbClr val="1B6B50"/>
                </a:solidFill>
              </a:defRPr>
            </a:lvl8pPr>
            <a:lvl9pPr algn="l">
              <a:defRPr sz="2100" b="1">
                <a:solidFill>
                  <a:srgbClr val="1B6B50"/>
                </a:solidFill>
              </a:defRPr>
            </a:lvl9pPr>
          </a:lstStyle>
          <a:p xmlns:a="http://schemas.openxmlformats.org/drawingml/2006/main">
            <a:pPr algn="l">
              <a:defRPr sz="2100" b="1">
                <a:solidFill>
                  <a:srgbClr val="1B6B50"/>
                </a:solidFill>
              </a:defRPr>
            </a:pPr>
            <a:r>
              <a:rPr sz="2100" b="1">
                <a:solidFill>
                  <a:srgbClr val="1B6B50"/>
                </a:solidFill>
              </a:rPr>
              <a:t>0.056</a:t>
            </a:r>
          </a:p>
        </p:txBody>
      </p:sp>
      <p:sp>
        <p:nvSpPr>
          <p:cNvPr id="11" name="">
            <a:extLst xmlns:a="http://schemas.openxmlformats.org/drawingml/2006/main">
              <a:ext uri="{FF2B5EF4-FFF2-40B4-BE49-F238E27FC236}">
                <a16:creationId xmlns:a16="http://schemas.microsoft.com/office/drawing/2014/main" id="{27F0BFBA-33C1-482D-AD3A-49582CBECFCD}"/>
              </a:ext>
            </a:extLst>
          </p:cNvPr>
          <p:cNvSpPr>
            <a:spLocks xmlns:a="http://schemas.openxmlformats.org/drawingml/2006/main" noGrp="1"/>
          </p:cNvSpPr>
          <p:nvPr/>
        </p:nvSpPr>
        <p:spPr>
          <a:xfrm xmlns:a="http://schemas.openxmlformats.org/drawingml/2006/main">
            <a:off x="8020050" y="3200400"/>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Independence p-value</a:t>
            </a:r>
          </a:p>
        </p:txBody>
      </p:sp>
      <p:sp>
        <p:nvSpPr>
          <p:cNvPr id="12" name="">
            <a:extLst xmlns:a="http://schemas.openxmlformats.org/drawingml/2006/main">
              <a:ext uri="{FF2B5EF4-FFF2-40B4-BE49-F238E27FC236}">
                <a16:creationId xmlns:a16="http://schemas.microsoft.com/office/drawing/2014/main" id="{5CA93C5C-476E-4F14-A651-85A82332DE81}"/>
              </a:ext>
            </a:extLst>
          </p:cNvPr>
          <p:cNvSpPr>
            <a:spLocks xmlns:a="http://schemas.openxmlformats.org/drawingml/2006/main" noGrp="1"/>
          </p:cNvSpPr>
          <p:nvPr/>
        </p:nvSpPr>
        <p:spPr>
          <a:xfrm xmlns:a="http://schemas.openxmlformats.org/drawingml/2006/main">
            <a:off x="8020050" y="3695700"/>
            <a:ext cx="3105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B6B50"/>
                </a:solidFill>
              </a:defRPr>
            </a:defPPr>
            <a:lvl1pPr algn="l">
              <a:defRPr sz="2100" b="1">
                <a:solidFill>
                  <a:srgbClr val="1B6B50"/>
                </a:solidFill>
              </a:defRPr>
            </a:lvl1pPr>
            <a:lvl2pPr algn="l">
              <a:defRPr sz="2100" b="1">
                <a:solidFill>
                  <a:srgbClr val="1B6B50"/>
                </a:solidFill>
              </a:defRPr>
            </a:lvl2pPr>
            <a:lvl3pPr algn="l">
              <a:defRPr sz="2100" b="1">
                <a:solidFill>
                  <a:srgbClr val="1B6B50"/>
                </a:solidFill>
              </a:defRPr>
            </a:lvl3pPr>
            <a:lvl4pPr algn="l">
              <a:defRPr sz="2100" b="1">
                <a:solidFill>
                  <a:srgbClr val="1B6B50"/>
                </a:solidFill>
              </a:defRPr>
            </a:lvl4pPr>
            <a:lvl5pPr algn="l">
              <a:defRPr sz="2100" b="1">
                <a:solidFill>
                  <a:srgbClr val="1B6B50"/>
                </a:solidFill>
              </a:defRPr>
            </a:lvl5pPr>
            <a:lvl6pPr algn="l">
              <a:defRPr sz="2100" b="1">
                <a:solidFill>
                  <a:srgbClr val="1B6B50"/>
                </a:solidFill>
              </a:defRPr>
            </a:lvl6pPr>
            <a:lvl7pPr algn="l">
              <a:defRPr sz="2100" b="1">
                <a:solidFill>
                  <a:srgbClr val="1B6B50"/>
                </a:solidFill>
              </a:defRPr>
            </a:lvl7pPr>
            <a:lvl8pPr algn="l">
              <a:defRPr sz="2100" b="1">
                <a:solidFill>
                  <a:srgbClr val="1B6B50"/>
                </a:solidFill>
              </a:defRPr>
            </a:lvl8pPr>
            <a:lvl9pPr algn="l">
              <a:defRPr sz="2100" b="1">
                <a:solidFill>
                  <a:srgbClr val="1B6B50"/>
                </a:solidFill>
              </a:defRPr>
            </a:lvl9pPr>
          </a:lstStyle>
          <a:p xmlns:a="http://schemas.openxmlformats.org/drawingml/2006/main">
            <a:pPr algn="l">
              <a:defRPr sz="2100" b="1">
                <a:solidFill>
                  <a:srgbClr val="1B6B50"/>
                </a:solidFill>
              </a:defRPr>
            </a:pPr>
            <a:r>
              <a:rPr sz="2100" b="1">
                <a:solidFill>
                  <a:srgbClr val="1B6B50"/>
                </a:solidFill>
              </a:rPr>
              <a:t>0.143</a:t>
            </a:r>
          </a:p>
        </p:txBody>
      </p:sp>
      <p:sp>
        <p:nvSpPr>
          <p:cNvPr id="13" name="">
            <a:extLst xmlns:a="http://schemas.openxmlformats.org/drawingml/2006/main">
              <a:ext uri="{FF2B5EF4-FFF2-40B4-BE49-F238E27FC236}">
                <a16:creationId xmlns:a16="http://schemas.microsoft.com/office/drawing/2014/main" id="{F5AF08DF-E8DF-4F49-9D66-22EAB84907AA}"/>
              </a:ext>
            </a:extLst>
          </p:cNvPr>
          <p:cNvSpPr>
            <a:spLocks xmlns:a="http://schemas.openxmlformats.org/drawingml/2006/main" noGrp="1"/>
          </p:cNvSpPr>
          <p:nvPr/>
        </p:nvSpPr>
        <p:spPr>
          <a:xfrm xmlns:a="http://schemas.openxmlformats.org/drawingml/2006/main">
            <a:off x="8020050" y="4095750"/>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Conditional p-value</a:t>
            </a:r>
          </a:p>
        </p:txBody>
      </p:sp>
      <p:sp>
        <p:nvSpPr>
          <p:cNvPr id="14" name="">
            <a:extLst xmlns:a="http://schemas.openxmlformats.org/drawingml/2006/main">
              <a:ext uri="{FF2B5EF4-FFF2-40B4-BE49-F238E27FC236}">
                <a16:creationId xmlns:a16="http://schemas.microsoft.com/office/drawing/2014/main" id="{9B492937-A0C6-4023-8C79-D50E0372F19E}"/>
              </a:ext>
            </a:extLst>
          </p:cNvPr>
          <p:cNvSpPr>
            <a:spLocks xmlns:a="http://schemas.openxmlformats.org/drawingml/2006/main" noGrp="1"/>
          </p:cNvSpPr>
          <p:nvPr/>
        </p:nvSpPr>
        <p:spPr>
          <a:xfrm xmlns:a="http://schemas.openxmlformats.org/drawingml/2006/main">
            <a:off x="514350" y="5048250"/>
            <a:ext cx="10610850" cy="476250"/>
          </a:xfrm>
          <a:prstGeom xmlns:a="http://schemas.openxmlformats.org/drawingml/2006/main" prst="rect">
            <a:avLst/>
          </a:prstGeom>
          <a:solidFill xmlns:a="http://schemas.openxmlformats.org/drawingml/2006/main">
            <a:srgbClr val="DDE8E7"/>
          </a:solidFill>
          <a:ln xmlns:a="http://schemas.openxmlformats.org/drawingml/2006/main" w="0">
            <a:solidFill>
              <a:srgbClr val="DDE8E7"/>
            </a:solidFill>
            <a:prstDash val="solid"/>
          </a:ln>
        </p:spPr>
      </p:sp>
      <p:sp>
        <p:nvSpPr>
          <p:cNvPr id="15" name="">
            <a:extLst xmlns:a="http://schemas.openxmlformats.org/drawingml/2006/main">
              <a:ext uri="{FF2B5EF4-FFF2-40B4-BE49-F238E27FC236}">
                <a16:creationId xmlns:a16="http://schemas.microsoft.com/office/drawing/2014/main" id="{8C89B179-83B8-4F89-B104-CE8C0A649435}"/>
              </a:ext>
            </a:extLst>
          </p:cNvPr>
          <p:cNvSpPr>
            <a:spLocks xmlns:a="http://schemas.openxmlformats.org/drawingml/2006/main" noGrp="1"/>
          </p:cNvSpPr>
          <p:nvPr/>
        </p:nvSpPr>
        <p:spPr>
          <a:xfrm xmlns:a="http://schemas.openxmlformats.org/drawingml/2006/main">
            <a:off x="514350" y="5048250"/>
            <a:ext cx="47625" cy="476250"/>
          </a:xfrm>
          <a:prstGeom xmlns:a="http://schemas.openxmlformats.org/drawingml/2006/main" prst="rect">
            <a:avLst/>
          </a:prstGeom>
          <a:solidFill xmlns:a="http://schemas.openxmlformats.org/drawingml/2006/main">
            <a:srgbClr val="1B6B50"/>
          </a:solidFill>
          <a:ln xmlns:a="http://schemas.openxmlformats.org/drawingml/2006/main" w="0">
            <a:solidFill>
              <a:srgbClr val="1B6B50"/>
            </a:solidFill>
            <a:prstDash val="solid"/>
          </a:ln>
        </p:spPr>
      </p:sp>
      <p:sp>
        <p:nvSpPr>
          <p:cNvPr id="16" name="">
            <a:extLst xmlns:a="http://schemas.openxmlformats.org/drawingml/2006/main">
              <a:ext uri="{FF2B5EF4-FFF2-40B4-BE49-F238E27FC236}">
                <a16:creationId xmlns:a16="http://schemas.microsoft.com/office/drawing/2014/main" id="{4EC14B84-575A-49BB-A81D-88D02603E22C}"/>
              </a:ext>
            </a:extLst>
          </p:cNvPr>
          <p:cNvSpPr>
            <a:spLocks xmlns:a="http://schemas.openxmlformats.org/drawingml/2006/main" noGrp="1"/>
          </p:cNvSpPr>
          <p:nvPr/>
        </p:nvSpPr>
        <p:spPr>
          <a:xfrm xmlns:a="http://schemas.openxmlformats.org/drawingml/2006/main">
            <a:off x="685800" y="5095875"/>
            <a:ext cx="10325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353535"/>
                </a:solidFill>
              </a:defRPr>
            </a:defPPr>
            <a:lvl1pPr algn="l">
              <a:defRPr sz="1050" b="1">
                <a:solidFill>
                  <a:srgbClr val="353535"/>
                </a:solidFill>
              </a:defRPr>
            </a:lvl1pPr>
            <a:lvl2pPr algn="l">
              <a:defRPr sz="1050" b="1">
                <a:solidFill>
                  <a:srgbClr val="353535"/>
                </a:solidFill>
              </a:defRPr>
            </a:lvl2pPr>
            <a:lvl3pPr algn="l">
              <a:defRPr sz="1050" b="1">
                <a:solidFill>
                  <a:srgbClr val="353535"/>
                </a:solidFill>
              </a:defRPr>
            </a:lvl3pPr>
            <a:lvl4pPr algn="l">
              <a:defRPr sz="1050" b="1">
                <a:solidFill>
                  <a:srgbClr val="353535"/>
                </a:solidFill>
              </a:defRPr>
            </a:lvl4pPr>
            <a:lvl5pPr algn="l">
              <a:defRPr sz="1050" b="1">
                <a:solidFill>
                  <a:srgbClr val="353535"/>
                </a:solidFill>
              </a:defRPr>
            </a:lvl5pPr>
            <a:lvl6pPr algn="l">
              <a:defRPr sz="1050" b="1">
                <a:solidFill>
                  <a:srgbClr val="353535"/>
                </a:solidFill>
              </a:defRPr>
            </a:lvl6pPr>
            <a:lvl7pPr algn="l">
              <a:defRPr sz="1050" b="1">
                <a:solidFill>
                  <a:srgbClr val="353535"/>
                </a:solidFill>
              </a:defRPr>
            </a:lvl7pPr>
            <a:lvl8pPr algn="l">
              <a:defRPr sz="1050" b="1">
                <a:solidFill>
                  <a:srgbClr val="353535"/>
                </a:solidFill>
              </a:defRPr>
            </a:lvl8pPr>
            <a:lvl9pPr algn="l">
              <a:defRPr sz="1050" b="1">
                <a:solidFill>
                  <a:srgbClr val="353535"/>
                </a:solidFill>
              </a:defRPr>
            </a:lvl9pPr>
          </a:lstStyle>
          <a:p xmlns:a="http://schemas.openxmlformats.org/drawingml/2006/main">
            <a:pPr algn="l">
              <a:defRPr sz="1050" b="1">
                <a:solidFill>
                  <a:srgbClr val="353535"/>
                </a:solidFill>
              </a:defRPr>
            </a:pPr>
            <a:r>
              <a:rPr sz="1050" b="1">
                <a:solidFill>
                  <a:srgbClr val="353535"/>
                </a:solidFill>
              </a:rPr>
              <a:t>34 exceptions versus 31.2 expected  |  Basel zone: GREEN</a:t>
            </a:r>
          </a:p>
        </p:txBody>
      </p:sp>
      <p:sp>
        <p:nvSpPr>
          <p:cNvPr id="17" name="">
            <a:extLst xmlns:a="http://schemas.openxmlformats.org/drawingml/2006/main">
              <a:ext uri="{FF2B5EF4-FFF2-40B4-BE49-F238E27FC236}">
                <a16:creationId xmlns:a16="http://schemas.microsoft.com/office/drawing/2014/main" id="{AC484F6B-CC9F-4044-BE6A-0B8A711B7F4C}"/>
              </a:ext>
            </a:extLst>
          </p:cNvPr>
          <p:cNvSpPr>
            <a:spLocks xmlns:a="http://schemas.openxmlformats.org/drawingml/2006/main" noGrp="1"/>
          </p:cNvSpPr>
          <p:nvPr/>
        </p:nvSpPr>
        <p:spPr>
          <a:xfrm xmlns:a="http://schemas.openxmlformats.org/drawingml/2006/main">
            <a:off x="514350" y="5829300"/>
            <a:ext cx="38100" cy="4572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18" name="">
            <a:extLst xmlns:a="http://schemas.openxmlformats.org/drawingml/2006/main">
              <a:ext uri="{FF2B5EF4-FFF2-40B4-BE49-F238E27FC236}">
                <a16:creationId xmlns:a16="http://schemas.microsoft.com/office/drawing/2014/main" id="{DDEA5967-62E7-4763-9397-9DBDC39FB8D9}"/>
              </a:ext>
            </a:extLst>
          </p:cNvPr>
          <p:cNvSpPr>
            <a:spLocks xmlns:a="http://schemas.openxmlformats.org/drawingml/2006/main" noGrp="1"/>
          </p:cNvSpPr>
          <p:nvPr/>
        </p:nvSpPr>
        <p:spPr>
          <a:xfrm xmlns:a="http://schemas.openxmlformats.org/drawingml/2006/main">
            <a:off x="666750" y="5791200"/>
            <a:ext cx="10458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Boundary</a:t>
            </a:r>
          </a:p>
        </p:txBody>
      </p:sp>
      <p:sp>
        <p:nvSpPr>
          <p:cNvPr id="19" name="">
            <a:extLst xmlns:a="http://schemas.openxmlformats.org/drawingml/2006/main">
              <a:ext uri="{FF2B5EF4-FFF2-40B4-BE49-F238E27FC236}">
                <a16:creationId xmlns:a16="http://schemas.microsoft.com/office/drawing/2014/main" id="{08C629B9-02C0-4530-853D-DC7159376F61}"/>
              </a:ext>
            </a:extLst>
          </p:cNvPr>
          <p:cNvSpPr>
            <a:spLocks xmlns:a="http://schemas.openxmlformats.org/drawingml/2006/main" noGrp="1"/>
          </p:cNvSpPr>
          <p:nvPr/>
        </p:nvSpPr>
        <p:spPr>
          <a:xfrm xmlns:a="http://schemas.openxmlformats.org/drawingml/2006/main">
            <a:off x="666750" y="6029325"/>
            <a:ext cx="10458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Passing the historical backtest supports daily use. It does not prove the model will capture a new crisis, liquidity shock or structural break.</a:t>
            </a:r>
          </a:p>
        </p:txBody>
      </p:sp>
      <p:sp>
        <p:nvSpPr>
          <p:cNvPr id="20" name="">
            <a:extLst xmlns:a="http://schemas.openxmlformats.org/drawingml/2006/main">
              <a:ext uri="{FF2B5EF4-FFF2-40B4-BE49-F238E27FC236}">
                <a16:creationId xmlns:a16="http://schemas.microsoft.com/office/drawing/2014/main" id="{CC96DBD1-2B7F-4A01-AC62-5C14F9A59D11}"/>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21" name="">
            <a:extLst xmlns:a="http://schemas.openxmlformats.org/drawingml/2006/main">
              <a:ext uri="{FF2B5EF4-FFF2-40B4-BE49-F238E27FC236}">
                <a16:creationId xmlns:a16="http://schemas.microsoft.com/office/drawing/2014/main" id="{518678AA-8B1D-4F16-92FA-631390C17E7F}"/>
              </a:ext>
            </a:extLst>
          </p:cNvPr>
          <p:cNvSpPr>
            <a:spLocks xmlns:a="http://schemas.openxmlformats.org/drawingml/2006/main" noGrp="1"/>
          </p:cNvSpPr>
          <p:nvPr/>
        </p:nvSpPr>
        <p:spPr>
          <a:xfrm xmlns:a="http://schemas.openxmlformats.org/drawingml/2006/main">
            <a:off x="51435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0">
                <a:solidFill>
                  <a:srgbClr val="707070"/>
                </a:solidFill>
              </a:defRPr>
            </a:defPPr>
            <a:lvl1pPr algn="l">
              <a:defRPr sz="600" b="0">
                <a:solidFill>
                  <a:srgbClr val="707070"/>
                </a:solidFill>
              </a:defRPr>
            </a:lvl1pPr>
            <a:lvl2pPr algn="l">
              <a:defRPr sz="600" b="0">
                <a:solidFill>
                  <a:srgbClr val="707070"/>
                </a:solidFill>
              </a:defRPr>
            </a:lvl2pPr>
            <a:lvl3pPr algn="l">
              <a:defRPr sz="600" b="0">
                <a:solidFill>
                  <a:srgbClr val="707070"/>
                </a:solidFill>
              </a:defRPr>
            </a:lvl3pPr>
            <a:lvl4pPr algn="l">
              <a:defRPr sz="600" b="0">
                <a:solidFill>
                  <a:srgbClr val="707070"/>
                </a:solidFill>
              </a:defRPr>
            </a:lvl4pPr>
            <a:lvl5pPr algn="l">
              <a:defRPr sz="600" b="0">
                <a:solidFill>
                  <a:srgbClr val="707070"/>
                </a:solidFill>
              </a:defRPr>
            </a:lvl5pPr>
            <a:lvl6pPr algn="l">
              <a:defRPr sz="600" b="0">
                <a:solidFill>
                  <a:srgbClr val="707070"/>
                </a:solidFill>
              </a:defRPr>
            </a:lvl6pPr>
            <a:lvl7pPr algn="l">
              <a:defRPr sz="600" b="0">
                <a:solidFill>
                  <a:srgbClr val="707070"/>
                </a:solidFill>
              </a:defRPr>
            </a:lvl7pPr>
            <a:lvl8pPr algn="l">
              <a:defRPr sz="600" b="0">
                <a:solidFill>
                  <a:srgbClr val="707070"/>
                </a:solidFill>
              </a:defRPr>
            </a:lvl8pPr>
            <a:lvl9pPr algn="l">
              <a:defRPr sz="600" b="0">
                <a:solidFill>
                  <a:srgbClr val="707070"/>
                </a:solidFill>
              </a:defRPr>
            </a:lvl9pPr>
          </a:lstStyle>
          <a:p xmlns:a="http://schemas.openxmlformats.org/drawingml/2006/main">
            <a:pPr algn="l">
              <a:defRPr sz="600" b="0">
                <a:solidFill>
                  <a:srgbClr val="707070"/>
                </a:solidFill>
              </a:defRPr>
            </a:pPr>
            <a:r>
              <a:rPr sz="600" b="0">
                <a:solidFill>
                  <a:srgbClr val="707070"/>
                </a:solidFill>
              </a:rPr>
              <a:t>QFI risk engine  |  saved data through 23 October 2026</a:t>
            </a:r>
          </a:p>
        </p:txBody>
      </p:sp>
      <p:sp>
        <p:nvSpPr>
          <p:cNvPr id="22" name="">
            <a:extLst xmlns:a="http://schemas.openxmlformats.org/drawingml/2006/main">
              <a:ext uri="{FF2B5EF4-FFF2-40B4-BE49-F238E27FC236}">
                <a16:creationId xmlns:a16="http://schemas.microsoft.com/office/drawing/2014/main" id="{EFE439DB-2A9F-48A7-9BA5-0C3161E74F19}"/>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111111"/>
                </a:solidFill>
              </a:defRPr>
            </a:defPPr>
            <a:lvl1pPr algn="r">
              <a:defRPr sz="675" b="1">
                <a:solidFill>
                  <a:srgbClr val="111111"/>
                </a:solidFill>
              </a:defRPr>
            </a:lvl1pPr>
            <a:lvl2pPr algn="r">
              <a:defRPr sz="675" b="1">
                <a:solidFill>
                  <a:srgbClr val="111111"/>
                </a:solidFill>
              </a:defRPr>
            </a:lvl2pPr>
            <a:lvl3pPr algn="r">
              <a:defRPr sz="675" b="1">
                <a:solidFill>
                  <a:srgbClr val="111111"/>
                </a:solidFill>
              </a:defRPr>
            </a:lvl3pPr>
            <a:lvl4pPr algn="r">
              <a:defRPr sz="675" b="1">
                <a:solidFill>
                  <a:srgbClr val="111111"/>
                </a:solidFill>
              </a:defRPr>
            </a:lvl4pPr>
            <a:lvl5pPr algn="r">
              <a:defRPr sz="675" b="1">
                <a:solidFill>
                  <a:srgbClr val="111111"/>
                </a:solidFill>
              </a:defRPr>
            </a:lvl5pPr>
            <a:lvl6pPr algn="r">
              <a:defRPr sz="675" b="1">
                <a:solidFill>
                  <a:srgbClr val="111111"/>
                </a:solidFill>
              </a:defRPr>
            </a:lvl6pPr>
            <a:lvl7pPr algn="r">
              <a:defRPr sz="675" b="1">
                <a:solidFill>
                  <a:srgbClr val="111111"/>
                </a:solidFill>
              </a:defRPr>
            </a:lvl7pPr>
            <a:lvl8pPr algn="r">
              <a:defRPr sz="675" b="1">
                <a:solidFill>
                  <a:srgbClr val="111111"/>
                </a:solidFill>
              </a:defRPr>
            </a:lvl8pPr>
            <a:lvl9pPr algn="r">
              <a:defRPr sz="675" b="1">
                <a:solidFill>
                  <a:srgbClr val="111111"/>
                </a:solidFill>
              </a:defRPr>
            </a:lvl9pPr>
          </a:lstStyle>
          <a:p xmlns:a="http://schemas.openxmlformats.org/drawingml/2006/main">
            <a:pPr algn="r">
              <a:defRPr sz="675" b="1">
                <a:solidFill>
                  <a:srgbClr val="111111"/>
                </a:solidFill>
              </a:defRPr>
            </a:pPr>
            <a:r>
              <a:rPr sz="675" b="1">
                <a:solidFill>
                  <a:srgbClr val="111111"/>
                </a:solidFill>
              </a:rPr>
              <a:t>16</a:t>
            </a:r>
          </a:p>
        </p:txBody>
      </p:sp>
    </p:spTree>
    <p:extLst>
      <p:ext uri="{BB962C8B-B14F-4D97-AF65-F5344CB8AC3E}">
        <p14:creationId xmlns:p14="http://schemas.microsoft.com/office/powerpoint/2010/main" val="205962004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761415C-FF8E-46C2-A2B8-569902C61EAB}"/>
              </a:ext>
            </a:extLst>
          </p:cNvPr>
          <p:cNvSpPr>
            <a:spLocks xmlns:a="http://schemas.openxmlformats.org/drawingml/2006/main" noGrp="1"/>
          </p:cNvSpPr>
          <p:nvPr/>
        </p:nvSpPr>
        <p:spPr>
          <a:xfrm xmlns:a="http://schemas.openxmlformats.org/drawingml/2006/main">
            <a:off x="514350" y="266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STRESS AND ATTRIBUTION</a:t>
            </a:r>
          </a:p>
        </p:txBody>
      </p:sp>
      <p:sp>
        <p:nvSpPr>
          <p:cNvPr id="2" name="">
            <a:extLst xmlns:a="http://schemas.openxmlformats.org/drawingml/2006/main">
              <a:ext uri="{FF2B5EF4-FFF2-40B4-BE49-F238E27FC236}">
                <a16:creationId xmlns:a16="http://schemas.microsoft.com/office/drawing/2014/main" id="{7EA17693-0F90-4A77-B5D7-0BC20C725F35}"/>
              </a:ext>
            </a:extLst>
          </p:cNvPr>
          <p:cNvSpPr>
            <a:spLocks xmlns:a="http://schemas.openxmlformats.org/drawingml/2006/main" noGrp="1"/>
          </p:cNvSpPr>
          <p:nvPr/>
        </p:nvSpPr>
        <p:spPr>
          <a:xfrm xmlns:a="http://schemas.openxmlformats.org/drawingml/2006/main">
            <a:off x="514350" y="6096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11111"/>
                </a:solidFill>
              </a:defRPr>
            </a:defPPr>
            <a:lvl1pPr algn="l">
              <a:defRPr sz="2550" b="1">
                <a:solidFill>
                  <a:srgbClr val="111111"/>
                </a:solidFill>
              </a:defRPr>
            </a:lvl1pPr>
            <a:lvl2pPr algn="l">
              <a:defRPr sz="2550" b="1">
                <a:solidFill>
                  <a:srgbClr val="111111"/>
                </a:solidFill>
              </a:defRPr>
            </a:lvl2pPr>
            <a:lvl3pPr algn="l">
              <a:defRPr sz="2550" b="1">
                <a:solidFill>
                  <a:srgbClr val="111111"/>
                </a:solidFill>
              </a:defRPr>
            </a:lvl3pPr>
            <a:lvl4pPr algn="l">
              <a:defRPr sz="2550" b="1">
                <a:solidFill>
                  <a:srgbClr val="111111"/>
                </a:solidFill>
              </a:defRPr>
            </a:lvl4pPr>
            <a:lvl5pPr algn="l">
              <a:defRPr sz="2550" b="1">
                <a:solidFill>
                  <a:srgbClr val="111111"/>
                </a:solidFill>
              </a:defRPr>
            </a:lvl5pPr>
            <a:lvl6pPr algn="l">
              <a:defRPr sz="2550" b="1">
                <a:solidFill>
                  <a:srgbClr val="111111"/>
                </a:solidFill>
              </a:defRPr>
            </a:lvl6pPr>
            <a:lvl7pPr algn="l">
              <a:defRPr sz="2550" b="1">
                <a:solidFill>
                  <a:srgbClr val="111111"/>
                </a:solidFill>
              </a:defRPr>
            </a:lvl7pPr>
            <a:lvl8pPr algn="l">
              <a:defRPr sz="2550" b="1">
                <a:solidFill>
                  <a:srgbClr val="111111"/>
                </a:solidFill>
              </a:defRPr>
            </a:lvl8pPr>
            <a:lvl9pPr algn="l">
              <a:defRPr sz="2550" b="1">
                <a:solidFill>
                  <a:srgbClr val="111111"/>
                </a:solidFill>
              </a:defRPr>
            </a:lvl9pPr>
          </a:lstStyle>
          <a:p xmlns:a="http://schemas.openxmlformats.org/drawingml/2006/main">
            <a:pPr algn="l">
              <a:defRPr sz="2550" b="1">
                <a:solidFill>
                  <a:srgbClr val="111111"/>
                </a:solidFill>
              </a:defRPr>
            </a:pPr>
            <a:r>
              <a:rPr sz="2550" b="1">
                <a:solidFill>
                  <a:srgbClr val="111111"/>
                </a:solidFill>
              </a:rPr>
              <a:t>Crisis loss and tail concentration are larger than daily VaR</a:t>
            </a:r>
          </a:p>
        </p:txBody>
      </p:sp>
      <p:sp>
        <p:nvSpPr>
          <p:cNvPr id="3" name="">
            <a:extLst xmlns:a="http://schemas.openxmlformats.org/drawingml/2006/main">
              <a:ext uri="{FF2B5EF4-FFF2-40B4-BE49-F238E27FC236}">
                <a16:creationId xmlns:a16="http://schemas.microsoft.com/office/drawing/2014/main" id="{1C30FE62-48CC-4762-A9CE-FC57D45A0C55}"/>
              </a:ext>
            </a:extLst>
          </p:cNvPr>
          <p:cNvSpPr>
            <a:spLocks xmlns:a="http://schemas.openxmlformats.org/drawingml/2006/main" noGrp="1"/>
          </p:cNvSpPr>
          <p:nvPr/>
        </p:nvSpPr>
        <p:spPr>
          <a:xfrm xmlns:a="http://schemas.openxmlformats.org/drawingml/2006/main">
            <a:off x="514350" y="11430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The worst historical replay removes 44% of value, while two stocks supply 39% of Expected Shortfall</a:t>
            </a:r>
          </a:p>
        </p:txBody>
      </p:sp>
      <p:sp>
        <p:nvSpPr>
          <p:cNvPr id="4" name="">
            <a:extLst xmlns:a="http://schemas.openxmlformats.org/drawingml/2006/main">
              <a:ext uri="{FF2B5EF4-FFF2-40B4-BE49-F238E27FC236}">
                <a16:creationId xmlns:a16="http://schemas.microsoft.com/office/drawing/2014/main" id="{F2444D53-CABC-459D-886C-D6BBAD2C8798}"/>
              </a:ext>
            </a:extLst>
          </p:cNvPr>
          <p:cNvSpPr>
            <a:spLocks xmlns:a="http://schemas.openxmlformats.org/drawingml/2006/main" noGrp="1"/>
          </p:cNvSpPr>
          <p:nvPr/>
        </p:nvSpPr>
        <p:spPr>
          <a:xfrm xmlns:a="http://schemas.openxmlformats.org/drawingml/2006/main">
            <a:off x="514350" y="1495425"/>
            <a:ext cx="111633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93FB71E4-BA50-41A0-848C-835BC7D522E6}"/>
              </a:ext>
            </a:extLst>
          </p:cNvPr>
          <p:cNvSpPr>
            <a:spLocks xmlns:a="http://schemas.openxmlformats.org/drawingml/2006/main" noGrp="1"/>
          </p:cNvSpPr>
          <p:nvPr/>
        </p:nvSpPr>
        <p:spPr>
          <a:xfrm xmlns:a="http://schemas.openxmlformats.org/drawingml/2006/main">
            <a:off x="504825" y="1724025"/>
            <a:ext cx="5257800" cy="230505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6" name="">
            <a:extLst xmlns:a="http://schemas.openxmlformats.org/drawingml/2006/main">
              <a:ext uri="{FF2B5EF4-FFF2-40B4-BE49-F238E27FC236}">
                <a16:creationId xmlns:a16="http://schemas.microsoft.com/office/drawing/2014/main" id="{2DCE0022-FA43-43E5-AA56-4360FABE9B78}"/>
              </a:ext>
            </a:extLst>
          </p:cNvPr>
          <p:cNvSpPr>
            <a:spLocks xmlns:a="http://schemas.openxmlformats.org/drawingml/2006/main" noGrp="1"/>
          </p:cNvSpPr>
          <p:nvPr/>
        </p:nvSpPr>
        <p:spPr>
          <a:xfrm xmlns:a="http://schemas.openxmlformats.org/drawingml/2006/main">
            <a:off x="628650" y="1800225"/>
            <a:ext cx="501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Stressed VaR vs current VaR</a:t>
            </a:r>
          </a:p>
        </p:txBody>
      </p:sp>
      <p:pic>
        <p:nvPicPr>
          <p:cNvPr id="7" name="">
            <a:extLst xmlns:a="http://schemas.openxmlformats.org/drawingml/2006/main">
              <a:ext uri="{FF2B5EF4-FFF2-40B4-BE49-F238E27FC236}">
                <a16:creationId xmlns:a16="http://schemas.microsoft.com/office/drawing/2014/main" id="{E56C31A0-853F-49C1-A728-8FBA89DC0FCB}"/>
              </a:ext>
            </a:extLst>
          </p:cNvPr>
          <p:cNvPicPr>
            <a:picLocks xmlns:a="http://schemas.openxmlformats.org/drawingml/2006/main" noChangeAspect="1"/>
          </p:cNvPicPr>
          <p:nvPr/>
        </p:nvPicPr>
        <p:blipFill>
          <a:blip xmlns:r="http://schemas.openxmlformats.org/officeDocument/2006/relationships" xmlns:a="http://schemas.openxmlformats.org/drawingml/2006/main" r:embed="Rabefd15e268549bf"/>
          <a:stretch xmlns:a="http://schemas.openxmlformats.org/drawingml/2006/main"/>
        </p:blipFill>
        <p:spPr>
          <a:xfrm xmlns:a="http://schemas.openxmlformats.org/drawingml/2006/main">
            <a:off x="514350" y="2161878"/>
            <a:ext cx="5238750" cy="1686519"/>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1C70537-CBC5-4577-8408-9CD8F3DF79C5}"/>
              </a:ext>
            </a:extLst>
          </p:cNvPr>
          <p:cNvSpPr>
            <a:spLocks xmlns:a="http://schemas.openxmlformats.org/drawingml/2006/main" noGrp="1"/>
          </p:cNvSpPr>
          <p:nvPr/>
        </p:nvSpPr>
        <p:spPr>
          <a:xfrm xmlns:a="http://schemas.openxmlformats.org/drawingml/2006/main">
            <a:off x="6029325" y="1724025"/>
            <a:ext cx="5257800" cy="230505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9" name="">
            <a:extLst xmlns:a="http://schemas.openxmlformats.org/drawingml/2006/main">
              <a:ext uri="{FF2B5EF4-FFF2-40B4-BE49-F238E27FC236}">
                <a16:creationId xmlns:a16="http://schemas.microsoft.com/office/drawing/2014/main" id="{DEFDB407-DB13-4714-B6EF-950E896F80BE}"/>
              </a:ext>
            </a:extLst>
          </p:cNvPr>
          <p:cNvSpPr>
            <a:spLocks xmlns:a="http://schemas.openxmlformats.org/drawingml/2006/main" noGrp="1"/>
          </p:cNvSpPr>
          <p:nvPr/>
        </p:nvSpPr>
        <p:spPr>
          <a:xfrm xmlns:a="http://schemas.openxmlformats.org/drawingml/2006/main">
            <a:off x="6153150" y="1800225"/>
            <a:ext cx="501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2008 crisis replay loss by stock</a:t>
            </a:r>
          </a:p>
        </p:txBody>
      </p:sp>
      <p:pic>
        <p:nvPicPr>
          <p:cNvPr id="10" name="">
            <a:extLst xmlns:a="http://schemas.openxmlformats.org/drawingml/2006/main">
              <a:ext uri="{FF2B5EF4-FFF2-40B4-BE49-F238E27FC236}">
                <a16:creationId xmlns:a16="http://schemas.microsoft.com/office/drawing/2014/main" id="{3E9ED0D8-7513-4E5B-8CAE-197414306ED5}"/>
              </a:ext>
            </a:extLst>
          </p:cNvPr>
          <p:cNvPicPr>
            <a:picLocks xmlns:a="http://schemas.openxmlformats.org/drawingml/2006/main" noChangeAspect="1"/>
          </p:cNvPicPr>
          <p:nvPr/>
        </p:nvPicPr>
        <p:blipFill>
          <a:blip xmlns:r="http://schemas.openxmlformats.org/officeDocument/2006/relationships" xmlns:a="http://schemas.openxmlformats.org/drawingml/2006/main" r:embed="R1b965c84da1d482a"/>
          <a:stretch xmlns:a="http://schemas.openxmlformats.org/drawingml/2006/main"/>
        </p:blipFill>
        <p:spPr>
          <a:xfrm xmlns:a="http://schemas.openxmlformats.org/drawingml/2006/main">
            <a:off x="7088870" y="2009775"/>
            <a:ext cx="3138710" cy="19907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1C9B5A3-162F-465D-87A0-90022FB27684}"/>
              </a:ext>
            </a:extLst>
          </p:cNvPr>
          <p:cNvSpPr>
            <a:spLocks xmlns:a="http://schemas.openxmlformats.org/drawingml/2006/main" noGrp="1"/>
          </p:cNvSpPr>
          <p:nvPr/>
        </p:nvSpPr>
        <p:spPr>
          <a:xfrm xmlns:a="http://schemas.openxmlformats.org/drawingml/2006/main">
            <a:off x="514350" y="441960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B42318"/>
                </a:solidFill>
              </a:defRPr>
            </a:defPPr>
            <a:lvl1pPr algn="l">
              <a:defRPr sz="2100" b="1">
                <a:solidFill>
                  <a:srgbClr val="B42318"/>
                </a:solidFill>
              </a:defRPr>
            </a:lvl1pPr>
            <a:lvl2pPr algn="l">
              <a:defRPr sz="2100" b="1">
                <a:solidFill>
                  <a:srgbClr val="B42318"/>
                </a:solidFill>
              </a:defRPr>
            </a:lvl2pPr>
            <a:lvl3pPr algn="l">
              <a:defRPr sz="2100" b="1">
                <a:solidFill>
                  <a:srgbClr val="B42318"/>
                </a:solidFill>
              </a:defRPr>
            </a:lvl3pPr>
            <a:lvl4pPr algn="l">
              <a:defRPr sz="2100" b="1">
                <a:solidFill>
                  <a:srgbClr val="B42318"/>
                </a:solidFill>
              </a:defRPr>
            </a:lvl4pPr>
            <a:lvl5pPr algn="l">
              <a:defRPr sz="2100" b="1">
                <a:solidFill>
                  <a:srgbClr val="B42318"/>
                </a:solidFill>
              </a:defRPr>
            </a:lvl5pPr>
            <a:lvl6pPr algn="l">
              <a:defRPr sz="2100" b="1">
                <a:solidFill>
                  <a:srgbClr val="B42318"/>
                </a:solidFill>
              </a:defRPr>
            </a:lvl6pPr>
            <a:lvl7pPr algn="l">
              <a:defRPr sz="2100" b="1">
                <a:solidFill>
                  <a:srgbClr val="B42318"/>
                </a:solidFill>
              </a:defRPr>
            </a:lvl7pPr>
            <a:lvl8pPr algn="l">
              <a:defRPr sz="2100" b="1">
                <a:solidFill>
                  <a:srgbClr val="B42318"/>
                </a:solidFill>
              </a:defRPr>
            </a:lvl8pPr>
            <a:lvl9pPr algn="l">
              <a:defRPr sz="2100" b="1">
                <a:solidFill>
                  <a:srgbClr val="B42318"/>
                </a:solidFill>
              </a:defRPr>
            </a:lvl9pPr>
          </a:lstStyle>
          <a:p xmlns:a="http://schemas.openxmlformats.org/drawingml/2006/main">
            <a:pPr algn="l">
              <a:defRPr sz="2100" b="1">
                <a:solidFill>
                  <a:srgbClr val="B42318"/>
                </a:solidFill>
              </a:defRPr>
            </a:pPr>
            <a:r>
              <a:rPr sz="2100" b="1">
                <a:solidFill>
                  <a:srgbClr val="B42318"/>
                </a:solidFill>
              </a:rPr>
              <a:t>44.0%</a:t>
            </a:r>
          </a:p>
        </p:txBody>
      </p:sp>
      <p:sp>
        <p:nvSpPr>
          <p:cNvPr id="12" name="">
            <a:extLst xmlns:a="http://schemas.openxmlformats.org/drawingml/2006/main">
              <a:ext uri="{FF2B5EF4-FFF2-40B4-BE49-F238E27FC236}">
                <a16:creationId xmlns:a16="http://schemas.microsoft.com/office/drawing/2014/main" id="{CE899ED1-C9F5-453A-A028-B43661B8D1E6}"/>
              </a:ext>
            </a:extLst>
          </p:cNvPr>
          <p:cNvSpPr>
            <a:spLocks xmlns:a="http://schemas.openxmlformats.org/drawingml/2006/main" noGrp="1"/>
          </p:cNvSpPr>
          <p:nvPr/>
        </p:nvSpPr>
        <p:spPr>
          <a:xfrm xmlns:a="http://schemas.openxmlformats.org/drawingml/2006/main">
            <a:off x="514350" y="48196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2008 replay loss</a:t>
            </a:r>
          </a:p>
        </p:txBody>
      </p:sp>
      <p:sp>
        <p:nvSpPr>
          <p:cNvPr id="13" name="">
            <a:extLst xmlns:a="http://schemas.openxmlformats.org/drawingml/2006/main">
              <a:ext uri="{FF2B5EF4-FFF2-40B4-BE49-F238E27FC236}">
                <a16:creationId xmlns:a16="http://schemas.microsoft.com/office/drawing/2014/main" id="{6F122C86-34AE-4B28-BD94-C45DCCDB2B1C}"/>
              </a:ext>
            </a:extLst>
          </p:cNvPr>
          <p:cNvSpPr>
            <a:spLocks xmlns:a="http://schemas.openxmlformats.org/drawingml/2006/main" noGrp="1"/>
          </p:cNvSpPr>
          <p:nvPr/>
        </p:nvSpPr>
        <p:spPr>
          <a:xfrm xmlns:a="http://schemas.openxmlformats.org/drawingml/2006/main">
            <a:off x="3333750" y="44196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B42318"/>
                </a:solidFill>
              </a:defRPr>
            </a:defPPr>
            <a:lvl1pPr algn="l">
              <a:defRPr sz="2100" b="1">
                <a:solidFill>
                  <a:srgbClr val="B42318"/>
                </a:solidFill>
              </a:defRPr>
            </a:lvl1pPr>
            <a:lvl2pPr algn="l">
              <a:defRPr sz="2100" b="1">
                <a:solidFill>
                  <a:srgbClr val="B42318"/>
                </a:solidFill>
              </a:defRPr>
            </a:lvl2pPr>
            <a:lvl3pPr algn="l">
              <a:defRPr sz="2100" b="1">
                <a:solidFill>
                  <a:srgbClr val="B42318"/>
                </a:solidFill>
              </a:defRPr>
            </a:lvl3pPr>
            <a:lvl4pPr algn="l">
              <a:defRPr sz="2100" b="1">
                <a:solidFill>
                  <a:srgbClr val="B42318"/>
                </a:solidFill>
              </a:defRPr>
            </a:lvl4pPr>
            <a:lvl5pPr algn="l">
              <a:defRPr sz="2100" b="1">
                <a:solidFill>
                  <a:srgbClr val="B42318"/>
                </a:solidFill>
              </a:defRPr>
            </a:lvl5pPr>
            <a:lvl6pPr algn="l">
              <a:defRPr sz="2100" b="1">
                <a:solidFill>
                  <a:srgbClr val="B42318"/>
                </a:solidFill>
              </a:defRPr>
            </a:lvl6pPr>
            <a:lvl7pPr algn="l">
              <a:defRPr sz="2100" b="1">
                <a:solidFill>
                  <a:srgbClr val="B42318"/>
                </a:solidFill>
              </a:defRPr>
            </a:lvl7pPr>
            <a:lvl8pPr algn="l">
              <a:defRPr sz="2100" b="1">
                <a:solidFill>
                  <a:srgbClr val="B42318"/>
                </a:solidFill>
              </a:defRPr>
            </a:lvl8pPr>
            <a:lvl9pPr algn="l">
              <a:defRPr sz="2100" b="1">
                <a:solidFill>
                  <a:srgbClr val="B42318"/>
                </a:solidFill>
              </a:defRPr>
            </a:lvl9pPr>
          </a:lstStyle>
          <a:p xmlns:a="http://schemas.openxmlformats.org/drawingml/2006/main">
            <a:pPr algn="l">
              <a:defRPr sz="2100" b="1">
                <a:solidFill>
                  <a:srgbClr val="B42318"/>
                </a:solidFill>
              </a:defRPr>
            </a:pPr>
            <a:r>
              <a:rPr sz="2100" b="1">
                <a:solidFill>
                  <a:srgbClr val="B42318"/>
                </a:solidFill>
              </a:rPr>
              <a:t>39.0%</a:t>
            </a:r>
          </a:p>
        </p:txBody>
      </p:sp>
      <p:sp>
        <p:nvSpPr>
          <p:cNvPr id="14" name="">
            <a:extLst xmlns:a="http://schemas.openxmlformats.org/drawingml/2006/main">
              <a:ext uri="{FF2B5EF4-FFF2-40B4-BE49-F238E27FC236}">
                <a16:creationId xmlns:a16="http://schemas.microsoft.com/office/drawing/2014/main" id="{8722FA91-C129-474A-AA70-23FAC2600BA5}"/>
              </a:ext>
            </a:extLst>
          </p:cNvPr>
          <p:cNvSpPr>
            <a:spLocks xmlns:a="http://schemas.openxmlformats.org/drawingml/2006/main" noGrp="1"/>
          </p:cNvSpPr>
          <p:nvPr/>
        </p:nvSpPr>
        <p:spPr>
          <a:xfrm xmlns:a="http://schemas.openxmlformats.org/drawingml/2006/main">
            <a:off x="3333750" y="48196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TSLA and AMZN share of ES</a:t>
            </a:r>
          </a:p>
        </p:txBody>
      </p:sp>
      <p:sp>
        <p:nvSpPr>
          <p:cNvPr id="15" name="">
            <a:extLst xmlns:a="http://schemas.openxmlformats.org/drawingml/2006/main">
              <a:ext uri="{FF2B5EF4-FFF2-40B4-BE49-F238E27FC236}">
                <a16:creationId xmlns:a16="http://schemas.microsoft.com/office/drawing/2014/main" id="{24FBD2AD-E4F3-4172-8C12-1B19BF34D937}"/>
              </a:ext>
            </a:extLst>
          </p:cNvPr>
          <p:cNvSpPr>
            <a:spLocks xmlns:a="http://schemas.openxmlformats.org/drawingml/2006/main" noGrp="1"/>
          </p:cNvSpPr>
          <p:nvPr/>
        </p:nvSpPr>
        <p:spPr>
          <a:xfrm xmlns:a="http://schemas.openxmlformats.org/drawingml/2006/main">
            <a:off x="6534150" y="441960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11111"/>
                </a:solidFill>
              </a:defRPr>
            </a:defPPr>
            <a:lvl1pPr algn="l">
              <a:defRPr sz="2100" b="1">
                <a:solidFill>
                  <a:srgbClr val="111111"/>
                </a:solidFill>
              </a:defRPr>
            </a:lvl1pPr>
            <a:lvl2pPr algn="l">
              <a:defRPr sz="2100" b="1">
                <a:solidFill>
                  <a:srgbClr val="111111"/>
                </a:solidFill>
              </a:defRPr>
            </a:lvl2pPr>
            <a:lvl3pPr algn="l">
              <a:defRPr sz="2100" b="1">
                <a:solidFill>
                  <a:srgbClr val="111111"/>
                </a:solidFill>
              </a:defRPr>
            </a:lvl3pPr>
            <a:lvl4pPr algn="l">
              <a:defRPr sz="2100" b="1">
                <a:solidFill>
                  <a:srgbClr val="111111"/>
                </a:solidFill>
              </a:defRPr>
            </a:lvl4pPr>
            <a:lvl5pPr algn="l">
              <a:defRPr sz="2100" b="1">
                <a:solidFill>
                  <a:srgbClr val="111111"/>
                </a:solidFill>
              </a:defRPr>
            </a:lvl5pPr>
            <a:lvl6pPr algn="l">
              <a:defRPr sz="2100" b="1">
                <a:solidFill>
                  <a:srgbClr val="111111"/>
                </a:solidFill>
              </a:defRPr>
            </a:lvl6pPr>
            <a:lvl7pPr algn="l">
              <a:defRPr sz="2100" b="1">
                <a:solidFill>
                  <a:srgbClr val="111111"/>
                </a:solidFill>
              </a:defRPr>
            </a:lvl7pPr>
            <a:lvl8pPr algn="l">
              <a:defRPr sz="2100" b="1">
                <a:solidFill>
                  <a:srgbClr val="111111"/>
                </a:solidFill>
              </a:defRPr>
            </a:lvl8pPr>
            <a:lvl9pPr algn="l">
              <a:defRPr sz="2100" b="1">
                <a:solidFill>
                  <a:srgbClr val="111111"/>
                </a:solidFill>
              </a:defRPr>
            </a:lvl9pPr>
          </a:lstStyle>
          <a:p xmlns:a="http://schemas.openxmlformats.org/drawingml/2006/main">
            <a:pPr algn="l">
              <a:defRPr sz="2100" b="1">
                <a:solidFill>
                  <a:srgbClr val="111111"/>
                </a:solidFill>
              </a:defRPr>
            </a:pPr>
            <a:r>
              <a:rPr sz="2100" b="1">
                <a:solidFill>
                  <a:srgbClr val="111111"/>
                </a:solidFill>
              </a:rPr>
              <a:t>20.6%</a:t>
            </a:r>
          </a:p>
        </p:txBody>
      </p:sp>
      <p:sp>
        <p:nvSpPr>
          <p:cNvPr id="16" name="">
            <a:extLst xmlns:a="http://schemas.openxmlformats.org/drawingml/2006/main">
              <a:ext uri="{FF2B5EF4-FFF2-40B4-BE49-F238E27FC236}">
                <a16:creationId xmlns:a16="http://schemas.microsoft.com/office/drawing/2014/main" id="{682C12AF-A267-4A28-8435-0F0908B5645E}"/>
              </a:ext>
            </a:extLst>
          </p:cNvPr>
          <p:cNvSpPr>
            <a:spLocks xmlns:a="http://schemas.openxmlformats.org/drawingml/2006/main" noGrp="1"/>
          </p:cNvSpPr>
          <p:nvPr/>
        </p:nvSpPr>
        <p:spPr>
          <a:xfrm xmlns:a="http://schemas.openxmlformats.org/drawingml/2006/main">
            <a:off x="6534150" y="48196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their share of capital</a:t>
            </a:r>
          </a:p>
        </p:txBody>
      </p:sp>
      <p:sp>
        <p:nvSpPr>
          <p:cNvPr id="17" name="">
            <a:extLst xmlns:a="http://schemas.openxmlformats.org/drawingml/2006/main">
              <a:ext uri="{FF2B5EF4-FFF2-40B4-BE49-F238E27FC236}">
                <a16:creationId xmlns:a16="http://schemas.microsoft.com/office/drawing/2014/main" id="{368C6A48-FB68-4EFB-91FD-0D9D3083C417}"/>
              </a:ext>
            </a:extLst>
          </p:cNvPr>
          <p:cNvSpPr>
            <a:spLocks xmlns:a="http://schemas.openxmlformats.org/drawingml/2006/main" noGrp="1"/>
          </p:cNvSpPr>
          <p:nvPr/>
        </p:nvSpPr>
        <p:spPr>
          <a:xfrm xmlns:a="http://schemas.openxmlformats.org/drawingml/2006/main">
            <a:off x="9277350" y="44196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55E63"/>
                </a:solidFill>
              </a:defRPr>
            </a:defPPr>
            <a:lvl1pPr algn="l">
              <a:defRPr sz="2100" b="1">
                <a:solidFill>
                  <a:srgbClr val="155E63"/>
                </a:solidFill>
              </a:defRPr>
            </a:lvl1pPr>
            <a:lvl2pPr algn="l">
              <a:defRPr sz="2100" b="1">
                <a:solidFill>
                  <a:srgbClr val="155E63"/>
                </a:solidFill>
              </a:defRPr>
            </a:lvl2pPr>
            <a:lvl3pPr algn="l">
              <a:defRPr sz="2100" b="1">
                <a:solidFill>
                  <a:srgbClr val="155E63"/>
                </a:solidFill>
              </a:defRPr>
            </a:lvl3pPr>
            <a:lvl4pPr algn="l">
              <a:defRPr sz="2100" b="1">
                <a:solidFill>
                  <a:srgbClr val="155E63"/>
                </a:solidFill>
              </a:defRPr>
            </a:lvl4pPr>
            <a:lvl5pPr algn="l">
              <a:defRPr sz="2100" b="1">
                <a:solidFill>
                  <a:srgbClr val="155E63"/>
                </a:solidFill>
              </a:defRPr>
            </a:lvl5pPr>
            <a:lvl6pPr algn="l">
              <a:defRPr sz="2100" b="1">
                <a:solidFill>
                  <a:srgbClr val="155E63"/>
                </a:solidFill>
              </a:defRPr>
            </a:lvl6pPr>
            <a:lvl7pPr algn="l">
              <a:defRPr sz="2100" b="1">
                <a:solidFill>
                  <a:srgbClr val="155E63"/>
                </a:solidFill>
              </a:defRPr>
            </a:lvl7pPr>
            <a:lvl8pPr algn="l">
              <a:defRPr sz="2100" b="1">
                <a:solidFill>
                  <a:srgbClr val="155E63"/>
                </a:solidFill>
              </a:defRPr>
            </a:lvl8pPr>
            <a:lvl9pPr algn="l">
              <a:defRPr sz="2100" b="1">
                <a:solidFill>
                  <a:srgbClr val="155E63"/>
                </a:solidFill>
              </a:defRPr>
            </a:lvl9pPr>
          </a:lstStyle>
          <a:p xmlns:a="http://schemas.openxmlformats.org/drawingml/2006/main">
            <a:pPr algn="l">
              <a:defRPr sz="2100" b="1">
                <a:solidFill>
                  <a:srgbClr val="155E63"/>
                </a:solidFill>
              </a:defRPr>
            </a:pPr>
            <a:r>
              <a:rPr sz="2100" b="1">
                <a:solidFill>
                  <a:srgbClr val="155E63"/>
                </a:solidFill>
              </a:rPr>
              <a:t>38.4%</a:t>
            </a:r>
          </a:p>
        </p:txBody>
      </p:sp>
      <p:sp>
        <p:nvSpPr>
          <p:cNvPr id="18" name="">
            <a:extLst xmlns:a="http://schemas.openxmlformats.org/drawingml/2006/main">
              <a:ext uri="{FF2B5EF4-FFF2-40B4-BE49-F238E27FC236}">
                <a16:creationId xmlns:a16="http://schemas.microsoft.com/office/drawing/2014/main" id="{C4DED6D6-681C-4773-9009-0A673BCEEB90}"/>
              </a:ext>
            </a:extLst>
          </p:cNvPr>
          <p:cNvSpPr>
            <a:spLocks xmlns:a="http://schemas.openxmlformats.org/drawingml/2006/main" noGrp="1"/>
          </p:cNvSpPr>
          <p:nvPr/>
        </p:nvSpPr>
        <p:spPr>
          <a:xfrm xmlns:a="http://schemas.openxmlformats.org/drawingml/2006/main">
            <a:off x="9277350" y="481965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diversification benefit</a:t>
            </a:r>
          </a:p>
        </p:txBody>
      </p:sp>
      <p:sp>
        <p:nvSpPr>
          <p:cNvPr id="19" name="">
            <a:extLst xmlns:a="http://schemas.openxmlformats.org/drawingml/2006/main">
              <a:ext uri="{FF2B5EF4-FFF2-40B4-BE49-F238E27FC236}">
                <a16:creationId xmlns:a16="http://schemas.microsoft.com/office/drawing/2014/main" id="{0D2A06BC-9C99-400A-B837-A466BC1D4A59}"/>
              </a:ext>
            </a:extLst>
          </p:cNvPr>
          <p:cNvSpPr>
            <a:spLocks xmlns:a="http://schemas.openxmlformats.org/drawingml/2006/main" noGrp="1"/>
          </p:cNvSpPr>
          <p:nvPr/>
        </p:nvSpPr>
        <p:spPr>
          <a:xfrm xmlns:a="http://schemas.openxmlformats.org/drawingml/2006/main">
            <a:off x="514350" y="5543550"/>
            <a:ext cx="38100" cy="4572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20" name="">
            <a:extLst xmlns:a="http://schemas.openxmlformats.org/drawingml/2006/main">
              <a:ext uri="{FF2B5EF4-FFF2-40B4-BE49-F238E27FC236}">
                <a16:creationId xmlns:a16="http://schemas.microsoft.com/office/drawing/2014/main" id="{6242335F-ED73-41E2-A8C0-22EEFA286992}"/>
              </a:ext>
            </a:extLst>
          </p:cNvPr>
          <p:cNvSpPr>
            <a:spLocks xmlns:a="http://schemas.openxmlformats.org/drawingml/2006/main" noGrp="1"/>
          </p:cNvSpPr>
          <p:nvPr/>
        </p:nvSpPr>
        <p:spPr>
          <a:xfrm xmlns:a="http://schemas.openxmlformats.org/drawingml/2006/main">
            <a:off x="666750" y="5505450"/>
            <a:ext cx="1061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Decision insight</a:t>
            </a:r>
          </a:p>
        </p:txBody>
      </p:sp>
      <p:sp>
        <p:nvSpPr>
          <p:cNvPr id="21" name="">
            <a:extLst xmlns:a="http://schemas.openxmlformats.org/drawingml/2006/main">
              <a:ext uri="{FF2B5EF4-FFF2-40B4-BE49-F238E27FC236}">
                <a16:creationId xmlns:a16="http://schemas.microsoft.com/office/drawing/2014/main" id="{C0DDE70B-D306-4863-ADCB-1DB0C8678F41}"/>
              </a:ext>
            </a:extLst>
          </p:cNvPr>
          <p:cNvSpPr>
            <a:spLocks xmlns:a="http://schemas.openxmlformats.org/drawingml/2006/main" noGrp="1"/>
          </p:cNvSpPr>
          <p:nvPr/>
        </p:nvSpPr>
        <p:spPr>
          <a:xfrm xmlns:a="http://schemas.openxmlformats.org/drawingml/2006/main">
            <a:off x="666750" y="5743575"/>
            <a:ext cx="10610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Equal money weights do not create equal tail-risk contributions. Risk reduction should target the positions that dominate severe losses.</a:t>
            </a:r>
          </a:p>
        </p:txBody>
      </p:sp>
      <p:sp>
        <p:nvSpPr>
          <p:cNvPr id="22" name="">
            <a:extLst xmlns:a="http://schemas.openxmlformats.org/drawingml/2006/main">
              <a:ext uri="{FF2B5EF4-FFF2-40B4-BE49-F238E27FC236}">
                <a16:creationId xmlns:a16="http://schemas.microsoft.com/office/drawing/2014/main" id="{3A5A301A-5525-4ADC-8F7A-0485C55AEAA4}"/>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23" name="">
            <a:extLst xmlns:a="http://schemas.openxmlformats.org/drawingml/2006/main">
              <a:ext uri="{FF2B5EF4-FFF2-40B4-BE49-F238E27FC236}">
                <a16:creationId xmlns:a16="http://schemas.microsoft.com/office/drawing/2014/main" id="{AC3AAEEE-5AE4-45F9-8374-4ED4918CF5FE}"/>
              </a:ext>
            </a:extLst>
          </p:cNvPr>
          <p:cNvSpPr>
            <a:spLocks xmlns:a="http://schemas.openxmlformats.org/drawingml/2006/main" noGrp="1"/>
          </p:cNvSpPr>
          <p:nvPr/>
        </p:nvSpPr>
        <p:spPr>
          <a:xfrm xmlns:a="http://schemas.openxmlformats.org/drawingml/2006/main">
            <a:off x="51435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0">
                <a:solidFill>
                  <a:srgbClr val="707070"/>
                </a:solidFill>
              </a:defRPr>
            </a:defPPr>
            <a:lvl1pPr algn="l">
              <a:defRPr sz="600" b="0">
                <a:solidFill>
                  <a:srgbClr val="707070"/>
                </a:solidFill>
              </a:defRPr>
            </a:lvl1pPr>
            <a:lvl2pPr algn="l">
              <a:defRPr sz="600" b="0">
                <a:solidFill>
                  <a:srgbClr val="707070"/>
                </a:solidFill>
              </a:defRPr>
            </a:lvl2pPr>
            <a:lvl3pPr algn="l">
              <a:defRPr sz="600" b="0">
                <a:solidFill>
                  <a:srgbClr val="707070"/>
                </a:solidFill>
              </a:defRPr>
            </a:lvl3pPr>
            <a:lvl4pPr algn="l">
              <a:defRPr sz="600" b="0">
                <a:solidFill>
                  <a:srgbClr val="707070"/>
                </a:solidFill>
              </a:defRPr>
            </a:lvl4pPr>
            <a:lvl5pPr algn="l">
              <a:defRPr sz="600" b="0">
                <a:solidFill>
                  <a:srgbClr val="707070"/>
                </a:solidFill>
              </a:defRPr>
            </a:lvl5pPr>
            <a:lvl6pPr algn="l">
              <a:defRPr sz="600" b="0">
                <a:solidFill>
                  <a:srgbClr val="707070"/>
                </a:solidFill>
              </a:defRPr>
            </a:lvl6pPr>
            <a:lvl7pPr algn="l">
              <a:defRPr sz="600" b="0">
                <a:solidFill>
                  <a:srgbClr val="707070"/>
                </a:solidFill>
              </a:defRPr>
            </a:lvl7pPr>
            <a:lvl8pPr algn="l">
              <a:defRPr sz="600" b="0">
                <a:solidFill>
                  <a:srgbClr val="707070"/>
                </a:solidFill>
              </a:defRPr>
            </a:lvl8pPr>
            <a:lvl9pPr algn="l">
              <a:defRPr sz="600" b="0">
                <a:solidFill>
                  <a:srgbClr val="707070"/>
                </a:solidFill>
              </a:defRPr>
            </a:lvl9pPr>
          </a:lstStyle>
          <a:p xmlns:a="http://schemas.openxmlformats.org/drawingml/2006/main">
            <a:pPr algn="l">
              <a:defRPr sz="600" b="0">
                <a:solidFill>
                  <a:srgbClr val="707070"/>
                </a:solidFill>
              </a:defRPr>
            </a:pPr>
            <a:r>
              <a:rPr sz="600" b="0">
                <a:solidFill>
                  <a:srgbClr val="707070"/>
                </a:solidFill>
              </a:rPr>
              <a:t>QFI risk engine  |  saved data through 23 October 2026</a:t>
            </a:r>
          </a:p>
        </p:txBody>
      </p:sp>
      <p:sp>
        <p:nvSpPr>
          <p:cNvPr id="24" name="">
            <a:extLst xmlns:a="http://schemas.openxmlformats.org/drawingml/2006/main">
              <a:ext uri="{FF2B5EF4-FFF2-40B4-BE49-F238E27FC236}">
                <a16:creationId xmlns:a16="http://schemas.microsoft.com/office/drawing/2014/main" id="{32976C06-C90F-4D27-9A42-756BD2F676B6}"/>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111111"/>
                </a:solidFill>
              </a:defRPr>
            </a:defPPr>
            <a:lvl1pPr algn="r">
              <a:defRPr sz="675" b="1">
                <a:solidFill>
                  <a:srgbClr val="111111"/>
                </a:solidFill>
              </a:defRPr>
            </a:lvl1pPr>
            <a:lvl2pPr algn="r">
              <a:defRPr sz="675" b="1">
                <a:solidFill>
                  <a:srgbClr val="111111"/>
                </a:solidFill>
              </a:defRPr>
            </a:lvl2pPr>
            <a:lvl3pPr algn="r">
              <a:defRPr sz="675" b="1">
                <a:solidFill>
                  <a:srgbClr val="111111"/>
                </a:solidFill>
              </a:defRPr>
            </a:lvl3pPr>
            <a:lvl4pPr algn="r">
              <a:defRPr sz="675" b="1">
                <a:solidFill>
                  <a:srgbClr val="111111"/>
                </a:solidFill>
              </a:defRPr>
            </a:lvl4pPr>
            <a:lvl5pPr algn="r">
              <a:defRPr sz="675" b="1">
                <a:solidFill>
                  <a:srgbClr val="111111"/>
                </a:solidFill>
              </a:defRPr>
            </a:lvl5pPr>
            <a:lvl6pPr algn="r">
              <a:defRPr sz="675" b="1">
                <a:solidFill>
                  <a:srgbClr val="111111"/>
                </a:solidFill>
              </a:defRPr>
            </a:lvl6pPr>
            <a:lvl7pPr algn="r">
              <a:defRPr sz="675" b="1">
                <a:solidFill>
                  <a:srgbClr val="111111"/>
                </a:solidFill>
              </a:defRPr>
            </a:lvl7pPr>
            <a:lvl8pPr algn="r">
              <a:defRPr sz="675" b="1">
                <a:solidFill>
                  <a:srgbClr val="111111"/>
                </a:solidFill>
              </a:defRPr>
            </a:lvl8pPr>
            <a:lvl9pPr algn="r">
              <a:defRPr sz="675" b="1">
                <a:solidFill>
                  <a:srgbClr val="111111"/>
                </a:solidFill>
              </a:defRPr>
            </a:lvl9pPr>
          </a:lstStyle>
          <a:p xmlns:a="http://schemas.openxmlformats.org/drawingml/2006/main">
            <a:pPr algn="r">
              <a:defRPr sz="675" b="1">
                <a:solidFill>
                  <a:srgbClr val="111111"/>
                </a:solidFill>
              </a:defRPr>
            </a:pPr>
            <a:r>
              <a:rPr sz="675" b="1">
                <a:solidFill>
                  <a:srgbClr val="111111"/>
                </a:solidFill>
              </a:rPr>
              <a:t>17</a:t>
            </a:r>
          </a:p>
        </p:txBody>
      </p:sp>
    </p:spTree>
    <p:extLst>
      <p:ext uri="{BB962C8B-B14F-4D97-AF65-F5344CB8AC3E}">
        <p14:creationId xmlns:p14="http://schemas.microsoft.com/office/powerpoint/2010/main" val="190149522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5564FAA-F71F-44A7-8BD7-BF4AD57CD81A}"/>
              </a:ext>
            </a:extLst>
          </p:cNvPr>
          <p:cNvSpPr>
            <a:spLocks xmlns:a="http://schemas.openxmlformats.org/drawingml/2006/main" noGrp="1"/>
          </p:cNvSpPr>
          <p:nvPr/>
        </p:nvSpPr>
        <p:spPr>
          <a:xfrm xmlns:a="http://schemas.openxmlformats.org/drawingml/2006/main">
            <a:off x="514350" y="266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DECISIONS</a:t>
            </a:r>
          </a:p>
        </p:txBody>
      </p:sp>
      <p:sp>
        <p:nvSpPr>
          <p:cNvPr id="2" name="">
            <a:extLst xmlns:a="http://schemas.openxmlformats.org/drawingml/2006/main">
              <a:ext uri="{FF2B5EF4-FFF2-40B4-BE49-F238E27FC236}">
                <a16:creationId xmlns:a16="http://schemas.microsoft.com/office/drawing/2014/main" id="{F33F81A6-71DC-45E1-8975-67F18CDA4BFD}"/>
              </a:ext>
            </a:extLst>
          </p:cNvPr>
          <p:cNvSpPr>
            <a:spLocks xmlns:a="http://schemas.openxmlformats.org/drawingml/2006/main" noGrp="1"/>
          </p:cNvSpPr>
          <p:nvPr/>
        </p:nvSpPr>
        <p:spPr>
          <a:xfrm xmlns:a="http://schemas.openxmlformats.org/drawingml/2006/main">
            <a:off x="514350" y="6096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11111"/>
                </a:solidFill>
              </a:defRPr>
            </a:defPPr>
            <a:lvl1pPr algn="l">
              <a:defRPr sz="2550" b="1">
                <a:solidFill>
                  <a:srgbClr val="111111"/>
                </a:solidFill>
              </a:defRPr>
            </a:lvl1pPr>
            <a:lvl2pPr algn="l">
              <a:defRPr sz="2550" b="1">
                <a:solidFill>
                  <a:srgbClr val="111111"/>
                </a:solidFill>
              </a:defRPr>
            </a:lvl2pPr>
            <a:lvl3pPr algn="l">
              <a:defRPr sz="2550" b="1">
                <a:solidFill>
                  <a:srgbClr val="111111"/>
                </a:solidFill>
              </a:defRPr>
            </a:lvl3pPr>
            <a:lvl4pPr algn="l">
              <a:defRPr sz="2550" b="1">
                <a:solidFill>
                  <a:srgbClr val="111111"/>
                </a:solidFill>
              </a:defRPr>
            </a:lvl4pPr>
            <a:lvl5pPr algn="l">
              <a:defRPr sz="2550" b="1">
                <a:solidFill>
                  <a:srgbClr val="111111"/>
                </a:solidFill>
              </a:defRPr>
            </a:lvl5pPr>
            <a:lvl6pPr algn="l">
              <a:defRPr sz="2550" b="1">
                <a:solidFill>
                  <a:srgbClr val="111111"/>
                </a:solidFill>
              </a:defRPr>
            </a:lvl6pPr>
            <a:lvl7pPr algn="l">
              <a:defRPr sz="2550" b="1">
                <a:solidFill>
                  <a:srgbClr val="111111"/>
                </a:solidFill>
              </a:defRPr>
            </a:lvl7pPr>
            <a:lvl8pPr algn="l">
              <a:defRPr sz="2550" b="1">
                <a:solidFill>
                  <a:srgbClr val="111111"/>
                </a:solidFill>
              </a:defRPr>
            </a:lvl8pPr>
            <a:lvl9pPr algn="l">
              <a:defRPr sz="2550" b="1">
                <a:solidFill>
                  <a:srgbClr val="111111"/>
                </a:solidFill>
              </a:defRPr>
            </a:lvl9pPr>
          </a:lstStyle>
          <a:p xmlns:a="http://schemas.openxmlformats.org/drawingml/2006/main">
            <a:pPr algn="l">
              <a:defRPr sz="2550" b="1">
                <a:solidFill>
                  <a:srgbClr val="111111"/>
                </a:solidFill>
              </a:defRPr>
            </a:pPr>
            <a:r>
              <a:rPr sz="2550" b="1">
                <a:solidFill>
                  <a:srgbClr val="111111"/>
                </a:solidFill>
              </a:rPr>
              <a:t>The analytics support hedging or reallocation, not automatic trading</a:t>
            </a:r>
          </a:p>
        </p:txBody>
      </p:sp>
      <p:sp>
        <p:nvSpPr>
          <p:cNvPr id="3" name="">
            <a:extLst xmlns:a="http://schemas.openxmlformats.org/drawingml/2006/main">
              <a:ext uri="{FF2B5EF4-FFF2-40B4-BE49-F238E27FC236}">
                <a16:creationId xmlns:a16="http://schemas.microsoft.com/office/drawing/2014/main" id="{0AA490B7-73A7-47B2-BEC1-B24D41EE4BB3}"/>
              </a:ext>
            </a:extLst>
          </p:cNvPr>
          <p:cNvSpPr>
            <a:spLocks xmlns:a="http://schemas.openxmlformats.org/drawingml/2006/main" noGrp="1"/>
          </p:cNvSpPr>
          <p:nvPr/>
        </p:nvSpPr>
        <p:spPr>
          <a:xfrm xmlns:a="http://schemas.openxmlformats.org/drawingml/2006/main">
            <a:off x="514350" y="11430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Every action changes costs, exposures and the assumptions behind the risk estimate</a:t>
            </a:r>
          </a:p>
        </p:txBody>
      </p:sp>
      <p:sp>
        <p:nvSpPr>
          <p:cNvPr id="4" name="">
            <a:extLst xmlns:a="http://schemas.openxmlformats.org/drawingml/2006/main">
              <a:ext uri="{FF2B5EF4-FFF2-40B4-BE49-F238E27FC236}">
                <a16:creationId xmlns:a16="http://schemas.microsoft.com/office/drawing/2014/main" id="{3E34E862-98CA-4177-BBC5-03A528653C31}"/>
              </a:ext>
            </a:extLst>
          </p:cNvPr>
          <p:cNvSpPr>
            <a:spLocks xmlns:a="http://schemas.openxmlformats.org/drawingml/2006/main" noGrp="1"/>
          </p:cNvSpPr>
          <p:nvPr/>
        </p:nvSpPr>
        <p:spPr>
          <a:xfrm xmlns:a="http://schemas.openxmlformats.org/drawingml/2006/main">
            <a:off x="514350" y="1495425"/>
            <a:ext cx="111633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6F30E447-5185-4BB0-A3FC-E3ACC045E33F}"/>
              </a:ext>
            </a:extLst>
          </p:cNvPr>
          <p:cNvSpPr>
            <a:spLocks xmlns:a="http://schemas.openxmlformats.org/drawingml/2006/main" noGrp="1"/>
          </p:cNvSpPr>
          <p:nvPr/>
        </p:nvSpPr>
        <p:spPr>
          <a:xfrm xmlns:a="http://schemas.openxmlformats.org/drawingml/2006/main">
            <a:off x="504825" y="1724025"/>
            <a:ext cx="7258050" cy="2114550"/>
          </a:xfrm>
          <a:prstGeom xmlns:a="http://schemas.openxmlformats.org/drawingml/2006/main" prst="rect">
            <a:avLst/>
          </a:prstGeom>
          <a:solidFill xmlns:a="http://schemas.openxmlformats.org/drawingml/2006/main">
            <a:srgbClr val="FFFFFF"/>
          </a:solidFill>
          <a:ln xmlns:a="http://schemas.openxmlformats.org/drawingml/2006/main" w="9525">
            <a:solidFill>
              <a:srgbClr val="D8D8D4"/>
            </a:solidFill>
            <a:prstDash val="solid"/>
          </a:ln>
        </p:spPr>
      </p:sp>
      <p:sp>
        <p:nvSpPr>
          <p:cNvPr id="6" name="">
            <a:extLst xmlns:a="http://schemas.openxmlformats.org/drawingml/2006/main">
              <a:ext uri="{FF2B5EF4-FFF2-40B4-BE49-F238E27FC236}">
                <a16:creationId xmlns:a16="http://schemas.microsoft.com/office/drawing/2014/main" id="{AF712D09-F280-41E5-818F-6DD11199A6BD}"/>
              </a:ext>
            </a:extLst>
          </p:cNvPr>
          <p:cNvSpPr>
            <a:spLocks xmlns:a="http://schemas.openxmlformats.org/drawingml/2006/main" noGrp="1"/>
          </p:cNvSpPr>
          <p:nvPr/>
        </p:nvSpPr>
        <p:spPr>
          <a:xfrm xmlns:a="http://schemas.openxmlformats.org/drawingml/2006/main">
            <a:off x="628650" y="1800225"/>
            <a:ext cx="701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3535"/>
                </a:solidFill>
              </a:defRPr>
            </a:defPPr>
            <a:lvl1pPr algn="l">
              <a:defRPr sz="900" b="1">
                <a:solidFill>
                  <a:srgbClr val="353535"/>
                </a:solidFill>
              </a:defRPr>
            </a:lvl1pPr>
            <a:lvl2pPr algn="l">
              <a:defRPr sz="900" b="1">
                <a:solidFill>
                  <a:srgbClr val="353535"/>
                </a:solidFill>
              </a:defRPr>
            </a:lvl2pPr>
            <a:lvl3pPr algn="l">
              <a:defRPr sz="900" b="1">
                <a:solidFill>
                  <a:srgbClr val="353535"/>
                </a:solidFill>
              </a:defRPr>
            </a:lvl3pPr>
            <a:lvl4pPr algn="l">
              <a:defRPr sz="900" b="1">
                <a:solidFill>
                  <a:srgbClr val="353535"/>
                </a:solidFill>
              </a:defRPr>
            </a:lvl4pPr>
            <a:lvl5pPr algn="l">
              <a:defRPr sz="900" b="1">
                <a:solidFill>
                  <a:srgbClr val="353535"/>
                </a:solidFill>
              </a:defRPr>
            </a:lvl5pPr>
            <a:lvl6pPr algn="l">
              <a:defRPr sz="900" b="1">
                <a:solidFill>
                  <a:srgbClr val="353535"/>
                </a:solidFill>
              </a:defRPr>
            </a:lvl6pPr>
            <a:lvl7pPr algn="l">
              <a:defRPr sz="900" b="1">
                <a:solidFill>
                  <a:srgbClr val="353535"/>
                </a:solidFill>
              </a:defRPr>
            </a:lvl7pPr>
            <a:lvl8pPr algn="l">
              <a:defRPr sz="900" b="1">
                <a:solidFill>
                  <a:srgbClr val="353535"/>
                </a:solidFill>
              </a:defRPr>
            </a:lvl8pPr>
            <a:lvl9pPr algn="l">
              <a:defRPr sz="900" b="1">
                <a:solidFill>
                  <a:srgbClr val="353535"/>
                </a:solidFill>
              </a:defRPr>
            </a:lvl9pPr>
          </a:lstStyle>
          <a:p xmlns:a="http://schemas.openxmlformats.org/drawingml/2006/main">
            <a:pPr algn="l">
              <a:defRPr sz="900" b="1">
                <a:solidFill>
                  <a:srgbClr val="353535"/>
                </a:solidFill>
              </a:defRPr>
            </a:pPr>
            <a:r>
              <a:rPr sz="900" b="1">
                <a:solidFill>
                  <a:srgbClr val="353535"/>
                </a:solidFill>
              </a:rPr>
              <a:t>Portfolio weights before and after optimization</a:t>
            </a:r>
          </a:p>
        </p:txBody>
      </p:sp>
      <p:pic>
        <p:nvPicPr>
          <p:cNvPr id="7" name="">
            <a:extLst xmlns:a="http://schemas.openxmlformats.org/drawingml/2006/main">
              <a:ext uri="{FF2B5EF4-FFF2-40B4-BE49-F238E27FC236}">
                <a16:creationId xmlns:a16="http://schemas.microsoft.com/office/drawing/2014/main" id="{FCCA65A1-EDAE-48DC-BA6F-CFACBA744130}"/>
              </a:ext>
            </a:extLst>
          </p:cNvPr>
          <p:cNvPicPr>
            <a:picLocks xmlns:a="http://schemas.openxmlformats.org/drawingml/2006/main" noChangeAspect="1"/>
          </p:cNvPicPr>
          <p:nvPr/>
        </p:nvPicPr>
        <p:blipFill>
          <a:blip xmlns:r="http://schemas.openxmlformats.org/officeDocument/2006/relationships" xmlns:a="http://schemas.openxmlformats.org/drawingml/2006/main" r:embed="Racb9acdc848d4a5c"/>
          <a:stretch xmlns:a="http://schemas.openxmlformats.org/drawingml/2006/main"/>
        </p:blipFill>
        <p:spPr>
          <a:xfrm xmlns:a="http://schemas.openxmlformats.org/drawingml/2006/main">
            <a:off x="514350" y="2125314"/>
            <a:ext cx="7239000" cy="1569147"/>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1150A1C-7DE0-42D9-A077-A5BDB02309FB}"/>
              </a:ext>
            </a:extLst>
          </p:cNvPr>
          <p:cNvSpPr>
            <a:spLocks xmlns:a="http://schemas.openxmlformats.org/drawingml/2006/main" noGrp="1"/>
          </p:cNvSpPr>
          <p:nvPr/>
        </p:nvSpPr>
        <p:spPr>
          <a:xfrm xmlns:a="http://schemas.openxmlformats.org/drawingml/2006/main">
            <a:off x="8191500" y="18097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55E63"/>
                </a:solidFill>
              </a:defRPr>
            </a:defPPr>
            <a:lvl1pPr algn="l">
              <a:defRPr sz="2100" b="1">
                <a:solidFill>
                  <a:srgbClr val="155E63"/>
                </a:solidFill>
              </a:defRPr>
            </a:lvl1pPr>
            <a:lvl2pPr algn="l">
              <a:defRPr sz="2100" b="1">
                <a:solidFill>
                  <a:srgbClr val="155E63"/>
                </a:solidFill>
              </a:defRPr>
            </a:lvl2pPr>
            <a:lvl3pPr algn="l">
              <a:defRPr sz="2100" b="1">
                <a:solidFill>
                  <a:srgbClr val="155E63"/>
                </a:solidFill>
              </a:defRPr>
            </a:lvl3pPr>
            <a:lvl4pPr algn="l">
              <a:defRPr sz="2100" b="1">
                <a:solidFill>
                  <a:srgbClr val="155E63"/>
                </a:solidFill>
              </a:defRPr>
            </a:lvl4pPr>
            <a:lvl5pPr algn="l">
              <a:defRPr sz="2100" b="1">
                <a:solidFill>
                  <a:srgbClr val="155E63"/>
                </a:solidFill>
              </a:defRPr>
            </a:lvl5pPr>
            <a:lvl6pPr algn="l">
              <a:defRPr sz="2100" b="1">
                <a:solidFill>
                  <a:srgbClr val="155E63"/>
                </a:solidFill>
              </a:defRPr>
            </a:lvl6pPr>
            <a:lvl7pPr algn="l">
              <a:defRPr sz="2100" b="1">
                <a:solidFill>
                  <a:srgbClr val="155E63"/>
                </a:solidFill>
              </a:defRPr>
            </a:lvl7pPr>
            <a:lvl8pPr algn="l">
              <a:defRPr sz="2100" b="1">
                <a:solidFill>
                  <a:srgbClr val="155E63"/>
                </a:solidFill>
              </a:defRPr>
            </a:lvl8pPr>
            <a:lvl9pPr algn="l">
              <a:defRPr sz="2100" b="1">
                <a:solidFill>
                  <a:srgbClr val="155E63"/>
                </a:solidFill>
              </a:defRPr>
            </a:lvl9pPr>
          </a:lstStyle>
          <a:p xmlns:a="http://schemas.openxmlformats.org/drawingml/2006/main">
            <a:pPr algn="l">
              <a:defRPr sz="2100" b="1">
                <a:solidFill>
                  <a:srgbClr val="155E63"/>
                </a:solidFill>
              </a:defRPr>
            </a:pPr>
            <a:r>
              <a:rPr sz="2100" b="1">
                <a:solidFill>
                  <a:srgbClr val="155E63"/>
                </a:solidFill>
              </a:rPr>
              <a:t>58.6%</a:t>
            </a:r>
          </a:p>
        </p:txBody>
      </p:sp>
      <p:sp>
        <p:nvSpPr>
          <p:cNvPr id="9" name="">
            <a:extLst xmlns:a="http://schemas.openxmlformats.org/drawingml/2006/main">
              <a:ext uri="{FF2B5EF4-FFF2-40B4-BE49-F238E27FC236}">
                <a16:creationId xmlns:a16="http://schemas.microsoft.com/office/drawing/2014/main" id="{CC47EF94-6A0B-41A1-8C75-68F82CD30092}"/>
              </a:ext>
            </a:extLst>
          </p:cNvPr>
          <p:cNvSpPr>
            <a:spLocks xmlns:a="http://schemas.openxmlformats.org/drawingml/2006/main" noGrp="1"/>
          </p:cNvSpPr>
          <p:nvPr/>
        </p:nvSpPr>
        <p:spPr>
          <a:xfrm xmlns:a="http://schemas.openxmlformats.org/drawingml/2006/main">
            <a:off x="8191500" y="22098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illustrative SPY hedge VaR reduction</a:t>
            </a:r>
          </a:p>
        </p:txBody>
      </p:sp>
      <p:sp>
        <p:nvSpPr>
          <p:cNvPr id="10" name="">
            <a:extLst xmlns:a="http://schemas.openxmlformats.org/drawingml/2006/main">
              <a:ext uri="{FF2B5EF4-FFF2-40B4-BE49-F238E27FC236}">
                <a16:creationId xmlns:a16="http://schemas.microsoft.com/office/drawing/2014/main" id="{FC95A192-3C0B-43A7-86D3-17C0FC23802F}"/>
              </a:ext>
            </a:extLst>
          </p:cNvPr>
          <p:cNvSpPr>
            <a:spLocks xmlns:a="http://schemas.openxmlformats.org/drawingml/2006/main" noGrp="1"/>
          </p:cNvSpPr>
          <p:nvPr/>
        </p:nvSpPr>
        <p:spPr>
          <a:xfrm xmlns:a="http://schemas.openxmlformats.org/drawingml/2006/main">
            <a:off x="8191500" y="27241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11111"/>
                </a:solidFill>
              </a:defRPr>
            </a:defPPr>
            <a:lvl1pPr algn="l">
              <a:defRPr sz="2100" b="1">
                <a:solidFill>
                  <a:srgbClr val="111111"/>
                </a:solidFill>
              </a:defRPr>
            </a:lvl1pPr>
            <a:lvl2pPr algn="l">
              <a:defRPr sz="2100" b="1">
                <a:solidFill>
                  <a:srgbClr val="111111"/>
                </a:solidFill>
              </a:defRPr>
            </a:lvl2pPr>
            <a:lvl3pPr algn="l">
              <a:defRPr sz="2100" b="1">
                <a:solidFill>
                  <a:srgbClr val="111111"/>
                </a:solidFill>
              </a:defRPr>
            </a:lvl3pPr>
            <a:lvl4pPr algn="l">
              <a:defRPr sz="2100" b="1">
                <a:solidFill>
                  <a:srgbClr val="111111"/>
                </a:solidFill>
              </a:defRPr>
            </a:lvl4pPr>
            <a:lvl5pPr algn="l">
              <a:defRPr sz="2100" b="1">
                <a:solidFill>
                  <a:srgbClr val="111111"/>
                </a:solidFill>
              </a:defRPr>
            </a:lvl5pPr>
            <a:lvl6pPr algn="l">
              <a:defRPr sz="2100" b="1">
                <a:solidFill>
                  <a:srgbClr val="111111"/>
                </a:solidFill>
              </a:defRPr>
            </a:lvl6pPr>
            <a:lvl7pPr algn="l">
              <a:defRPr sz="2100" b="1">
                <a:solidFill>
                  <a:srgbClr val="111111"/>
                </a:solidFill>
              </a:defRPr>
            </a:lvl7pPr>
            <a:lvl8pPr algn="l">
              <a:defRPr sz="2100" b="1">
                <a:solidFill>
                  <a:srgbClr val="111111"/>
                </a:solidFill>
              </a:defRPr>
            </a:lvl8pPr>
            <a:lvl9pPr algn="l">
              <a:defRPr sz="2100" b="1">
                <a:solidFill>
                  <a:srgbClr val="111111"/>
                </a:solidFill>
              </a:defRPr>
            </a:lvl9pPr>
          </a:lstStyle>
          <a:p xmlns:a="http://schemas.openxmlformats.org/drawingml/2006/main">
            <a:pPr algn="l">
              <a:defRPr sz="2100" b="1">
                <a:solidFill>
                  <a:srgbClr val="111111"/>
                </a:solidFill>
              </a:defRPr>
            </a:pPr>
            <a:r>
              <a:rPr sz="2100" b="1">
                <a:solidFill>
                  <a:srgbClr val="111111"/>
                </a:solidFill>
              </a:rPr>
              <a:t>$230K</a:t>
            </a:r>
          </a:p>
        </p:txBody>
      </p:sp>
      <p:sp>
        <p:nvSpPr>
          <p:cNvPr id="11" name="">
            <a:extLst xmlns:a="http://schemas.openxmlformats.org/drawingml/2006/main">
              <a:ext uri="{FF2B5EF4-FFF2-40B4-BE49-F238E27FC236}">
                <a16:creationId xmlns:a16="http://schemas.microsoft.com/office/drawing/2014/main" id="{ED591FAD-3836-4D78-93BE-7BD3D82BFC0D}"/>
              </a:ext>
            </a:extLst>
          </p:cNvPr>
          <p:cNvSpPr>
            <a:spLocks xmlns:a="http://schemas.openxmlformats.org/drawingml/2006/main" noGrp="1"/>
          </p:cNvSpPr>
          <p:nvPr/>
        </p:nvSpPr>
        <p:spPr>
          <a:xfrm xmlns:a="http://schemas.openxmlformats.org/drawingml/2006/main">
            <a:off x="8191500" y="31242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optimized-split ES</a:t>
            </a:r>
          </a:p>
        </p:txBody>
      </p:sp>
      <p:sp>
        <p:nvSpPr>
          <p:cNvPr id="12" name="">
            <a:extLst xmlns:a="http://schemas.openxmlformats.org/drawingml/2006/main">
              <a:ext uri="{FF2B5EF4-FFF2-40B4-BE49-F238E27FC236}">
                <a16:creationId xmlns:a16="http://schemas.microsoft.com/office/drawing/2014/main" id="{E1024F92-41E1-4B2E-8C30-4FC5B268B046}"/>
              </a:ext>
            </a:extLst>
          </p:cNvPr>
          <p:cNvSpPr>
            <a:spLocks xmlns:a="http://schemas.openxmlformats.org/drawingml/2006/main" noGrp="1"/>
          </p:cNvSpPr>
          <p:nvPr/>
        </p:nvSpPr>
        <p:spPr>
          <a:xfrm xmlns:a="http://schemas.openxmlformats.org/drawingml/2006/main">
            <a:off x="8191500" y="36385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B42318"/>
                </a:solidFill>
              </a:defRPr>
            </a:defPPr>
            <a:lvl1pPr algn="l">
              <a:defRPr sz="2100" b="1">
                <a:solidFill>
                  <a:srgbClr val="B42318"/>
                </a:solidFill>
              </a:defRPr>
            </a:lvl1pPr>
            <a:lvl2pPr algn="l">
              <a:defRPr sz="2100" b="1">
                <a:solidFill>
                  <a:srgbClr val="B42318"/>
                </a:solidFill>
              </a:defRPr>
            </a:lvl2pPr>
            <a:lvl3pPr algn="l">
              <a:defRPr sz="2100" b="1">
                <a:solidFill>
                  <a:srgbClr val="B42318"/>
                </a:solidFill>
              </a:defRPr>
            </a:lvl3pPr>
            <a:lvl4pPr algn="l">
              <a:defRPr sz="2100" b="1">
                <a:solidFill>
                  <a:srgbClr val="B42318"/>
                </a:solidFill>
              </a:defRPr>
            </a:lvl4pPr>
            <a:lvl5pPr algn="l">
              <a:defRPr sz="2100" b="1">
                <a:solidFill>
                  <a:srgbClr val="B42318"/>
                </a:solidFill>
              </a:defRPr>
            </a:lvl5pPr>
            <a:lvl6pPr algn="l">
              <a:defRPr sz="2100" b="1">
                <a:solidFill>
                  <a:srgbClr val="B42318"/>
                </a:solidFill>
              </a:defRPr>
            </a:lvl6pPr>
            <a:lvl7pPr algn="l">
              <a:defRPr sz="2100" b="1">
                <a:solidFill>
                  <a:srgbClr val="B42318"/>
                </a:solidFill>
              </a:defRPr>
            </a:lvl7pPr>
            <a:lvl8pPr algn="l">
              <a:defRPr sz="2100" b="1">
                <a:solidFill>
                  <a:srgbClr val="B42318"/>
                </a:solidFill>
              </a:defRPr>
            </a:lvl8pPr>
            <a:lvl9pPr algn="l">
              <a:defRPr sz="2100" b="1">
                <a:solidFill>
                  <a:srgbClr val="B42318"/>
                </a:solidFill>
              </a:defRPr>
            </a:lvl9pPr>
          </a:lstStyle>
          <a:p xmlns:a="http://schemas.openxmlformats.org/drawingml/2006/main">
            <a:pPr algn="l">
              <a:defRPr sz="2100" b="1">
                <a:solidFill>
                  <a:srgbClr val="B42318"/>
                </a:solidFill>
              </a:defRPr>
            </a:pPr>
            <a:r>
              <a:rPr sz="2100" b="1">
                <a:solidFill>
                  <a:srgbClr val="B42318"/>
                </a:solidFill>
              </a:rPr>
              <a:t>$331K</a:t>
            </a:r>
          </a:p>
        </p:txBody>
      </p:sp>
      <p:sp>
        <p:nvSpPr>
          <p:cNvPr id="13" name="">
            <a:extLst xmlns:a="http://schemas.openxmlformats.org/drawingml/2006/main">
              <a:ext uri="{FF2B5EF4-FFF2-40B4-BE49-F238E27FC236}">
                <a16:creationId xmlns:a16="http://schemas.microsoft.com/office/drawing/2014/main" id="{6687A930-D7E3-4D5E-9E9E-C8E5527B5DEE}"/>
              </a:ext>
            </a:extLst>
          </p:cNvPr>
          <p:cNvSpPr>
            <a:spLocks xmlns:a="http://schemas.openxmlformats.org/drawingml/2006/main" noGrp="1"/>
          </p:cNvSpPr>
          <p:nvPr/>
        </p:nvSpPr>
        <p:spPr>
          <a:xfrm xmlns:a="http://schemas.openxmlformats.org/drawingml/2006/main">
            <a:off x="8191500" y="40386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current-split ES</a:t>
            </a:r>
          </a:p>
        </p:txBody>
      </p:sp>
      <p:sp>
        <p:nvSpPr>
          <p:cNvPr id="14" name="">
            <a:extLst xmlns:a="http://schemas.openxmlformats.org/drawingml/2006/main">
              <a:ext uri="{FF2B5EF4-FFF2-40B4-BE49-F238E27FC236}">
                <a16:creationId xmlns:a16="http://schemas.microsoft.com/office/drawing/2014/main" id="{8AC4169A-E5E0-486A-BF37-DA000CCAC6A4}"/>
              </a:ext>
            </a:extLst>
          </p:cNvPr>
          <p:cNvSpPr>
            <a:spLocks xmlns:a="http://schemas.openxmlformats.org/drawingml/2006/main" noGrp="1"/>
          </p:cNvSpPr>
          <p:nvPr/>
        </p:nvSpPr>
        <p:spPr>
          <a:xfrm xmlns:a="http://schemas.openxmlformats.org/drawingml/2006/main">
            <a:off x="514350" y="438150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15" name="">
            <a:extLst xmlns:a="http://schemas.openxmlformats.org/drawingml/2006/main">
              <a:ext uri="{FF2B5EF4-FFF2-40B4-BE49-F238E27FC236}">
                <a16:creationId xmlns:a16="http://schemas.microsoft.com/office/drawing/2014/main" id="{1503E82A-2E69-4770-83B2-4CF3B9BC5463}"/>
              </a:ext>
            </a:extLst>
          </p:cNvPr>
          <p:cNvSpPr>
            <a:spLocks xmlns:a="http://schemas.openxmlformats.org/drawingml/2006/main" noGrp="1"/>
          </p:cNvSpPr>
          <p:nvPr/>
        </p:nvSpPr>
        <p:spPr>
          <a:xfrm xmlns:a="http://schemas.openxmlformats.org/drawingml/2006/main">
            <a:off x="666750" y="4343400"/>
            <a:ext cx="480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Hedge</a:t>
            </a:r>
          </a:p>
        </p:txBody>
      </p:sp>
      <p:sp>
        <p:nvSpPr>
          <p:cNvPr id="16" name="">
            <a:extLst xmlns:a="http://schemas.openxmlformats.org/drawingml/2006/main">
              <a:ext uri="{FF2B5EF4-FFF2-40B4-BE49-F238E27FC236}">
                <a16:creationId xmlns:a16="http://schemas.microsoft.com/office/drawing/2014/main" id="{DE7E3013-A41A-4DC3-8498-CA558F00F9EE}"/>
              </a:ext>
            </a:extLst>
          </p:cNvPr>
          <p:cNvSpPr>
            <a:spLocks xmlns:a="http://schemas.openxmlformats.org/drawingml/2006/main" noGrp="1"/>
          </p:cNvSpPr>
          <p:nvPr/>
        </p:nvSpPr>
        <p:spPr>
          <a:xfrm xmlns:a="http://schemas.openxmlformats.org/drawingml/2006/main">
            <a:off x="666750" y="4581525"/>
            <a:ext cx="4800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A beta-neutral SPY example uses a −$10.50M short. It cuts modelled VaR but creates basis, financing and execution risk.</a:t>
            </a:r>
          </a:p>
        </p:txBody>
      </p:sp>
      <p:sp>
        <p:nvSpPr>
          <p:cNvPr id="17" name="">
            <a:extLst xmlns:a="http://schemas.openxmlformats.org/drawingml/2006/main">
              <a:ext uri="{FF2B5EF4-FFF2-40B4-BE49-F238E27FC236}">
                <a16:creationId xmlns:a16="http://schemas.microsoft.com/office/drawing/2014/main" id="{963B7B2F-1E41-403E-9CEC-E2EA2B7B4A63}"/>
              </a:ext>
            </a:extLst>
          </p:cNvPr>
          <p:cNvSpPr>
            <a:spLocks xmlns:a="http://schemas.openxmlformats.org/drawingml/2006/main" noGrp="1"/>
          </p:cNvSpPr>
          <p:nvPr/>
        </p:nvSpPr>
        <p:spPr>
          <a:xfrm xmlns:a="http://schemas.openxmlformats.org/drawingml/2006/main">
            <a:off x="5886450" y="4381500"/>
            <a:ext cx="38100" cy="457200"/>
          </a:xfrm>
          <a:prstGeom xmlns:a="http://schemas.openxmlformats.org/drawingml/2006/main" prst="rect">
            <a:avLst/>
          </a:prstGeom>
          <a:solidFill xmlns:a="http://schemas.openxmlformats.org/drawingml/2006/main">
            <a:srgbClr val="155E63"/>
          </a:solidFill>
          <a:ln xmlns:a="http://schemas.openxmlformats.org/drawingml/2006/main" w="0">
            <a:solidFill>
              <a:srgbClr val="155E63"/>
            </a:solidFill>
            <a:prstDash val="solid"/>
          </a:ln>
        </p:spPr>
      </p:sp>
      <p:sp>
        <p:nvSpPr>
          <p:cNvPr id="18" name="">
            <a:extLst xmlns:a="http://schemas.openxmlformats.org/drawingml/2006/main">
              <a:ext uri="{FF2B5EF4-FFF2-40B4-BE49-F238E27FC236}">
                <a16:creationId xmlns:a16="http://schemas.microsoft.com/office/drawing/2014/main" id="{6D9C78AD-C551-4585-81DC-061CFFBCEEE4}"/>
              </a:ext>
            </a:extLst>
          </p:cNvPr>
          <p:cNvSpPr>
            <a:spLocks xmlns:a="http://schemas.openxmlformats.org/drawingml/2006/main" noGrp="1"/>
          </p:cNvSpPr>
          <p:nvPr/>
        </p:nvSpPr>
        <p:spPr>
          <a:xfrm xmlns:a="http://schemas.openxmlformats.org/drawingml/2006/main">
            <a:off x="6038850" y="4343400"/>
            <a:ext cx="508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11111"/>
                </a:solidFill>
              </a:defRPr>
            </a:defPPr>
            <a:lvl1pPr algn="l">
              <a:defRPr sz="1125" b="1">
                <a:solidFill>
                  <a:srgbClr val="111111"/>
                </a:solidFill>
              </a:defRPr>
            </a:lvl1pPr>
            <a:lvl2pPr algn="l">
              <a:defRPr sz="1125" b="1">
                <a:solidFill>
                  <a:srgbClr val="111111"/>
                </a:solidFill>
              </a:defRPr>
            </a:lvl2pPr>
            <a:lvl3pPr algn="l">
              <a:defRPr sz="1125" b="1">
                <a:solidFill>
                  <a:srgbClr val="111111"/>
                </a:solidFill>
              </a:defRPr>
            </a:lvl3pPr>
            <a:lvl4pPr algn="l">
              <a:defRPr sz="1125" b="1">
                <a:solidFill>
                  <a:srgbClr val="111111"/>
                </a:solidFill>
              </a:defRPr>
            </a:lvl4pPr>
            <a:lvl5pPr algn="l">
              <a:defRPr sz="1125" b="1">
                <a:solidFill>
                  <a:srgbClr val="111111"/>
                </a:solidFill>
              </a:defRPr>
            </a:lvl5pPr>
            <a:lvl6pPr algn="l">
              <a:defRPr sz="1125" b="1">
                <a:solidFill>
                  <a:srgbClr val="111111"/>
                </a:solidFill>
              </a:defRPr>
            </a:lvl6pPr>
            <a:lvl7pPr algn="l">
              <a:defRPr sz="1125" b="1">
                <a:solidFill>
                  <a:srgbClr val="111111"/>
                </a:solidFill>
              </a:defRPr>
            </a:lvl7pPr>
            <a:lvl8pPr algn="l">
              <a:defRPr sz="1125" b="1">
                <a:solidFill>
                  <a:srgbClr val="111111"/>
                </a:solidFill>
              </a:defRPr>
            </a:lvl8pPr>
            <a:lvl9pPr algn="l">
              <a:defRPr sz="1125" b="1">
                <a:solidFill>
                  <a:srgbClr val="111111"/>
                </a:solidFill>
              </a:defRPr>
            </a:lvl9pPr>
          </a:lstStyle>
          <a:p xmlns:a="http://schemas.openxmlformats.org/drawingml/2006/main">
            <a:pPr algn="l">
              <a:defRPr sz="1125" b="1">
                <a:solidFill>
                  <a:srgbClr val="111111"/>
                </a:solidFill>
              </a:defRPr>
            </a:pPr>
            <a:r>
              <a:rPr sz="1125" b="1">
                <a:solidFill>
                  <a:srgbClr val="111111"/>
                </a:solidFill>
              </a:rPr>
              <a:t>Reallocate</a:t>
            </a:r>
          </a:p>
        </p:txBody>
      </p:sp>
      <p:sp>
        <p:nvSpPr>
          <p:cNvPr id="19" name="">
            <a:extLst xmlns:a="http://schemas.openxmlformats.org/drawingml/2006/main">
              <a:ext uri="{FF2B5EF4-FFF2-40B4-BE49-F238E27FC236}">
                <a16:creationId xmlns:a16="http://schemas.microsoft.com/office/drawing/2014/main" id="{5EB51159-2D76-4EA1-8072-D9466DAE6E28}"/>
              </a:ext>
            </a:extLst>
          </p:cNvPr>
          <p:cNvSpPr>
            <a:spLocks xmlns:a="http://schemas.openxmlformats.org/drawingml/2006/main" noGrp="1"/>
          </p:cNvSpPr>
          <p:nvPr/>
        </p:nvSpPr>
        <p:spPr>
          <a:xfrm xmlns:a="http://schemas.openxmlformats.org/drawingml/2006/main">
            <a:off x="6038850" y="4581525"/>
            <a:ext cx="5086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353535"/>
                </a:solidFill>
              </a:defRPr>
            </a:defPPr>
            <a:lvl1pPr algn="l">
              <a:defRPr sz="900" b="0">
                <a:solidFill>
                  <a:srgbClr val="353535"/>
                </a:solidFill>
              </a:defRPr>
            </a:lvl1pPr>
            <a:lvl2pPr algn="l">
              <a:defRPr sz="900" b="0">
                <a:solidFill>
                  <a:srgbClr val="353535"/>
                </a:solidFill>
              </a:defRPr>
            </a:lvl2pPr>
            <a:lvl3pPr algn="l">
              <a:defRPr sz="900" b="0">
                <a:solidFill>
                  <a:srgbClr val="353535"/>
                </a:solidFill>
              </a:defRPr>
            </a:lvl3pPr>
            <a:lvl4pPr algn="l">
              <a:defRPr sz="900" b="0">
                <a:solidFill>
                  <a:srgbClr val="353535"/>
                </a:solidFill>
              </a:defRPr>
            </a:lvl4pPr>
            <a:lvl5pPr algn="l">
              <a:defRPr sz="900" b="0">
                <a:solidFill>
                  <a:srgbClr val="353535"/>
                </a:solidFill>
              </a:defRPr>
            </a:lvl5pPr>
            <a:lvl6pPr algn="l">
              <a:defRPr sz="900" b="0">
                <a:solidFill>
                  <a:srgbClr val="353535"/>
                </a:solidFill>
              </a:defRPr>
            </a:lvl6pPr>
            <a:lvl7pPr algn="l">
              <a:defRPr sz="900" b="0">
                <a:solidFill>
                  <a:srgbClr val="353535"/>
                </a:solidFill>
              </a:defRPr>
            </a:lvl7pPr>
            <a:lvl8pPr algn="l">
              <a:defRPr sz="900" b="0">
                <a:solidFill>
                  <a:srgbClr val="353535"/>
                </a:solidFill>
              </a:defRPr>
            </a:lvl8pPr>
            <a:lvl9pPr algn="l">
              <a:defRPr sz="900" b="0">
                <a:solidFill>
                  <a:srgbClr val="353535"/>
                </a:solidFill>
              </a:defRPr>
            </a:lvl9pPr>
          </a:lstStyle>
          <a:p xmlns:a="http://schemas.openxmlformats.org/drawingml/2006/main">
            <a:pPr algn="l">
              <a:defRPr sz="900" b="0">
                <a:solidFill>
                  <a:srgbClr val="353535"/>
                </a:solidFill>
              </a:defRPr>
            </a:pPr>
            <a:r>
              <a:rPr sz="900" b="0">
                <a:solidFill>
                  <a:srgbClr val="353535"/>
                </a:solidFill>
              </a:rPr>
              <a:t>The historical optimization lowers tail risk but also changes expected return and concentrates the new portfolio in five names.</a:t>
            </a:r>
          </a:p>
        </p:txBody>
      </p:sp>
      <p:sp>
        <p:nvSpPr>
          <p:cNvPr id="20" name="">
            <a:extLst xmlns:a="http://schemas.openxmlformats.org/drawingml/2006/main">
              <a:ext uri="{FF2B5EF4-FFF2-40B4-BE49-F238E27FC236}">
                <a16:creationId xmlns:a16="http://schemas.microsoft.com/office/drawing/2014/main" id="{ABCEF011-EBD0-478F-9DA9-C5F095012805}"/>
              </a:ext>
            </a:extLst>
          </p:cNvPr>
          <p:cNvSpPr>
            <a:spLocks xmlns:a="http://schemas.openxmlformats.org/drawingml/2006/main" noGrp="1"/>
          </p:cNvSpPr>
          <p:nvPr/>
        </p:nvSpPr>
        <p:spPr>
          <a:xfrm xmlns:a="http://schemas.openxmlformats.org/drawingml/2006/main">
            <a:off x="514350" y="5734050"/>
            <a:ext cx="10610850" cy="457200"/>
          </a:xfrm>
          <a:prstGeom xmlns:a="http://schemas.openxmlformats.org/drawingml/2006/main" prst="rect">
            <a:avLst/>
          </a:prstGeom>
          <a:solidFill xmlns:a="http://schemas.openxmlformats.org/drawingml/2006/main">
            <a:srgbClr val="F3DEDA"/>
          </a:solidFill>
          <a:ln xmlns:a="http://schemas.openxmlformats.org/drawingml/2006/main" w="0">
            <a:solidFill>
              <a:srgbClr val="F3DEDA"/>
            </a:solidFill>
            <a:prstDash val="solid"/>
          </a:ln>
        </p:spPr>
      </p:sp>
      <p:sp>
        <p:nvSpPr>
          <p:cNvPr id="21" name="">
            <a:extLst xmlns:a="http://schemas.openxmlformats.org/drawingml/2006/main">
              <a:ext uri="{FF2B5EF4-FFF2-40B4-BE49-F238E27FC236}">
                <a16:creationId xmlns:a16="http://schemas.microsoft.com/office/drawing/2014/main" id="{A14FBDA9-F313-4CF4-A6A6-67145E13FC7A}"/>
              </a:ext>
            </a:extLst>
          </p:cNvPr>
          <p:cNvSpPr>
            <a:spLocks xmlns:a="http://schemas.openxmlformats.org/drawingml/2006/main" noGrp="1"/>
          </p:cNvSpPr>
          <p:nvPr/>
        </p:nvSpPr>
        <p:spPr>
          <a:xfrm xmlns:a="http://schemas.openxmlformats.org/drawingml/2006/main">
            <a:off x="514350" y="5734050"/>
            <a:ext cx="47625" cy="4572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22" name="">
            <a:extLst xmlns:a="http://schemas.openxmlformats.org/drawingml/2006/main">
              <a:ext uri="{FF2B5EF4-FFF2-40B4-BE49-F238E27FC236}">
                <a16:creationId xmlns:a16="http://schemas.microsoft.com/office/drawing/2014/main" id="{15D32E8E-5DD2-4FF3-9D2B-ED483573815F}"/>
              </a:ext>
            </a:extLst>
          </p:cNvPr>
          <p:cNvSpPr>
            <a:spLocks xmlns:a="http://schemas.openxmlformats.org/drawingml/2006/main" noGrp="1"/>
          </p:cNvSpPr>
          <p:nvPr/>
        </p:nvSpPr>
        <p:spPr>
          <a:xfrm xmlns:a="http://schemas.openxmlformats.org/drawingml/2006/main">
            <a:off x="685800" y="5781675"/>
            <a:ext cx="10325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353535"/>
                </a:solidFill>
              </a:defRPr>
            </a:defPPr>
            <a:lvl1pPr algn="l">
              <a:defRPr sz="1050" b="1">
                <a:solidFill>
                  <a:srgbClr val="353535"/>
                </a:solidFill>
              </a:defRPr>
            </a:lvl1pPr>
            <a:lvl2pPr algn="l">
              <a:defRPr sz="1050" b="1">
                <a:solidFill>
                  <a:srgbClr val="353535"/>
                </a:solidFill>
              </a:defRPr>
            </a:lvl2pPr>
            <a:lvl3pPr algn="l">
              <a:defRPr sz="1050" b="1">
                <a:solidFill>
                  <a:srgbClr val="353535"/>
                </a:solidFill>
              </a:defRPr>
            </a:lvl3pPr>
            <a:lvl4pPr algn="l">
              <a:defRPr sz="1050" b="1">
                <a:solidFill>
                  <a:srgbClr val="353535"/>
                </a:solidFill>
              </a:defRPr>
            </a:lvl4pPr>
            <a:lvl5pPr algn="l">
              <a:defRPr sz="1050" b="1">
                <a:solidFill>
                  <a:srgbClr val="353535"/>
                </a:solidFill>
              </a:defRPr>
            </a:lvl5pPr>
            <a:lvl6pPr algn="l">
              <a:defRPr sz="1050" b="1">
                <a:solidFill>
                  <a:srgbClr val="353535"/>
                </a:solidFill>
              </a:defRPr>
            </a:lvl6pPr>
            <a:lvl7pPr algn="l">
              <a:defRPr sz="1050" b="1">
                <a:solidFill>
                  <a:srgbClr val="353535"/>
                </a:solidFill>
              </a:defRPr>
            </a:lvl7pPr>
            <a:lvl8pPr algn="l">
              <a:defRPr sz="1050" b="1">
                <a:solidFill>
                  <a:srgbClr val="353535"/>
                </a:solidFill>
              </a:defRPr>
            </a:lvl8pPr>
            <a:lvl9pPr algn="l">
              <a:defRPr sz="1050" b="1">
                <a:solidFill>
                  <a:srgbClr val="353535"/>
                </a:solidFill>
              </a:defRPr>
            </a:lvl9pPr>
          </a:lstStyle>
          <a:p xmlns:a="http://schemas.openxmlformats.org/drawingml/2006/main">
            <a:pPr algn="l">
              <a:defRPr sz="1050" b="1">
                <a:solidFill>
                  <a:srgbClr val="353535"/>
                </a:solidFill>
              </a:defRPr>
            </a:pPr>
            <a:r>
              <a:rPr sz="1050" b="1">
                <a:solidFill>
                  <a:srgbClr val="353535"/>
                </a:solidFill>
              </a:rPr>
              <a:t>Before acting: test liquidity, transaction costs, taxes, borrowing constraints and performance on new data</a:t>
            </a:r>
          </a:p>
        </p:txBody>
      </p:sp>
      <p:sp>
        <p:nvSpPr>
          <p:cNvPr id="23" name="">
            <a:extLst xmlns:a="http://schemas.openxmlformats.org/drawingml/2006/main">
              <a:ext uri="{FF2B5EF4-FFF2-40B4-BE49-F238E27FC236}">
                <a16:creationId xmlns:a16="http://schemas.microsoft.com/office/drawing/2014/main" id="{21B05BE8-8C8B-48C6-819D-F69942EA640B}"/>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24" name="">
            <a:extLst xmlns:a="http://schemas.openxmlformats.org/drawingml/2006/main">
              <a:ext uri="{FF2B5EF4-FFF2-40B4-BE49-F238E27FC236}">
                <a16:creationId xmlns:a16="http://schemas.microsoft.com/office/drawing/2014/main" id="{C0B402B5-8C93-4C25-A730-14A4E8E62ABF}"/>
              </a:ext>
            </a:extLst>
          </p:cNvPr>
          <p:cNvSpPr>
            <a:spLocks xmlns:a="http://schemas.openxmlformats.org/drawingml/2006/main" noGrp="1"/>
          </p:cNvSpPr>
          <p:nvPr/>
        </p:nvSpPr>
        <p:spPr>
          <a:xfrm xmlns:a="http://schemas.openxmlformats.org/drawingml/2006/main">
            <a:off x="51435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0">
                <a:solidFill>
                  <a:srgbClr val="707070"/>
                </a:solidFill>
              </a:defRPr>
            </a:defPPr>
            <a:lvl1pPr algn="l">
              <a:defRPr sz="600" b="0">
                <a:solidFill>
                  <a:srgbClr val="707070"/>
                </a:solidFill>
              </a:defRPr>
            </a:lvl1pPr>
            <a:lvl2pPr algn="l">
              <a:defRPr sz="600" b="0">
                <a:solidFill>
                  <a:srgbClr val="707070"/>
                </a:solidFill>
              </a:defRPr>
            </a:lvl2pPr>
            <a:lvl3pPr algn="l">
              <a:defRPr sz="600" b="0">
                <a:solidFill>
                  <a:srgbClr val="707070"/>
                </a:solidFill>
              </a:defRPr>
            </a:lvl3pPr>
            <a:lvl4pPr algn="l">
              <a:defRPr sz="600" b="0">
                <a:solidFill>
                  <a:srgbClr val="707070"/>
                </a:solidFill>
              </a:defRPr>
            </a:lvl4pPr>
            <a:lvl5pPr algn="l">
              <a:defRPr sz="600" b="0">
                <a:solidFill>
                  <a:srgbClr val="707070"/>
                </a:solidFill>
              </a:defRPr>
            </a:lvl5pPr>
            <a:lvl6pPr algn="l">
              <a:defRPr sz="600" b="0">
                <a:solidFill>
                  <a:srgbClr val="707070"/>
                </a:solidFill>
              </a:defRPr>
            </a:lvl6pPr>
            <a:lvl7pPr algn="l">
              <a:defRPr sz="600" b="0">
                <a:solidFill>
                  <a:srgbClr val="707070"/>
                </a:solidFill>
              </a:defRPr>
            </a:lvl7pPr>
            <a:lvl8pPr algn="l">
              <a:defRPr sz="600" b="0">
                <a:solidFill>
                  <a:srgbClr val="707070"/>
                </a:solidFill>
              </a:defRPr>
            </a:lvl8pPr>
            <a:lvl9pPr algn="l">
              <a:defRPr sz="600" b="0">
                <a:solidFill>
                  <a:srgbClr val="707070"/>
                </a:solidFill>
              </a:defRPr>
            </a:lvl9pPr>
          </a:lstStyle>
          <a:p xmlns:a="http://schemas.openxmlformats.org/drawingml/2006/main">
            <a:pPr algn="l">
              <a:defRPr sz="600" b="0">
                <a:solidFill>
                  <a:srgbClr val="707070"/>
                </a:solidFill>
              </a:defRPr>
            </a:pPr>
            <a:r>
              <a:rPr sz="600" b="0">
                <a:solidFill>
                  <a:srgbClr val="707070"/>
                </a:solidFill>
              </a:rPr>
              <a:t>QFI risk engine  |  saved data through 23 October 2026</a:t>
            </a:r>
          </a:p>
        </p:txBody>
      </p:sp>
      <p:sp>
        <p:nvSpPr>
          <p:cNvPr id="25" name="">
            <a:extLst xmlns:a="http://schemas.openxmlformats.org/drawingml/2006/main">
              <a:ext uri="{FF2B5EF4-FFF2-40B4-BE49-F238E27FC236}">
                <a16:creationId xmlns:a16="http://schemas.microsoft.com/office/drawing/2014/main" id="{220CB618-FDDD-43E5-A277-AA3F84E8EF9F}"/>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111111"/>
                </a:solidFill>
              </a:defRPr>
            </a:defPPr>
            <a:lvl1pPr algn="r">
              <a:defRPr sz="675" b="1">
                <a:solidFill>
                  <a:srgbClr val="111111"/>
                </a:solidFill>
              </a:defRPr>
            </a:lvl1pPr>
            <a:lvl2pPr algn="r">
              <a:defRPr sz="675" b="1">
                <a:solidFill>
                  <a:srgbClr val="111111"/>
                </a:solidFill>
              </a:defRPr>
            </a:lvl2pPr>
            <a:lvl3pPr algn="r">
              <a:defRPr sz="675" b="1">
                <a:solidFill>
                  <a:srgbClr val="111111"/>
                </a:solidFill>
              </a:defRPr>
            </a:lvl3pPr>
            <a:lvl4pPr algn="r">
              <a:defRPr sz="675" b="1">
                <a:solidFill>
                  <a:srgbClr val="111111"/>
                </a:solidFill>
              </a:defRPr>
            </a:lvl4pPr>
            <a:lvl5pPr algn="r">
              <a:defRPr sz="675" b="1">
                <a:solidFill>
                  <a:srgbClr val="111111"/>
                </a:solidFill>
              </a:defRPr>
            </a:lvl5pPr>
            <a:lvl6pPr algn="r">
              <a:defRPr sz="675" b="1">
                <a:solidFill>
                  <a:srgbClr val="111111"/>
                </a:solidFill>
              </a:defRPr>
            </a:lvl6pPr>
            <a:lvl7pPr algn="r">
              <a:defRPr sz="675" b="1">
                <a:solidFill>
                  <a:srgbClr val="111111"/>
                </a:solidFill>
              </a:defRPr>
            </a:lvl7pPr>
            <a:lvl8pPr algn="r">
              <a:defRPr sz="675" b="1">
                <a:solidFill>
                  <a:srgbClr val="111111"/>
                </a:solidFill>
              </a:defRPr>
            </a:lvl8pPr>
            <a:lvl9pPr algn="r">
              <a:defRPr sz="675" b="1">
                <a:solidFill>
                  <a:srgbClr val="111111"/>
                </a:solidFill>
              </a:defRPr>
            </a:lvl9pPr>
          </a:lstStyle>
          <a:p xmlns:a="http://schemas.openxmlformats.org/drawingml/2006/main">
            <a:pPr algn="r">
              <a:defRPr sz="675" b="1">
                <a:solidFill>
                  <a:srgbClr val="111111"/>
                </a:solidFill>
              </a:defRPr>
            </a:pPr>
            <a:r>
              <a:rPr sz="675" b="1">
                <a:solidFill>
                  <a:srgbClr val="111111"/>
                </a:solidFill>
              </a:rPr>
              <a:t>18</a:t>
            </a:r>
          </a:p>
        </p:txBody>
      </p:sp>
    </p:spTree>
    <p:extLst>
      <p:ext uri="{BB962C8B-B14F-4D97-AF65-F5344CB8AC3E}">
        <p14:creationId xmlns:p14="http://schemas.microsoft.com/office/powerpoint/2010/main" val="23439566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F2526B4-27B7-49E2-8299-7FF2EFBA26B1}"/>
              </a:ext>
            </a:extLst>
          </p:cNvPr>
          <p:cNvSpPr>
            <a:spLocks xmlns:a="http://schemas.openxmlformats.org/drawingml/2006/main" noGrp="1"/>
          </p:cNvSpPr>
          <p:nvPr/>
        </p:nvSpPr>
        <p:spPr>
          <a:xfrm xmlns:a="http://schemas.openxmlformats.org/drawingml/2006/main">
            <a:off x="514350" y="266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GOVERNANCE</a:t>
            </a:r>
          </a:p>
        </p:txBody>
      </p:sp>
      <p:sp>
        <p:nvSpPr>
          <p:cNvPr id="2" name="">
            <a:extLst xmlns:a="http://schemas.openxmlformats.org/drawingml/2006/main">
              <a:ext uri="{FF2B5EF4-FFF2-40B4-BE49-F238E27FC236}">
                <a16:creationId xmlns:a16="http://schemas.microsoft.com/office/drawing/2014/main" id="{604AAC0D-5C9A-4565-B9E5-F5336D425748}"/>
              </a:ext>
            </a:extLst>
          </p:cNvPr>
          <p:cNvSpPr>
            <a:spLocks xmlns:a="http://schemas.openxmlformats.org/drawingml/2006/main" noGrp="1"/>
          </p:cNvSpPr>
          <p:nvPr/>
        </p:nvSpPr>
        <p:spPr>
          <a:xfrm xmlns:a="http://schemas.openxmlformats.org/drawingml/2006/main">
            <a:off x="514350" y="6096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11111"/>
                </a:solidFill>
              </a:defRPr>
            </a:defPPr>
            <a:lvl1pPr algn="l">
              <a:defRPr sz="2550" b="1">
                <a:solidFill>
                  <a:srgbClr val="111111"/>
                </a:solidFill>
              </a:defRPr>
            </a:lvl1pPr>
            <a:lvl2pPr algn="l">
              <a:defRPr sz="2550" b="1">
                <a:solidFill>
                  <a:srgbClr val="111111"/>
                </a:solidFill>
              </a:defRPr>
            </a:lvl2pPr>
            <a:lvl3pPr algn="l">
              <a:defRPr sz="2550" b="1">
                <a:solidFill>
                  <a:srgbClr val="111111"/>
                </a:solidFill>
              </a:defRPr>
            </a:lvl3pPr>
            <a:lvl4pPr algn="l">
              <a:defRPr sz="2550" b="1">
                <a:solidFill>
                  <a:srgbClr val="111111"/>
                </a:solidFill>
              </a:defRPr>
            </a:lvl4pPr>
            <a:lvl5pPr algn="l">
              <a:defRPr sz="2550" b="1">
                <a:solidFill>
                  <a:srgbClr val="111111"/>
                </a:solidFill>
              </a:defRPr>
            </a:lvl5pPr>
            <a:lvl6pPr algn="l">
              <a:defRPr sz="2550" b="1">
                <a:solidFill>
                  <a:srgbClr val="111111"/>
                </a:solidFill>
              </a:defRPr>
            </a:lvl6pPr>
            <a:lvl7pPr algn="l">
              <a:defRPr sz="2550" b="1">
                <a:solidFill>
                  <a:srgbClr val="111111"/>
                </a:solidFill>
              </a:defRPr>
            </a:lvl7pPr>
            <a:lvl8pPr algn="l">
              <a:defRPr sz="2550" b="1">
                <a:solidFill>
                  <a:srgbClr val="111111"/>
                </a:solidFill>
              </a:defRPr>
            </a:lvl8pPr>
            <a:lvl9pPr algn="l">
              <a:defRPr sz="2550" b="1">
                <a:solidFill>
                  <a:srgbClr val="111111"/>
                </a:solidFill>
              </a:defRPr>
            </a:lvl9pPr>
          </a:lstStyle>
          <a:p xmlns:a="http://schemas.openxmlformats.org/drawingml/2006/main">
            <a:pPr algn="l">
              <a:defRPr sz="2550" b="1">
                <a:solidFill>
                  <a:srgbClr val="111111"/>
                </a:solidFill>
              </a:defRPr>
            </a:pPr>
            <a:r>
              <a:rPr sz="2550" b="1">
                <a:solidFill>
                  <a:srgbClr val="111111"/>
                </a:solidFill>
              </a:rPr>
              <a:t>Risk limits turn model output into a repeatable control process</a:t>
            </a:r>
          </a:p>
        </p:txBody>
      </p:sp>
      <p:sp>
        <p:nvSpPr>
          <p:cNvPr id="3" name="">
            <a:extLst xmlns:a="http://schemas.openxmlformats.org/drawingml/2006/main">
              <a:ext uri="{FF2B5EF4-FFF2-40B4-BE49-F238E27FC236}">
                <a16:creationId xmlns:a16="http://schemas.microsoft.com/office/drawing/2014/main" id="{0F5B01EF-4C95-4BC6-89EB-6BEF167D263D}"/>
              </a:ext>
            </a:extLst>
          </p:cNvPr>
          <p:cNvSpPr>
            <a:spLocks xmlns:a="http://schemas.openxmlformats.org/drawingml/2006/main" noGrp="1"/>
          </p:cNvSpPr>
          <p:nvPr/>
        </p:nvSpPr>
        <p:spPr>
          <a:xfrm xmlns:a="http://schemas.openxmlformats.org/drawingml/2006/main">
            <a:off x="514350" y="11430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Numbers become useful only when ownership, escalation and review are explicit</a:t>
            </a:r>
          </a:p>
        </p:txBody>
      </p:sp>
      <p:sp>
        <p:nvSpPr>
          <p:cNvPr id="4" name="">
            <a:extLst xmlns:a="http://schemas.openxmlformats.org/drawingml/2006/main">
              <a:ext uri="{FF2B5EF4-FFF2-40B4-BE49-F238E27FC236}">
                <a16:creationId xmlns:a16="http://schemas.microsoft.com/office/drawing/2014/main" id="{A8E80B34-2A04-4EC0-A4E6-2B4B1C7BEBCD}"/>
              </a:ext>
            </a:extLst>
          </p:cNvPr>
          <p:cNvSpPr>
            <a:spLocks xmlns:a="http://schemas.openxmlformats.org/drawingml/2006/main" noGrp="1"/>
          </p:cNvSpPr>
          <p:nvPr/>
        </p:nvSpPr>
        <p:spPr>
          <a:xfrm xmlns:a="http://schemas.openxmlformats.org/drawingml/2006/main">
            <a:off x="514350" y="1495425"/>
            <a:ext cx="111633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62FC8D2E-B2AB-4625-9DBE-DCDA93ACA23C}"/>
              </a:ext>
            </a:extLst>
          </p:cNvPr>
          <p:cNvSpPr>
            <a:spLocks xmlns:a="http://schemas.openxmlformats.org/drawingml/2006/main" noGrp="1"/>
          </p:cNvSpPr>
          <p:nvPr/>
        </p:nvSpPr>
        <p:spPr>
          <a:xfrm xmlns:a="http://schemas.openxmlformats.org/drawingml/2006/main">
            <a:off x="590550" y="1752600"/>
            <a:ext cx="685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B42318"/>
                </a:solidFill>
              </a:defRPr>
            </a:defPPr>
            <a:lvl1pPr algn="l">
              <a:defRPr sz="1350" b="1">
                <a:solidFill>
                  <a:srgbClr val="B42318"/>
                </a:solidFill>
              </a:defRPr>
            </a:lvl1pPr>
            <a:lvl2pPr algn="l">
              <a:defRPr sz="1350" b="1">
                <a:solidFill>
                  <a:srgbClr val="B42318"/>
                </a:solidFill>
              </a:defRPr>
            </a:lvl2pPr>
            <a:lvl3pPr algn="l">
              <a:defRPr sz="1350" b="1">
                <a:solidFill>
                  <a:srgbClr val="B42318"/>
                </a:solidFill>
              </a:defRPr>
            </a:lvl3pPr>
            <a:lvl4pPr algn="l">
              <a:defRPr sz="1350" b="1">
                <a:solidFill>
                  <a:srgbClr val="B42318"/>
                </a:solidFill>
              </a:defRPr>
            </a:lvl4pPr>
            <a:lvl5pPr algn="l">
              <a:defRPr sz="1350" b="1">
                <a:solidFill>
                  <a:srgbClr val="B42318"/>
                </a:solidFill>
              </a:defRPr>
            </a:lvl5pPr>
            <a:lvl6pPr algn="l">
              <a:defRPr sz="1350" b="1">
                <a:solidFill>
                  <a:srgbClr val="B42318"/>
                </a:solidFill>
              </a:defRPr>
            </a:lvl6pPr>
            <a:lvl7pPr algn="l">
              <a:defRPr sz="1350" b="1">
                <a:solidFill>
                  <a:srgbClr val="B42318"/>
                </a:solidFill>
              </a:defRPr>
            </a:lvl7pPr>
            <a:lvl8pPr algn="l">
              <a:defRPr sz="1350" b="1">
                <a:solidFill>
                  <a:srgbClr val="B42318"/>
                </a:solidFill>
              </a:defRPr>
            </a:lvl8pPr>
            <a:lvl9pPr algn="l">
              <a:defRPr sz="1350" b="1">
                <a:solidFill>
                  <a:srgbClr val="B42318"/>
                </a:solidFill>
              </a:defRPr>
            </a:lvl9pPr>
          </a:lstStyle>
          <a:p xmlns:a="http://schemas.openxmlformats.org/drawingml/2006/main">
            <a:pPr algn="l">
              <a:defRPr sz="1350" b="1">
                <a:solidFill>
                  <a:srgbClr val="B42318"/>
                </a:solidFill>
              </a:defRPr>
            </a:pPr>
            <a:r>
              <a:rPr sz="1350" b="1">
                <a:solidFill>
                  <a:srgbClr val="B42318"/>
                </a:solidFill>
              </a:rPr>
              <a:t>01</a:t>
            </a:r>
          </a:p>
        </p:txBody>
      </p:sp>
      <p:sp>
        <p:nvSpPr>
          <p:cNvPr id="6" name="">
            <a:extLst xmlns:a="http://schemas.openxmlformats.org/drawingml/2006/main">
              <a:ext uri="{FF2B5EF4-FFF2-40B4-BE49-F238E27FC236}">
                <a16:creationId xmlns:a16="http://schemas.microsoft.com/office/drawing/2014/main" id="{B7AD70A0-9E8B-4487-A5FE-5226A8ED7FAA}"/>
              </a:ext>
            </a:extLst>
          </p:cNvPr>
          <p:cNvSpPr>
            <a:spLocks xmlns:a="http://schemas.openxmlformats.org/drawingml/2006/main" noGrp="1"/>
          </p:cNvSpPr>
          <p:nvPr/>
        </p:nvSpPr>
        <p:spPr>
          <a:xfrm xmlns:a="http://schemas.openxmlformats.org/drawingml/2006/main">
            <a:off x="1390650" y="17526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11111"/>
                </a:solidFill>
              </a:defRPr>
            </a:defPPr>
            <a:lvl1pPr algn="l">
              <a:defRPr sz="1500" b="1">
                <a:solidFill>
                  <a:srgbClr val="111111"/>
                </a:solidFill>
              </a:defRPr>
            </a:lvl1pPr>
            <a:lvl2pPr algn="l">
              <a:defRPr sz="1500" b="1">
                <a:solidFill>
                  <a:srgbClr val="111111"/>
                </a:solidFill>
              </a:defRPr>
            </a:lvl2pPr>
            <a:lvl3pPr algn="l">
              <a:defRPr sz="1500" b="1">
                <a:solidFill>
                  <a:srgbClr val="111111"/>
                </a:solidFill>
              </a:defRPr>
            </a:lvl3pPr>
            <a:lvl4pPr algn="l">
              <a:defRPr sz="1500" b="1">
                <a:solidFill>
                  <a:srgbClr val="111111"/>
                </a:solidFill>
              </a:defRPr>
            </a:lvl4pPr>
            <a:lvl5pPr algn="l">
              <a:defRPr sz="1500" b="1">
                <a:solidFill>
                  <a:srgbClr val="111111"/>
                </a:solidFill>
              </a:defRPr>
            </a:lvl5pPr>
            <a:lvl6pPr algn="l">
              <a:defRPr sz="1500" b="1">
                <a:solidFill>
                  <a:srgbClr val="111111"/>
                </a:solidFill>
              </a:defRPr>
            </a:lvl6pPr>
            <a:lvl7pPr algn="l">
              <a:defRPr sz="1500" b="1">
                <a:solidFill>
                  <a:srgbClr val="111111"/>
                </a:solidFill>
              </a:defRPr>
            </a:lvl7pPr>
            <a:lvl8pPr algn="l">
              <a:defRPr sz="1500" b="1">
                <a:solidFill>
                  <a:srgbClr val="111111"/>
                </a:solidFill>
              </a:defRPr>
            </a:lvl8pPr>
            <a:lvl9pPr algn="l">
              <a:defRPr sz="1500" b="1">
                <a:solidFill>
                  <a:srgbClr val="111111"/>
                </a:solidFill>
              </a:defRPr>
            </a:lvl9pPr>
          </a:lstStyle>
          <a:p xmlns:a="http://schemas.openxmlformats.org/drawingml/2006/main">
            <a:pPr algn="l">
              <a:defRPr sz="1500" b="1">
                <a:solidFill>
                  <a:srgbClr val="111111"/>
                </a:solidFill>
              </a:defRPr>
            </a:pPr>
            <a:r>
              <a:rPr sz="1500" b="1">
                <a:solidFill>
                  <a:srgbClr val="111111"/>
                </a:solidFill>
              </a:rPr>
              <a:t>Monitor</a:t>
            </a:r>
          </a:p>
        </p:txBody>
      </p:sp>
      <p:sp>
        <p:nvSpPr>
          <p:cNvPr id="7" name="">
            <a:extLst xmlns:a="http://schemas.openxmlformats.org/drawingml/2006/main">
              <a:ext uri="{FF2B5EF4-FFF2-40B4-BE49-F238E27FC236}">
                <a16:creationId xmlns:a16="http://schemas.microsoft.com/office/drawing/2014/main" id="{F3ECCFB3-B400-484C-AAF7-FC483191ED5A}"/>
              </a:ext>
            </a:extLst>
          </p:cNvPr>
          <p:cNvSpPr>
            <a:spLocks xmlns:a="http://schemas.openxmlformats.org/drawingml/2006/main" noGrp="1"/>
          </p:cNvSpPr>
          <p:nvPr/>
        </p:nvSpPr>
        <p:spPr>
          <a:xfrm xmlns:a="http://schemas.openxmlformats.org/drawingml/2006/main">
            <a:off x="3429000" y="1771650"/>
            <a:ext cx="742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Calculate primary, challenger and benchmark VaR each day.</a:t>
            </a:r>
          </a:p>
        </p:txBody>
      </p:sp>
      <p:sp>
        <p:nvSpPr>
          <p:cNvPr id="8" name="">
            <a:extLst xmlns:a="http://schemas.openxmlformats.org/drawingml/2006/main">
              <a:ext uri="{FF2B5EF4-FFF2-40B4-BE49-F238E27FC236}">
                <a16:creationId xmlns:a16="http://schemas.microsoft.com/office/drawing/2014/main" id="{2A8B78B3-771D-4363-B6A4-02173884E137}"/>
              </a:ext>
            </a:extLst>
          </p:cNvPr>
          <p:cNvSpPr>
            <a:spLocks xmlns:a="http://schemas.openxmlformats.org/drawingml/2006/main" noGrp="1"/>
          </p:cNvSpPr>
          <p:nvPr/>
        </p:nvSpPr>
        <p:spPr>
          <a:xfrm xmlns:a="http://schemas.openxmlformats.org/drawingml/2006/main">
            <a:off x="1390650" y="2305050"/>
            <a:ext cx="94869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9" name="">
            <a:extLst xmlns:a="http://schemas.openxmlformats.org/drawingml/2006/main">
              <a:ext uri="{FF2B5EF4-FFF2-40B4-BE49-F238E27FC236}">
                <a16:creationId xmlns:a16="http://schemas.microsoft.com/office/drawing/2014/main" id="{8FD1A4AA-C3FB-40CB-B2A3-54CD6AEA78C5}"/>
              </a:ext>
            </a:extLst>
          </p:cNvPr>
          <p:cNvSpPr>
            <a:spLocks xmlns:a="http://schemas.openxmlformats.org/drawingml/2006/main" noGrp="1"/>
          </p:cNvSpPr>
          <p:nvPr/>
        </p:nvSpPr>
        <p:spPr>
          <a:xfrm xmlns:a="http://schemas.openxmlformats.org/drawingml/2006/main">
            <a:off x="590550" y="2552700"/>
            <a:ext cx="685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B42318"/>
                </a:solidFill>
              </a:defRPr>
            </a:defPPr>
            <a:lvl1pPr algn="l">
              <a:defRPr sz="1350" b="1">
                <a:solidFill>
                  <a:srgbClr val="B42318"/>
                </a:solidFill>
              </a:defRPr>
            </a:lvl1pPr>
            <a:lvl2pPr algn="l">
              <a:defRPr sz="1350" b="1">
                <a:solidFill>
                  <a:srgbClr val="B42318"/>
                </a:solidFill>
              </a:defRPr>
            </a:lvl2pPr>
            <a:lvl3pPr algn="l">
              <a:defRPr sz="1350" b="1">
                <a:solidFill>
                  <a:srgbClr val="B42318"/>
                </a:solidFill>
              </a:defRPr>
            </a:lvl3pPr>
            <a:lvl4pPr algn="l">
              <a:defRPr sz="1350" b="1">
                <a:solidFill>
                  <a:srgbClr val="B42318"/>
                </a:solidFill>
              </a:defRPr>
            </a:lvl4pPr>
            <a:lvl5pPr algn="l">
              <a:defRPr sz="1350" b="1">
                <a:solidFill>
                  <a:srgbClr val="B42318"/>
                </a:solidFill>
              </a:defRPr>
            </a:lvl5pPr>
            <a:lvl6pPr algn="l">
              <a:defRPr sz="1350" b="1">
                <a:solidFill>
                  <a:srgbClr val="B42318"/>
                </a:solidFill>
              </a:defRPr>
            </a:lvl6pPr>
            <a:lvl7pPr algn="l">
              <a:defRPr sz="1350" b="1">
                <a:solidFill>
                  <a:srgbClr val="B42318"/>
                </a:solidFill>
              </a:defRPr>
            </a:lvl7pPr>
            <a:lvl8pPr algn="l">
              <a:defRPr sz="1350" b="1">
                <a:solidFill>
                  <a:srgbClr val="B42318"/>
                </a:solidFill>
              </a:defRPr>
            </a:lvl8pPr>
            <a:lvl9pPr algn="l">
              <a:defRPr sz="1350" b="1">
                <a:solidFill>
                  <a:srgbClr val="B42318"/>
                </a:solidFill>
              </a:defRPr>
            </a:lvl9pPr>
          </a:lstStyle>
          <a:p xmlns:a="http://schemas.openxmlformats.org/drawingml/2006/main">
            <a:pPr algn="l">
              <a:defRPr sz="1350" b="1">
                <a:solidFill>
                  <a:srgbClr val="B42318"/>
                </a:solidFill>
              </a:defRPr>
            </a:pPr>
            <a:r>
              <a:rPr sz="1350" b="1">
                <a:solidFill>
                  <a:srgbClr val="B42318"/>
                </a:solidFill>
              </a:rPr>
              <a:t>02</a:t>
            </a:r>
          </a:p>
        </p:txBody>
      </p:sp>
      <p:sp>
        <p:nvSpPr>
          <p:cNvPr id="10" name="">
            <a:extLst xmlns:a="http://schemas.openxmlformats.org/drawingml/2006/main">
              <a:ext uri="{FF2B5EF4-FFF2-40B4-BE49-F238E27FC236}">
                <a16:creationId xmlns:a16="http://schemas.microsoft.com/office/drawing/2014/main" id="{2A7CB804-EE43-42DF-8C7F-8ABB4B2CE583}"/>
              </a:ext>
            </a:extLst>
          </p:cNvPr>
          <p:cNvSpPr>
            <a:spLocks xmlns:a="http://schemas.openxmlformats.org/drawingml/2006/main" noGrp="1"/>
          </p:cNvSpPr>
          <p:nvPr/>
        </p:nvSpPr>
        <p:spPr>
          <a:xfrm xmlns:a="http://schemas.openxmlformats.org/drawingml/2006/main">
            <a:off x="1390650" y="25527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11111"/>
                </a:solidFill>
              </a:defRPr>
            </a:defPPr>
            <a:lvl1pPr algn="l">
              <a:defRPr sz="1500" b="1">
                <a:solidFill>
                  <a:srgbClr val="111111"/>
                </a:solidFill>
              </a:defRPr>
            </a:lvl1pPr>
            <a:lvl2pPr algn="l">
              <a:defRPr sz="1500" b="1">
                <a:solidFill>
                  <a:srgbClr val="111111"/>
                </a:solidFill>
              </a:defRPr>
            </a:lvl2pPr>
            <a:lvl3pPr algn="l">
              <a:defRPr sz="1500" b="1">
                <a:solidFill>
                  <a:srgbClr val="111111"/>
                </a:solidFill>
              </a:defRPr>
            </a:lvl3pPr>
            <a:lvl4pPr algn="l">
              <a:defRPr sz="1500" b="1">
                <a:solidFill>
                  <a:srgbClr val="111111"/>
                </a:solidFill>
              </a:defRPr>
            </a:lvl4pPr>
            <a:lvl5pPr algn="l">
              <a:defRPr sz="1500" b="1">
                <a:solidFill>
                  <a:srgbClr val="111111"/>
                </a:solidFill>
              </a:defRPr>
            </a:lvl5pPr>
            <a:lvl6pPr algn="l">
              <a:defRPr sz="1500" b="1">
                <a:solidFill>
                  <a:srgbClr val="111111"/>
                </a:solidFill>
              </a:defRPr>
            </a:lvl6pPr>
            <a:lvl7pPr algn="l">
              <a:defRPr sz="1500" b="1">
                <a:solidFill>
                  <a:srgbClr val="111111"/>
                </a:solidFill>
              </a:defRPr>
            </a:lvl7pPr>
            <a:lvl8pPr algn="l">
              <a:defRPr sz="1500" b="1">
                <a:solidFill>
                  <a:srgbClr val="111111"/>
                </a:solidFill>
              </a:defRPr>
            </a:lvl8pPr>
            <a:lvl9pPr algn="l">
              <a:defRPr sz="1500" b="1">
                <a:solidFill>
                  <a:srgbClr val="111111"/>
                </a:solidFill>
              </a:defRPr>
            </a:lvl9pPr>
          </a:lstStyle>
          <a:p xmlns:a="http://schemas.openxmlformats.org/drawingml/2006/main">
            <a:pPr algn="l">
              <a:defRPr sz="1500" b="1">
                <a:solidFill>
                  <a:srgbClr val="111111"/>
                </a:solidFill>
              </a:defRPr>
            </a:pPr>
            <a:r>
              <a:rPr sz="1500" b="1">
                <a:solidFill>
                  <a:srgbClr val="111111"/>
                </a:solidFill>
              </a:rPr>
              <a:t>Investigate</a:t>
            </a:r>
          </a:p>
        </p:txBody>
      </p:sp>
      <p:sp>
        <p:nvSpPr>
          <p:cNvPr id="11" name="">
            <a:extLst xmlns:a="http://schemas.openxmlformats.org/drawingml/2006/main">
              <a:ext uri="{FF2B5EF4-FFF2-40B4-BE49-F238E27FC236}">
                <a16:creationId xmlns:a16="http://schemas.microsoft.com/office/drawing/2014/main" id="{3A6DF5A6-1659-49BD-A07B-BBC7F598B821}"/>
              </a:ext>
            </a:extLst>
          </p:cNvPr>
          <p:cNvSpPr>
            <a:spLocks xmlns:a="http://schemas.openxmlformats.org/drawingml/2006/main" noGrp="1"/>
          </p:cNvSpPr>
          <p:nvPr/>
        </p:nvSpPr>
        <p:spPr>
          <a:xfrm xmlns:a="http://schemas.openxmlformats.org/drawingml/2006/main">
            <a:off x="3429000" y="2571750"/>
            <a:ext cx="742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Review every exception, data issue and unexplained model divergence.</a:t>
            </a:r>
          </a:p>
        </p:txBody>
      </p:sp>
      <p:sp>
        <p:nvSpPr>
          <p:cNvPr id="12" name="">
            <a:extLst xmlns:a="http://schemas.openxmlformats.org/drawingml/2006/main">
              <a:ext uri="{FF2B5EF4-FFF2-40B4-BE49-F238E27FC236}">
                <a16:creationId xmlns:a16="http://schemas.microsoft.com/office/drawing/2014/main" id="{ED3AB37E-E66A-42CD-B0F5-0FAC257EA4EB}"/>
              </a:ext>
            </a:extLst>
          </p:cNvPr>
          <p:cNvSpPr>
            <a:spLocks xmlns:a="http://schemas.openxmlformats.org/drawingml/2006/main" noGrp="1"/>
          </p:cNvSpPr>
          <p:nvPr/>
        </p:nvSpPr>
        <p:spPr>
          <a:xfrm xmlns:a="http://schemas.openxmlformats.org/drawingml/2006/main">
            <a:off x="1390650" y="3105150"/>
            <a:ext cx="94869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13" name="">
            <a:extLst xmlns:a="http://schemas.openxmlformats.org/drawingml/2006/main">
              <a:ext uri="{FF2B5EF4-FFF2-40B4-BE49-F238E27FC236}">
                <a16:creationId xmlns:a16="http://schemas.microsoft.com/office/drawing/2014/main" id="{9C10D3CC-4D79-454E-A065-5670771EFB27}"/>
              </a:ext>
            </a:extLst>
          </p:cNvPr>
          <p:cNvSpPr>
            <a:spLocks xmlns:a="http://schemas.openxmlformats.org/drawingml/2006/main" noGrp="1"/>
          </p:cNvSpPr>
          <p:nvPr/>
        </p:nvSpPr>
        <p:spPr>
          <a:xfrm xmlns:a="http://schemas.openxmlformats.org/drawingml/2006/main">
            <a:off x="590550" y="3352800"/>
            <a:ext cx="685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B42318"/>
                </a:solidFill>
              </a:defRPr>
            </a:defPPr>
            <a:lvl1pPr algn="l">
              <a:defRPr sz="1350" b="1">
                <a:solidFill>
                  <a:srgbClr val="B42318"/>
                </a:solidFill>
              </a:defRPr>
            </a:lvl1pPr>
            <a:lvl2pPr algn="l">
              <a:defRPr sz="1350" b="1">
                <a:solidFill>
                  <a:srgbClr val="B42318"/>
                </a:solidFill>
              </a:defRPr>
            </a:lvl2pPr>
            <a:lvl3pPr algn="l">
              <a:defRPr sz="1350" b="1">
                <a:solidFill>
                  <a:srgbClr val="B42318"/>
                </a:solidFill>
              </a:defRPr>
            </a:lvl3pPr>
            <a:lvl4pPr algn="l">
              <a:defRPr sz="1350" b="1">
                <a:solidFill>
                  <a:srgbClr val="B42318"/>
                </a:solidFill>
              </a:defRPr>
            </a:lvl4pPr>
            <a:lvl5pPr algn="l">
              <a:defRPr sz="1350" b="1">
                <a:solidFill>
                  <a:srgbClr val="B42318"/>
                </a:solidFill>
              </a:defRPr>
            </a:lvl5pPr>
            <a:lvl6pPr algn="l">
              <a:defRPr sz="1350" b="1">
                <a:solidFill>
                  <a:srgbClr val="B42318"/>
                </a:solidFill>
              </a:defRPr>
            </a:lvl6pPr>
            <a:lvl7pPr algn="l">
              <a:defRPr sz="1350" b="1">
                <a:solidFill>
                  <a:srgbClr val="B42318"/>
                </a:solidFill>
              </a:defRPr>
            </a:lvl7pPr>
            <a:lvl8pPr algn="l">
              <a:defRPr sz="1350" b="1">
                <a:solidFill>
                  <a:srgbClr val="B42318"/>
                </a:solidFill>
              </a:defRPr>
            </a:lvl8pPr>
            <a:lvl9pPr algn="l">
              <a:defRPr sz="1350" b="1">
                <a:solidFill>
                  <a:srgbClr val="B42318"/>
                </a:solidFill>
              </a:defRPr>
            </a:lvl9pPr>
          </a:lstStyle>
          <a:p xmlns:a="http://schemas.openxmlformats.org/drawingml/2006/main">
            <a:pPr algn="l">
              <a:defRPr sz="1350" b="1">
                <a:solidFill>
                  <a:srgbClr val="B42318"/>
                </a:solidFill>
              </a:defRPr>
            </a:pPr>
            <a:r>
              <a:rPr sz="1350" b="1">
                <a:solidFill>
                  <a:srgbClr val="B42318"/>
                </a:solidFill>
              </a:rPr>
              <a:t>03</a:t>
            </a:r>
          </a:p>
        </p:txBody>
      </p:sp>
      <p:sp>
        <p:nvSpPr>
          <p:cNvPr id="14" name="">
            <a:extLst xmlns:a="http://schemas.openxmlformats.org/drawingml/2006/main">
              <a:ext uri="{FF2B5EF4-FFF2-40B4-BE49-F238E27FC236}">
                <a16:creationId xmlns:a16="http://schemas.microsoft.com/office/drawing/2014/main" id="{D831794E-4BEA-439F-A769-DE60A9D97601}"/>
              </a:ext>
            </a:extLst>
          </p:cNvPr>
          <p:cNvSpPr>
            <a:spLocks xmlns:a="http://schemas.openxmlformats.org/drawingml/2006/main" noGrp="1"/>
          </p:cNvSpPr>
          <p:nvPr/>
        </p:nvSpPr>
        <p:spPr>
          <a:xfrm xmlns:a="http://schemas.openxmlformats.org/drawingml/2006/main">
            <a:off x="1390650" y="33528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11111"/>
                </a:solidFill>
              </a:defRPr>
            </a:defPPr>
            <a:lvl1pPr algn="l">
              <a:defRPr sz="1500" b="1">
                <a:solidFill>
                  <a:srgbClr val="111111"/>
                </a:solidFill>
              </a:defRPr>
            </a:lvl1pPr>
            <a:lvl2pPr algn="l">
              <a:defRPr sz="1500" b="1">
                <a:solidFill>
                  <a:srgbClr val="111111"/>
                </a:solidFill>
              </a:defRPr>
            </a:lvl2pPr>
            <a:lvl3pPr algn="l">
              <a:defRPr sz="1500" b="1">
                <a:solidFill>
                  <a:srgbClr val="111111"/>
                </a:solidFill>
              </a:defRPr>
            </a:lvl3pPr>
            <a:lvl4pPr algn="l">
              <a:defRPr sz="1500" b="1">
                <a:solidFill>
                  <a:srgbClr val="111111"/>
                </a:solidFill>
              </a:defRPr>
            </a:lvl4pPr>
            <a:lvl5pPr algn="l">
              <a:defRPr sz="1500" b="1">
                <a:solidFill>
                  <a:srgbClr val="111111"/>
                </a:solidFill>
              </a:defRPr>
            </a:lvl5pPr>
            <a:lvl6pPr algn="l">
              <a:defRPr sz="1500" b="1">
                <a:solidFill>
                  <a:srgbClr val="111111"/>
                </a:solidFill>
              </a:defRPr>
            </a:lvl6pPr>
            <a:lvl7pPr algn="l">
              <a:defRPr sz="1500" b="1">
                <a:solidFill>
                  <a:srgbClr val="111111"/>
                </a:solidFill>
              </a:defRPr>
            </a:lvl7pPr>
            <a:lvl8pPr algn="l">
              <a:defRPr sz="1500" b="1">
                <a:solidFill>
                  <a:srgbClr val="111111"/>
                </a:solidFill>
              </a:defRPr>
            </a:lvl8pPr>
            <a:lvl9pPr algn="l">
              <a:defRPr sz="1500" b="1">
                <a:solidFill>
                  <a:srgbClr val="111111"/>
                </a:solidFill>
              </a:defRPr>
            </a:lvl9pPr>
          </a:lstStyle>
          <a:p xmlns:a="http://schemas.openxmlformats.org/drawingml/2006/main">
            <a:pPr algn="l">
              <a:defRPr sz="1500" b="1">
                <a:solidFill>
                  <a:srgbClr val="111111"/>
                </a:solidFill>
              </a:defRPr>
            </a:pPr>
            <a:r>
              <a:rPr sz="1500" b="1">
                <a:solidFill>
                  <a:srgbClr val="111111"/>
                </a:solidFill>
              </a:rPr>
              <a:t>Escalate</a:t>
            </a:r>
          </a:p>
        </p:txBody>
      </p:sp>
      <p:sp>
        <p:nvSpPr>
          <p:cNvPr id="15" name="">
            <a:extLst xmlns:a="http://schemas.openxmlformats.org/drawingml/2006/main">
              <a:ext uri="{FF2B5EF4-FFF2-40B4-BE49-F238E27FC236}">
                <a16:creationId xmlns:a16="http://schemas.microsoft.com/office/drawing/2014/main" id="{7BE4A2D2-4D05-4ED1-9C4E-E1584E96B879}"/>
              </a:ext>
            </a:extLst>
          </p:cNvPr>
          <p:cNvSpPr>
            <a:spLocks xmlns:a="http://schemas.openxmlformats.org/drawingml/2006/main" noGrp="1"/>
          </p:cNvSpPr>
          <p:nvPr/>
        </p:nvSpPr>
        <p:spPr>
          <a:xfrm xmlns:a="http://schemas.openxmlformats.org/drawingml/2006/main">
            <a:off x="3429000" y="3371850"/>
            <a:ext cx="742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Trigger portfolio review when limits, stress losses or concentration thresholds are breached.</a:t>
            </a:r>
          </a:p>
        </p:txBody>
      </p:sp>
      <p:sp>
        <p:nvSpPr>
          <p:cNvPr id="16" name="">
            <a:extLst xmlns:a="http://schemas.openxmlformats.org/drawingml/2006/main">
              <a:ext uri="{FF2B5EF4-FFF2-40B4-BE49-F238E27FC236}">
                <a16:creationId xmlns:a16="http://schemas.microsoft.com/office/drawing/2014/main" id="{E5CD7A9B-18F0-4B24-A306-D0E4C1130794}"/>
              </a:ext>
            </a:extLst>
          </p:cNvPr>
          <p:cNvSpPr>
            <a:spLocks xmlns:a="http://schemas.openxmlformats.org/drawingml/2006/main" noGrp="1"/>
          </p:cNvSpPr>
          <p:nvPr/>
        </p:nvSpPr>
        <p:spPr>
          <a:xfrm xmlns:a="http://schemas.openxmlformats.org/drawingml/2006/main">
            <a:off x="1390650" y="3905250"/>
            <a:ext cx="94869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17" name="">
            <a:extLst xmlns:a="http://schemas.openxmlformats.org/drawingml/2006/main">
              <a:ext uri="{FF2B5EF4-FFF2-40B4-BE49-F238E27FC236}">
                <a16:creationId xmlns:a16="http://schemas.microsoft.com/office/drawing/2014/main" id="{3D0ECC05-58D4-4EA8-B7D2-0A646BCC1785}"/>
              </a:ext>
            </a:extLst>
          </p:cNvPr>
          <p:cNvSpPr>
            <a:spLocks xmlns:a="http://schemas.openxmlformats.org/drawingml/2006/main" noGrp="1"/>
          </p:cNvSpPr>
          <p:nvPr/>
        </p:nvSpPr>
        <p:spPr>
          <a:xfrm xmlns:a="http://schemas.openxmlformats.org/drawingml/2006/main">
            <a:off x="590550" y="4152900"/>
            <a:ext cx="685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B42318"/>
                </a:solidFill>
              </a:defRPr>
            </a:defPPr>
            <a:lvl1pPr algn="l">
              <a:defRPr sz="1350" b="1">
                <a:solidFill>
                  <a:srgbClr val="B42318"/>
                </a:solidFill>
              </a:defRPr>
            </a:lvl1pPr>
            <a:lvl2pPr algn="l">
              <a:defRPr sz="1350" b="1">
                <a:solidFill>
                  <a:srgbClr val="B42318"/>
                </a:solidFill>
              </a:defRPr>
            </a:lvl2pPr>
            <a:lvl3pPr algn="l">
              <a:defRPr sz="1350" b="1">
                <a:solidFill>
                  <a:srgbClr val="B42318"/>
                </a:solidFill>
              </a:defRPr>
            </a:lvl3pPr>
            <a:lvl4pPr algn="l">
              <a:defRPr sz="1350" b="1">
                <a:solidFill>
                  <a:srgbClr val="B42318"/>
                </a:solidFill>
              </a:defRPr>
            </a:lvl4pPr>
            <a:lvl5pPr algn="l">
              <a:defRPr sz="1350" b="1">
                <a:solidFill>
                  <a:srgbClr val="B42318"/>
                </a:solidFill>
              </a:defRPr>
            </a:lvl5pPr>
            <a:lvl6pPr algn="l">
              <a:defRPr sz="1350" b="1">
                <a:solidFill>
                  <a:srgbClr val="B42318"/>
                </a:solidFill>
              </a:defRPr>
            </a:lvl6pPr>
            <a:lvl7pPr algn="l">
              <a:defRPr sz="1350" b="1">
                <a:solidFill>
                  <a:srgbClr val="B42318"/>
                </a:solidFill>
              </a:defRPr>
            </a:lvl7pPr>
            <a:lvl8pPr algn="l">
              <a:defRPr sz="1350" b="1">
                <a:solidFill>
                  <a:srgbClr val="B42318"/>
                </a:solidFill>
              </a:defRPr>
            </a:lvl8pPr>
            <a:lvl9pPr algn="l">
              <a:defRPr sz="1350" b="1">
                <a:solidFill>
                  <a:srgbClr val="B42318"/>
                </a:solidFill>
              </a:defRPr>
            </a:lvl9pPr>
          </a:lstStyle>
          <a:p xmlns:a="http://schemas.openxmlformats.org/drawingml/2006/main">
            <a:pPr algn="l">
              <a:defRPr sz="1350" b="1">
                <a:solidFill>
                  <a:srgbClr val="B42318"/>
                </a:solidFill>
              </a:defRPr>
            </a:pPr>
            <a:r>
              <a:rPr sz="1350" b="1">
                <a:solidFill>
                  <a:srgbClr val="B42318"/>
                </a:solidFill>
              </a:rPr>
              <a:t>04</a:t>
            </a:r>
          </a:p>
        </p:txBody>
      </p:sp>
      <p:sp>
        <p:nvSpPr>
          <p:cNvPr id="18" name="">
            <a:extLst xmlns:a="http://schemas.openxmlformats.org/drawingml/2006/main">
              <a:ext uri="{FF2B5EF4-FFF2-40B4-BE49-F238E27FC236}">
                <a16:creationId xmlns:a16="http://schemas.microsoft.com/office/drawing/2014/main" id="{E0FE8CA9-F6DD-488C-9454-6BD427945E50}"/>
              </a:ext>
            </a:extLst>
          </p:cNvPr>
          <p:cNvSpPr>
            <a:spLocks xmlns:a="http://schemas.openxmlformats.org/drawingml/2006/main" noGrp="1"/>
          </p:cNvSpPr>
          <p:nvPr/>
        </p:nvSpPr>
        <p:spPr>
          <a:xfrm xmlns:a="http://schemas.openxmlformats.org/drawingml/2006/main">
            <a:off x="1390650" y="41529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11111"/>
                </a:solidFill>
              </a:defRPr>
            </a:defPPr>
            <a:lvl1pPr algn="l">
              <a:defRPr sz="1500" b="1">
                <a:solidFill>
                  <a:srgbClr val="111111"/>
                </a:solidFill>
              </a:defRPr>
            </a:lvl1pPr>
            <a:lvl2pPr algn="l">
              <a:defRPr sz="1500" b="1">
                <a:solidFill>
                  <a:srgbClr val="111111"/>
                </a:solidFill>
              </a:defRPr>
            </a:lvl2pPr>
            <a:lvl3pPr algn="l">
              <a:defRPr sz="1500" b="1">
                <a:solidFill>
                  <a:srgbClr val="111111"/>
                </a:solidFill>
              </a:defRPr>
            </a:lvl3pPr>
            <a:lvl4pPr algn="l">
              <a:defRPr sz="1500" b="1">
                <a:solidFill>
                  <a:srgbClr val="111111"/>
                </a:solidFill>
              </a:defRPr>
            </a:lvl4pPr>
            <a:lvl5pPr algn="l">
              <a:defRPr sz="1500" b="1">
                <a:solidFill>
                  <a:srgbClr val="111111"/>
                </a:solidFill>
              </a:defRPr>
            </a:lvl5pPr>
            <a:lvl6pPr algn="l">
              <a:defRPr sz="1500" b="1">
                <a:solidFill>
                  <a:srgbClr val="111111"/>
                </a:solidFill>
              </a:defRPr>
            </a:lvl6pPr>
            <a:lvl7pPr algn="l">
              <a:defRPr sz="1500" b="1">
                <a:solidFill>
                  <a:srgbClr val="111111"/>
                </a:solidFill>
              </a:defRPr>
            </a:lvl7pPr>
            <a:lvl8pPr algn="l">
              <a:defRPr sz="1500" b="1">
                <a:solidFill>
                  <a:srgbClr val="111111"/>
                </a:solidFill>
              </a:defRPr>
            </a:lvl8pPr>
            <a:lvl9pPr algn="l">
              <a:defRPr sz="1500" b="1">
                <a:solidFill>
                  <a:srgbClr val="111111"/>
                </a:solidFill>
              </a:defRPr>
            </a:lvl9pPr>
          </a:lstStyle>
          <a:p xmlns:a="http://schemas.openxmlformats.org/drawingml/2006/main">
            <a:pPr algn="l">
              <a:defRPr sz="1500" b="1">
                <a:solidFill>
                  <a:srgbClr val="111111"/>
                </a:solidFill>
              </a:defRPr>
            </a:pPr>
            <a:r>
              <a:rPr sz="1500" b="1">
                <a:solidFill>
                  <a:srgbClr val="111111"/>
                </a:solidFill>
              </a:rPr>
              <a:t>Decide</a:t>
            </a:r>
          </a:p>
        </p:txBody>
      </p:sp>
      <p:sp>
        <p:nvSpPr>
          <p:cNvPr id="19" name="">
            <a:extLst xmlns:a="http://schemas.openxmlformats.org/drawingml/2006/main">
              <a:ext uri="{FF2B5EF4-FFF2-40B4-BE49-F238E27FC236}">
                <a16:creationId xmlns:a16="http://schemas.microsoft.com/office/drawing/2014/main" id="{A4921CD4-9BC5-4FEB-8D35-426051808786}"/>
              </a:ext>
            </a:extLst>
          </p:cNvPr>
          <p:cNvSpPr>
            <a:spLocks xmlns:a="http://schemas.openxmlformats.org/drawingml/2006/main" noGrp="1"/>
          </p:cNvSpPr>
          <p:nvPr/>
        </p:nvSpPr>
        <p:spPr>
          <a:xfrm xmlns:a="http://schemas.openxmlformats.org/drawingml/2006/main">
            <a:off x="3429000" y="4171950"/>
            <a:ext cx="742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Reduce, hedge or explicitly accept the residual risk with named approval.</a:t>
            </a:r>
          </a:p>
        </p:txBody>
      </p:sp>
      <p:sp>
        <p:nvSpPr>
          <p:cNvPr id="20" name="">
            <a:extLst xmlns:a="http://schemas.openxmlformats.org/drawingml/2006/main">
              <a:ext uri="{FF2B5EF4-FFF2-40B4-BE49-F238E27FC236}">
                <a16:creationId xmlns:a16="http://schemas.microsoft.com/office/drawing/2014/main" id="{CD72902A-6288-4513-AFD8-5FCF8A100925}"/>
              </a:ext>
            </a:extLst>
          </p:cNvPr>
          <p:cNvSpPr>
            <a:spLocks xmlns:a="http://schemas.openxmlformats.org/drawingml/2006/main" noGrp="1"/>
          </p:cNvSpPr>
          <p:nvPr/>
        </p:nvSpPr>
        <p:spPr>
          <a:xfrm xmlns:a="http://schemas.openxmlformats.org/drawingml/2006/main">
            <a:off x="1390650" y="4705350"/>
            <a:ext cx="94869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21" name="">
            <a:extLst xmlns:a="http://schemas.openxmlformats.org/drawingml/2006/main">
              <a:ext uri="{FF2B5EF4-FFF2-40B4-BE49-F238E27FC236}">
                <a16:creationId xmlns:a16="http://schemas.microsoft.com/office/drawing/2014/main" id="{B33E988E-E2CF-44FC-A0E1-15B43EAA2851}"/>
              </a:ext>
            </a:extLst>
          </p:cNvPr>
          <p:cNvSpPr>
            <a:spLocks xmlns:a="http://schemas.openxmlformats.org/drawingml/2006/main" noGrp="1"/>
          </p:cNvSpPr>
          <p:nvPr/>
        </p:nvSpPr>
        <p:spPr>
          <a:xfrm xmlns:a="http://schemas.openxmlformats.org/drawingml/2006/main">
            <a:off x="590550" y="4953000"/>
            <a:ext cx="685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B42318"/>
                </a:solidFill>
              </a:defRPr>
            </a:defPPr>
            <a:lvl1pPr algn="l">
              <a:defRPr sz="1350" b="1">
                <a:solidFill>
                  <a:srgbClr val="B42318"/>
                </a:solidFill>
              </a:defRPr>
            </a:lvl1pPr>
            <a:lvl2pPr algn="l">
              <a:defRPr sz="1350" b="1">
                <a:solidFill>
                  <a:srgbClr val="B42318"/>
                </a:solidFill>
              </a:defRPr>
            </a:lvl2pPr>
            <a:lvl3pPr algn="l">
              <a:defRPr sz="1350" b="1">
                <a:solidFill>
                  <a:srgbClr val="B42318"/>
                </a:solidFill>
              </a:defRPr>
            </a:lvl3pPr>
            <a:lvl4pPr algn="l">
              <a:defRPr sz="1350" b="1">
                <a:solidFill>
                  <a:srgbClr val="B42318"/>
                </a:solidFill>
              </a:defRPr>
            </a:lvl4pPr>
            <a:lvl5pPr algn="l">
              <a:defRPr sz="1350" b="1">
                <a:solidFill>
                  <a:srgbClr val="B42318"/>
                </a:solidFill>
              </a:defRPr>
            </a:lvl5pPr>
            <a:lvl6pPr algn="l">
              <a:defRPr sz="1350" b="1">
                <a:solidFill>
                  <a:srgbClr val="B42318"/>
                </a:solidFill>
              </a:defRPr>
            </a:lvl6pPr>
            <a:lvl7pPr algn="l">
              <a:defRPr sz="1350" b="1">
                <a:solidFill>
                  <a:srgbClr val="B42318"/>
                </a:solidFill>
              </a:defRPr>
            </a:lvl7pPr>
            <a:lvl8pPr algn="l">
              <a:defRPr sz="1350" b="1">
                <a:solidFill>
                  <a:srgbClr val="B42318"/>
                </a:solidFill>
              </a:defRPr>
            </a:lvl8pPr>
            <a:lvl9pPr algn="l">
              <a:defRPr sz="1350" b="1">
                <a:solidFill>
                  <a:srgbClr val="B42318"/>
                </a:solidFill>
              </a:defRPr>
            </a:lvl9pPr>
          </a:lstStyle>
          <a:p xmlns:a="http://schemas.openxmlformats.org/drawingml/2006/main">
            <a:pPr algn="l">
              <a:defRPr sz="1350" b="1">
                <a:solidFill>
                  <a:srgbClr val="B42318"/>
                </a:solidFill>
              </a:defRPr>
            </a:pPr>
            <a:r>
              <a:rPr sz="1350" b="1">
                <a:solidFill>
                  <a:srgbClr val="B42318"/>
                </a:solidFill>
              </a:rPr>
              <a:t>05</a:t>
            </a:r>
          </a:p>
        </p:txBody>
      </p:sp>
      <p:sp>
        <p:nvSpPr>
          <p:cNvPr id="22" name="">
            <a:extLst xmlns:a="http://schemas.openxmlformats.org/drawingml/2006/main">
              <a:ext uri="{FF2B5EF4-FFF2-40B4-BE49-F238E27FC236}">
                <a16:creationId xmlns:a16="http://schemas.microsoft.com/office/drawing/2014/main" id="{6C0A05FD-A373-47FC-B007-5840777B95AB}"/>
              </a:ext>
            </a:extLst>
          </p:cNvPr>
          <p:cNvSpPr>
            <a:spLocks xmlns:a="http://schemas.openxmlformats.org/drawingml/2006/main" noGrp="1"/>
          </p:cNvSpPr>
          <p:nvPr/>
        </p:nvSpPr>
        <p:spPr>
          <a:xfrm xmlns:a="http://schemas.openxmlformats.org/drawingml/2006/main">
            <a:off x="1390650" y="49530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11111"/>
                </a:solidFill>
              </a:defRPr>
            </a:defPPr>
            <a:lvl1pPr algn="l">
              <a:defRPr sz="1500" b="1">
                <a:solidFill>
                  <a:srgbClr val="111111"/>
                </a:solidFill>
              </a:defRPr>
            </a:lvl1pPr>
            <a:lvl2pPr algn="l">
              <a:defRPr sz="1500" b="1">
                <a:solidFill>
                  <a:srgbClr val="111111"/>
                </a:solidFill>
              </a:defRPr>
            </a:lvl2pPr>
            <a:lvl3pPr algn="l">
              <a:defRPr sz="1500" b="1">
                <a:solidFill>
                  <a:srgbClr val="111111"/>
                </a:solidFill>
              </a:defRPr>
            </a:lvl3pPr>
            <a:lvl4pPr algn="l">
              <a:defRPr sz="1500" b="1">
                <a:solidFill>
                  <a:srgbClr val="111111"/>
                </a:solidFill>
              </a:defRPr>
            </a:lvl4pPr>
            <a:lvl5pPr algn="l">
              <a:defRPr sz="1500" b="1">
                <a:solidFill>
                  <a:srgbClr val="111111"/>
                </a:solidFill>
              </a:defRPr>
            </a:lvl5pPr>
            <a:lvl6pPr algn="l">
              <a:defRPr sz="1500" b="1">
                <a:solidFill>
                  <a:srgbClr val="111111"/>
                </a:solidFill>
              </a:defRPr>
            </a:lvl6pPr>
            <a:lvl7pPr algn="l">
              <a:defRPr sz="1500" b="1">
                <a:solidFill>
                  <a:srgbClr val="111111"/>
                </a:solidFill>
              </a:defRPr>
            </a:lvl7pPr>
            <a:lvl8pPr algn="l">
              <a:defRPr sz="1500" b="1">
                <a:solidFill>
                  <a:srgbClr val="111111"/>
                </a:solidFill>
              </a:defRPr>
            </a:lvl8pPr>
            <a:lvl9pPr algn="l">
              <a:defRPr sz="1500" b="1">
                <a:solidFill>
                  <a:srgbClr val="111111"/>
                </a:solidFill>
              </a:defRPr>
            </a:lvl9pPr>
          </a:lstStyle>
          <a:p xmlns:a="http://schemas.openxmlformats.org/drawingml/2006/main">
            <a:pPr algn="l">
              <a:defRPr sz="1500" b="1">
                <a:solidFill>
                  <a:srgbClr val="111111"/>
                </a:solidFill>
              </a:defRPr>
            </a:pPr>
            <a:r>
              <a:rPr sz="1500" b="1">
                <a:solidFill>
                  <a:srgbClr val="111111"/>
                </a:solidFill>
              </a:rPr>
              <a:t>Document</a:t>
            </a:r>
          </a:p>
        </p:txBody>
      </p:sp>
      <p:sp>
        <p:nvSpPr>
          <p:cNvPr id="23" name="">
            <a:extLst xmlns:a="http://schemas.openxmlformats.org/drawingml/2006/main">
              <a:ext uri="{FF2B5EF4-FFF2-40B4-BE49-F238E27FC236}">
                <a16:creationId xmlns:a16="http://schemas.microsoft.com/office/drawing/2014/main" id="{FD2D90C7-213E-402D-A8DB-DF3F17BC6386}"/>
              </a:ext>
            </a:extLst>
          </p:cNvPr>
          <p:cNvSpPr>
            <a:spLocks xmlns:a="http://schemas.openxmlformats.org/drawingml/2006/main" noGrp="1"/>
          </p:cNvSpPr>
          <p:nvPr/>
        </p:nvSpPr>
        <p:spPr>
          <a:xfrm xmlns:a="http://schemas.openxmlformats.org/drawingml/2006/main">
            <a:off x="3429000" y="4972050"/>
            <a:ext cx="742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Record the estimate, evidence, action, owner and follow-up date.</a:t>
            </a:r>
          </a:p>
        </p:txBody>
      </p:sp>
      <p:sp>
        <p:nvSpPr>
          <p:cNvPr id="24" name="">
            <a:extLst xmlns:a="http://schemas.openxmlformats.org/drawingml/2006/main">
              <a:ext uri="{FF2B5EF4-FFF2-40B4-BE49-F238E27FC236}">
                <a16:creationId xmlns:a16="http://schemas.microsoft.com/office/drawing/2014/main" id="{101BD5ED-B8D8-4715-9F1C-5B8863BF399A}"/>
              </a:ext>
            </a:extLst>
          </p:cNvPr>
          <p:cNvSpPr>
            <a:spLocks xmlns:a="http://schemas.openxmlformats.org/drawingml/2006/main" noGrp="1"/>
          </p:cNvSpPr>
          <p:nvPr/>
        </p:nvSpPr>
        <p:spPr>
          <a:xfrm xmlns:a="http://schemas.openxmlformats.org/drawingml/2006/main">
            <a:off x="514350" y="5829300"/>
            <a:ext cx="10610850" cy="419100"/>
          </a:xfrm>
          <a:prstGeom xmlns:a="http://schemas.openxmlformats.org/drawingml/2006/main" prst="rect">
            <a:avLst/>
          </a:prstGeom>
          <a:solidFill xmlns:a="http://schemas.openxmlformats.org/drawingml/2006/main">
            <a:srgbClr val="F3DEDA"/>
          </a:solidFill>
          <a:ln xmlns:a="http://schemas.openxmlformats.org/drawingml/2006/main" w="0">
            <a:solidFill>
              <a:srgbClr val="F3DEDA"/>
            </a:solidFill>
            <a:prstDash val="solid"/>
          </a:ln>
        </p:spPr>
      </p:sp>
      <p:sp>
        <p:nvSpPr>
          <p:cNvPr id="25" name="">
            <a:extLst xmlns:a="http://schemas.openxmlformats.org/drawingml/2006/main">
              <a:ext uri="{FF2B5EF4-FFF2-40B4-BE49-F238E27FC236}">
                <a16:creationId xmlns:a16="http://schemas.microsoft.com/office/drawing/2014/main" id="{5FA98E5C-184B-442F-8D17-5E27C01BD3E1}"/>
              </a:ext>
            </a:extLst>
          </p:cNvPr>
          <p:cNvSpPr>
            <a:spLocks xmlns:a="http://schemas.openxmlformats.org/drawingml/2006/main" noGrp="1"/>
          </p:cNvSpPr>
          <p:nvPr/>
        </p:nvSpPr>
        <p:spPr>
          <a:xfrm xmlns:a="http://schemas.openxmlformats.org/drawingml/2006/main">
            <a:off x="514350" y="5829300"/>
            <a:ext cx="47625" cy="4191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26" name="">
            <a:extLst xmlns:a="http://schemas.openxmlformats.org/drawingml/2006/main">
              <a:ext uri="{FF2B5EF4-FFF2-40B4-BE49-F238E27FC236}">
                <a16:creationId xmlns:a16="http://schemas.microsoft.com/office/drawing/2014/main" id="{C6288738-5E31-4310-9138-C1CEC821AE16}"/>
              </a:ext>
            </a:extLst>
          </p:cNvPr>
          <p:cNvSpPr>
            <a:spLocks xmlns:a="http://schemas.openxmlformats.org/drawingml/2006/main" noGrp="1"/>
          </p:cNvSpPr>
          <p:nvPr/>
        </p:nvSpPr>
        <p:spPr>
          <a:xfrm xmlns:a="http://schemas.openxmlformats.org/drawingml/2006/main">
            <a:off x="685800" y="5876925"/>
            <a:ext cx="10325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353535"/>
                </a:solidFill>
              </a:defRPr>
            </a:defPPr>
            <a:lvl1pPr algn="l">
              <a:defRPr sz="1050" b="1">
                <a:solidFill>
                  <a:srgbClr val="353535"/>
                </a:solidFill>
              </a:defRPr>
            </a:lvl1pPr>
            <a:lvl2pPr algn="l">
              <a:defRPr sz="1050" b="1">
                <a:solidFill>
                  <a:srgbClr val="353535"/>
                </a:solidFill>
              </a:defRPr>
            </a:lvl2pPr>
            <a:lvl3pPr algn="l">
              <a:defRPr sz="1050" b="1">
                <a:solidFill>
                  <a:srgbClr val="353535"/>
                </a:solidFill>
              </a:defRPr>
            </a:lvl3pPr>
            <a:lvl4pPr algn="l">
              <a:defRPr sz="1050" b="1">
                <a:solidFill>
                  <a:srgbClr val="353535"/>
                </a:solidFill>
              </a:defRPr>
            </a:lvl4pPr>
            <a:lvl5pPr algn="l">
              <a:defRPr sz="1050" b="1">
                <a:solidFill>
                  <a:srgbClr val="353535"/>
                </a:solidFill>
              </a:defRPr>
            </a:lvl5pPr>
            <a:lvl6pPr algn="l">
              <a:defRPr sz="1050" b="1">
                <a:solidFill>
                  <a:srgbClr val="353535"/>
                </a:solidFill>
              </a:defRPr>
            </a:lvl6pPr>
            <a:lvl7pPr algn="l">
              <a:defRPr sz="1050" b="1">
                <a:solidFill>
                  <a:srgbClr val="353535"/>
                </a:solidFill>
              </a:defRPr>
            </a:lvl7pPr>
            <a:lvl8pPr algn="l">
              <a:defRPr sz="1050" b="1">
                <a:solidFill>
                  <a:srgbClr val="353535"/>
                </a:solidFill>
              </a:defRPr>
            </a:lvl8pPr>
            <a:lvl9pPr algn="l">
              <a:defRPr sz="1050" b="1">
                <a:solidFill>
                  <a:srgbClr val="353535"/>
                </a:solidFill>
              </a:defRPr>
            </a:lvl9pPr>
          </a:lstStyle>
          <a:p xmlns:a="http://schemas.openxmlformats.org/drawingml/2006/main">
            <a:pPr algn="l">
              <a:defRPr sz="1050" b="1">
                <a:solidFill>
                  <a:srgbClr val="353535"/>
                </a:solidFill>
              </a:defRPr>
            </a:pPr>
            <a:r>
              <a:rPr sz="1050" b="1">
                <a:solidFill>
                  <a:srgbClr val="353535"/>
                </a:solidFill>
              </a:rPr>
              <a:t>Proposed controls require approval; they are not policies already in force</a:t>
            </a:r>
          </a:p>
        </p:txBody>
      </p:sp>
      <p:sp>
        <p:nvSpPr>
          <p:cNvPr id="27" name="">
            <a:extLst xmlns:a="http://schemas.openxmlformats.org/drawingml/2006/main">
              <a:ext uri="{FF2B5EF4-FFF2-40B4-BE49-F238E27FC236}">
                <a16:creationId xmlns:a16="http://schemas.microsoft.com/office/drawing/2014/main" id="{99ED22CC-D1AC-4688-82F3-6E5390F9478E}"/>
              </a:ext>
            </a:extLst>
          </p:cNvPr>
          <p:cNvSpPr>
            <a:spLocks xmlns:a="http://schemas.openxmlformats.org/drawingml/2006/main" noGrp="1"/>
          </p:cNvSpPr>
          <p:nvPr/>
        </p:nvSpPr>
        <p:spPr>
          <a:xfrm xmlns:a="http://schemas.openxmlformats.org/drawingml/2006/main">
            <a:off x="514350" y="6419850"/>
            <a:ext cx="11163300" cy="9525"/>
          </a:xfrm>
          <a:prstGeom xmlns:a="http://schemas.openxmlformats.org/drawingml/2006/main" prst="rect">
            <a:avLst/>
          </a:prstGeom>
          <a:solidFill xmlns:a="http://schemas.openxmlformats.org/drawingml/2006/main">
            <a:srgbClr val="D8D8D4"/>
          </a:solidFill>
          <a:ln xmlns:a="http://schemas.openxmlformats.org/drawingml/2006/main" w="0">
            <a:solidFill>
              <a:srgbClr val="D8D8D4"/>
            </a:solidFill>
            <a:prstDash val="solid"/>
          </a:ln>
        </p:spPr>
      </p:sp>
      <p:sp>
        <p:nvSpPr>
          <p:cNvPr id="28" name="">
            <a:extLst xmlns:a="http://schemas.openxmlformats.org/drawingml/2006/main">
              <a:ext uri="{FF2B5EF4-FFF2-40B4-BE49-F238E27FC236}">
                <a16:creationId xmlns:a16="http://schemas.microsoft.com/office/drawing/2014/main" id="{0DAE3465-F260-40A8-AB7D-8792C0CFAC53}"/>
              </a:ext>
            </a:extLst>
          </p:cNvPr>
          <p:cNvSpPr>
            <a:spLocks xmlns:a="http://schemas.openxmlformats.org/drawingml/2006/main" noGrp="1"/>
          </p:cNvSpPr>
          <p:nvPr/>
        </p:nvSpPr>
        <p:spPr>
          <a:xfrm xmlns:a="http://schemas.openxmlformats.org/drawingml/2006/main">
            <a:off x="51435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0">
                <a:solidFill>
                  <a:srgbClr val="707070"/>
                </a:solidFill>
              </a:defRPr>
            </a:defPPr>
            <a:lvl1pPr algn="l">
              <a:defRPr sz="600" b="0">
                <a:solidFill>
                  <a:srgbClr val="707070"/>
                </a:solidFill>
              </a:defRPr>
            </a:lvl1pPr>
            <a:lvl2pPr algn="l">
              <a:defRPr sz="600" b="0">
                <a:solidFill>
                  <a:srgbClr val="707070"/>
                </a:solidFill>
              </a:defRPr>
            </a:lvl2pPr>
            <a:lvl3pPr algn="l">
              <a:defRPr sz="600" b="0">
                <a:solidFill>
                  <a:srgbClr val="707070"/>
                </a:solidFill>
              </a:defRPr>
            </a:lvl3pPr>
            <a:lvl4pPr algn="l">
              <a:defRPr sz="600" b="0">
                <a:solidFill>
                  <a:srgbClr val="707070"/>
                </a:solidFill>
              </a:defRPr>
            </a:lvl4pPr>
            <a:lvl5pPr algn="l">
              <a:defRPr sz="600" b="0">
                <a:solidFill>
                  <a:srgbClr val="707070"/>
                </a:solidFill>
              </a:defRPr>
            </a:lvl5pPr>
            <a:lvl6pPr algn="l">
              <a:defRPr sz="600" b="0">
                <a:solidFill>
                  <a:srgbClr val="707070"/>
                </a:solidFill>
              </a:defRPr>
            </a:lvl6pPr>
            <a:lvl7pPr algn="l">
              <a:defRPr sz="600" b="0">
                <a:solidFill>
                  <a:srgbClr val="707070"/>
                </a:solidFill>
              </a:defRPr>
            </a:lvl7pPr>
            <a:lvl8pPr algn="l">
              <a:defRPr sz="600" b="0">
                <a:solidFill>
                  <a:srgbClr val="707070"/>
                </a:solidFill>
              </a:defRPr>
            </a:lvl8pPr>
            <a:lvl9pPr algn="l">
              <a:defRPr sz="600" b="0">
                <a:solidFill>
                  <a:srgbClr val="707070"/>
                </a:solidFill>
              </a:defRPr>
            </a:lvl9pPr>
          </a:lstStyle>
          <a:p xmlns:a="http://schemas.openxmlformats.org/drawingml/2006/main">
            <a:pPr algn="l">
              <a:defRPr sz="600" b="0">
                <a:solidFill>
                  <a:srgbClr val="707070"/>
                </a:solidFill>
              </a:defRPr>
            </a:pPr>
            <a:r>
              <a:rPr sz="600" b="0">
                <a:solidFill>
                  <a:srgbClr val="707070"/>
                </a:solidFill>
              </a:rPr>
              <a:t>QFI risk engine  |  saved data through 23 October 2026</a:t>
            </a:r>
          </a:p>
        </p:txBody>
      </p:sp>
      <p:sp>
        <p:nvSpPr>
          <p:cNvPr id="29" name="">
            <a:extLst xmlns:a="http://schemas.openxmlformats.org/drawingml/2006/main">
              <a:ext uri="{FF2B5EF4-FFF2-40B4-BE49-F238E27FC236}">
                <a16:creationId xmlns:a16="http://schemas.microsoft.com/office/drawing/2014/main" id="{A94CC22A-61FF-442B-9E18-75AD037EC49A}"/>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111111"/>
                </a:solidFill>
              </a:defRPr>
            </a:defPPr>
            <a:lvl1pPr algn="r">
              <a:defRPr sz="675" b="1">
                <a:solidFill>
                  <a:srgbClr val="111111"/>
                </a:solidFill>
              </a:defRPr>
            </a:lvl1pPr>
            <a:lvl2pPr algn="r">
              <a:defRPr sz="675" b="1">
                <a:solidFill>
                  <a:srgbClr val="111111"/>
                </a:solidFill>
              </a:defRPr>
            </a:lvl2pPr>
            <a:lvl3pPr algn="r">
              <a:defRPr sz="675" b="1">
                <a:solidFill>
                  <a:srgbClr val="111111"/>
                </a:solidFill>
              </a:defRPr>
            </a:lvl3pPr>
            <a:lvl4pPr algn="r">
              <a:defRPr sz="675" b="1">
                <a:solidFill>
                  <a:srgbClr val="111111"/>
                </a:solidFill>
              </a:defRPr>
            </a:lvl4pPr>
            <a:lvl5pPr algn="r">
              <a:defRPr sz="675" b="1">
                <a:solidFill>
                  <a:srgbClr val="111111"/>
                </a:solidFill>
              </a:defRPr>
            </a:lvl5pPr>
            <a:lvl6pPr algn="r">
              <a:defRPr sz="675" b="1">
                <a:solidFill>
                  <a:srgbClr val="111111"/>
                </a:solidFill>
              </a:defRPr>
            </a:lvl6pPr>
            <a:lvl7pPr algn="r">
              <a:defRPr sz="675" b="1">
                <a:solidFill>
                  <a:srgbClr val="111111"/>
                </a:solidFill>
              </a:defRPr>
            </a:lvl7pPr>
            <a:lvl8pPr algn="r">
              <a:defRPr sz="675" b="1">
                <a:solidFill>
                  <a:srgbClr val="111111"/>
                </a:solidFill>
              </a:defRPr>
            </a:lvl8pPr>
            <a:lvl9pPr algn="r">
              <a:defRPr sz="675" b="1">
                <a:solidFill>
                  <a:srgbClr val="111111"/>
                </a:solidFill>
              </a:defRPr>
            </a:lvl9pPr>
          </a:lstStyle>
          <a:p xmlns:a="http://schemas.openxmlformats.org/drawingml/2006/main">
            <a:pPr algn="r">
              <a:defRPr sz="675" b="1">
                <a:solidFill>
                  <a:srgbClr val="111111"/>
                </a:solidFill>
              </a:defRPr>
            </a:pPr>
            <a:r>
              <a:rPr sz="675" b="1">
                <a:solidFill>
                  <a:srgbClr val="111111"/>
                </a:solidFill>
              </a:rPr>
              <a:t>19</a:t>
            </a:r>
          </a:p>
        </p:txBody>
      </p:sp>
    </p:spTree>
    <p:extLst>
      <p:ext uri="{BB962C8B-B14F-4D97-AF65-F5344CB8AC3E}">
        <p14:creationId xmlns:p14="http://schemas.microsoft.com/office/powerpoint/2010/main" val="1660012347"/>
      </p:ext>
    </p:extLst>
  </p:cSld>
</p:sld>
</file>

<file path=ppt/slides/slide20.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0BAC637-FC64-4AD5-AAFF-4FC9D18A61AA}"/>
              </a:ext>
            </a:extLst>
          </p:cNvPr>
          <p:cNvSpPr>
            <a:spLocks xmlns:a="http://schemas.openxmlformats.org/drawingml/2006/main" noGrp="1"/>
          </p:cNvSpPr>
          <p:nvPr/>
        </p:nvSpPr>
        <p:spPr>
          <a:xfrm xmlns:a="http://schemas.openxmlformats.org/drawingml/2006/main">
            <a:off x="552450" y="4000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RECOMMENDATION</a:t>
            </a:r>
          </a:p>
        </p:txBody>
      </p:sp>
      <p:sp>
        <p:nvSpPr>
          <p:cNvPr id="2" name="">
            <a:extLst xmlns:a="http://schemas.openxmlformats.org/drawingml/2006/main">
              <a:ext uri="{FF2B5EF4-FFF2-40B4-BE49-F238E27FC236}">
                <a16:creationId xmlns:a16="http://schemas.microsoft.com/office/drawing/2014/main" id="{59D7E2EE-41DB-4955-B83D-8FFA64211AE0}"/>
              </a:ext>
            </a:extLst>
          </p:cNvPr>
          <p:cNvSpPr>
            <a:spLocks xmlns:a="http://schemas.openxmlformats.org/drawingml/2006/main" noGrp="1"/>
          </p:cNvSpPr>
          <p:nvPr/>
        </p:nvSpPr>
        <p:spPr>
          <a:xfrm xmlns:a="http://schemas.openxmlformats.org/drawingml/2006/main">
            <a:off x="552450" y="1123950"/>
            <a:ext cx="10001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150" b="1">
                <a:solidFill>
                  <a:srgbClr val="FFFFFF"/>
                </a:solidFill>
              </a:defRPr>
            </a:defPPr>
            <a:lvl1pPr algn="l">
              <a:defRPr sz="3150" b="1">
                <a:solidFill>
                  <a:srgbClr val="FFFFFF"/>
                </a:solidFill>
              </a:defRPr>
            </a:lvl1pPr>
            <a:lvl2pPr algn="l">
              <a:defRPr sz="3150" b="1">
                <a:solidFill>
                  <a:srgbClr val="FFFFFF"/>
                </a:solidFill>
              </a:defRPr>
            </a:lvl2pPr>
            <a:lvl3pPr algn="l">
              <a:defRPr sz="3150" b="1">
                <a:solidFill>
                  <a:srgbClr val="FFFFFF"/>
                </a:solidFill>
              </a:defRPr>
            </a:lvl3pPr>
            <a:lvl4pPr algn="l">
              <a:defRPr sz="3150" b="1">
                <a:solidFill>
                  <a:srgbClr val="FFFFFF"/>
                </a:solidFill>
              </a:defRPr>
            </a:lvl4pPr>
            <a:lvl5pPr algn="l">
              <a:defRPr sz="3150" b="1">
                <a:solidFill>
                  <a:srgbClr val="FFFFFF"/>
                </a:solidFill>
              </a:defRPr>
            </a:lvl5pPr>
            <a:lvl6pPr algn="l">
              <a:defRPr sz="3150" b="1">
                <a:solidFill>
                  <a:srgbClr val="FFFFFF"/>
                </a:solidFill>
              </a:defRPr>
            </a:lvl6pPr>
            <a:lvl7pPr algn="l">
              <a:defRPr sz="3150" b="1">
                <a:solidFill>
                  <a:srgbClr val="FFFFFF"/>
                </a:solidFill>
              </a:defRPr>
            </a:lvl7pPr>
            <a:lvl8pPr algn="l">
              <a:defRPr sz="3150" b="1">
                <a:solidFill>
                  <a:srgbClr val="FFFFFF"/>
                </a:solidFill>
              </a:defRPr>
            </a:lvl8pPr>
            <a:lvl9pPr algn="l">
              <a:defRPr sz="3150" b="1">
                <a:solidFill>
                  <a:srgbClr val="FFFFFF"/>
                </a:solidFill>
              </a:defRPr>
            </a:lvl9pPr>
          </a:lstStyle>
          <a:p xmlns:a="http://schemas.openxmlformats.org/drawingml/2006/main">
            <a:pPr algn="l">
              <a:defRPr sz="3150" b="1">
                <a:solidFill>
                  <a:srgbClr val="FFFFFF"/>
                </a:solidFill>
              </a:defRPr>
            </a:pPr>
            <a:r>
              <a:rPr sz="3150" b="1">
                <a:solidFill>
                  <a:srgbClr val="FFFFFF"/>
                </a:solidFill>
              </a:rPr>
              <a:t>Use GJR-HS for daily risk,</a:t>
            </a:r>
          </a:p>
          <a:p xmlns:a="http://schemas.openxmlformats.org/drawingml/2006/main">
            <a:pPr algn="l">
              <a:defRPr sz="3150" b="1">
                <a:solidFill>
                  <a:srgbClr val="FFFFFF"/>
                </a:solidFill>
              </a:defRPr>
            </a:pPr>
            <a:r>
              <a:rPr sz="3150" b="1">
                <a:solidFill>
                  <a:srgbClr val="FFFFFF"/>
                </a:solidFill>
              </a:rPr>
              <a:t>but manage the crisis exposure separately</a:t>
            </a:r>
          </a:p>
        </p:txBody>
      </p:sp>
      <p:sp>
        <p:nvSpPr>
          <p:cNvPr id="3" name="">
            <a:extLst xmlns:a="http://schemas.openxmlformats.org/drawingml/2006/main">
              <a:ext uri="{FF2B5EF4-FFF2-40B4-BE49-F238E27FC236}">
                <a16:creationId xmlns:a16="http://schemas.microsoft.com/office/drawing/2014/main" id="{FEC70FC7-CFBE-4C10-9D6E-2CC27A12044E}"/>
              </a:ext>
            </a:extLst>
          </p:cNvPr>
          <p:cNvSpPr>
            <a:spLocks xmlns:a="http://schemas.openxmlformats.org/drawingml/2006/main" noGrp="1"/>
          </p:cNvSpPr>
          <p:nvPr/>
        </p:nvSpPr>
        <p:spPr>
          <a:xfrm xmlns:a="http://schemas.openxmlformats.org/drawingml/2006/main">
            <a:off x="552450" y="2609850"/>
            <a:ext cx="11029950" cy="285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 name="">
            <a:extLst xmlns:a="http://schemas.openxmlformats.org/drawingml/2006/main">
              <a:ext uri="{FF2B5EF4-FFF2-40B4-BE49-F238E27FC236}">
                <a16:creationId xmlns:a16="http://schemas.microsoft.com/office/drawing/2014/main" id="{A96516BC-C31C-4819-9621-867733113062}"/>
              </a:ext>
            </a:extLst>
          </p:cNvPr>
          <p:cNvSpPr>
            <a:spLocks xmlns:a="http://schemas.openxmlformats.org/drawingml/2006/main" noGrp="1"/>
          </p:cNvSpPr>
          <p:nvPr/>
        </p:nvSpPr>
        <p:spPr>
          <a:xfrm xmlns:a="http://schemas.openxmlformats.org/drawingml/2006/main">
            <a:off x="552450" y="30480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PRIMARY</a:t>
            </a:r>
          </a:p>
        </p:txBody>
      </p:sp>
      <p:sp>
        <p:nvSpPr>
          <p:cNvPr id="5" name="">
            <a:extLst xmlns:a="http://schemas.openxmlformats.org/drawingml/2006/main">
              <a:ext uri="{FF2B5EF4-FFF2-40B4-BE49-F238E27FC236}">
                <a16:creationId xmlns:a16="http://schemas.microsoft.com/office/drawing/2014/main" id="{05F11A8B-0FE3-43B7-B6A6-6BFD7B7853C0}"/>
              </a:ext>
            </a:extLst>
          </p:cNvPr>
          <p:cNvSpPr>
            <a:spLocks xmlns:a="http://schemas.openxmlformats.org/drawingml/2006/main" noGrp="1"/>
          </p:cNvSpPr>
          <p:nvPr/>
        </p:nvSpPr>
        <p:spPr>
          <a:xfrm xmlns:a="http://schemas.openxmlformats.org/drawingml/2006/main">
            <a:off x="1847850" y="30289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FFFFFF"/>
                </a:solidFill>
              </a:defRPr>
            </a:defPPr>
            <a:lvl1pPr algn="l">
              <a:defRPr sz="1500" b="1">
                <a:solidFill>
                  <a:srgbClr val="FFFFFF"/>
                </a:solidFill>
              </a:defRPr>
            </a:lvl1pPr>
            <a:lvl2pPr algn="l">
              <a:defRPr sz="1500" b="1">
                <a:solidFill>
                  <a:srgbClr val="FFFFFF"/>
                </a:solidFill>
              </a:defRPr>
            </a:lvl2pPr>
            <a:lvl3pPr algn="l">
              <a:defRPr sz="1500" b="1">
                <a:solidFill>
                  <a:srgbClr val="FFFFFF"/>
                </a:solidFill>
              </a:defRPr>
            </a:lvl3pPr>
            <a:lvl4pPr algn="l">
              <a:defRPr sz="1500" b="1">
                <a:solidFill>
                  <a:srgbClr val="FFFFFF"/>
                </a:solidFill>
              </a:defRPr>
            </a:lvl4pPr>
            <a:lvl5pPr algn="l">
              <a:defRPr sz="1500" b="1">
                <a:solidFill>
                  <a:srgbClr val="FFFFFF"/>
                </a:solidFill>
              </a:defRPr>
            </a:lvl5pPr>
            <a:lvl6pPr algn="l">
              <a:defRPr sz="1500" b="1">
                <a:solidFill>
                  <a:srgbClr val="FFFFFF"/>
                </a:solidFill>
              </a:defRPr>
            </a:lvl6pPr>
            <a:lvl7pPr algn="l">
              <a:defRPr sz="1500" b="1">
                <a:solidFill>
                  <a:srgbClr val="FFFFFF"/>
                </a:solidFill>
              </a:defRPr>
            </a:lvl7pPr>
            <a:lvl8pPr algn="l">
              <a:defRPr sz="1500" b="1">
                <a:solidFill>
                  <a:srgbClr val="FFFFFF"/>
                </a:solidFill>
              </a:defRPr>
            </a:lvl8pPr>
            <a:lvl9pPr algn="l">
              <a:defRPr sz="1500" b="1">
                <a:solidFill>
                  <a:srgbClr val="FFFFFF"/>
                </a:solidFill>
              </a:defRPr>
            </a:lvl9pPr>
          </a:lstStyle>
          <a:p xmlns:a="http://schemas.openxmlformats.org/drawingml/2006/main">
            <a:pPr algn="l">
              <a:defRPr sz="1500" b="1">
                <a:solidFill>
                  <a:srgbClr val="FFFFFF"/>
                </a:solidFill>
              </a:defRPr>
            </a:pPr>
            <a:r>
              <a:rPr sz="1500" b="1">
                <a:solidFill>
                  <a:srgbClr val="FFFFFF"/>
                </a:solidFill>
              </a:rPr>
              <a:t>GJR-HS</a:t>
            </a:r>
          </a:p>
        </p:txBody>
      </p:sp>
      <p:sp>
        <p:nvSpPr>
          <p:cNvPr id="6" name="">
            <a:extLst xmlns:a="http://schemas.openxmlformats.org/drawingml/2006/main">
              <a:ext uri="{FF2B5EF4-FFF2-40B4-BE49-F238E27FC236}">
                <a16:creationId xmlns:a16="http://schemas.microsoft.com/office/drawing/2014/main" id="{19BBB4FC-7123-4D07-948C-872BD2F4E9BE}"/>
              </a:ext>
            </a:extLst>
          </p:cNvPr>
          <p:cNvSpPr>
            <a:spLocks xmlns:a="http://schemas.openxmlformats.org/drawingml/2006/main" noGrp="1"/>
          </p:cNvSpPr>
          <p:nvPr/>
        </p:nvSpPr>
        <p:spPr>
          <a:xfrm xmlns:a="http://schemas.openxmlformats.org/drawingml/2006/main">
            <a:off x="4362450" y="3048000"/>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D7D7D2"/>
                </a:solidFill>
              </a:defRPr>
            </a:defPPr>
            <a:lvl1pPr algn="l">
              <a:defRPr sz="1050" b="0">
                <a:solidFill>
                  <a:srgbClr val="D7D7D2"/>
                </a:solidFill>
              </a:defRPr>
            </a:lvl1pPr>
            <a:lvl2pPr algn="l">
              <a:defRPr sz="1050" b="0">
                <a:solidFill>
                  <a:srgbClr val="D7D7D2"/>
                </a:solidFill>
              </a:defRPr>
            </a:lvl2pPr>
            <a:lvl3pPr algn="l">
              <a:defRPr sz="1050" b="0">
                <a:solidFill>
                  <a:srgbClr val="D7D7D2"/>
                </a:solidFill>
              </a:defRPr>
            </a:lvl3pPr>
            <a:lvl4pPr algn="l">
              <a:defRPr sz="1050" b="0">
                <a:solidFill>
                  <a:srgbClr val="D7D7D2"/>
                </a:solidFill>
              </a:defRPr>
            </a:lvl4pPr>
            <a:lvl5pPr algn="l">
              <a:defRPr sz="1050" b="0">
                <a:solidFill>
                  <a:srgbClr val="D7D7D2"/>
                </a:solidFill>
              </a:defRPr>
            </a:lvl5pPr>
            <a:lvl6pPr algn="l">
              <a:defRPr sz="1050" b="0">
                <a:solidFill>
                  <a:srgbClr val="D7D7D2"/>
                </a:solidFill>
              </a:defRPr>
            </a:lvl6pPr>
            <a:lvl7pPr algn="l">
              <a:defRPr sz="1050" b="0">
                <a:solidFill>
                  <a:srgbClr val="D7D7D2"/>
                </a:solidFill>
              </a:defRPr>
            </a:lvl7pPr>
            <a:lvl8pPr algn="l">
              <a:defRPr sz="1050" b="0">
                <a:solidFill>
                  <a:srgbClr val="D7D7D2"/>
                </a:solidFill>
              </a:defRPr>
            </a:lvl8pPr>
            <a:lvl9pPr algn="l">
              <a:defRPr sz="1050" b="0">
                <a:solidFill>
                  <a:srgbClr val="D7D7D2"/>
                </a:solidFill>
              </a:defRPr>
            </a:lvl9pPr>
          </a:lstStyle>
          <a:p xmlns:a="http://schemas.openxmlformats.org/drawingml/2006/main">
            <a:pPr algn="l">
              <a:defRPr sz="1050" b="0">
                <a:solidFill>
                  <a:srgbClr val="D7D7D2"/>
                </a:solidFill>
              </a:defRPr>
            </a:pPr>
            <a:r>
              <a:rPr sz="1050" b="0">
                <a:solidFill>
                  <a:srgbClr val="D7D7D2"/>
                </a:solidFill>
              </a:rPr>
              <a:t>Only model to pass frequency, independence and joint coverage at 99%.</a:t>
            </a:r>
          </a:p>
        </p:txBody>
      </p:sp>
      <p:sp>
        <p:nvSpPr>
          <p:cNvPr id="7" name="">
            <a:extLst xmlns:a="http://schemas.openxmlformats.org/drawingml/2006/main">
              <a:ext uri="{FF2B5EF4-FFF2-40B4-BE49-F238E27FC236}">
                <a16:creationId xmlns:a16="http://schemas.microsoft.com/office/drawing/2014/main" id="{D8A6440D-149A-4EFB-BC33-A77B0E0054A5}"/>
              </a:ext>
            </a:extLst>
          </p:cNvPr>
          <p:cNvSpPr>
            <a:spLocks xmlns:a="http://schemas.openxmlformats.org/drawingml/2006/main" noGrp="1"/>
          </p:cNvSpPr>
          <p:nvPr/>
        </p:nvSpPr>
        <p:spPr>
          <a:xfrm xmlns:a="http://schemas.openxmlformats.org/drawingml/2006/main">
            <a:off x="552450" y="37528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CHALLENGER</a:t>
            </a:r>
          </a:p>
        </p:txBody>
      </p:sp>
      <p:sp>
        <p:nvSpPr>
          <p:cNvPr id="8" name="">
            <a:extLst xmlns:a="http://schemas.openxmlformats.org/drawingml/2006/main">
              <a:ext uri="{FF2B5EF4-FFF2-40B4-BE49-F238E27FC236}">
                <a16:creationId xmlns:a16="http://schemas.microsoft.com/office/drawing/2014/main" id="{D860F229-7FFE-44B5-A673-0F23D4574DAC}"/>
              </a:ext>
            </a:extLst>
          </p:cNvPr>
          <p:cNvSpPr>
            <a:spLocks xmlns:a="http://schemas.openxmlformats.org/drawingml/2006/main" noGrp="1"/>
          </p:cNvSpPr>
          <p:nvPr/>
        </p:nvSpPr>
        <p:spPr>
          <a:xfrm xmlns:a="http://schemas.openxmlformats.org/drawingml/2006/main">
            <a:off x="1847850" y="37338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FFFFFF"/>
                </a:solidFill>
              </a:defRPr>
            </a:defPPr>
            <a:lvl1pPr algn="l">
              <a:defRPr sz="1500" b="1">
                <a:solidFill>
                  <a:srgbClr val="FFFFFF"/>
                </a:solidFill>
              </a:defRPr>
            </a:lvl1pPr>
            <a:lvl2pPr algn="l">
              <a:defRPr sz="1500" b="1">
                <a:solidFill>
                  <a:srgbClr val="FFFFFF"/>
                </a:solidFill>
              </a:defRPr>
            </a:lvl2pPr>
            <a:lvl3pPr algn="l">
              <a:defRPr sz="1500" b="1">
                <a:solidFill>
                  <a:srgbClr val="FFFFFF"/>
                </a:solidFill>
              </a:defRPr>
            </a:lvl3pPr>
            <a:lvl4pPr algn="l">
              <a:defRPr sz="1500" b="1">
                <a:solidFill>
                  <a:srgbClr val="FFFFFF"/>
                </a:solidFill>
              </a:defRPr>
            </a:lvl4pPr>
            <a:lvl5pPr algn="l">
              <a:defRPr sz="1500" b="1">
                <a:solidFill>
                  <a:srgbClr val="FFFFFF"/>
                </a:solidFill>
              </a:defRPr>
            </a:lvl5pPr>
            <a:lvl6pPr algn="l">
              <a:defRPr sz="1500" b="1">
                <a:solidFill>
                  <a:srgbClr val="FFFFFF"/>
                </a:solidFill>
              </a:defRPr>
            </a:lvl6pPr>
            <a:lvl7pPr algn="l">
              <a:defRPr sz="1500" b="1">
                <a:solidFill>
                  <a:srgbClr val="FFFFFF"/>
                </a:solidFill>
              </a:defRPr>
            </a:lvl7pPr>
            <a:lvl8pPr algn="l">
              <a:defRPr sz="1500" b="1">
                <a:solidFill>
                  <a:srgbClr val="FFFFFF"/>
                </a:solidFill>
              </a:defRPr>
            </a:lvl8pPr>
            <a:lvl9pPr algn="l">
              <a:defRPr sz="1500" b="1">
                <a:solidFill>
                  <a:srgbClr val="FFFFFF"/>
                </a:solidFill>
              </a:defRPr>
            </a:lvl9pPr>
          </a:lstStyle>
          <a:p xmlns:a="http://schemas.openxmlformats.org/drawingml/2006/main">
            <a:pPr algn="l">
              <a:defRPr sz="1500" b="1">
                <a:solidFill>
                  <a:srgbClr val="FFFFFF"/>
                </a:solidFill>
              </a:defRPr>
            </a:pPr>
            <a:r>
              <a:rPr sz="1500" b="1">
                <a:solidFill>
                  <a:srgbClr val="FFFFFF"/>
                </a:solidFill>
              </a:rPr>
              <a:t>EWMA-HS</a:t>
            </a:r>
          </a:p>
        </p:txBody>
      </p:sp>
      <p:sp>
        <p:nvSpPr>
          <p:cNvPr id="9" name="">
            <a:extLst xmlns:a="http://schemas.openxmlformats.org/drawingml/2006/main">
              <a:ext uri="{FF2B5EF4-FFF2-40B4-BE49-F238E27FC236}">
                <a16:creationId xmlns:a16="http://schemas.microsoft.com/office/drawing/2014/main" id="{0B0A3309-7A5E-4FE1-852C-0B22159EBFDF}"/>
              </a:ext>
            </a:extLst>
          </p:cNvPr>
          <p:cNvSpPr>
            <a:spLocks xmlns:a="http://schemas.openxmlformats.org/drawingml/2006/main" noGrp="1"/>
          </p:cNvSpPr>
          <p:nvPr/>
        </p:nvSpPr>
        <p:spPr>
          <a:xfrm xmlns:a="http://schemas.openxmlformats.org/drawingml/2006/main">
            <a:off x="4362450" y="3752850"/>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D7D7D2"/>
                </a:solidFill>
              </a:defRPr>
            </a:defPPr>
            <a:lvl1pPr algn="l">
              <a:defRPr sz="1050" b="0">
                <a:solidFill>
                  <a:srgbClr val="D7D7D2"/>
                </a:solidFill>
              </a:defRPr>
            </a:lvl1pPr>
            <a:lvl2pPr algn="l">
              <a:defRPr sz="1050" b="0">
                <a:solidFill>
                  <a:srgbClr val="D7D7D2"/>
                </a:solidFill>
              </a:defRPr>
            </a:lvl2pPr>
            <a:lvl3pPr algn="l">
              <a:defRPr sz="1050" b="0">
                <a:solidFill>
                  <a:srgbClr val="D7D7D2"/>
                </a:solidFill>
              </a:defRPr>
            </a:lvl3pPr>
            <a:lvl4pPr algn="l">
              <a:defRPr sz="1050" b="0">
                <a:solidFill>
                  <a:srgbClr val="D7D7D2"/>
                </a:solidFill>
              </a:defRPr>
            </a:lvl4pPr>
            <a:lvl5pPr algn="l">
              <a:defRPr sz="1050" b="0">
                <a:solidFill>
                  <a:srgbClr val="D7D7D2"/>
                </a:solidFill>
              </a:defRPr>
            </a:lvl5pPr>
            <a:lvl6pPr algn="l">
              <a:defRPr sz="1050" b="0">
                <a:solidFill>
                  <a:srgbClr val="D7D7D2"/>
                </a:solidFill>
              </a:defRPr>
            </a:lvl6pPr>
            <a:lvl7pPr algn="l">
              <a:defRPr sz="1050" b="0">
                <a:solidFill>
                  <a:srgbClr val="D7D7D2"/>
                </a:solidFill>
              </a:defRPr>
            </a:lvl7pPr>
            <a:lvl8pPr algn="l">
              <a:defRPr sz="1050" b="0">
                <a:solidFill>
                  <a:srgbClr val="D7D7D2"/>
                </a:solidFill>
              </a:defRPr>
            </a:lvl8pPr>
            <a:lvl9pPr algn="l">
              <a:defRPr sz="1050" b="0">
                <a:solidFill>
                  <a:srgbClr val="D7D7D2"/>
                </a:solidFill>
              </a:defRPr>
            </a:lvl9pPr>
          </a:lstStyle>
          <a:p xmlns:a="http://schemas.openxmlformats.org/drawingml/2006/main">
            <a:pPr algn="l">
              <a:defRPr sz="1050" b="0">
                <a:solidFill>
                  <a:srgbClr val="D7D7D2"/>
                </a:solidFill>
              </a:defRPr>
            </a:pPr>
            <a:r>
              <a:rPr sz="1050" b="0">
                <a:solidFill>
                  <a:srgbClr val="D7D7D2"/>
                </a:solidFill>
              </a:rPr>
              <a:t>Fast response and a useful second opinion when volatility changes quickly.</a:t>
            </a:r>
          </a:p>
        </p:txBody>
      </p:sp>
      <p:sp>
        <p:nvSpPr>
          <p:cNvPr id="10" name="">
            <a:extLst xmlns:a="http://schemas.openxmlformats.org/drawingml/2006/main">
              <a:ext uri="{FF2B5EF4-FFF2-40B4-BE49-F238E27FC236}">
                <a16:creationId xmlns:a16="http://schemas.microsoft.com/office/drawing/2014/main" id="{5EDE16AA-7FDF-4229-9F00-E66BCD89DBF3}"/>
              </a:ext>
            </a:extLst>
          </p:cNvPr>
          <p:cNvSpPr>
            <a:spLocks xmlns:a="http://schemas.openxmlformats.org/drawingml/2006/main" noGrp="1"/>
          </p:cNvSpPr>
          <p:nvPr/>
        </p:nvSpPr>
        <p:spPr>
          <a:xfrm xmlns:a="http://schemas.openxmlformats.org/drawingml/2006/main">
            <a:off x="552450" y="44577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BENCHMARK</a:t>
            </a:r>
          </a:p>
        </p:txBody>
      </p:sp>
      <p:sp>
        <p:nvSpPr>
          <p:cNvPr id="11" name="">
            <a:extLst xmlns:a="http://schemas.openxmlformats.org/drawingml/2006/main">
              <a:ext uri="{FF2B5EF4-FFF2-40B4-BE49-F238E27FC236}">
                <a16:creationId xmlns:a16="http://schemas.microsoft.com/office/drawing/2014/main" id="{334BE262-6351-4B00-BA76-559266CFCC15}"/>
              </a:ext>
            </a:extLst>
          </p:cNvPr>
          <p:cNvSpPr>
            <a:spLocks xmlns:a="http://schemas.openxmlformats.org/drawingml/2006/main" noGrp="1"/>
          </p:cNvSpPr>
          <p:nvPr/>
        </p:nvSpPr>
        <p:spPr>
          <a:xfrm xmlns:a="http://schemas.openxmlformats.org/drawingml/2006/main">
            <a:off x="1847850" y="44386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FFFFFF"/>
                </a:solidFill>
              </a:defRPr>
            </a:defPPr>
            <a:lvl1pPr algn="l">
              <a:defRPr sz="1500" b="1">
                <a:solidFill>
                  <a:srgbClr val="FFFFFF"/>
                </a:solidFill>
              </a:defRPr>
            </a:lvl1pPr>
            <a:lvl2pPr algn="l">
              <a:defRPr sz="1500" b="1">
                <a:solidFill>
                  <a:srgbClr val="FFFFFF"/>
                </a:solidFill>
              </a:defRPr>
            </a:lvl2pPr>
            <a:lvl3pPr algn="l">
              <a:defRPr sz="1500" b="1">
                <a:solidFill>
                  <a:srgbClr val="FFFFFF"/>
                </a:solidFill>
              </a:defRPr>
            </a:lvl3pPr>
            <a:lvl4pPr algn="l">
              <a:defRPr sz="1500" b="1">
                <a:solidFill>
                  <a:srgbClr val="FFFFFF"/>
                </a:solidFill>
              </a:defRPr>
            </a:lvl4pPr>
            <a:lvl5pPr algn="l">
              <a:defRPr sz="1500" b="1">
                <a:solidFill>
                  <a:srgbClr val="FFFFFF"/>
                </a:solidFill>
              </a:defRPr>
            </a:lvl5pPr>
            <a:lvl6pPr algn="l">
              <a:defRPr sz="1500" b="1">
                <a:solidFill>
                  <a:srgbClr val="FFFFFF"/>
                </a:solidFill>
              </a:defRPr>
            </a:lvl6pPr>
            <a:lvl7pPr algn="l">
              <a:defRPr sz="1500" b="1">
                <a:solidFill>
                  <a:srgbClr val="FFFFFF"/>
                </a:solidFill>
              </a:defRPr>
            </a:lvl7pPr>
            <a:lvl8pPr algn="l">
              <a:defRPr sz="1500" b="1">
                <a:solidFill>
                  <a:srgbClr val="FFFFFF"/>
                </a:solidFill>
              </a:defRPr>
            </a:lvl8pPr>
            <a:lvl9pPr algn="l">
              <a:defRPr sz="1500" b="1">
                <a:solidFill>
                  <a:srgbClr val="FFFFFF"/>
                </a:solidFill>
              </a:defRPr>
            </a:lvl9pPr>
          </a:lstStyle>
          <a:p xmlns:a="http://schemas.openxmlformats.org/drawingml/2006/main">
            <a:pPr algn="l">
              <a:defRPr sz="1500" b="1">
                <a:solidFill>
                  <a:srgbClr val="FFFFFF"/>
                </a:solidFill>
              </a:defRPr>
            </a:pPr>
            <a:r>
              <a:rPr sz="1500" b="1">
                <a:solidFill>
                  <a:srgbClr val="FFFFFF"/>
                </a:solidFill>
              </a:rPr>
              <a:t>Historical Simulation</a:t>
            </a:r>
          </a:p>
        </p:txBody>
      </p:sp>
      <p:sp>
        <p:nvSpPr>
          <p:cNvPr id="12" name="">
            <a:extLst xmlns:a="http://schemas.openxmlformats.org/drawingml/2006/main">
              <a:ext uri="{FF2B5EF4-FFF2-40B4-BE49-F238E27FC236}">
                <a16:creationId xmlns:a16="http://schemas.microsoft.com/office/drawing/2014/main" id="{6CE6F4FF-39C3-41DC-92C4-13752991D81F}"/>
              </a:ext>
            </a:extLst>
          </p:cNvPr>
          <p:cNvSpPr>
            <a:spLocks xmlns:a="http://schemas.openxmlformats.org/drawingml/2006/main" noGrp="1"/>
          </p:cNvSpPr>
          <p:nvPr/>
        </p:nvSpPr>
        <p:spPr>
          <a:xfrm xmlns:a="http://schemas.openxmlformats.org/drawingml/2006/main">
            <a:off x="4362450" y="4457700"/>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D7D7D2"/>
                </a:solidFill>
              </a:defRPr>
            </a:defPPr>
            <a:lvl1pPr algn="l">
              <a:defRPr sz="1050" b="0">
                <a:solidFill>
                  <a:srgbClr val="D7D7D2"/>
                </a:solidFill>
              </a:defRPr>
            </a:lvl1pPr>
            <a:lvl2pPr algn="l">
              <a:defRPr sz="1050" b="0">
                <a:solidFill>
                  <a:srgbClr val="D7D7D2"/>
                </a:solidFill>
              </a:defRPr>
            </a:lvl2pPr>
            <a:lvl3pPr algn="l">
              <a:defRPr sz="1050" b="0">
                <a:solidFill>
                  <a:srgbClr val="D7D7D2"/>
                </a:solidFill>
              </a:defRPr>
            </a:lvl3pPr>
            <a:lvl4pPr algn="l">
              <a:defRPr sz="1050" b="0">
                <a:solidFill>
                  <a:srgbClr val="D7D7D2"/>
                </a:solidFill>
              </a:defRPr>
            </a:lvl4pPr>
            <a:lvl5pPr algn="l">
              <a:defRPr sz="1050" b="0">
                <a:solidFill>
                  <a:srgbClr val="D7D7D2"/>
                </a:solidFill>
              </a:defRPr>
            </a:lvl5pPr>
            <a:lvl6pPr algn="l">
              <a:defRPr sz="1050" b="0">
                <a:solidFill>
                  <a:srgbClr val="D7D7D2"/>
                </a:solidFill>
              </a:defRPr>
            </a:lvl6pPr>
            <a:lvl7pPr algn="l">
              <a:defRPr sz="1050" b="0">
                <a:solidFill>
                  <a:srgbClr val="D7D7D2"/>
                </a:solidFill>
              </a:defRPr>
            </a:lvl7pPr>
            <a:lvl8pPr algn="l">
              <a:defRPr sz="1050" b="0">
                <a:solidFill>
                  <a:srgbClr val="D7D7D2"/>
                </a:solidFill>
              </a:defRPr>
            </a:lvl8pPr>
            <a:lvl9pPr algn="l">
              <a:defRPr sz="1050" b="0">
                <a:solidFill>
                  <a:srgbClr val="D7D7D2"/>
                </a:solidFill>
              </a:defRPr>
            </a:lvl9pPr>
          </a:lstStyle>
          <a:p xmlns:a="http://schemas.openxmlformats.org/drawingml/2006/main">
            <a:pPr algn="l">
              <a:defRPr sz="1050" b="0">
                <a:solidFill>
                  <a:srgbClr val="D7D7D2"/>
                </a:solidFill>
              </a:defRPr>
            </a:pPr>
            <a:r>
              <a:rPr sz="1050" b="0">
                <a:solidFill>
                  <a:srgbClr val="D7D7D2"/>
                </a:solidFill>
              </a:rPr>
              <a:t>Transparent loss ranking that keeps the complex models accountable.</a:t>
            </a:r>
          </a:p>
        </p:txBody>
      </p:sp>
      <p:sp>
        <p:nvSpPr>
          <p:cNvPr id="13" name="">
            <a:extLst xmlns:a="http://schemas.openxmlformats.org/drawingml/2006/main">
              <a:ext uri="{FF2B5EF4-FFF2-40B4-BE49-F238E27FC236}">
                <a16:creationId xmlns:a16="http://schemas.microsoft.com/office/drawing/2014/main" id="{BAE8DDEA-32B6-4E74-856D-3EDBD685605B}"/>
              </a:ext>
            </a:extLst>
          </p:cNvPr>
          <p:cNvSpPr>
            <a:spLocks xmlns:a="http://schemas.openxmlformats.org/drawingml/2006/main" noGrp="1"/>
          </p:cNvSpPr>
          <p:nvPr/>
        </p:nvSpPr>
        <p:spPr>
          <a:xfrm xmlns:a="http://schemas.openxmlformats.org/drawingml/2006/main">
            <a:off x="552450" y="51625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ACTION</a:t>
            </a:r>
          </a:p>
        </p:txBody>
      </p:sp>
      <p:sp>
        <p:nvSpPr>
          <p:cNvPr id="14" name="">
            <a:extLst xmlns:a="http://schemas.openxmlformats.org/drawingml/2006/main">
              <a:ext uri="{FF2B5EF4-FFF2-40B4-BE49-F238E27FC236}">
                <a16:creationId xmlns:a16="http://schemas.microsoft.com/office/drawing/2014/main" id="{01D81713-70E1-4C86-B04C-3DCD3C25649B}"/>
              </a:ext>
            </a:extLst>
          </p:cNvPr>
          <p:cNvSpPr>
            <a:spLocks xmlns:a="http://schemas.openxmlformats.org/drawingml/2006/main" noGrp="1"/>
          </p:cNvSpPr>
          <p:nvPr/>
        </p:nvSpPr>
        <p:spPr>
          <a:xfrm xmlns:a="http://schemas.openxmlformats.org/drawingml/2006/main">
            <a:off x="1847850" y="51435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FFFFFF"/>
                </a:solidFill>
              </a:defRPr>
            </a:defPPr>
            <a:lvl1pPr algn="l">
              <a:defRPr sz="1500" b="1">
                <a:solidFill>
                  <a:srgbClr val="FFFFFF"/>
                </a:solidFill>
              </a:defRPr>
            </a:lvl1pPr>
            <a:lvl2pPr algn="l">
              <a:defRPr sz="1500" b="1">
                <a:solidFill>
                  <a:srgbClr val="FFFFFF"/>
                </a:solidFill>
              </a:defRPr>
            </a:lvl2pPr>
            <a:lvl3pPr algn="l">
              <a:defRPr sz="1500" b="1">
                <a:solidFill>
                  <a:srgbClr val="FFFFFF"/>
                </a:solidFill>
              </a:defRPr>
            </a:lvl3pPr>
            <a:lvl4pPr algn="l">
              <a:defRPr sz="1500" b="1">
                <a:solidFill>
                  <a:srgbClr val="FFFFFF"/>
                </a:solidFill>
              </a:defRPr>
            </a:lvl4pPr>
            <a:lvl5pPr algn="l">
              <a:defRPr sz="1500" b="1">
                <a:solidFill>
                  <a:srgbClr val="FFFFFF"/>
                </a:solidFill>
              </a:defRPr>
            </a:lvl5pPr>
            <a:lvl6pPr algn="l">
              <a:defRPr sz="1500" b="1">
                <a:solidFill>
                  <a:srgbClr val="FFFFFF"/>
                </a:solidFill>
              </a:defRPr>
            </a:lvl6pPr>
            <a:lvl7pPr algn="l">
              <a:defRPr sz="1500" b="1">
                <a:solidFill>
                  <a:srgbClr val="FFFFFF"/>
                </a:solidFill>
              </a:defRPr>
            </a:lvl7pPr>
            <a:lvl8pPr algn="l">
              <a:defRPr sz="1500" b="1">
                <a:solidFill>
                  <a:srgbClr val="FFFFFF"/>
                </a:solidFill>
              </a:defRPr>
            </a:lvl8pPr>
            <a:lvl9pPr algn="l">
              <a:defRPr sz="1500" b="1">
                <a:solidFill>
                  <a:srgbClr val="FFFFFF"/>
                </a:solidFill>
              </a:defRPr>
            </a:lvl9pPr>
          </a:lstStyle>
          <a:p xmlns:a="http://schemas.openxmlformats.org/drawingml/2006/main">
            <a:pPr algn="l">
              <a:defRPr sz="1500" b="1">
                <a:solidFill>
                  <a:srgbClr val="FFFFFF"/>
                </a:solidFill>
              </a:defRPr>
            </a:pPr>
            <a:r>
              <a:rPr sz="1500" b="1">
                <a:solidFill>
                  <a:srgbClr val="FFFFFF"/>
                </a:solidFill>
              </a:rPr>
              <a:t>Review concentration</a:t>
            </a:r>
          </a:p>
        </p:txBody>
      </p:sp>
      <p:sp>
        <p:nvSpPr>
          <p:cNvPr id="15" name="">
            <a:extLst xmlns:a="http://schemas.openxmlformats.org/drawingml/2006/main">
              <a:ext uri="{FF2B5EF4-FFF2-40B4-BE49-F238E27FC236}">
                <a16:creationId xmlns:a16="http://schemas.microsoft.com/office/drawing/2014/main" id="{D9F80E23-2461-423D-B0E3-6F5A0E01A03E}"/>
              </a:ext>
            </a:extLst>
          </p:cNvPr>
          <p:cNvSpPr>
            <a:spLocks xmlns:a="http://schemas.openxmlformats.org/drawingml/2006/main" noGrp="1"/>
          </p:cNvSpPr>
          <p:nvPr/>
        </p:nvSpPr>
        <p:spPr>
          <a:xfrm xmlns:a="http://schemas.openxmlformats.org/drawingml/2006/main">
            <a:off x="4362450" y="5162550"/>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D7D7D2"/>
                </a:solidFill>
              </a:defRPr>
            </a:defPPr>
            <a:lvl1pPr algn="l">
              <a:defRPr sz="1050" b="0">
                <a:solidFill>
                  <a:srgbClr val="D7D7D2"/>
                </a:solidFill>
              </a:defRPr>
            </a:lvl1pPr>
            <a:lvl2pPr algn="l">
              <a:defRPr sz="1050" b="0">
                <a:solidFill>
                  <a:srgbClr val="D7D7D2"/>
                </a:solidFill>
              </a:defRPr>
            </a:lvl2pPr>
            <a:lvl3pPr algn="l">
              <a:defRPr sz="1050" b="0">
                <a:solidFill>
                  <a:srgbClr val="D7D7D2"/>
                </a:solidFill>
              </a:defRPr>
            </a:lvl3pPr>
            <a:lvl4pPr algn="l">
              <a:defRPr sz="1050" b="0">
                <a:solidFill>
                  <a:srgbClr val="D7D7D2"/>
                </a:solidFill>
              </a:defRPr>
            </a:lvl4pPr>
            <a:lvl5pPr algn="l">
              <a:defRPr sz="1050" b="0">
                <a:solidFill>
                  <a:srgbClr val="D7D7D2"/>
                </a:solidFill>
              </a:defRPr>
            </a:lvl5pPr>
            <a:lvl6pPr algn="l">
              <a:defRPr sz="1050" b="0">
                <a:solidFill>
                  <a:srgbClr val="D7D7D2"/>
                </a:solidFill>
              </a:defRPr>
            </a:lvl6pPr>
            <a:lvl7pPr algn="l">
              <a:defRPr sz="1050" b="0">
                <a:solidFill>
                  <a:srgbClr val="D7D7D2"/>
                </a:solidFill>
              </a:defRPr>
            </a:lvl7pPr>
            <a:lvl8pPr algn="l">
              <a:defRPr sz="1050" b="0">
                <a:solidFill>
                  <a:srgbClr val="D7D7D2"/>
                </a:solidFill>
              </a:defRPr>
            </a:lvl8pPr>
            <a:lvl9pPr algn="l">
              <a:defRPr sz="1050" b="0">
                <a:solidFill>
                  <a:srgbClr val="D7D7D2"/>
                </a:solidFill>
              </a:defRPr>
            </a:lvl9pPr>
          </a:lstStyle>
          <a:p xmlns:a="http://schemas.openxmlformats.org/drawingml/2006/main">
            <a:pPr algn="l">
              <a:defRPr sz="1050" b="0">
                <a:solidFill>
                  <a:srgbClr val="D7D7D2"/>
                </a:solidFill>
              </a:defRPr>
            </a:pPr>
            <a:r>
              <a:rPr sz="1050" b="0">
                <a:solidFill>
                  <a:srgbClr val="D7D7D2"/>
                </a:solidFill>
              </a:rPr>
              <a:t>TSLA and AMZN supply about 39% of Expected Shortfall from about 21% of capital.</a:t>
            </a:r>
          </a:p>
        </p:txBody>
      </p:sp>
      <p:sp>
        <p:nvSpPr>
          <p:cNvPr id="16" name="">
            <a:extLst xmlns:a="http://schemas.openxmlformats.org/drawingml/2006/main">
              <a:ext uri="{FF2B5EF4-FFF2-40B4-BE49-F238E27FC236}">
                <a16:creationId xmlns:a16="http://schemas.microsoft.com/office/drawing/2014/main" id="{5ABF7E55-400C-432D-A3AC-38B9251BDB8A}"/>
              </a:ext>
            </a:extLst>
          </p:cNvPr>
          <p:cNvSpPr>
            <a:spLocks xmlns:a="http://schemas.openxmlformats.org/drawingml/2006/main" noGrp="1"/>
          </p:cNvSpPr>
          <p:nvPr/>
        </p:nvSpPr>
        <p:spPr>
          <a:xfrm xmlns:a="http://schemas.openxmlformats.org/drawingml/2006/main">
            <a:off x="552450" y="607695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Daily VaR is a control threshold, not a crisis-loss ceiling</a:t>
            </a:r>
          </a:p>
        </p:txBody>
      </p:sp>
      <p:sp>
        <p:nvSpPr>
          <p:cNvPr id="17" name="">
            <a:extLst xmlns:a="http://schemas.openxmlformats.org/drawingml/2006/main">
              <a:ext uri="{FF2B5EF4-FFF2-40B4-BE49-F238E27FC236}">
                <a16:creationId xmlns:a16="http://schemas.microsoft.com/office/drawing/2014/main" id="{EFB34CBE-D82B-4953-9E71-AD4705BD4CC1}"/>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FFFFFF"/>
                </a:solidFill>
              </a:defRPr>
            </a:defPPr>
            <a:lvl1pPr algn="r">
              <a:defRPr sz="675" b="1">
                <a:solidFill>
                  <a:srgbClr val="FFFFFF"/>
                </a:solidFill>
              </a:defRPr>
            </a:lvl1pPr>
            <a:lvl2pPr algn="r">
              <a:defRPr sz="675" b="1">
                <a:solidFill>
                  <a:srgbClr val="FFFFFF"/>
                </a:solidFill>
              </a:defRPr>
            </a:lvl2pPr>
            <a:lvl3pPr algn="r">
              <a:defRPr sz="675" b="1">
                <a:solidFill>
                  <a:srgbClr val="FFFFFF"/>
                </a:solidFill>
              </a:defRPr>
            </a:lvl3pPr>
            <a:lvl4pPr algn="r">
              <a:defRPr sz="675" b="1">
                <a:solidFill>
                  <a:srgbClr val="FFFFFF"/>
                </a:solidFill>
              </a:defRPr>
            </a:lvl4pPr>
            <a:lvl5pPr algn="r">
              <a:defRPr sz="675" b="1">
                <a:solidFill>
                  <a:srgbClr val="FFFFFF"/>
                </a:solidFill>
              </a:defRPr>
            </a:lvl5pPr>
            <a:lvl6pPr algn="r">
              <a:defRPr sz="675" b="1">
                <a:solidFill>
                  <a:srgbClr val="FFFFFF"/>
                </a:solidFill>
              </a:defRPr>
            </a:lvl6pPr>
            <a:lvl7pPr algn="r">
              <a:defRPr sz="675" b="1">
                <a:solidFill>
                  <a:srgbClr val="FFFFFF"/>
                </a:solidFill>
              </a:defRPr>
            </a:lvl7pPr>
            <a:lvl8pPr algn="r">
              <a:defRPr sz="675" b="1">
                <a:solidFill>
                  <a:srgbClr val="FFFFFF"/>
                </a:solidFill>
              </a:defRPr>
            </a:lvl8pPr>
            <a:lvl9pPr algn="r">
              <a:defRPr sz="675" b="1">
                <a:solidFill>
                  <a:srgbClr val="FFFFFF"/>
                </a:solidFill>
              </a:defRPr>
            </a:lvl9pPr>
          </a:lstStyle>
          <a:p xmlns:a="http://schemas.openxmlformats.org/drawingml/2006/main">
            <a:pPr algn="r">
              <a:defRPr sz="675" b="1">
                <a:solidFill>
                  <a:srgbClr val="FFFFFF"/>
                </a:solidFill>
              </a:defRPr>
            </a:pPr>
            <a:r>
              <a:rPr sz="675" b="1">
                <a:solidFill>
                  <a:srgbClr val="FFFFFF"/>
                </a:solidFill>
              </a:rPr>
              <a:t>20</a:t>
            </a:r>
          </a:p>
        </p:txBody>
      </p:sp>
    </p:spTree>
    <p:extLst>
      <p:ext uri="{BB962C8B-B14F-4D97-AF65-F5344CB8AC3E}">
        <p14:creationId xmlns:p14="http://schemas.microsoft.com/office/powerpoint/2010/main" val="209056797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0619388-90A0-4961-8547-D635D35F61A4}"/>
              </a:ext>
            </a:extLst>
          </p:cNvPr>
          <p:cNvSpPr>
            <a:spLocks xmlns:a="http://schemas.openxmlformats.org/drawingml/2006/main" noGrp="1"/>
          </p:cNvSpPr>
          <p:nvPr/>
        </p:nvSpPr>
        <p:spPr>
          <a:xfrm xmlns:a="http://schemas.openxmlformats.org/drawingml/2006/main">
            <a:off x="514350" y="266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1">
                <a:solidFill>
                  <a:srgbClr val="B42318"/>
                </a:solidFill>
              </a:defRPr>
            </a:defPPr>
            <a:lvl1pPr algn="l">
              <a:defRPr sz="750" b="1">
                <a:solidFill>
                  <a:srgbClr val="B42318"/>
                </a:solidFill>
              </a:defRPr>
            </a:lvl1pPr>
            <a:lvl2pPr algn="l">
              <a:defRPr sz="750" b="1">
                <a:solidFill>
                  <a:srgbClr val="B42318"/>
                </a:solidFill>
              </a:defRPr>
            </a:lvl2pPr>
            <a:lvl3pPr algn="l">
              <a:defRPr sz="750" b="1">
                <a:solidFill>
                  <a:srgbClr val="B42318"/>
                </a:solidFill>
              </a:defRPr>
            </a:lvl3pPr>
            <a:lvl4pPr algn="l">
              <a:defRPr sz="750" b="1">
                <a:solidFill>
                  <a:srgbClr val="B42318"/>
                </a:solidFill>
              </a:defRPr>
            </a:lvl4pPr>
            <a:lvl5pPr algn="l">
              <a:defRPr sz="750" b="1">
                <a:solidFill>
                  <a:srgbClr val="B42318"/>
                </a:solidFill>
              </a:defRPr>
            </a:lvl5pPr>
            <a:lvl6pPr algn="l">
              <a:defRPr sz="750" b="1">
                <a:solidFill>
                  <a:srgbClr val="B42318"/>
                </a:solidFill>
              </a:defRPr>
            </a:lvl6pPr>
            <a:lvl7pPr algn="l">
              <a:defRPr sz="750" b="1">
                <a:solidFill>
                  <a:srgbClr val="B42318"/>
                </a:solidFill>
              </a:defRPr>
            </a:lvl7pPr>
            <a:lvl8pPr algn="l">
              <a:defRPr sz="750" b="1">
                <a:solidFill>
                  <a:srgbClr val="B42318"/>
                </a:solidFill>
              </a:defRPr>
            </a:lvl8pPr>
            <a:lvl9pPr algn="l">
              <a:defRPr sz="750" b="1">
                <a:solidFill>
                  <a:srgbClr val="B42318"/>
                </a:solidFill>
              </a:defRPr>
            </a:lvl9pPr>
          </a:lstStyle>
          <a:p xmlns:a="http://schemas.openxmlformats.org/drawingml/2006/main">
            <a:pPr algn="l">
              <a:defRPr sz="750" b="1">
                <a:solidFill>
                  <a:srgbClr val="B42318"/>
                </a:solidFill>
              </a:defRPr>
            </a:pPr>
            <a:r>
              <a:rPr sz="750" b="1">
                <a:solidFill>
                  <a:srgbClr val="B42318"/>
                </a:solidFill>
              </a:rPr>
              <a:t>SIMULATED PERFORMANCE</a:t>
            </a:r>
          </a:p>
        </p:txBody>
      </p:sp>
      <p:sp>
        <p:nvSpPr>
          <p:cNvPr id="2" name="">
            <a:extLst xmlns:a="http://schemas.openxmlformats.org/drawingml/2006/main">
              <a:ext uri="{FF2B5EF4-FFF2-40B4-BE49-F238E27FC236}">
                <a16:creationId xmlns:a16="http://schemas.microsoft.com/office/drawing/2014/main" id="{E4CE6819-7DDF-4923-A7DC-30CCDB8E2FD2}"/>
              </a:ext>
            </a:extLst>
          </p:cNvPr>
          <p:cNvSpPr>
            <a:spLocks xmlns:a="http://schemas.openxmlformats.org/drawingml/2006/main" noGrp="1"/>
          </p:cNvSpPr>
          <p:nvPr/>
        </p:nvSpPr>
        <p:spPr>
          <a:xfrm xmlns:a="http://schemas.openxmlformats.org/drawingml/2006/main">
            <a:off x="514350" y="6096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11111"/>
                </a:solidFill>
              </a:defRPr>
            </a:defPPr>
            <a:lvl1pPr algn="l">
              <a:defRPr sz="2550" b="1">
                <a:solidFill>
                  <a:srgbClr val="111111"/>
                </a:solidFill>
              </a:defRPr>
            </a:lvl1pPr>
            <a:lvl2pPr algn="l">
              <a:defRPr sz="2550" b="1">
                <a:solidFill>
                  <a:srgbClr val="111111"/>
                </a:solidFill>
              </a:defRPr>
            </a:lvl2pPr>
            <a:lvl3pPr algn="l">
              <a:defRPr sz="2550" b="1">
                <a:solidFill>
                  <a:srgbClr val="111111"/>
                </a:solidFill>
              </a:defRPr>
            </a:lvl3pPr>
            <a:lvl4pPr algn="l">
              <a:defRPr sz="2550" b="1">
                <a:solidFill>
                  <a:srgbClr val="111111"/>
                </a:solidFill>
              </a:defRPr>
            </a:lvl4pPr>
            <a:lvl5pPr algn="l">
              <a:defRPr sz="2550" b="1">
                <a:solidFill>
                  <a:srgbClr val="111111"/>
                </a:solidFill>
              </a:defRPr>
            </a:lvl5pPr>
            <a:lvl6pPr algn="l">
              <a:defRPr sz="2550" b="1">
                <a:solidFill>
                  <a:srgbClr val="111111"/>
                </a:solidFill>
              </a:defRPr>
            </a:lvl6pPr>
            <a:lvl7pPr algn="l">
              <a:defRPr sz="2550" b="1">
                <a:solidFill>
                  <a:srgbClr val="111111"/>
                </a:solidFill>
              </a:defRPr>
            </a:lvl7pPr>
            <a:lvl8pPr algn="l">
              <a:defRPr sz="2550" b="1">
                <a:solidFill>
                  <a:srgbClr val="111111"/>
                </a:solidFill>
              </a:defRPr>
            </a:lvl8pPr>
            <a:lvl9pPr algn="l">
              <a:defRPr sz="2550" b="1">
                <a:solidFill>
                  <a:srgbClr val="111111"/>
                </a:solidFill>
              </a:defRPr>
            </a:lvl9pPr>
          </a:lstStyle>
          <a:p xmlns:a="http://schemas.openxmlformats.org/drawingml/2006/main">
            <a:pPr algn="l">
              <a:defRPr sz="2550" b="1">
                <a:solidFill>
                  <a:srgbClr val="111111"/>
                </a:solidFill>
              </a:defRPr>
            </a:pPr>
            <a:r>
              <a:rPr sz="2550" b="1">
                <a:solidFill>
                  <a:srgbClr val="111111"/>
                </a:solidFill>
              </a:rPr>
              <a:t>What the historical simulation produced from a $10M start</a:t>
            </a:r>
          </a:p>
        </p:txBody>
      </p:sp>
      <p:sp>
        <p:nvSpPr>
          <p:cNvPr id="3" name="">
            <a:extLst xmlns:a="http://schemas.openxmlformats.org/drawingml/2006/main">
              <a:ext uri="{FF2B5EF4-FFF2-40B4-BE49-F238E27FC236}">
                <a16:creationId xmlns:a16="http://schemas.microsoft.com/office/drawing/2014/main" id="{76403017-29E6-4D49-9D09-9E227984879D}"/>
              </a:ext>
            </a:extLst>
          </p:cNvPr>
          <p:cNvSpPr>
            <a:spLocks xmlns:a="http://schemas.openxmlformats.org/drawingml/2006/main" noGrp="1"/>
          </p:cNvSpPr>
          <p:nvPr/>
        </p:nvSpPr>
        <p:spPr>
          <a:xfrm xmlns:a="http://schemas.openxmlformats.org/drawingml/2006/main">
            <a:off x="514350" y="11430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353535"/>
                </a:solidFill>
              </a:defRPr>
            </a:defPPr>
            <a:lvl1pPr algn="l">
              <a:defRPr sz="1125" b="0">
                <a:solidFill>
                  <a:srgbClr val="353535"/>
                </a:solidFill>
              </a:defRPr>
            </a:lvl1pPr>
            <a:lvl2pPr algn="l">
              <a:defRPr sz="1125" b="0">
                <a:solidFill>
                  <a:srgbClr val="353535"/>
                </a:solidFill>
              </a:defRPr>
            </a:lvl2pPr>
            <a:lvl3pPr algn="l">
              <a:defRPr sz="1125" b="0">
                <a:solidFill>
                  <a:srgbClr val="353535"/>
                </a:solidFill>
              </a:defRPr>
            </a:lvl3pPr>
            <a:lvl4pPr algn="l">
              <a:defRPr sz="1125" b="0">
                <a:solidFill>
                  <a:srgbClr val="353535"/>
                </a:solidFill>
              </a:defRPr>
            </a:lvl4pPr>
            <a:lvl5pPr algn="l">
              <a:defRPr sz="1125" b="0">
                <a:solidFill>
                  <a:srgbClr val="353535"/>
                </a:solidFill>
              </a:defRPr>
            </a:lvl5pPr>
            <a:lvl6pPr algn="l">
              <a:defRPr sz="1125" b="0">
                <a:solidFill>
                  <a:srgbClr val="353535"/>
                </a:solidFill>
              </a:defRPr>
            </a:lvl6pPr>
            <a:lvl7pPr algn="l">
              <a:defRPr sz="1125" b="0">
                <a:solidFill>
                  <a:srgbClr val="353535"/>
                </a:solidFill>
              </a:defRPr>
            </a:lvl7pPr>
            <a:lvl8pPr algn="l">
              <a:defRPr sz="1125" b="0">
                <a:solidFill>
                  <a:srgbClr val="353535"/>
                </a:solidFill>
              </a:defRPr>
            </a:lvl8pPr>
            <a:lvl9pPr algn="l">
              <a:defRPr sz="1125" b="0">
                <a:solidFill>
                  <a:srgbClr val="353535"/>
                </a:solidFill>
              </a:defRPr>
            </a:lvl9pPr>
          </a:lstStyle>
          <a:p xmlns:a="http://schemas.openxmlformats.org/drawingml/2006/main">
            <a:pPr algn="l">
              <a:defRPr sz="1125" b="0">
                <a:solidFill>
                  <a:srgbClr val="353535"/>
                </a:solidFill>
              </a:defRPr>
            </a:pPr>
            <a:r>
              <a:rPr sz="1125" b="0">
                <a:solidFill>
                  <a:srgbClr val="353535"/>
                </a:solidFill>
              </a:rPr>
              <a:t>Equal weighted and rebalanced monthly from June 2012 through October 2026</a:t>
            </a:r>
          </a:p>
        </p:txBody>
      </p:sp>
      <p:sp>
        <p:nvSpPr>
          <p:cNvPr id="4" name="">
            <a:extLst xmlns:a="http://schemas.openxmlformats.org/drawingml/2006/main">
              <a:ext uri="{FF2B5EF4-FFF2-40B4-BE49-F238E27FC236}">
                <a16:creationId xmlns:a16="http://schemas.microsoft.com/office/drawing/2014/main" id="{E7A920A1-333D-476B-8CEC-548CEB8D687A}"/>
              </a:ext>
            </a:extLst>
          </p:cNvPr>
          <p:cNvSpPr>
            <a:spLocks xmlns:a="http://schemas.openxmlformats.org/drawingml/2006/main" noGrp="1"/>
          </p:cNvSpPr>
          <p:nvPr/>
        </p:nvSpPr>
        <p:spPr>
          <a:xfrm xmlns:a="http://schemas.openxmlformats.org/drawingml/2006/main">
            <a:off x="514350" y="1495425"/>
            <a:ext cx="111633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02BEB939-FC4D-4EC6-A542-444401118D2E}"/>
              </a:ext>
            </a:extLst>
          </p:cNvPr>
          <p:cNvSpPr>
            <a:spLocks xmlns:a="http://schemas.openxmlformats.org/drawingml/2006/main" noGrp="1"/>
          </p:cNvSpPr>
          <p:nvPr/>
        </p:nvSpPr>
        <p:spPr>
          <a:xfrm xmlns:a="http://schemas.openxmlformats.org/drawingml/2006/main">
            <a:off x="514350" y="1676400"/>
            <a:ext cx="1943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55E63"/>
                </a:solidFill>
              </a:defRPr>
            </a:defPPr>
            <a:lvl1pPr algn="l">
              <a:defRPr sz="2100" b="1">
                <a:solidFill>
                  <a:srgbClr val="155E63"/>
                </a:solidFill>
              </a:defRPr>
            </a:lvl1pPr>
            <a:lvl2pPr algn="l">
              <a:defRPr sz="2100" b="1">
                <a:solidFill>
                  <a:srgbClr val="155E63"/>
                </a:solidFill>
              </a:defRPr>
            </a:lvl2pPr>
            <a:lvl3pPr algn="l">
              <a:defRPr sz="2100" b="1">
                <a:solidFill>
                  <a:srgbClr val="155E63"/>
                </a:solidFill>
              </a:defRPr>
            </a:lvl3pPr>
            <a:lvl4pPr algn="l">
              <a:defRPr sz="2100" b="1">
                <a:solidFill>
                  <a:srgbClr val="155E63"/>
                </a:solidFill>
              </a:defRPr>
            </a:lvl4pPr>
            <a:lvl5pPr algn="l">
              <a:defRPr sz="2100" b="1">
                <a:solidFill>
                  <a:srgbClr val="155E63"/>
                </a:solidFill>
              </a:defRPr>
            </a:lvl5pPr>
            <a:lvl6pPr algn="l">
              <a:defRPr sz="2100" b="1">
                <a:solidFill>
                  <a:srgbClr val="155E63"/>
                </a:solidFill>
              </a:defRPr>
            </a:lvl6pPr>
            <a:lvl7pPr algn="l">
              <a:defRPr sz="2100" b="1">
                <a:solidFill>
                  <a:srgbClr val="155E63"/>
                </a:solidFill>
              </a:defRPr>
            </a:lvl7pPr>
            <a:lvl8pPr algn="l">
              <a:defRPr sz="2100" b="1">
                <a:solidFill>
                  <a:srgbClr val="155E63"/>
                </a:solidFill>
              </a:defRPr>
            </a:lvl8pPr>
            <a:lvl9pPr algn="l">
              <a:defRPr sz="2100" b="1">
                <a:solidFill>
                  <a:srgbClr val="155E63"/>
                </a:solidFill>
              </a:defRPr>
            </a:lvl9pPr>
          </a:lstStyle>
          <a:p xmlns:a="http://schemas.openxmlformats.org/drawingml/2006/main">
            <a:pPr algn="l">
              <a:defRPr sz="2100" b="1">
                <a:solidFill>
                  <a:srgbClr val="155E63"/>
                </a:solidFill>
              </a:defRPr>
            </a:pPr>
            <a:r>
              <a:rPr sz="2100" b="1">
                <a:solidFill>
                  <a:srgbClr val="155E63"/>
                </a:solidFill>
              </a:rPr>
              <a:t>$513.4M</a:t>
            </a:r>
          </a:p>
        </p:txBody>
      </p:sp>
      <p:sp>
        <p:nvSpPr>
          <p:cNvPr id="6" name="">
            <a:extLst xmlns:a="http://schemas.openxmlformats.org/drawingml/2006/main">
              <a:ext uri="{FF2B5EF4-FFF2-40B4-BE49-F238E27FC236}">
                <a16:creationId xmlns:a16="http://schemas.microsoft.com/office/drawing/2014/main" id="{8C28091B-43D1-47D7-A73A-BA1B48EE1144}"/>
              </a:ext>
            </a:extLst>
          </p:cNvPr>
          <p:cNvSpPr>
            <a:spLocks xmlns:a="http://schemas.openxmlformats.org/drawingml/2006/main" noGrp="1"/>
          </p:cNvSpPr>
          <p:nvPr/>
        </p:nvSpPr>
        <p:spPr>
          <a:xfrm xmlns:a="http://schemas.openxmlformats.org/drawingml/2006/main">
            <a:off x="514350" y="207645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ending value</a:t>
            </a:r>
          </a:p>
        </p:txBody>
      </p:sp>
      <p:sp>
        <p:nvSpPr>
          <p:cNvPr id="7" name="">
            <a:extLst xmlns:a="http://schemas.openxmlformats.org/drawingml/2006/main">
              <a:ext uri="{FF2B5EF4-FFF2-40B4-BE49-F238E27FC236}">
                <a16:creationId xmlns:a16="http://schemas.microsoft.com/office/drawing/2014/main" id="{B868A91B-007E-43EA-B657-13B2D7FE02F7}"/>
              </a:ext>
            </a:extLst>
          </p:cNvPr>
          <p:cNvSpPr>
            <a:spLocks xmlns:a="http://schemas.openxmlformats.org/drawingml/2006/main" noGrp="1"/>
          </p:cNvSpPr>
          <p:nvPr/>
        </p:nvSpPr>
        <p:spPr>
          <a:xfrm xmlns:a="http://schemas.openxmlformats.org/drawingml/2006/main">
            <a:off x="2724150" y="1676400"/>
            <a:ext cx="1943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55E63"/>
                </a:solidFill>
              </a:defRPr>
            </a:defPPr>
            <a:lvl1pPr algn="l">
              <a:defRPr sz="2100" b="1">
                <a:solidFill>
                  <a:srgbClr val="155E63"/>
                </a:solidFill>
              </a:defRPr>
            </a:lvl1pPr>
            <a:lvl2pPr algn="l">
              <a:defRPr sz="2100" b="1">
                <a:solidFill>
                  <a:srgbClr val="155E63"/>
                </a:solidFill>
              </a:defRPr>
            </a:lvl2pPr>
            <a:lvl3pPr algn="l">
              <a:defRPr sz="2100" b="1">
                <a:solidFill>
                  <a:srgbClr val="155E63"/>
                </a:solidFill>
              </a:defRPr>
            </a:lvl3pPr>
            <a:lvl4pPr algn="l">
              <a:defRPr sz="2100" b="1">
                <a:solidFill>
                  <a:srgbClr val="155E63"/>
                </a:solidFill>
              </a:defRPr>
            </a:lvl4pPr>
            <a:lvl5pPr algn="l">
              <a:defRPr sz="2100" b="1">
                <a:solidFill>
                  <a:srgbClr val="155E63"/>
                </a:solidFill>
              </a:defRPr>
            </a:lvl5pPr>
            <a:lvl6pPr algn="l">
              <a:defRPr sz="2100" b="1">
                <a:solidFill>
                  <a:srgbClr val="155E63"/>
                </a:solidFill>
              </a:defRPr>
            </a:lvl6pPr>
            <a:lvl7pPr algn="l">
              <a:defRPr sz="2100" b="1">
                <a:solidFill>
                  <a:srgbClr val="155E63"/>
                </a:solidFill>
              </a:defRPr>
            </a:lvl7pPr>
            <a:lvl8pPr algn="l">
              <a:defRPr sz="2100" b="1">
                <a:solidFill>
                  <a:srgbClr val="155E63"/>
                </a:solidFill>
              </a:defRPr>
            </a:lvl8pPr>
            <a:lvl9pPr algn="l">
              <a:defRPr sz="2100" b="1">
                <a:solidFill>
                  <a:srgbClr val="155E63"/>
                </a:solidFill>
              </a:defRPr>
            </a:lvl9pPr>
          </a:lstStyle>
          <a:p xmlns:a="http://schemas.openxmlformats.org/drawingml/2006/main">
            <a:pPr algn="l">
              <a:defRPr sz="2100" b="1">
                <a:solidFill>
                  <a:srgbClr val="155E63"/>
                </a:solidFill>
              </a:defRPr>
            </a:pPr>
            <a:r>
              <a:rPr sz="2100" b="1">
                <a:solidFill>
                  <a:srgbClr val="155E63"/>
                </a:solidFill>
              </a:rPr>
              <a:t>$503.4M</a:t>
            </a:r>
          </a:p>
        </p:txBody>
      </p:sp>
      <p:sp>
        <p:nvSpPr>
          <p:cNvPr id="8" name="">
            <a:extLst xmlns:a="http://schemas.openxmlformats.org/drawingml/2006/main">
              <a:ext uri="{FF2B5EF4-FFF2-40B4-BE49-F238E27FC236}">
                <a16:creationId xmlns:a16="http://schemas.microsoft.com/office/drawing/2014/main" id="{863105CB-D324-4451-A2CA-CCE9028AEA93}"/>
              </a:ext>
            </a:extLst>
          </p:cNvPr>
          <p:cNvSpPr>
            <a:spLocks xmlns:a="http://schemas.openxmlformats.org/drawingml/2006/main" noGrp="1"/>
          </p:cNvSpPr>
          <p:nvPr/>
        </p:nvSpPr>
        <p:spPr>
          <a:xfrm xmlns:a="http://schemas.openxmlformats.org/drawingml/2006/main">
            <a:off x="2724150" y="207645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cumulative profit</a:t>
            </a:r>
          </a:p>
        </p:txBody>
      </p:sp>
      <p:sp>
        <p:nvSpPr>
          <p:cNvPr id="9" name="">
            <a:extLst xmlns:a="http://schemas.openxmlformats.org/drawingml/2006/main">
              <a:ext uri="{FF2B5EF4-FFF2-40B4-BE49-F238E27FC236}">
                <a16:creationId xmlns:a16="http://schemas.microsoft.com/office/drawing/2014/main" id="{7D0EC6DC-318E-41C8-A87F-043116BB965B}"/>
              </a:ext>
            </a:extLst>
          </p:cNvPr>
          <p:cNvSpPr>
            <a:spLocks xmlns:a="http://schemas.openxmlformats.org/drawingml/2006/main" noGrp="1"/>
          </p:cNvSpPr>
          <p:nvPr/>
        </p:nvSpPr>
        <p:spPr>
          <a:xfrm xmlns:a="http://schemas.openxmlformats.org/drawingml/2006/main">
            <a:off x="4933950" y="1676400"/>
            <a:ext cx="1943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11111"/>
                </a:solidFill>
              </a:defRPr>
            </a:defPPr>
            <a:lvl1pPr algn="l">
              <a:defRPr sz="2100" b="1">
                <a:solidFill>
                  <a:srgbClr val="111111"/>
                </a:solidFill>
              </a:defRPr>
            </a:lvl1pPr>
            <a:lvl2pPr algn="l">
              <a:defRPr sz="2100" b="1">
                <a:solidFill>
                  <a:srgbClr val="111111"/>
                </a:solidFill>
              </a:defRPr>
            </a:lvl2pPr>
            <a:lvl3pPr algn="l">
              <a:defRPr sz="2100" b="1">
                <a:solidFill>
                  <a:srgbClr val="111111"/>
                </a:solidFill>
              </a:defRPr>
            </a:lvl3pPr>
            <a:lvl4pPr algn="l">
              <a:defRPr sz="2100" b="1">
                <a:solidFill>
                  <a:srgbClr val="111111"/>
                </a:solidFill>
              </a:defRPr>
            </a:lvl4pPr>
            <a:lvl5pPr algn="l">
              <a:defRPr sz="2100" b="1">
                <a:solidFill>
                  <a:srgbClr val="111111"/>
                </a:solidFill>
              </a:defRPr>
            </a:lvl5pPr>
            <a:lvl6pPr algn="l">
              <a:defRPr sz="2100" b="1">
                <a:solidFill>
                  <a:srgbClr val="111111"/>
                </a:solidFill>
              </a:defRPr>
            </a:lvl6pPr>
            <a:lvl7pPr algn="l">
              <a:defRPr sz="2100" b="1">
                <a:solidFill>
                  <a:srgbClr val="111111"/>
                </a:solidFill>
              </a:defRPr>
            </a:lvl7pPr>
            <a:lvl8pPr algn="l">
              <a:defRPr sz="2100" b="1">
                <a:solidFill>
                  <a:srgbClr val="111111"/>
                </a:solidFill>
              </a:defRPr>
            </a:lvl8pPr>
            <a:lvl9pPr algn="l">
              <a:defRPr sz="2100" b="1">
                <a:solidFill>
                  <a:srgbClr val="111111"/>
                </a:solidFill>
              </a:defRPr>
            </a:lvl9pPr>
          </a:lstStyle>
          <a:p xmlns:a="http://schemas.openxmlformats.org/drawingml/2006/main">
            <a:pPr algn="l">
              <a:defRPr sz="2100" b="1">
                <a:solidFill>
                  <a:srgbClr val="111111"/>
                </a:solidFill>
              </a:defRPr>
            </a:pPr>
            <a:r>
              <a:rPr sz="2100" b="1">
                <a:solidFill>
                  <a:srgbClr val="111111"/>
                </a:solidFill>
              </a:rPr>
              <a:t>31.6%</a:t>
            </a:r>
          </a:p>
        </p:txBody>
      </p:sp>
      <p:sp>
        <p:nvSpPr>
          <p:cNvPr id="10" name="">
            <a:extLst xmlns:a="http://schemas.openxmlformats.org/drawingml/2006/main">
              <a:ext uri="{FF2B5EF4-FFF2-40B4-BE49-F238E27FC236}">
                <a16:creationId xmlns:a16="http://schemas.microsoft.com/office/drawing/2014/main" id="{2DEF6838-4EC4-4D52-83AA-9E075333A20F}"/>
              </a:ext>
            </a:extLst>
          </p:cNvPr>
          <p:cNvSpPr>
            <a:spLocks xmlns:a="http://schemas.openxmlformats.org/drawingml/2006/main" noGrp="1"/>
          </p:cNvSpPr>
          <p:nvPr/>
        </p:nvSpPr>
        <p:spPr>
          <a:xfrm xmlns:a="http://schemas.openxmlformats.org/drawingml/2006/main">
            <a:off x="4933950" y="207645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annualized return</a:t>
            </a:r>
          </a:p>
        </p:txBody>
      </p:sp>
      <p:sp>
        <p:nvSpPr>
          <p:cNvPr id="11" name="">
            <a:extLst xmlns:a="http://schemas.openxmlformats.org/drawingml/2006/main">
              <a:ext uri="{FF2B5EF4-FFF2-40B4-BE49-F238E27FC236}">
                <a16:creationId xmlns:a16="http://schemas.microsoft.com/office/drawing/2014/main" id="{BBCC7D8D-2D56-43B3-B4E0-B2E9D2234B94}"/>
              </a:ext>
            </a:extLst>
          </p:cNvPr>
          <p:cNvSpPr>
            <a:spLocks xmlns:a="http://schemas.openxmlformats.org/drawingml/2006/main" noGrp="1"/>
          </p:cNvSpPr>
          <p:nvPr/>
        </p:nvSpPr>
        <p:spPr>
          <a:xfrm xmlns:a="http://schemas.openxmlformats.org/drawingml/2006/main">
            <a:off x="7143750" y="1676400"/>
            <a:ext cx="1943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111111"/>
                </a:solidFill>
              </a:defRPr>
            </a:defPPr>
            <a:lvl1pPr algn="l">
              <a:defRPr sz="2100" b="1">
                <a:solidFill>
                  <a:srgbClr val="111111"/>
                </a:solidFill>
              </a:defRPr>
            </a:lvl1pPr>
            <a:lvl2pPr algn="l">
              <a:defRPr sz="2100" b="1">
                <a:solidFill>
                  <a:srgbClr val="111111"/>
                </a:solidFill>
              </a:defRPr>
            </a:lvl2pPr>
            <a:lvl3pPr algn="l">
              <a:defRPr sz="2100" b="1">
                <a:solidFill>
                  <a:srgbClr val="111111"/>
                </a:solidFill>
              </a:defRPr>
            </a:lvl3pPr>
            <a:lvl4pPr algn="l">
              <a:defRPr sz="2100" b="1">
                <a:solidFill>
                  <a:srgbClr val="111111"/>
                </a:solidFill>
              </a:defRPr>
            </a:lvl4pPr>
            <a:lvl5pPr algn="l">
              <a:defRPr sz="2100" b="1">
                <a:solidFill>
                  <a:srgbClr val="111111"/>
                </a:solidFill>
              </a:defRPr>
            </a:lvl5pPr>
            <a:lvl6pPr algn="l">
              <a:defRPr sz="2100" b="1">
                <a:solidFill>
                  <a:srgbClr val="111111"/>
                </a:solidFill>
              </a:defRPr>
            </a:lvl6pPr>
            <a:lvl7pPr algn="l">
              <a:defRPr sz="2100" b="1">
                <a:solidFill>
                  <a:srgbClr val="111111"/>
                </a:solidFill>
              </a:defRPr>
            </a:lvl7pPr>
            <a:lvl8pPr algn="l">
              <a:defRPr sz="2100" b="1">
                <a:solidFill>
                  <a:srgbClr val="111111"/>
                </a:solidFill>
              </a:defRPr>
            </a:lvl8pPr>
            <a:lvl9pPr algn="l">
              <a:defRPr sz="2100" b="1">
                <a:solidFill>
                  <a:srgbClr val="111111"/>
                </a:solidFill>
              </a:defRPr>
            </a:lvl9pPr>
          </a:lstStyle>
          <a:p xmlns:a="http://schemas.openxmlformats.org/drawingml/2006/main">
            <a:pPr algn="l">
              <a:defRPr sz="2100" b="1">
                <a:solidFill>
                  <a:srgbClr val="111111"/>
                </a:solidFill>
              </a:defRPr>
            </a:pPr>
            <a:r>
              <a:rPr sz="2100" b="1">
                <a:solidFill>
                  <a:srgbClr val="111111"/>
                </a:solidFill>
              </a:rPr>
              <a:t>21.9%</a:t>
            </a:r>
          </a:p>
        </p:txBody>
      </p:sp>
      <p:sp>
        <p:nvSpPr>
          <p:cNvPr id="12" name="">
            <a:extLst xmlns:a="http://schemas.openxmlformats.org/drawingml/2006/main">
              <a:ext uri="{FF2B5EF4-FFF2-40B4-BE49-F238E27FC236}">
                <a16:creationId xmlns:a16="http://schemas.microsoft.com/office/drawing/2014/main" id="{7CF2560C-8A8C-4561-BD50-277F30642775}"/>
              </a:ext>
            </a:extLst>
          </p:cNvPr>
          <p:cNvSpPr>
            <a:spLocks xmlns:a="http://schemas.openxmlformats.org/drawingml/2006/main" noGrp="1"/>
          </p:cNvSpPr>
          <p:nvPr/>
        </p:nvSpPr>
        <p:spPr>
          <a:xfrm xmlns:a="http://schemas.openxmlformats.org/drawingml/2006/main">
            <a:off x="7143750" y="207645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annualized volatility</a:t>
            </a:r>
          </a:p>
        </p:txBody>
      </p:sp>
      <p:sp>
        <p:nvSpPr>
          <p:cNvPr id="13" name="">
            <a:extLst xmlns:a="http://schemas.openxmlformats.org/drawingml/2006/main">
              <a:ext uri="{FF2B5EF4-FFF2-40B4-BE49-F238E27FC236}">
                <a16:creationId xmlns:a16="http://schemas.microsoft.com/office/drawing/2014/main" id="{2EF49504-7F47-4E67-8C4D-6930A36AC2E0}"/>
              </a:ext>
            </a:extLst>
          </p:cNvPr>
          <p:cNvSpPr>
            <a:spLocks xmlns:a="http://schemas.openxmlformats.org/drawingml/2006/main" noGrp="1"/>
          </p:cNvSpPr>
          <p:nvPr/>
        </p:nvSpPr>
        <p:spPr>
          <a:xfrm xmlns:a="http://schemas.openxmlformats.org/drawingml/2006/main">
            <a:off x="9353550" y="1676400"/>
            <a:ext cx="1943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100" b="1">
                <a:solidFill>
                  <a:srgbClr val="B42318"/>
                </a:solidFill>
              </a:defRPr>
            </a:defPPr>
            <a:lvl1pPr algn="l">
              <a:defRPr sz="2100" b="1">
                <a:solidFill>
                  <a:srgbClr val="B42318"/>
                </a:solidFill>
              </a:defRPr>
            </a:lvl1pPr>
            <a:lvl2pPr algn="l">
              <a:defRPr sz="2100" b="1">
                <a:solidFill>
                  <a:srgbClr val="B42318"/>
                </a:solidFill>
              </a:defRPr>
            </a:lvl2pPr>
            <a:lvl3pPr algn="l">
              <a:defRPr sz="2100" b="1">
                <a:solidFill>
                  <a:srgbClr val="B42318"/>
                </a:solidFill>
              </a:defRPr>
            </a:lvl3pPr>
            <a:lvl4pPr algn="l">
              <a:defRPr sz="2100" b="1">
                <a:solidFill>
                  <a:srgbClr val="B42318"/>
                </a:solidFill>
              </a:defRPr>
            </a:lvl4pPr>
            <a:lvl5pPr algn="l">
              <a:defRPr sz="2100" b="1">
                <a:solidFill>
                  <a:srgbClr val="B42318"/>
                </a:solidFill>
              </a:defRPr>
            </a:lvl5pPr>
            <a:lvl6pPr algn="l">
              <a:defRPr sz="2100" b="1">
                <a:solidFill>
                  <a:srgbClr val="B42318"/>
                </a:solidFill>
              </a:defRPr>
            </a:lvl6pPr>
            <a:lvl7pPr algn="l">
              <a:defRPr sz="2100" b="1">
                <a:solidFill>
                  <a:srgbClr val="B42318"/>
                </a:solidFill>
              </a:defRPr>
            </a:lvl7pPr>
            <a:lvl8pPr algn="l">
              <a:defRPr sz="2100" b="1">
                <a:solidFill>
                  <a:srgbClr val="B42318"/>
                </a:solidFill>
              </a:defRPr>
            </a:lvl8pPr>
            <a:lvl9pPr algn="l">
              <a:defRPr sz="2100" b="1">
                <a:solidFill>
                  <a:srgbClr val="B42318"/>
                </a:solidFill>
              </a:defRPr>
            </a:lvl9pPr>
          </a:lstStyle>
          <a:p xmlns:a="http://schemas.openxmlformats.org/drawingml/2006/main">
            <a:pPr algn="l">
              <a:defRPr sz="2100" b="1">
                <a:solidFill>
                  <a:srgbClr val="B42318"/>
                </a:solidFill>
              </a:defRPr>
            </a:pPr>
            <a:r>
              <a:rPr sz="2100" b="1">
                <a:solidFill>
                  <a:srgbClr val="B42318"/>
                </a:solidFill>
              </a:rPr>
              <a:t>-34.9%</a:t>
            </a:r>
          </a:p>
        </p:txBody>
      </p:sp>
      <p:sp>
        <p:nvSpPr>
          <p:cNvPr id="14" name="">
            <a:extLst xmlns:a="http://schemas.openxmlformats.org/drawingml/2006/main">
              <a:ext uri="{FF2B5EF4-FFF2-40B4-BE49-F238E27FC236}">
                <a16:creationId xmlns:a16="http://schemas.microsoft.com/office/drawing/2014/main" id="{BB9C809F-FB0D-410D-9E30-998064305623}"/>
              </a:ext>
            </a:extLst>
          </p:cNvPr>
          <p:cNvSpPr>
            <a:spLocks xmlns:a="http://schemas.openxmlformats.org/drawingml/2006/main" noGrp="1"/>
          </p:cNvSpPr>
          <p:nvPr/>
        </p:nvSpPr>
        <p:spPr>
          <a:xfrm xmlns:a="http://schemas.openxmlformats.org/drawingml/2006/main">
            <a:off x="9353550" y="207645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0">
                <a:solidFill>
                  <a:srgbClr val="707070"/>
                </a:solidFill>
              </a:defRPr>
            </a:defPPr>
            <a:lvl1pPr algn="l">
              <a:defRPr sz="900" b="0">
                <a:solidFill>
                  <a:srgbClr val="707070"/>
                </a:solidFill>
              </a:defRPr>
            </a:lvl1pPr>
            <a:lvl2pPr algn="l">
              <a:defRPr sz="900" b="0">
                <a:solidFill>
                  <a:srgbClr val="707070"/>
                </a:solidFill>
              </a:defRPr>
            </a:lvl2pPr>
            <a:lvl3pPr algn="l">
              <a:defRPr sz="900" b="0">
                <a:solidFill>
                  <a:srgbClr val="707070"/>
                </a:solidFill>
              </a:defRPr>
            </a:lvl3pPr>
            <a:lvl4pPr algn="l">
              <a:defRPr sz="900" b="0">
                <a:solidFill>
                  <a:srgbClr val="707070"/>
                </a:solidFill>
              </a:defRPr>
            </a:lvl4pPr>
            <a:lvl5pPr algn="l">
              <a:defRPr sz="900" b="0">
                <a:solidFill>
                  <a:srgbClr val="707070"/>
                </a:solidFill>
              </a:defRPr>
            </a:lvl5pPr>
            <a:lvl6pPr algn="l">
              <a:defRPr sz="900" b="0">
                <a:solidFill>
                  <a:srgbClr val="707070"/>
                </a:solidFill>
              </a:defRPr>
            </a:lvl6pPr>
            <a:lvl7pPr algn="l">
              <a:defRPr sz="900" b="0">
                <a:solidFill>
                  <a:srgbClr val="707070"/>
                </a:solidFill>
              </a:defRPr>
            </a:lvl7pPr>
            <a:lvl8pPr algn="l">
              <a:defRPr sz="900" b="0">
                <a:solidFill>
                  <a:srgbClr val="707070"/>
                </a:solidFill>
              </a:defRPr>
            </a:lvl8pPr>
            <a:lvl9pPr algn="l">
              <a:defRPr sz="900" b="0">
                <a:solidFill>
                  <a:srgbClr val="707070"/>
                </a:solidFill>
              </a:defRPr>
            </a:lvl9pPr>
          </a:lstStyle>
          <a:p xmlns:a="http://schemas.openxmlformats.org/drawingml/2006/main">
            <a:pPr algn="l">
              <a:defRPr sz="900" b="0">
                <a:solidFill>
                  <a:srgbClr val="707070"/>
                </a:solidFill>
              </a:defRPr>
            </a:pPr>
            <a:r>
              <a:rPr sz="900" b="0">
                <a:solidFill>
                  <a:srgbClr val="707070"/>
                </a:solidFill>
              </a:rPr>
              <a:t>maximum drawdown</a:t>
            </a:r>
          </a:p>
        </p:txBody>
      </p:sp>
      <p:sp>
        <p:nvSpPr>
          <p:cNvPr id="15" name="">
            <a:extLst xmlns:a="http://schemas.openxmlformats.org/drawingml/2006/main">
              <a:ext uri="{FF2B5EF4-FFF2-40B4-BE49-F238E27FC236}">
                <a16:creationId xmlns:a16="http://schemas.microsoft.com/office/drawing/2014/main" id="{B691FC7B-B662-4153-A15A-10D1725A8058}"/>
              </a:ext>
            </a:extLst>
          </p:cNvPr>
          <p:cNvSpPr>
            <a:spLocks xmlns:a="http://schemas.openxmlformats.org/drawingml/2006/main" noGrp="1"/>
          </p:cNvSpPr>
          <p:nvPr/>
        </p:nvSpPr>
        <p:spPr>
          <a:xfrm xmlns:a="http://schemas.openxmlformats.org/drawingml/2006/main">
            <a:off x="514350" y="2514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11111"/>
                </a:solidFill>
              </a:defRPr>
            </a:defPPr>
            <a:lvl1pPr algn="l">
              <a:defRPr sz="1050" b="1">
                <a:solidFill>
                  <a:srgbClr val="111111"/>
                </a:solidFill>
              </a:defRPr>
            </a:lvl1pPr>
            <a:lvl2pPr algn="l">
              <a:defRPr sz="1050" b="1">
                <a:solidFill>
                  <a:srgbClr val="111111"/>
                </a:solidFill>
              </a:defRPr>
            </a:lvl2pPr>
            <a:lvl3pPr algn="l">
              <a:defRPr sz="1050" b="1">
                <a:solidFill>
                  <a:srgbClr val="111111"/>
                </a:solidFill>
              </a:defRPr>
            </a:lvl3pPr>
            <a:lvl4pPr algn="l">
              <a:defRPr sz="1050" b="1">
                <a:solidFill>
                  <a:srgbClr val="111111"/>
                </a:solidFill>
              </a:defRPr>
            </a:lvl4pPr>
            <a:lvl5pPr algn="l">
              <a:defRPr sz="1050" b="1">
                <a:solidFill>
                  <a:srgbClr val="111111"/>
                </a:solidFill>
              </a:defRPr>
            </a:lvl5pPr>
            <a:lvl6pPr algn="l">
              <a:defRPr sz="1050" b="1">
                <a:solidFill>
                  <a:srgbClr val="111111"/>
                </a:solidFill>
              </a:defRPr>
            </a:lvl6pPr>
            <a:lvl7pPr algn="l">
              <a:defRPr sz="1050" b="1">
                <a:solidFill>
                  <a:srgbClr val="111111"/>
                </a:solidFill>
              </a:defRPr>
            </a:lvl7pPr>
            <a:lvl8pPr algn="l">
              <a:defRPr sz="1050" b="1">
                <a:solidFill>
                  <a:srgbClr val="111111"/>
                </a:solidFill>
              </a:defRPr>
            </a:lvl8pPr>
            <a:lvl9pPr algn="l">
              <a:defRPr sz="1050" b="1">
                <a:solidFill>
                  <a:srgbClr val="111111"/>
                </a:solidFill>
              </a:defRPr>
            </a:lvl9pPr>
          </a:lstStyle>
          <a:p xmlns:a="http://schemas.openxmlformats.org/drawingml/2006/main">
            <a:pPr algn="l">
              <a:defRPr sz="1050" b="1">
                <a:solidFill>
                  <a:srgbClr val="111111"/>
                </a:solidFill>
              </a:defRPr>
            </a:pPr>
            <a:r>
              <a:rPr sz="1050" b="1">
                <a:solidFill>
                  <a:srgbClr val="111111"/>
                </a:solidFill>
              </a:rPr>
              <a:t>Portfolio value from a $10M starting investment</a:t>
            </a:r>
          </a:p>
        </p:txBody>
      </p:sp>
      <p:graphicFrame>
        <p:nvGraphicFramePr>
          <p:cNvPr id="16" name="Chart">
            <a:extLst xmlns:a="http://schemas.openxmlformats.org/drawingml/2006/main">
              <a:ext uri="{FF2B5EF4-FFF2-40B4-BE49-F238E27FC236}">
                <a16:creationId xmlns:a16="http://schemas.microsoft.com/office/drawing/2014/main" id="{36B35535-8CCE-4B09-998A-E9F6404DA13C}"/>
              </a:ext>
            </a:extLst>
          </p:cNvPr>
          <p:cNvGraphicFramePr/>
          <p:nvPr/>
        </p:nvGraphicFramePr>
        <p:xfrm>
          <a:off xmlns:a="http://schemas.openxmlformats.org/drawingml/2006/main" x="514350" y="2800350"/>
          <a:ext xmlns:a="http://schemas.openxmlformats.org/drawingml/2006/main" cx="5334000" cy="2247900"/>
        </p:xfrm>
        <a:graphic xmlns:a="http://schemas.openxmlformats.org/drawingml/2006/main">
          <a:graphicData uri="http://schemas.openxmlformats.org/drawingml/2006/chart">
            <c:chart xmlns:r="http://schemas.openxmlformats.org/officeDocument/2006/relationships" xmlns:c="http://schemas.openxmlformats.org/drawingml/2006/chart" r:id="R0c3b268b73984437"/>
          </a:graphicData>
        </a:graphic>
      </p:graphicFrame>
      <p:sp>
        <p:nvSpPr>
          <p:cNvPr id="17" name="">
            <a:extLst xmlns:a="http://schemas.openxmlformats.org/drawingml/2006/main">
              <a:ext uri="{FF2B5EF4-FFF2-40B4-BE49-F238E27FC236}">
                <a16:creationId xmlns:a16="http://schemas.microsoft.com/office/drawing/2014/main" id="{1BAA23A1-5C97-4E25-9D1E-B396D43D0769}"/>
              </a:ext>
            </a:extLst>
          </p:cNvPr>
          <p:cNvSpPr>
            <a:spLocks xmlns:a="http://schemas.openxmlformats.org/drawingml/2006/main" noGrp="1"/>
          </p:cNvSpPr>
          <p:nvPr/>
        </p:nvSpPr>
        <p:spPr>
          <a:xfrm xmlns:a="http://schemas.openxmlformats.org/drawingml/2006/main">
            <a:off x="6172200" y="2514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111111"/>
                </a:solidFill>
              </a:defRPr>
            </a:defPPr>
            <a:lvl1pPr algn="l">
              <a:defRPr sz="1050" b="1">
                <a:solidFill>
                  <a:srgbClr val="111111"/>
                </a:solidFill>
              </a:defRPr>
            </a:lvl1pPr>
            <a:lvl2pPr algn="l">
              <a:defRPr sz="1050" b="1">
                <a:solidFill>
                  <a:srgbClr val="111111"/>
                </a:solidFill>
              </a:defRPr>
            </a:lvl2pPr>
            <a:lvl3pPr algn="l">
              <a:defRPr sz="1050" b="1">
                <a:solidFill>
                  <a:srgbClr val="111111"/>
                </a:solidFill>
              </a:defRPr>
            </a:lvl3pPr>
            <a:lvl4pPr algn="l">
              <a:defRPr sz="1050" b="1">
                <a:solidFill>
                  <a:srgbClr val="111111"/>
                </a:solidFill>
              </a:defRPr>
            </a:lvl4pPr>
            <a:lvl5pPr algn="l">
              <a:defRPr sz="1050" b="1">
                <a:solidFill>
                  <a:srgbClr val="111111"/>
                </a:solidFill>
              </a:defRPr>
            </a:lvl5pPr>
            <a:lvl6pPr algn="l">
              <a:defRPr sz="1050" b="1">
                <a:solidFill>
                  <a:srgbClr val="111111"/>
                </a:solidFill>
              </a:defRPr>
            </a:lvl6pPr>
            <a:lvl7pPr algn="l">
              <a:defRPr sz="1050" b="1">
                <a:solidFill>
                  <a:srgbClr val="111111"/>
                </a:solidFill>
              </a:defRPr>
            </a:lvl7pPr>
            <a:lvl8pPr algn="l">
              <a:defRPr sz="1050" b="1">
                <a:solidFill>
                  <a:srgbClr val="111111"/>
                </a:solidFill>
              </a:defRPr>
            </a:lvl8pPr>
            <a:lvl9pPr algn="l">
              <a:defRPr sz="1050" b="1">
                <a:solidFill>
                  <a:srgbClr val="111111"/>
                </a:solidFill>
              </a:defRPr>
            </a:lvl9pPr>
          </a:lstStyle>
          <a:p xmlns:a="http://schemas.openxmlformats.org/drawingml/2006/main">
            <a:pPr algn="l">
              <a:defRPr sz="1050" b="1">
                <a:solidFill>
                  <a:srgbClr val="111111"/>
                </a:solidFill>
              </a:defRPr>
            </a:pPr>
            <a:r>
              <a:rPr sz="1050" b="1">
                <a:solidFill>
                  <a:srgbClr val="111111"/>
                </a:solidFill>
              </a:rPr>
              <a:t>Contribution to simulated profit by holding</a:t>
            </a:r>
          </a:p>
        </p:txBody>
      </p:sp>
      <p:graphicFrame>
        <p:nvGraphicFramePr>
          <p:cNvPr id="18" name="Chart">
            <a:extLst xmlns:a="http://schemas.openxmlformats.org/drawingml/2006/main">
              <a:ext uri="{FF2B5EF4-FFF2-40B4-BE49-F238E27FC236}">
                <a16:creationId xmlns:a16="http://schemas.microsoft.com/office/drawing/2014/main" id="{6DB1DBC9-A988-4C5B-A1D8-8B0DE9FA68F9}"/>
              </a:ext>
            </a:extLst>
          </p:cNvPr>
          <p:cNvGraphicFramePr/>
          <p:nvPr/>
        </p:nvGraphicFramePr>
        <p:xfrm>
          <a:off xmlns:a="http://schemas.openxmlformats.org/drawingml/2006/main" x="6172200" y="2800350"/>
          <a:ext xmlns:a="http://schemas.openxmlformats.org/drawingml/2006/main" cx="5334000" cy="2247900"/>
        </p:xfrm>
        <a:graphic xmlns:a="http://schemas.openxmlformats.org/drawingml/2006/main">
          <a:graphicData uri="http://schemas.openxmlformats.org/drawingml/2006/chart">
            <c:chart xmlns:r="http://schemas.openxmlformats.org/officeDocument/2006/relationships" xmlns:c="http://schemas.openxmlformats.org/drawingml/2006/chart" r:id="Ra0334f97db7e4945"/>
          </a:graphicData>
        </a:graphic>
      </p:graphicFrame>
      <p:sp>
        <p:nvSpPr>
          <p:cNvPr id="19" name="">
            <a:extLst xmlns:a="http://schemas.openxmlformats.org/drawingml/2006/main">
              <a:ext uri="{FF2B5EF4-FFF2-40B4-BE49-F238E27FC236}">
                <a16:creationId xmlns:a16="http://schemas.microsoft.com/office/drawing/2014/main" id="{060E8E83-A795-4454-A488-94101205E345}"/>
              </a:ext>
            </a:extLst>
          </p:cNvPr>
          <p:cNvSpPr>
            <a:spLocks xmlns:a="http://schemas.openxmlformats.org/drawingml/2006/main" noGrp="1"/>
          </p:cNvSpPr>
          <p:nvPr/>
        </p:nvSpPr>
        <p:spPr>
          <a:xfrm xmlns:a="http://schemas.openxmlformats.org/drawingml/2006/main">
            <a:off x="514350" y="51625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111111"/>
                </a:solidFill>
              </a:defRPr>
            </a:defPPr>
            <a:lvl1pPr algn="l">
              <a:defRPr sz="975" b="1">
                <a:solidFill>
                  <a:srgbClr val="111111"/>
                </a:solidFill>
              </a:defRPr>
            </a:lvl1pPr>
            <a:lvl2pPr algn="l">
              <a:defRPr sz="975" b="1">
                <a:solidFill>
                  <a:srgbClr val="111111"/>
                </a:solidFill>
              </a:defRPr>
            </a:lvl2pPr>
            <a:lvl3pPr algn="l">
              <a:defRPr sz="975" b="1">
                <a:solidFill>
                  <a:srgbClr val="111111"/>
                </a:solidFill>
              </a:defRPr>
            </a:lvl3pPr>
            <a:lvl4pPr algn="l">
              <a:defRPr sz="975" b="1">
                <a:solidFill>
                  <a:srgbClr val="111111"/>
                </a:solidFill>
              </a:defRPr>
            </a:lvl4pPr>
            <a:lvl5pPr algn="l">
              <a:defRPr sz="975" b="1">
                <a:solidFill>
                  <a:srgbClr val="111111"/>
                </a:solidFill>
              </a:defRPr>
            </a:lvl5pPr>
            <a:lvl6pPr algn="l">
              <a:defRPr sz="975" b="1">
                <a:solidFill>
                  <a:srgbClr val="111111"/>
                </a:solidFill>
              </a:defRPr>
            </a:lvl6pPr>
            <a:lvl7pPr algn="l">
              <a:defRPr sz="975" b="1">
                <a:solidFill>
                  <a:srgbClr val="111111"/>
                </a:solidFill>
              </a:defRPr>
            </a:lvl7pPr>
            <a:lvl8pPr algn="l">
              <a:defRPr sz="975" b="1">
                <a:solidFill>
                  <a:srgbClr val="111111"/>
                </a:solidFill>
              </a:defRPr>
            </a:lvl8pPr>
            <a:lvl9pPr algn="l">
              <a:defRPr sz="975" b="1">
                <a:solidFill>
                  <a:srgbClr val="111111"/>
                </a:solidFill>
              </a:defRPr>
            </a:lvl9pPr>
          </a:lstStyle>
          <a:p xmlns:a="http://schemas.openxmlformats.org/drawingml/2006/main">
            <a:pPr algn="l">
              <a:defRPr sz="975" b="1">
                <a:solidFill>
                  <a:srgbClr val="111111"/>
                </a:solidFill>
              </a:defRPr>
            </a:pPr>
            <a:r>
              <a:rPr sz="975" b="1">
                <a:solidFill>
                  <a:srgbClr val="111111"/>
                </a:solidFill>
              </a:rPr>
              <a:t>Drawdown from the previous portfolio peak</a:t>
            </a:r>
          </a:p>
        </p:txBody>
      </p:sp>
      <p:graphicFrame>
        <p:nvGraphicFramePr>
          <p:cNvPr id="20" name="Chart">
            <a:extLst xmlns:a="http://schemas.openxmlformats.org/drawingml/2006/main">
              <a:ext uri="{FF2B5EF4-FFF2-40B4-BE49-F238E27FC236}">
                <a16:creationId xmlns:a16="http://schemas.microsoft.com/office/drawing/2014/main" id="{EEE61E93-17A1-44BC-B520-AFC0EBA6EF75}"/>
              </a:ext>
            </a:extLst>
          </p:cNvPr>
          <p:cNvGraphicFramePr/>
          <p:nvPr/>
        </p:nvGraphicFramePr>
        <p:xfrm>
          <a:off xmlns:a="http://schemas.openxmlformats.org/drawingml/2006/main" x="514350" y="5410200"/>
          <a:ext xmlns:a="http://schemas.openxmlformats.org/drawingml/2006/main" cx="8096250" cy="838200"/>
        </p:xfrm>
        <a:graphic xmlns:a="http://schemas.openxmlformats.org/drawingml/2006/main">
          <a:graphicData uri="http://schemas.openxmlformats.org/drawingml/2006/chart">
            <c:chart xmlns:r="http://schemas.openxmlformats.org/officeDocument/2006/relationships" xmlns:c="http://schemas.openxmlformats.org/drawingml/2006/chart" r:id="Rd8f2412b389b444c"/>
          </a:graphicData>
        </a:graphic>
      </p:graphicFrame>
      <p:sp>
        <p:nvSpPr>
          <p:cNvPr id="21" name="">
            <a:extLst xmlns:a="http://schemas.openxmlformats.org/drawingml/2006/main">
              <a:ext uri="{FF2B5EF4-FFF2-40B4-BE49-F238E27FC236}">
                <a16:creationId xmlns:a16="http://schemas.microsoft.com/office/drawing/2014/main" id="{C0C55EF4-8AA5-4F92-8420-2566128D40C7}"/>
              </a:ext>
            </a:extLst>
          </p:cNvPr>
          <p:cNvSpPr>
            <a:spLocks xmlns:a="http://schemas.openxmlformats.org/drawingml/2006/main" noGrp="1"/>
          </p:cNvSpPr>
          <p:nvPr/>
        </p:nvSpPr>
        <p:spPr>
          <a:xfrm xmlns:a="http://schemas.openxmlformats.org/drawingml/2006/main">
            <a:off x="8896350" y="5410200"/>
            <a:ext cx="2609850" cy="457200"/>
          </a:xfrm>
          <a:prstGeom xmlns:a="http://schemas.openxmlformats.org/drawingml/2006/main" prst="rect">
            <a:avLst/>
          </a:prstGeom>
          <a:solidFill xmlns:a="http://schemas.openxmlformats.org/drawingml/2006/main">
            <a:srgbClr val="F3DEDA"/>
          </a:solidFill>
          <a:ln xmlns:a="http://schemas.openxmlformats.org/drawingml/2006/main" w="0">
            <a:solidFill>
              <a:srgbClr val="F3DEDA"/>
            </a:solidFill>
            <a:prstDash val="solid"/>
          </a:ln>
        </p:spPr>
      </p:sp>
      <p:sp>
        <p:nvSpPr>
          <p:cNvPr id="22" name="">
            <a:extLst xmlns:a="http://schemas.openxmlformats.org/drawingml/2006/main">
              <a:ext uri="{FF2B5EF4-FFF2-40B4-BE49-F238E27FC236}">
                <a16:creationId xmlns:a16="http://schemas.microsoft.com/office/drawing/2014/main" id="{2584C78B-FEDF-43F1-99E5-D38393873C57}"/>
              </a:ext>
            </a:extLst>
          </p:cNvPr>
          <p:cNvSpPr>
            <a:spLocks xmlns:a="http://schemas.openxmlformats.org/drawingml/2006/main" noGrp="1"/>
          </p:cNvSpPr>
          <p:nvPr/>
        </p:nvSpPr>
        <p:spPr>
          <a:xfrm xmlns:a="http://schemas.openxmlformats.org/drawingml/2006/main">
            <a:off x="8896350" y="5410200"/>
            <a:ext cx="47625" cy="4572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23" name="">
            <a:extLst xmlns:a="http://schemas.openxmlformats.org/drawingml/2006/main">
              <a:ext uri="{FF2B5EF4-FFF2-40B4-BE49-F238E27FC236}">
                <a16:creationId xmlns:a16="http://schemas.microsoft.com/office/drawing/2014/main" id="{A9F1D4C6-AA3E-42B6-8F7D-CF7ADEB0DD9C}"/>
              </a:ext>
            </a:extLst>
          </p:cNvPr>
          <p:cNvSpPr>
            <a:spLocks xmlns:a="http://schemas.openxmlformats.org/drawingml/2006/main" noGrp="1"/>
          </p:cNvSpPr>
          <p:nvPr/>
        </p:nvSpPr>
        <p:spPr>
          <a:xfrm xmlns:a="http://schemas.openxmlformats.org/drawingml/2006/main">
            <a:off x="9067800" y="5457825"/>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353535"/>
                </a:solidFill>
              </a:defRPr>
            </a:defPPr>
            <a:lvl1pPr algn="l">
              <a:defRPr sz="1050" b="1">
                <a:solidFill>
                  <a:srgbClr val="353535"/>
                </a:solidFill>
              </a:defRPr>
            </a:lvl1pPr>
            <a:lvl2pPr algn="l">
              <a:defRPr sz="1050" b="1">
                <a:solidFill>
                  <a:srgbClr val="353535"/>
                </a:solidFill>
              </a:defRPr>
            </a:lvl2pPr>
            <a:lvl3pPr algn="l">
              <a:defRPr sz="1050" b="1">
                <a:solidFill>
                  <a:srgbClr val="353535"/>
                </a:solidFill>
              </a:defRPr>
            </a:lvl3pPr>
            <a:lvl4pPr algn="l">
              <a:defRPr sz="1050" b="1">
                <a:solidFill>
                  <a:srgbClr val="353535"/>
                </a:solidFill>
              </a:defRPr>
            </a:lvl4pPr>
            <a:lvl5pPr algn="l">
              <a:defRPr sz="1050" b="1">
                <a:solidFill>
                  <a:srgbClr val="353535"/>
                </a:solidFill>
              </a:defRPr>
            </a:lvl5pPr>
            <a:lvl6pPr algn="l">
              <a:defRPr sz="1050" b="1">
                <a:solidFill>
                  <a:srgbClr val="353535"/>
                </a:solidFill>
              </a:defRPr>
            </a:lvl6pPr>
            <a:lvl7pPr algn="l">
              <a:defRPr sz="1050" b="1">
                <a:solidFill>
                  <a:srgbClr val="353535"/>
                </a:solidFill>
              </a:defRPr>
            </a:lvl7pPr>
            <a:lvl8pPr algn="l">
              <a:defRPr sz="1050" b="1">
                <a:solidFill>
                  <a:srgbClr val="353535"/>
                </a:solidFill>
              </a:defRPr>
            </a:lvl8pPr>
            <a:lvl9pPr algn="l">
              <a:defRPr sz="1050" b="1">
                <a:solidFill>
                  <a:srgbClr val="353535"/>
                </a:solidFill>
              </a:defRPr>
            </a:lvl9pPr>
          </a:lstStyle>
          <a:p xmlns:a="http://schemas.openxmlformats.org/drawingml/2006/main">
            <a:pPr algn="l">
              <a:defRPr sz="1050" b="1">
                <a:solidFill>
                  <a:srgbClr val="353535"/>
                </a:solidFill>
              </a:defRPr>
            </a:pPr>
            <a:r>
              <a:rPr sz="1050" b="1">
                <a:solidFill>
                  <a:srgbClr val="353535"/>
                </a:solidFill>
              </a:rPr>
              <a:t>Worst period: 19 Feb to 23 Mar 2020  |  -34.9%  |  recovered by 5 Jun 2020</a:t>
            </a:r>
          </a:p>
        </p:txBody>
      </p:sp>
      <p:sp>
        <p:nvSpPr>
          <p:cNvPr id="24" name="">
            <a:extLst xmlns:a="http://schemas.openxmlformats.org/drawingml/2006/main">
              <a:ext uri="{FF2B5EF4-FFF2-40B4-BE49-F238E27FC236}">
                <a16:creationId xmlns:a16="http://schemas.microsoft.com/office/drawing/2014/main" id="{828944C6-1C50-41C5-A711-EDA8AA3D0763}"/>
              </a:ext>
            </a:extLst>
          </p:cNvPr>
          <p:cNvSpPr>
            <a:spLocks xmlns:a="http://schemas.openxmlformats.org/drawingml/2006/main" noGrp="1"/>
          </p:cNvSpPr>
          <p:nvPr/>
        </p:nvSpPr>
        <p:spPr>
          <a:xfrm xmlns:a="http://schemas.openxmlformats.org/drawingml/2006/main">
            <a:off x="8896350" y="5924550"/>
            <a:ext cx="2609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750" b="0">
                <a:solidFill>
                  <a:srgbClr val="353535"/>
                </a:solidFill>
              </a:defRPr>
            </a:defPPr>
            <a:lvl1pPr algn="l">
              <a:defRPr sz="750" b="0">
                <a:solidFill>
                  <a:srgbClr val="353535"/>
                </a:solidFill>
              </a:defRPr>
            </a:lvl1pPr>
            <a:lvl2pPr algn="l">
              <a:defRPr sz="750" b="0">
                <a:solidFill>
                  <a:srgbClr val="353535"/>
                </a:solidFill>
              </a:defRPr>
            </a:lvl2pPr>
            <a:lvl3pPr algn="l">
              <a:defRPr sz="750" b="0">
                <a:solidFill>
                  <a:srgbClr val="353535"/>
                </a:solidFill>
              </a:defRPr>
            </a:lvl3pPr>
            <a:lvl4pPr algn="l">
              <a:defRPr sz="750" b="0">
                <a:solidFill>
                  <a:srgbClr val="353535"/>
                </a:solidFill>
              </a:defRPr>
            </a:lvl4pPr>
            <a:lvl5pPr algn="l">
              <a:defRPr sz="750" b="0">
                <a:solidFill>
                  <a:srgbClr val="353535"/>
                </a:solidFill>
              </a:defRPr>
            </a:lvl5pPr>
            <a:lvl6pPr algn="l">
              <a:defRPr sz="750" b="0">
                <a:solidFill>
                  <a:srgbClr val="353535"/>
                </a:solidFill>
              </a:defRPr>
            </a:lvl6pPr>
            <a:lvl7pPr algn="l">
              <a:defRPr sz="750" b="0">
                <a:solidFill>
                  <a:srgbClr val="353535"/>
                </a:solidFill>
              </a:defRPr>
            </a:lvl7pPr>
            <a:lvl8pPr algn="l">
              <a:defRPr sz="750" b="0">
                <a:solidFill>
                  <a:srgbClr val="353535"/>
                </a:solidFill>
              </a:defRPr>
            </a:lvl8pPr>
            <a:lvl9pPr algn="l">
              <a:defRPr sz="750" b="0">
                <a:solidFill>
                  <a:srgbClr val="353535"/>
                </a:solidFill>
              </a:defRPr>
            </a:lvl9pPr>
          </a:lstStyle>
          <a:p xmlns:a="http://schemas.openxmlformats.org/drawingml/2006/main">
            <a:pPr algn="l">
              <a:defRPr sz="750" b="0">
                <a:solidFill>
                  <a:srgbClr val="353535"/>
                </a:solidFill>
              </a:defRPr>
            </a:pPr>
            <a:r>
              <a:rPr sz="750" b="0">
                <a:solidFill>
                  <a:srgbClr val="353535"/>
                </a:solidFill>
              </a:rPr>
              <a:t>Nvidia was the largest contributor, followed by Tesla and Alphabet. Monthly rebalancing repeatedly redistributed gains back toward the target weights.</a:t>
            </a:r>
          </a:p>
        </p:txBody>
      </p:sp>
      <p:sp>
        <p:nvSpPr>
          <p:cNvPr id="25" name="">
            <a:extLst xmlns:a="http://schemas.openxmlformats.org/drawingml/2006/main">
              <a:ext uri="{FF2B5EF4-FFF2-40B4-BE49-F238E27FC236}">
                <a16:creationId xmlns:a16="http://schemas.microsoft.com/office/drawing/2014/main" id="{2CEC7574-22AA-4208-9436-D7E02EAC3E39}"/>
              </a:ext>
            </a:extLst>
          </p:cNvPr>
          <p:cNvSpPr>
            <a:spLocks xmlns:a="http://schemas.openxmlformats.org/drawingml/2006/main" noGrp="1"/>
          </p:cNvSpPr>
          <p:nvPr/>
        </p:nvSpPr>
        <p:spPr>
          <a:xfrm xmlns:a="http://schemas.openxmlformats.org/drawingml/2006/main">
            <a:off x="514350" y="6496050"/>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0">
                <a:solidFill>
                  <a:srgbClr val="707070"/>
                </a:solidFill>
              </a:defRPr>
            </a:defPPr>
            <a:lvl1pPr algn="l">
              <a:defRPr sz="600" b="0">
                <a:solidFill>
                  <a:srgbClr val="707070"/>
                </a:solidFill>
              </a:defRPr>
            </a:lvl1pPr>
            <a:lvl2pPr algn="l">
              <a:defRPr sz="600" b="0">
                <a:solidFill>
                  <a:srgbClr val="707070"/>
                </a:solidFill>
              </a:defRPr>
            </a:lvl2pPr>
            <a:lvl3pPr algn="l">
              <a:defRPr sz="600" b="0">
                <a:solidFill>
                  <a:srgbClr val="707070"/>
                </a:solidFill>
              </a:defRPr>
            </a:lvl3pPr>
            <a:lvl4pPr algn="l">
              <a:defRPr sz="600" b="0">
                <a:solidFill>
                  <a:srgbClr val="707070"/>
                </a:solidFill>
              </a:defRPr>
            </a:lvl4pPr>
            <a:lvl5pPr algn="l">
              <a:defRPr sz="600" b="0">
                <a:solidFill>
                  <a:srgbClr val="707070"/>
                </a:solidFill>
              </a:defRPr>
            </a:lvl5pPr>
            <a:lvl6pPr algn="l">
              <a:defRPr sz="600" b="0">
                <a:solidFill>
                  <a:srgbClr val="707070"/>
                </a:solidFill>
              </a:defRPr>
            </a:lvl6pPr>
            <a:lvl7pPr algn="l">
              <a:defRPr sz="600" b="0">
                <a:solidFill>
                  <a:srgbClr val="707070"/>
                </a:solidFill>
              </a:defRPr>
            </a:lvl7pPr>
            <a:lvl8pPr algn="l">
              <a:defRPr sz="600" b="0">
                <a:solidFill>
                  <a:srgbClr val="707070"/>
                </a:solidFill>
              </a:defRPr>
            </a:lvl8pPr>
            <a:lvl9pPr algn="l">
              <a:defRPr sz="600" b="0">
                <a:solidFill>
                  <a:srgbClr val="707070"/>
                </a:solidFill>
              </a:defRPr>
            </a:lvl9pPr>
          </a:lstStyle>
          <a:p xmlns:a="http://schemas.openxmlformats.org/drawingml/2006/main">
            <a:pPr algn="l">
              <a:defRPr sz="600" b="0">
                <a:solidFill>
                  <a:srgbClr val="707070"/>
                </a:solidFill>
              </a:defRPr>
            </a:pPr>
            <a:r>
              <a:rPr sz="600" b="0">
                <a:solidFill>
                  <a:srgbClr val="707070"/>
                </a:solidFill>
              </a:rPr>
              <a:t>Historical simulation before transaction costs and taxes. It is not a forecast of future performance.</a:t>
            </a:r>
          </a:p>
        </p:txBody>
      </p:sp>
      <p:sp>
        <p:nvSpPr>
          <p:cNvPr id="26" name="">
            <a:extLst xmlns:a="http://schemas.openxmlformats.org/drawingml/2006/main">
              <a:ext uri="{FF2B5EF4-FFF2-40B4-BE49-F238E27FC236}">
                <a16:creationId xmlns:a16="http://schemas.microsoft.com/office/drawing/2014/main" id="{14B2D3D5-6314-479A-9CCB-E40A93625486}"/>
              </a:ext>
            </a:extLst>
          </p:cNvPr>
          <p:cNvSpPr>
            <a:spLocks xmlns:a="http://schemas.openxmlformats.org/drawingml/2006/main" noGrp="1"/>
          </p:cNvSpPr>
          <p:nvPr/>
        </p:nvSpPr>
        <p:spPr>
          <a:xfrm xmlns:a="http://schemas.openxmlformats.org/drawingml/2006/main">
            <a:off x="11068050" y="64770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675" b="1">
                <a:solidFill>
                  <a:srgbClr val="111111"/>
                </a:solidFill>
              </a:defRPr>
            </a:defPPr>
            <a:lvl1pPr algn="r">
              <a:defRPr sz="675" b="1">
                <a:solidFill>
                  <a:srgbClr val="111111"/>
                </a:solidFill>
              </a:defRPr>
            </a:lvl1pPr>
            <a:lvl2pPr algn="r">
              <a:defRPr sz="675" b="1">
                <a:solidFill>
                  <a:srgbClr val="111111"/>
                </a:solidFill>
              </a:defRPr>
            </a:lvl2pPr>
            <a:lvl3pPr algn="r">
              <a:defRPr sz="675" b="1">
                <a:solidFill>
                  <a:srgbClr val="111111"/>
                </a:solidFill>
              </a:defRPr>
            </a:lvl3pPr>
            <a:lvl4pPr algn="r">
              <a:defRPr sz="675" b="1">
                <a:solidFill>
                  <a:srgbClr val="111111"/>
                </a:solidFill>
              </a:defRPr>
            </a:lvl4pPr>
            <a:lvl5pPr algn="r">
              <a:defRPr sz="675" b="1">
                <a:solidFill>
                  <a:srgbClr val="111111"/>
                </a:solidFill>
              </a:defRPr>
            </a:lvl5pPr>
            <a:lvl6pPr algn="r">
              <a:defRPr sz="675" b="1">
                <a:solidFill>
                  <a:srgbClr val="111111"/>
                </a:solidFill>
              </a:defRPr>
            </a:lvl6pPr>
            <a:lvl7pPr algn="r">
              <a:defRPr sz="675" b="1">
                <a:solidFill>
                  <a:srgbClr val="111111"/>
                </a:solidFill>
              </a:defRPr>
            </a:lvl7pPr>
            <a:lvl8pPr algn="r">
              <a:defRPr sz="675" b="1">
                <a:solidFill>
                  <a:srgbClr val="111111"/>
                </a:solidFill>
              </a:defRPr>
            </a:lvl8pPr>
            <a:lvl9pPr algn="r">
              <a:defRPr sz="675" b="1">
                <a:solidFill>
                  <a:srgbClr val="111111"/>
                </a:solidFill>
              </a:defRPr>
            </a:lvl9pPr>
          </a:lstStyle>
          <a:p xmlns:a="http://schemas.openxmlformats.org/drawingml/2006/main">
            <a:pPr algn="r">
              <a:defRPr sz="675" b="1">
                <a:solidFill>
                  <a:srgbClr val="111111"/>
                </a:solidFill>
              </a:defRPr>
            </a:pPr>
            <a:r>
              <a:rPr sz="675" b="1">
                <a:solidFill>
                  <a:srgbClr val="111111"/>
                </a:solidFill>
              </a:rPr>
              <a:t>21</a:t>
            </a:r>
          </a:p>
        </p:txBody>
      </p:sp>
    </p:spTree>
    <p:extLst>
      <p:ext uri="{BB962C8B-B14F-4D97-AF65-F5344CB8AC3E}">
        <p14:creationId xmlns:p14="http://schemas.microsoft.com/office/powerpoint/2010/main" val="232038183"/>
      </p:ext>
    </p:extLst>
  </p:cSld>
</p:sld>
</file>

<file path=ppt/theme/theme1.xml><?xml version="1.0" encoding="utf-8"?>
<a:theme xmlns:a="http://schemas.openxmlformats.org/drawingml/2006/main" name="ChatGPT">
  <a:themeElements>
    <a:clrScheme name="QFI Swiss Monochrome">
      <a:dk1>
        <a:srgbClr val="111111"/>
      </a:dk1>
      <a:lt1>
        <a:srgbClr val="FFFFFF"/>
      </a:lt1>
      <a:dk2>
        <a:srgbClr val="353535"/>
      </a:dk2>
      <a:lt2>
        <a:srgbClr val="F5F5F2"/>
      </a:lt2>
      <a:accent1>
        <a:srgbClr val="155E63"/>
      </a:accent1>
      <a:accent2>
        <a:srgbClr val="B42318"/>
      </a:accent2>
      <a:accent3>
        <a:srgbClr val="1B6B50"/>
      </a:accent3>
      <a:accent4>
        <a:srgbClr val="8C8C8C"/>
      </a:accent4>
      <a:accent5>
        <a:srgbClr val="B0B0B0"/>
      </a:accent5>
      <a:accent6>
        <a:srgbClr val="D0D0D0"/>
      </a:accent6>
      <a:hlink>
        <a:srgbClr val="155E63"/>
      </a:hlink>
      <a:folHlink>
        <a:srgbClr val="B42318"/>
      </a:folHlink>
    </a:clrScheme>
    <a:fontScheme name="">
      <a:majorFont>
        <a:latin typeface="Aptos"/>
        <a:ea typeface=""/>
        <a:cs typeface=""/>
      </a:majorFont>
      <a:minorFont>
        <a:latin typeface="Aptos"/>
        <a:ea typeface=""/>
        <a:cs typeface=""/>
      </a:minorFont>
    </a:fontScheme>
    <a:fmtScheme name="QFI Swiss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2026-10-27T09:18:05.1470000Z</dcterms:created>
  <dcterms:modified xsi:type="dcterms:W3CDTF">2026-10-27T09:18:05.1470000Z</dcterms:modified>
</coreProperties>
</file>