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7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e0b6a85434354" /><Relationship Type="http://schemas.openxmlformats.org/officeDocument/2006/relationships/extended-properties" Target="/docProps/app.xml" Id="Rc3e7f381952b45cf" /><Relationship Type="http://schemas.openxmlformats.org/officeDocument/2006/relationships/officeDocument" Target="/ppt/presentation.xml" Id="Rf383073b3d96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9426ee573e45b3"/>
  </p:sldMasterIdLst>
  <p:notesMasterIdLst>
    <p:notesMasterId xmlns:r="http://schemas.openxmlformats.org/officeDocument/2006/relationships" r:id="R143f1c48a9364cd5"/>
  </p:notesMasterIdLst>
  <p:sldIdLst>
    <p:sldId xmlns:r="http://schemas.openxmlformats.org/officeDocument/2006/relationships" id="256" r:id="R6b8c75cdcab74c43"/>
    <p:sldId xmlns:r="http://schemas.openxmlformats.org/officeDocument/2006/relationships" id="257" r:id="R487f95da997d4d3b"/>
    <p:sldId xmlns:r="http://schemas.openxmlformats.org/officeDocument/2006/relationships" id="258" r:id="R892b4593ae6444a3"/>
    <p:sldId xmlns:r="http://schemas.openxmlformats.org/officeDocument/2006/relationships" id="259" r:id="Rfa50cf9ce74a424c"/>
    <p:sldId xmlns:r="http://schemas.openxmlformats.org/officeDocument/2006/relationships" id="260" r:id="Ra373cd3c01aa4fed"/>
    <p:sldId xmlns:r="http://schemas.openxmlformats.org/officeDocument/2006/relationships" id="261" r:id="R410f68c65b6449a9"/>
    <p:sldId xmlns:r="http://schemas.openxmlformats.org/officeDocument/2006/relationships" id="262" r:id="Ra83333ff11ac4767"/>
    <p:sldId xmlns:r="http://schemas.openxmlformats.org/officeDocument/2006/relationships" id="263" r:id="Re5e47cd1903846db"/>
    <p:sldId xmlns:r="http://schemas.openxmlformats.org/officeDocument/2006/relationships" id="264" r:id="R861a038752464a8f"/>
    <p:sldId xmlns:r="http://schemas.openxmlformats.org/officeDocument/2006/relationships" id="265" r:id="R2f009fe5a3e84436"/>
    <p:sldId xmlns:r="http://schemas.openxmlformats.org/officeDocument/2006/relationships" id="266" r:id="Rf4e335c002294f5d"/>
    <p:sldId xmlns:r="http://schemas.openxmlformats.org/officeDocument/2006/relationships" id="267" r:id="Rbcd9ad7ca29a4bcd"/>
    <p:sldId xmlns:r="http://schemas.openxmlformats.org/officeDocument/2006/relationships" id="268" r:id="Rfeacdc7a098241ae"/>
    <p:sldId xmlns:r="http://schemas.openxmlformats.org/officeDocument/2006/relationships" id="269" r:id="Rab201acefd3d4270"/>
    <p:sldId xmlns:r="http://schemas.openxmlformats.org/officeDocument/2006/relationships" id="270" r:id="R67288084054449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50e43d809b4f29" /><Relationship Type="http://schemas.openxmlformats.org/officeDocument/2006/relationships/slideMaster" Target="/ppt/slideMasters/slideMaster1.xml" Id="Reb9426ee573e45b3" /><Relationship Type="http://schemas.openxmlformats.org/officeDocument/2006/relationships/notesMaster" Target="/ppt/notesMasters/notesMaster1.xml" Id="R143f1c48a9364cd5" /><Relationship Type="http://schemas.openxmlformats.org/officeDocument/2006/relationships/presProps" Target="/ppt/presProps.xml" Id="Rccb30ca6f93844d8" /><Relationship Type="http://schemas.openxmlformats.org/officeDocument/2006/relationships/tableStyles" Target="/ppt/tableStyles.xml" Id="R65640b01582b485a" /><Relationship Type="http://schemas.openxmlformats.org/officeDocument/2006/relationships/slide" Target="/ppt/slides/slide1.xml" Id="R6b8c75cdcab74c43" /><Relationship Type="http://schemas.openxmlformats.org/officeDocument/2006/relationships/slide" Target="/ppt/slides/slide2.xml" Id="R487f95da997d4d3b" /><Relationship Type="http://schemas.openxmlformats.org/officeDocument/2006/relationships/slide" Target="/ppt/slides/slide3.xml" Id="R892b4593ae6444a3" /><Relationship Type="http://schemas.openxmlformats.org/officeDocument/2006/relationships/slide" Target="/ppt/slides/slide4.xml" Id="Rfa50cf9ce74a424c" /><Relationship Type="http://schemas.openxmlformats.org/officeDocument/2006/relationships/slide" Target="/ppt/slides/slide5.xml" Id="Ra373cd3c01aa4fed" /><Relationship Type="http://schemas.openxmlformats.org/officeDocument/2006/relationships/slide" Target="/ppt/slides/slide6.xml" Id="R410f68c65b6449a9" /><Relationship Type="http://schemas.openxmlformats.org/officeDocument/2006/relationships/slide" Target="/ppt/slides/slide7.xml" Id="Ra83333ff11ac4767" /><Relationship Type="http://schemas.openxmlformats.org/officeDocument/2006/relationships/slide" Target="/ppt/slides/slide8.xml" Id="Re5e47cd1903846db" /><Relationship Type="http://schemas.openxmlformats.org/officeDocument/2006/relationships/slide" Target="/ppt/slides/slide9.xml" Id="R861a038752464a8f" /><Relationship Type="http://schemas.openxmlformats.org/officeDocument/2006/relationships/slide" Target="/ppt/slides/slide10.xml" Id="R2f009fe5a3e84436" /><Relationship Type="http://schemas.openxmlformats.org/officeDocument/2006/relationships/slide" Target="/ppt/slides/slide11.xml" Id="Rf4e335c002294f5d" /><Relationship Type="http://schemas.openxmlformats.org/officeDocument/2006/relationships/slide" Target="/ppt/slides/slide12.xml" Id="Rbcd9ad7ca29a4bcd" /><Relationship Type="http://schemas.openxmlformats.org/officeDocument/2006/relationships/slide" Target="/ppt/slides/slide13.xml" Id="Rfeacdc7a098241ae" /><Relationship Type="http://schemas.openxmlformats.org/officeDocument/2006/relationships/slide" Target="/ppt/slides/slide14.xml" Id="Rab201acefd3d4270" /><Relationship Type="http://schemas.openxmlformats.org/officeDocument/2006/relationships/slide" Target="/ppt/slides/slide15.xml" Id="R67288084054449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109278cf6844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QFI Editorial">
      <a:dk1>
        <a:srgbClr val="1B2928"/>
      </a:dk1>
      <a:lt1>
        <a:srgbClr val="FFFEFB"/>
      </a:lt1>
      <a:dk2>
        <a:srgbClr val="174C4F"/>
      </a:dk2>
      <a:lt2>
        <a:srgbClr val="F6F1E8"/>
      </a:lt2>
      <a:accent1>
        <a:srgbClr val="174C4F"/>
      </a:accent1>
      <a:accent2>
        <a:srgbClr val="C9973A"/>
      </a:accent2>
      <a:accent3>
        <a:srgbClr val="B84A3A"/>
      </a:accent3>
      <a:accent4>
        <a:srgbClr val="477F8F"/>
      </a:accent4>
      <a:accent5>
        <a:srgbClr val="2E6A68"/>
      </a:accent5>
      <a:accent6>
        <a:srgbClr val="8E7446"/>
      </a:accent6>
      <a:hlink>
        <a:srgbClr val="477F8F"/>
      </a:hlink>
      <a:folHlink>
        <a:srgbClr val="B84A3A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FI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9f8b73dc14b36" /><Relationship Type="http://schemas.openxmlformats.org/officeDocument/2006/relationships/notesMaster" Target="/ppt/notesMasters/notesMaster1.xml" Id="Rf766f71526ed4d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6e30cf1af34c88" /><Relationship Type="http://schemas.openxmlformats.org/officeDocument/2006/relationships/notesMaster" Target="/ppt/notesMasters/notesMaster1.xml" Id="Rfc1dea6a6c344f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b295329cc4262" /><Relationship Type="http://schemas.openxmlformats.org/officeDocument/2006/relationships/notesMaster" Target="/ppt/notesMasters/notesMaster1.xml" Id="R82c7767c927e42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00fa68f1534cd7" /><Relationship Type="http://schemas.openxmlformats.org/officeDocument/2006/relationships/notesMaster" Target="/ppt/notesMasters/notesMaster1.xml" Id="Ra788bff9b2da45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d2aa7b3cff41ea" /><Relationship Type="http://schemas.openxmlformats.org/officeDocument/2006/relationships/notesMaster" Target="/ppt/notesMasters/notesMaster1.xml" Id="Rc103dd2bea7e43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c8907c00f74c38" /><Relationship Type="http://schemas.openxmlformats.org/officeDocument/2006/relationships/notesMaster" Target="/ppt/notesMasters/notesMaster1.xml" Id="R993f543a18b94f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da5867f9564623" /><Relationship Type="http://schemas.openxmlformats.org/officeDocument/2006/relationships/notesMaster" Target="/ppt/notesMasters/notesMaster1.xml" Id="Rf96af855020941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0bb679698e4624" /><Relationship Type="http://schemas.openxmlformats.org/officeDocument/2006/relationships/notesMaster" Target="/ppt/notesMasters/notesMaster1.xml" Id="R11ac3f5af3c94b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1a970147094f4b" /><Relationship Type="http://schemas.openxmlformats.org/officeDocument/2006/relationships/notesMaster" Target="/ppt/notesMasters/notesMaster1.xml" Id="R90b2aec426fd46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a7fbe729ab4760" /><Relationship Type="http://schemas.openxmlformats.org/officeDocument/2006/relationships/notesMaster" Target="/ppt/notesMasters/notesMaster1.xml" Id="R278e8d6bb09845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ceac9ee5f345fb" /><Relationship Type="http://schemas.openxmlformats.org/officeDocument/2006/relationships/notesMaster" Target="/ppt/notesMasters/notesMaster1.xml" Id="Rcfc2eec7e57343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145a136d474c8f" /><Relationship Type="http://schemas.openxmlformats.org/officeDocument/2006/relationships/notesMaster" Target="/ppt/notesMasters/notesMaster1.xml" Id="R6f5b00f1fdd546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e328942ad84e27" /><Relationship Type="http://schemas.openxmlformats.org/officeDocument/2006/relationships/notesMaster" Target="/ppt/notesMasters/notesMaster1.xml" Id="R407e73e0208a47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688fdecae845bf" /><Relationship Type="http://schemas.openxmlformats.org/officeDocument/2006/relationships/notesMaster" Target="/ppt/notesMasters/notesMaster1.xml" Id="R61fbe783b60b47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a0788d31214146" /><Relationship Type="http://schemas.openxmlformats.org/officeDocument/2006/relationships/notesMaster" Target="/ppt/notesMasters/notesMaster1.xml" Id="R72c2b13355a84d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question: how much can the portfolio lose, when do the models fail, and what should a risk manager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system as a sequence: collect, clean, model and challenge. The dashboard exposes the same sequence interactively.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Volatility varies materially across holdings. Tesla is the most volatile; the portfolio is left-skewed and fat-tailed, so Gaussian loss assumptions are unsafe.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five-day response pattern and the positive GJR leverage coefficient support asymmetric volatility scaling.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up the comparison: HS is transparent but slow-moving; the filtered models adapt to volatility; GJR also responds asymmetrically.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filtered models currently sit below unscaled HS because recent conditional volatility is below the full-window average. ES remains above VaR by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Sensitivity is large enough to change limit usage. The base estimate is highlighted; alternative windows and confidence levels should be monitored as model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model can get the count right yet still fail because breaches cluster. That distinction is central to the results on the next two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alone would make every model look acceptable. Independence tests reveal that HS, EWMA-HS and GARCH-HS still cluster breaches at the 5%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Rank is based on the test suite, not on whichever model produces the smallest VaR. At 95%, GJR-HS and GARCH-HS both perform well, reinforcing the value of volatility filtering.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stress book answers a different question from daily VaR. The 2008 and COVID scenarios are an order of magnitude larger than current one-day VaR.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Equal capital weights do not imply equal risk. Tesla and Amazon together contribute about 37% of Expected Shortfall despite about 20% of capital.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turns measurement into choices: reduce a concentration, add an index hedge, or re-optimize under explicit constraints. These are decision aids, not automatic trades.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objective is not to eliminate model risk; it is to expose it, bound it, and preserve an audit trail for the decisions made.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operating model: a primary risk model, a challenger, and stress/attribution as non-negotiable complements.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2706576fe40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d356ff2384d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ce1f88e4649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5ad94a55e42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285517bd048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d67632f9341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7FFD46-04F0-42F7-927A-BC4D70421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5EB779-B681-4CEF-A79A-FABBDFA845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DBDE79-2A3A-40A1-9B08-731614B2F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2A16A5-401E-4E8B-8070-D096E9F4A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827967-34B3-4551-9D6F-4A0E06A55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34ABF0-D8AD-4E30-AA2E-A2C214F84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E0CFB0-C41E-45DB-A158-BCC9DD43B4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085136-C660-4E62-8CAC-72D092EC9B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AB91C5-B610-4BB5-98BD-7046393C6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FA837F-845B-4CB2-9402-C094BBCE5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3cbe49f5fa494c" /><Relationship Type="http://schemas.openxmlformats.org/officeDocument/2006/relationships/slideLayout" Target="/ppt/slideLayouts/slideLayout1.xml" Id="R7607289a56774bf4" /><Relationship Type="http://schemas.openxmlformats.org/officeDocument/2006/relationships/slideLayout" Target="/ppt/slideLayouts/slideLayout2.xml" Id="R7e37fc190a574784" /><Relationship Type="http://schemas.openxmlformats.org/officeDocument/2006/relationships/slideLayout" Target="/ppt/slideLayouts/slideLayout3.xml" Id="Rc0cb66e4608e4e0f" /><Relationship Type="http://schemas.openxmlformats.org/officeDocument/2006/relationships/slideLayout" Target="/ppt/slideLayouts/slideLayout4.xml" Id="R817db06a34de485a" /><Relationship Type="http://schemas.openxmlformats.org/officeDocument/2006/relationships/slideLayout" Target="/ppt/slideLayouts/slideLayout5.xml" Id="R4d8602a9327a4ee8" /><Relationship Type="http://schemas.openxmlformats.org/officeDocument/2006/relationships/slideLayout" Target="/ppt/slideLayouts/slideLayout6.xml" Id="R3cf38ff57c1c42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7289a56774bf4"/>
    <p:sldLayoutId xmlns:r="http://schemas.openxmlformats.org/officeDocument/2006/relationships" id="2147483650" r:id="R7e37fc190a574784"/>
    <p:sldLayoutId xmlns:r="http://schemas.openxmlformats.org/officeDocument/2006/relationships" id="2147483651" r:id="Rc0cb66e4608e4e0f"/>
    <p:sldLayoutId xmlns:r="http://schemas.openxmlformats.org/officeDocument/2006/relationships" id="2147483652" r:id="R817db06a34de485a"/>
    <p:sldLayoutId xmlns:r="http://schemas.openxmlformats.org/officeDocument/2006/relationships" id="2147483653" r:id="R4d8602a9327a4ee8"/>
    <p:sldLayoutId xmlns:r="http://schemas.openxmlformats.org/officeDocument/2006/relationships" id="2147483654" r:id="R3cf38ff57c1c42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QFI Editorial">
      <a:dk1>
        <a:srgbClr val="1B2928"/>
      </a:dk1>
      <a:lt1>
        <a:srgbClr val="FFFEFB"/>
      </a:lt1>
      <a:dk2>
        <a:srgbClr val="174C4F"/>
      </a:dk2>
      <a:lt2>
        <a:srgbClr val="F6F1E8"/>
      </a:lt2>
      <a:accent1>
        <a:srgbClr val="174C4F"/>
      </a:accent1>
      <a:accent2>
        <a:srgbClr val="C9973A"/>
      </a:accent2>
      <a:accent3>
        <a:srgbClr val="B84A3A"/>
      </a:accent3>
      <a:accent4>
        <a:srgbClr val="477F8F"/>
      </a:accent4>
      <a:accent5>
        <a:srgbClr val="2E6A68"/>
      </a:accent5>
      <a:accent6>
        <a:srgbClr val="8E7446"/>
      </a:accent6>
      <a:hlink>
        <a:srgbClr val="477F8F"/>
      </a:hlink>
      <a:folHlink>
        <a:srgbClr val="B84A3A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FI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7abd660ad4369" /><Relationship Type="http://schemas.openxmlformats.org/officeDocument/2006/relationships/notesSlide" Target="/ppt/notesSlides/notesSlide1.xml" Id="R8363a5ecdb3443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fb218a9e8473d" /><Relationship Type="http://schemas.openxmlformats.org/officeDocument/2006/relationships/notesSlide" Target="/ppt/notesSlides/notesSlide2.xml" Id="Rfca2cab4b7694d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5586f25d94d83" /><Relationship Type="http://schemas.openxmlformats.org/officeDocument/2006/relationships/chart" Target="/ppt/slides/charts/chart1.xml" Id="Rc7a64a6332424929" /><Relationship Type="http://schemas.openxmlformats.org/officeDocument/2006/relationships/notesSlide" Target="/ppt/notesSlides/notesSlide3.xml" Id="Ra6a6094d49b0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769dd57eb44a8" /><Relationship Type="http://schemas.openxmlformats.org/officeDocument/2006/relationships/chart" Target="/ppt/slides/charts/chart2.xml" Id="R696f0031454a475d" /><Relationship Type="http://schemas.openxmlformats.org/officeDocument/2006/relationships/notesSlide" Target="/ppt/notesSlides/notesSlide4.xml" Id="Rce52d6d60b83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d5de882154920" /><Relationship Type="http://schemas.openxmlformats.org/officeDocument/2006/relationships/notesSlide" Target="/ppt/notesSlides/notesSlide5.xml" Id="R78c74a06b9aa4e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0caff5fd94f12" /><Relationship Type="http://schemas.openxmlformats.org/officeDocument/2006/relationships/chart" Target="/ppt/slides/charts/chart3.xml" Id="R55cdc8f96e5e4c4a" /><Relationship Type="http://schemas.openxmlformats.org/officeDocument/2006/relationships/notesSlide" Target="/ppt/notesSlides/notesSlide6.xml" Id="Raa236563398145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be3f23b65418a" /><Relationship Type="http://schemas.openxmlformats.org/officeDocument/2006/relationships/notesSlide" Target="/ppt/notesSlides/notesSlide7.xml" Id="Rbf8b97266d5141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f4b86a2b14001" /><Relationship Type="http://schemas.openxmlformats.org/officeDocument/2006/relationships/notesSlide" Target="/ppt/notesSlides/notesSlide8.xml" Id="Rab9337cd97484a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d0f8f39df4993" /><Relationship Type="http://schemas.openxmlformats.org/officeDocument/2006/relationships/chart" Target="/ppt/slides/charts/chart4.xml" Id="Ra7bca26670b74bb6" /><Relationship Type="http://schemas.openxmlformats.org/officeDocument/2006/relationships/notesSlide" Target="/ppt/notesSlides/notesSlide9.xml" Id="R388e2f37f59b48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1362b97f34651" /><Relationship Type="http://schemas.openxmlformats.org/officeDocument/2006/relationships/notesSlide" Target="/ppt/notesSlides/notesSlide10.xml" Id="R08e96f8316ea4c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72ce38a1f4628" /><Relationship Type="http://schemas.openxmlformats.org/officeDocument/2006/relationships/chart" Target="/ppt/slides/charts/chart5.xml" Id="Rb6d4c4ac2ba64a0d" /><Relationship Type="http://schemas.openxmlformats.org/officeDocument/2006/relationships/notesSlide" Target="/ppt/notesSlides/notesSlide11.xml" Id="R20ced0d716a941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1149c9f8341ad" /><Relationship Type="http://schemas.openxmlformats.org/officeDocument/2006/relationships/chart" Target="/ppt/slides/charts/chart6.xml" Id="Rf5465f087dca4888" /><Relationship Type="http://schemas.openxmlformats.org/officeDocument/2006/relationships/notesSlide" Target="/ppt/notesSlides/notesSlide12.xml" Id="Re1a45bd7b4f240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cb9304902c4300" /><Relationship Type="http://schemas.openxmlformats.org/officeDocument/2006/relationships/chart" Target="/ppt/slides/charts/chart7.xml" Id="Rbeb0564fbc694fb2" /><Relationship Type="http://schemas.openxmlformats.org/officeDocument/2006/relationships/notesSlide" Target="/ppt/notesSlides/notesSlide13.xml" Id="Re2e5b82ef28947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a0232e99945d7" /><Relationship Type="http://schemas.openxmlformats.org/officeDocument/2006/relationships/notesSlide" Target="/ppt/notesSlides/notesSlide14.xml" Id="R787aefbd6cab4e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d2fdbf2a046e4" /><Relationship Type="http://schemas.openxmlformats.org/officeDocument/2006/relationships/notesSlide" Target="/ppt/notesSlides/notesSlide15.xml" Id="R8bd0b7914b224d7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Annualized volatility</c:v>
          </c:tx>
          <c:spPr>
            <a:solidFill xmlns:a="http://schemas.openxmlformats.org/drawingml/2006/main">
              <a:srgbClr val="174C4F"/>
            </a:solidFill>
          </c:spPr>
          <c:invertIfNegative val="0"/>
          <c:cat>
            <c:strRef>
              <c:f>'Chart Data'!$A$2:$A$11</c:f>
              <c:strCache>
                <c:ptCount val="10"/>
                <c:pt idx="0">
                  <c:v>AAPL</c:v>
                </c:pt>
                <c:pt idx="1">
                  <c:v>MSFT</c:v>
                </c:pt>
                <c:pt idx="2">
                  <c:v>NVDA</c:v>
                </c:pt>
                <c:pt idx="3">
                  <c:v>JPM</c:v>
                </c:pt>
                <c:pt idx="4">
                  <c:v>XOM</c:v>
                </c:pt>
                <c:pt idx="5">
                  <c:v>AMZN</c:v>
                </c:pt>
                <c:pt idx="6">
                  <c:v>META</c:v>
                </c:pt>
                <c:pt idx="7">
                  <c:v>GOOGL</c:v>
                </c:pt>
                <c:pt idx="8">
                  <c:v>TSLA</c:v>
                </c:pt>
                <c:pt idx="9">
                  <c:v>UNH</c:v>
                </c:pt>
              </c:strCache>
            </c:strRef>
          </c:cat>
          <c:val>
            <c:numRef>
              <c:f>'Chart Data'!$B$2:$B$11</c:f>
              <c:numCache>
                <c:formatCode>0.0\%</c:formatCode>
                <c:ptCount val="10"/>
                <c:pt idx="0">
                  <c:v>28.2009</c:v>
                </c:pt>
                <c:pt idx="1">
                  <c:v>26.5719</c:v>
                </c:pt>
                <c:pt idx="2">
                  <c:v>44.5758</c:v>
                </c:pt>
                <c:pt idx="3">
                  <c:v>25.7491</c:v>
                </c:pt>
                <c:pt idx="4">
                  <c:v>25.6853</c:v>
                </c:pt>
                <c:pt idx="5">
                  <c:v>32.2434</c:v>
                </c:pt>
                <c:pt idx="6">
                  <c:v>39.6147</c:v>
                </c:pt>
                <c:pt idx="7">
                  <c:v>27.7485</c:v>
                </c:pt>
                <c:pt idx="8">
                  <c:v>56.6467</c:v>
                </c:pt>
                <c:pt idx="9">
                  <c:v>28.2809</c:v>
                </c:pt>
              </c:numCache>
            </c:numRef>
          </c:val>
        </c:ser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6"/>
              </a:solidFill>
              <a:prstDash val="solid"/>
            </a:ln>
          </c:spPr>
        </c:majorGridlines>
        <c:numFmt formatCode="0.0\%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absolute move, next 5 days</c:v>
          </c:tx>
          <c:spPr>
            <a:solidFill xmlns:a="http://schemas.openxmlformats.org/drawingml/2006/main">
              <a:srgbClr val="B84A3A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below -3%</c:v>
                </c:pt>
                <c:pt idx="1">
                  <c:v>-3% to -1.5%</c:v>
                </c:pt>
                <c:pt idx="2">
                  <c:v>-1.5% to -0.5%</c:v>
                </c:pt>
                <c:pt idx="3">
                  <c:v>-0.5% to +0.5%</c:v>
                </c:pt>
                <c:pt idx="4">
                  <c:v>+0.5% to +1.5%</c:v>
                </c:pt>
                <c:pt idx="5">
                  <c:v>+1.5% to +3%</c:v>
                </c:pt>
                <c:pt idx="6">
                  <c:v>above +3%</c:v>
                </c:pt>
              </c:strCache>
            </c:strRef>
          </c:cat>
          <c:val>
            <c:numRef>
              <c:f>'Chart Data'!$B$2:$B$8</c:f>
              <c:numCache>
                <c:formatCode>0.0\%</c:formatCode>
                <c:ptCount val="7"/>
                <c:pt idx="0">
                  <c:v>2.1908</c:v>
                </c:pt>
                <c:pt idx="1">
                  <c:v>1.271</c:v>
                </c:pt>
                <c:pt idx="2">
                  <c:v>0.9987</c:v>
                </c:pt>
                <c:pt idx="3">
                  <c:v>0.8471</c:v>
                </c:pt>
                <c:pt idx="4">
                  <c:v>0.8646</c:v>
                </c:pt>
                <c:pt idx="5">
                  <c:v>1.06</c:v>
                </c:pt>
                <c:pt idx="6">
                  <c:v>1.8324</c:v>
                </c:pt>
              </c:numCache>
            </c:numRef>
          </c:val>
        </c:ser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6"/>
              </a:solidFill>
              <a:prstDash val="solid"/>
            </a:ln>
          </c:spPr>
        </c:majorGridlines>
        <c:numFmt formatCode="0.0\%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VaR ($000s)</c:v>
          </c:tx>
          <c:spPr>
            <a:solidFill xmlns:a="http://schemas.openxmlformats.org/drawingml/2006/main">
              <a:srgbClr val="174C4F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HS</c:v>
                </c:pt>
                <c:pt idx="1">
                  <c:v>EWMA-HS</c:v>
                </c:pt>
                <c:pt idx="2">
                  <c:v>GARCH-HS</c:v>
                </c:pt>
                <c:pt idx="3">
                  <c:v>GJR-HS</c:v>
                </c:pt>
              </c:strCache>
            </c:strRef>
          </c:cat>
          <c:val>
            <c:numRef>
              <c:f>'Chart Data'!$B$2:$B$5</c:f>
              <c:numCache>
                <c:formatCode>$0</c:formatCode>
                <c:ptCount val="4"/>
                <c:pt idx="0">
                  <c:v>336.5357</c:v>
                </c:pt>
                <c:pt idx="1">
                  <c:v>247.1324</c:v>
                </c:pt>
                <c:pt idx="2">
                  <c:v>278.7506</c:v>
                </c:pt>
                <c:pt idx="3">
                  <c:v>296.8089</c:v>
                </c:pt>
              </c:numCache>
            </c:numRef>
          </c:val>
        </c:ser>
        <c:ser>
          <c:idx val="1"/>
          <c:order val="1"/>
          <c:tx>
            <c:v>ES ($000s)</c:v>
          </c:tx>
          <c:spPr>
            <a:solidFill xmlns:a="http://schemas.openxmlformats.org/drawingml/2006/main">
              <a:srgbClr val="C9973A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HS</c:v>
                </c:pt>
                <c:pt idx="1">
                  <c:v>EWMA-HS</c:v>
                </c:pt>
                <c:pt idx="2">
                  <c:v>GARCH-HS</c:v>
                </c:pt>
                <c:pt idx="3">
                  <c:v>GJR-HS</c:v>
                </c:pt>
              </c:strCache>
            </c:strRef>
          </c:cat>
          <c:val>
            <c:numRef>
              <c:f>'Chart Data'!$D$2:$D$5</c:f>
              <c:numCache>
                <c:formatCode>$0</c:formatCode>
                <c:ptCount val="4"/>
                <c:pt idx="0">
                  <c:v>463.3374</c:v>
                </c:pt>
                <c:pt idx="1">
                  <c:v>284.8247</c:v>
                </c:pt>
                <c:pt idx="2">
                  <c:v>323.5322</c:v>
                </c:pt>
                <c:pt idx="3">
                  <c:v>338.4454</c:v>
                </c:pt>
              </c:numCache>
            </c:numRef>
          </c:val>
        </c:ser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6"/>
              </a:solidFill>
              <a:prstDash val="solid"/>
            </a:ln>
          </c:spPr>
        </c:majorGridlines>
        <c:numFmt formatCode="$0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86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Actual exceptions</c:v>
          </c:tx>
          <c:spPr>
            <a:solidFill xmlns:a="http://schemas.openxmlformats.org/drawingml/2006/main">
              <a:srgbClr val="B84A3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HS</c:v>
                </c:pt>
                <c:pt idx="1">
                  <c:v>EWMA-HS</c:v>
                </c:pt>
                <c:pt idx="2">
                  <c:v>GARCH-HS</c:v>
                </c:pt>
                <c:pt idx="3">
                  <c:v>GJR-HS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36</c:v>
                </c:pt>
                <c:pt idx="1">
                  <c:v>32</c:v>
                </c:pt>
                <c:pt idx="2">
                  <c:v>33</c:v>
                </c:pt>
                <c:pt idx="3">
                  <c:v>34</c:v>
                </c:pt>
              </c:numCache>
            </c:numRef>
          </c:val>
        </c:ser>
        <c:ser>
          <c:idx val="1"/>
          <c:order val="1"/>
          <c:tx>
            <c:v>Expected</c:v>
          </c:tx>
          <c:spPr>
            <a:solidFill xmlns:a="http://schemas.openxmlformats.org/drawingml/2006/main">
              <a:srgbClr val="C9973A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HS</c:v>
                </c:pt>
                <c:pt idx="1">
                  <c:v>EWMA-HS</c:v>
                </c:pt>
                <c:pt idx="2">
                  <c:v>GARCH-HS</c:v>
                </c:pt>
                <c:pt idx="3">
                  <c:v>GJR-HS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31.14</c:v>
                </c:pt>
                <c:pt idx="1">
                  <c:v>31.14</c:v>
                </c:pt>
                <c:pt idx="2">
                  <c:v>31.14</c:v>
                </c:pt>
                <c:pt idx="3">
                  <c:v>31.14</c:v>
                </c:pt>
              </c:numCache>
            </c:numRef>
          </c:val>
        </c:ser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6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86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Portfolio loss</c:v>
          </c:tx>
          <c:spPr>
            <a:solidFill xmlns:a="http://schemas.openxmlformats.org/drawingml/2006/main">
              <a:srgbClr val="B84A3A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2008 financial crisis</c:v>
                </c:pt>
                <c:pt idx="1">
                  <c:v>COVID crash 2020</c:v>
                </c:pt>
                <c:pt idx="2">
                  <c:v>Inflation shock 2022</c:v>
                </c:pt>
                <c:pt idx="3">
                  <c:v>Tech selloff 2021-22</c:v>
                </c:pt>
                <c:pt idx="4">
                  <c:v>Market -20%</c:v>
                </c:pt>
                <c:pt idx="5">
                  <c:v>Tariff shock April 2025</c:v>
                </c:pt>
                <c:pt idx="6">
                  <c:v>Market -10%</c:v>
                </c:pt>
                <c:pt idx="7">
                  <c:v>Volatility x2</c:v>
                </c:pt>
              </c:strCache>
            </c:strRef>
          </c:cat>
          <c:val>
            <c:numRef>
              <c:f>'Chart Data'!$B$2:$B$9</c:f>
              <c:numCache>
                <c:formatCode>0.0\%</c:formatCode>
                <c:ptCount val="8"/>
                <c:pt idx="0">
                  <c:v>44.0907</c:v>
                </c:pt>
                <c:pt idx="1">
                  <c:v>34.5996</c:v>
                </c:pt>
                <c:pt idx="2">
                  <c:v>25.2122</c:v>
                </c:pt>
                <c:pt idx="3">
                  <c:v>23.2912</c:v>
                </c:pt>
                <c:pt idx="4">
                  <c:v>22.357</c:v>
                </c:pt>
                <c:pt idx="5">
                  <c:v>11.7365</c:v>
                </c:pt>
                <c:pt idx="6">
                  <c:v>11.1785</c:v>
                </c:pt>
                <c:pt idx="7">
                  <c:v>5.8481</c:v>
                </c:pt>
              </c:numCache>
            </c:numRef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1D6"/>
              </a:solidFill>
              <a:prstDash val="solid"/>
            </a:ln>
          </c:spPr>
        </c:majorGridlines>
        <c:numFmt formatCode="0.0\%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Portfolio weight</c:v>
          </c:tx>
          <c:spPr>
            <a:solidFill xmlns:a="http://schemas.openxmlformats.org/drawingml/2006/main">
              <a:srgbClr val="174C4F"/>
            </a:solidFill>
          </c:spPr>
          <c:invertIfNegative val="0"/>
          <c:cat>
            <c:strRef>
              <c:f>'Chart Data'!$A$2:$A$11</c:f>
              <c:strCache>
                <c:ptCount val="10"/>
                <c:pt idx="0">
                  <c:v>TSLA</c:v>
                </c:pt>
                <c:pt idx="1">
                  <c:v>AMZN</c:v>
                </c:pt>
                <c:pt idx="2">
                  <c:v>META</c:v>
                </c:pt>
                <c:pt idx="3">
                  <c:v>GOOGL</c:v>
                </c:pt>
                <c:pt idx="4">
                  <c:v>AAPL</c:v>
                </c:pt>
                <c:pt idx="5">
                  <c:v>NVDA</c:v>
                </c:pt>
                <c:pt idx="6">
                  <c:v>MSFT</c:v>
                </c:pt>
                <c:pt idx="7">
                  <c:v>JPM</c:v>
                </c:pt>
                <c:pt idx="8">
                  <c:v>XOM</c:v>
                </c:pt>
                <c:pt idx="9">
                  <c:v>UNH</c:v>
                </c:pt>
              </c:strCache>
            </c:strRef>
          </c:cat>
          <c:val>
            <c:numRef>
              <c:f>'Chart Data'!$B$2:$B$11</c:f>
              <c:numCache>
                <c:formatCode>0.0\%</c:formatCode>
                <c:ptCount val="10"/>
                <c:pt idx="0">
                  <c:v>9.8044</c:v>
                </c:pt>
                <c:pt idx="1">
                  <c:v>9.8404</c:v>
                </c:pt>
                <c:pt idx="2">
                  <c:v>9.5926</c:v>
                </c:pt>
                <c:pt idx="3">
                  <c:v>9.7074</c:v>
                </c:pt>
                <c:pt idx="4">
                  <c:v>10.1143</c:v>
                </c:pt>
                <c:pt idx="5">
                  <c:v>9.195</c:v>
                </c:pt>
                <c:pt idx="6">
                  <c:v>10.1157</c:v>
                </c:pt>
                <c:pt idx="7">
                  <c:v>10.1207</c:v>
                </c:pt>
                <c:pt idx="8">
                  <c:v>10.7849</c:v>
                </c:pt>
                <c:pt idx="9">
                  <c:v>10.7246</c:v>
                </c:pt>
              </c:numCache>
            </c:numRef>
          </c:val>
        </c:ser>
        <c:ser>
          <c:idx val="1"/>
          <c:order val="1"/>
          <c:tx>
            <c:v>ES contribution</c:v>
          </c:tx>
          <c:spPr>
            <a:solidFill xmlns:a="http://schemas.openxmlformats.org/drawingml/2006/main">
              <a:srgbClr val="C9973A"/>
            </a:solidFill>
          </c:spPr>
          <c:invertIfNegative val="0"/>
          <c:cat>
            <c:strRef>
              <c:f>'Chart Data'!$C$2:$C$11</c:f>
              <c:strCache>
                <c:ptCount val="10"/>
                <c:pt idx="0">
                  <c:v>TSLA</c:v>
                </c:pt>
                <c:pt idx="1">
                  <c:v>AMZN</c:v>
                </c:pt>
                <c:pt idx="2">
                  <c:v>META</c:v>
                </c:pt>
                <c:pt idx="3">
                  <c:v>GOOGL</c:v>
                </c:pt>
                <c:pt idx="4">
                  <c:v>AAPL</c:v>
                </c:pt>
                <c:pt idx="5">
                  <c:v>NVDA</c:v>
                </c:pt>
                <c:pt idx="6">
                  <c:v>MSFT</c:v>
                </c:pt>
                <c:pt idx="7">
                  <c:v>JPM</c:v>
                </c:pt>
                <c:pt idx="8">
                  <c:v>XOM</c:v>
                </c:pt>
                <c:pt idx="9">
                  <c:v>UNH</c:v>
                </c:pt>
              </c:strCache>
            </c:strRef>
          </c:cat>
          <c:val>
            <c:numRef>
              <c:f>'Chart Data'!$D$2:$D$11</c:f>
              <c:numCache>
                <c:formatCode>0.0\%</c:formatCode>
                <c:ptCount val="10"/>
                <c:pt idx="0">
                  <c:v>19.9216</c:v>
                </c:pt>
                <c:pt idx="1">
                  <c:v>17.3985</c:v>
                </c:pt>
                <c:pt idx="2">
                  <c:v>11.6202</c:v>
                </c:pt>
                <c:pt idx="3">
                  <c:v>9.9012</c:v>
                </c:pt>
                <c:pt idx="4">
                  <c:v>9.5901</c:v>
                </c:pt>
                <c:pt idx="5">
                  <c:v>8.593</c:v>
                </c:pt>
                <c:pt idx="6">
                  <c:v>7.3327</c:v>
                </c:pt>
                <c:pt idx="7">
                  <c:v>7.0678</c:v>
                </c:pt>
                <c:pt idx="8">
                  <c:v>4.816</c:v>
                </c:pt>
                <c:pt idx="9">
                  <c:v>3.7589</c:v>
                </c:pt>
              </c:numCache>
            </c:numRef>
          </c:val>
        </c:ser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6"/>
              </a:solidFill>
              <a:prstDash val="solid"/>
            </a:ln>
          </c:spPr>
        </c:majorGridlines>
        <c:numFmt formatCode="0.0\%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86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VaR before ($000s)</c:v>
          </c:tx>
          <c:spPr>
            <a:solidFill xmlns:a="http://schemas.openxmlformats.org/drawingml/2006/main">
              <a:srgbClr val="B84A3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SPY</c:v>
                </c:pt>
                <c:pt idx="1">
                  <c:v>TSLA</c:v>
                </c:pt>
                <c:pt idx="2">
                  <c:v>AMZN</c:v>
                </c:pt>
              </c:strCache>
            </c:strRef>
          </c:cat>
          <c:val>
            <c:numRef>
              <c:f>'Chart Data'!$B$2:$B$4</c:f>
              <c:numCache>
                <c:formatCode>$0</c:formatCode>
                <c:ptCount val="3"/>
                <c:pt idx="0">
                  <c:v>307.2432</c:v>
                </c:pt>
                <c:pt idx="1">
                  <c:v>307.2432</c:v>
                </c:pt>
                <c:pt idx="2">
                  <c:v>307.2432</c:v>
                </c:pt>
              </c:numCache>
            </c:numRef>
          </c:val>
        </c:ser>
        <c:ser>
          <c:idx val="1"/>
          <c:order val="1"/>
          <c:tx>
            <c:v>VaR after ($000s)</c:v>
          </c:tx>
          <c:spPr>
            <a:solidFill xmlns:a="http://schemas.openxmlformats.org/drawingml/2006/main">
              <a:srgbClr val="174C4F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SPY</c:v>
                </c:pt>
                <c:pt idx="1">
                  <c:v>TSLA</c:v>
                </c:pt>
                <c:pt idx="2">
                  <c:v>AMZN</c:v>
                </c:pt>
              </c:strCache>
            </c:strRef>
          </c:cat>
          <c:val>
            <c:numRef>
              <c:f>'Chart Data'!$D$2:$D$4</c:f>
              <c:numCache>
                <c:formatCode>$0</c:formatCode>
                <c:ptCount val="3"/>
                <c:pt idx="0">
                  <c:v>125.2136</c:v>
                </c:pt>
                <c:pt idx="1">
                  <c:v>168.2877</c:v>
                </c:pt>
                <c:pt idx="2">
                  <c:v>174.0213</c:v>
                </c:pt>
              </c:numCache>
            </c:numRef>
          </c:val>
        </c:ser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6"/>
              </a:solidFill>
              <a:prstDash val="solid"/>
            </a:ln>
          </c:spPr>
        </c:majorGridlines>
        <c:numFmt formatCode="$0"/>
        <c:majorTickMark val="none"/>
        <c:minorTickMark val="none"/>
        <c:spPr>
          <a:ln xmlns:a="http://schemas.openxmlformats.org/drawingml/2006/main" w="9525">
            <a:solidFill>
              <a:srgbClr val="D7D0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86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4C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10E9F-E982-43E9-8D34-EA4B77CF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1427F-46F3-4103-9176-7C6C09B0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8191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Advanced Equity</a:t>
            </a:r>
          </a:p>
          <a:p xmlns:a="http://schemas.openxmlformats.org/drawingml/2006/main">
            <a:pPr>
              <a:defRPr sz="36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Portfolio Risk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0DC64-DE70-4F31-8E70-0A18449D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F1E2B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1E2BE"/>
                </a:solidFill>
                <a:latin typeface="Arial"/>
                <a:ea typeface="Arial"/>
                <a:cs typeface="Arial"/>
              </a:rPr>
              <a:t>VaR, Expected Shortfall, backtesting, stress testing and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7966D-3AFC-41D9-9A3A-10A57FAE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C17B3-D53D-4239-BFD0-65804BA9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EFB"/>
                </a:solidFill>
                <a:latin typeface="Arial"/>
                <a:ea typeface="Arial"/>
                <a:cs typeface="Arial"/>
              </a:rPr>
              <a:t>Marwan Itani  ·  QFI  · 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B9877-72C4-4569-B173-957B2F87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DDE9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DE9E4"/>
                </a:solidFill>
                <a:latin typeface="Arial"/>
                <a:ea typeface="Arial"/>
                <a:cs typeface="Arial"/>
              </a:rPr>
              <a:t>A reproducible risk system for a $10 million, 10-stock U.S. equity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91344-B4B9-44A5-8C67-30FA77A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E2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8502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398EE7-A7C5-4231-AD67-5AE5E3D5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Portfolio and research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5CE35-A85C-4335-AC25-C5928B41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1733E-C1E8-4932-ADAE-37CA9211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One portfolio, four risk models, three validation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9232E-28C0-4C6F-A9C8-5714E96C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$10m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D2715-1743-465D-B5E9-9A130768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Current portfolio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8A314-108B-4B0D-B19A-25595A28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049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8486B-6B8A-43A0-A724-D9AA63FE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288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Large U.S. equities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6A254-AD43-4EC8-91E2-5AD860D3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3,614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F428F-84EC-43DA-BE0A-6EEC8C18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288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Daily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9B4CB-7A02-40EE-9238-13A3153D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2012–26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F2760-60EE-4CF2-A607-5610A7F9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288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Sample period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1389D-0704-4E4A-AFFA-43FC8FFC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985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BC618-8B55-49B8-9BB2-BFFC65B1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3F6F6-F057-45A4-A649-41904750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91311-38FD-4E16-9C99-7E6D1CD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124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CAE8D-2734-4326-919C-DAD7468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76625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865"/>
                </a:solidFill>
                <a:latin typeface="Arial"/>
                <a:ea typeface="Arial"/>
                <a:cs typeface="Arial"/>
              </a:rPr>
              <a:t>Adjusted closes, benchmark and risk-free series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074A3-3967-4E2C-88DF-9471356C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43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6F7D5-28E0-4413-99E8-5010E8FA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099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5274E-90D0-4311-B351-C17502CF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F4D3E-3577-4359-9635-6CC94A0C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865"/>
                </a:solidFill>
                <a:latin typeface="Arial"/>
                <a:ea typeface="Arial"/>
                <a:cs typeface="Arial"/>
              </a:rPr>
              <a:t>Align calendars, audit gaps and flag extremes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108FD-584C-423D-9F8B-2C674BBC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BDC0C-6AE4-4D76-A90E-48A82B9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99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F7D2A-C84E-4728-A558-75B18664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24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B3EBB-B353-4158-8E94-5C8A6FE7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76625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865"/>
                </a:solidFill>
                <a:latin typeface="Arial"/>
                <a:ea typeface="Arial"/>
                <a:cs typeface="Arial"/>
              </a:rPr>
              <a:t>HS, EWMA-HS, GARCH-HS and GJR-HS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50F60-5E63-4CAE-B7F0-79DA1DF6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D1C110-C6CE-421D-8E0F-EE6D2BCA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099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00F05-831A-44AD-A977-E502BEF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7A552-7A5C-4726-9E54-1341CEB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865"/>
                </a:solidFill>
                <a:latin typeface="Arial"/>
                <a:ea typeface="Arial"/>
                <a:cs typeface="Arial"/>
              </a:rPr>
              <a:t>Backtests, stress tests and attribution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9230E3-0A76-42A5-8EDE-5605E483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990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D04EF-D8CA-4208-A2DF-ED4C7A4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8728C-B610-412A-94BA-350023B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950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A799F4-925A-46D5-8692-4ADC9FF3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950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Every risk estimate is paired with a validation or stress lens; no single model is treated as truth.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A7D4A6-D762-4A24-8A6E-8384FDB8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95CA43-843A-4443-9342-E0BE8AB1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A1A03F-B7C6-4111-A515-48A82DEB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2209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59EE0-04F9-4796-BC22-31EC119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Data quality and return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4198A-E86E-44BC-BB75-48B22CD5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46943-99A3-47E0-BA8A-AC186E6C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The portfolio is investable, but the return distribution is not Gaussian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0C544BB-BDB9-4708-A6F7-FB03D11A3158}"/>
              </a:ext>
            </a:extLst>
          </p:cNvPr>
          <p:cNvGraphicFramePr/>
          <p:nvPr/>
        </p:nvGraphicFramePr>
        <p:xfrm>
          <a:off xmlns:a="http://schemas.openxmlformats.org/drawingml/2006/main" x="590550" y="13716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a64a633242492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8D270-049A-43D1-B915-55C55B86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865"/>
                </a:solidFill>
                <a:latin typeface="Arial"/>
                <a:ea typeface="Arial"/>
                <a:cs typeface="Arial"/>
              </a:rPr>
              <a:t>Annualized volatility (%)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30225-AB1E-4E45-8DA3-7A6A2854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859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98B58-DC66-4A96-8435-46720BC3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97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Data checks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C8926-E1AC-4345-9B3B-976DC2A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B73A9-232D-44BD-B48E-F7F18996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337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Missing or stale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CB195-183C-4A4C-BE93-E09D946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−0.53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A4686-9D16-468A-9CB1-E6FB4B76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57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Portfolio skewness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E9C77-E99D-41FD-914D-3158E599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12.0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4F069-35A2-40F1-80FE-3786DDC1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81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Excess kurtosis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9A05C-6E8A-4CCF-8AC5-0E3C4FBE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90440-4681-4E99-9B41-11E32654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27440-869D-4626-A096-45BE72A2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1387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E4C72-F642-4847-AA2D-E689C929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Volatility is clustered and asymmetric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9A3BE-85A0-4946-8426-0C3B7D21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5942B-8577-409B-B533-232971AA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Large negative moves are followed by elevated risk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14CC9A7-1A34-41CE-B1E8-380A2573CDAE}"/>
              </a:ext>
            </a:extLst>
          </p:cNvPr>
          <p:cNvGraphicFramePr/>
          <p:nvPr/>
        </p:nvGraphicFramePr>
        <p:xfrm>
          <a:off xmlns:a="http://schemas.openxmlformats.org/drawingml/2006/main" x="590550" y="1381125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6f0031454a475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7197B-2E33-4886-8B12-1302A666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865"/>
                </a:solidFill>
                <a:latin typeface="Arial"/>
                <a:ea typeface="Arial"/>
                <a:cs typeface="Arial"/>
              </a:rPr>
              <a:t>Average absolute move, next 5 days (%)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72E80-7DEE-4449-B71B-47C73E37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327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DC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F41A8-E3D3-4593-9EFB-B101D74B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5DB2E-52A8-414D-929D-C80254C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GJR asymmetry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8A137-70BA-4AC5-A594-55BA141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γ = 0.155. Negative shocks add materially more conditional variance than positive shocks.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F9F08-57C4-4551-90CC-690D58D0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27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C684D-8325-4C1E-9507-0FE9F00B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3D24E-F103-4AB5-83AF-8EEC4E24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Persistent, not permanent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957EF-8F4A-49AA-9BBA-7DA2D262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Persistence = 0.967; shock half-life ≈ 20.7 trading days.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42B66-2302-4289-9403-9F52417F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327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1E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CF6B5-FD1D-4C6A-A7BE-8E30038D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A7DFC-433F-4DC4-8362-41600C67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A1E"/>
                </a:solidFill>
                <a:latin typeface="Arial"/>
                <a:ea typeface="Arial"/>
                <a:cs typeface="Arial"/>
              </a:rPr>
              <a:t>Model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F9845-4939-4FCD-8D69-9277EF7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577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GJR AIC 11,474 versus GARCH 11,570; lower is better.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E2FE9-E668-4B70-BCA9-3D1D69F0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C8D35-2387-44B2-9D8B-CF072594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2C327-2FF6-490C-8A73-3C271ABF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9055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D87B7D-366B-4455-9845-ECF7EE80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Four risk models answer different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0D040-7CE3-4A8F-86C4-A2C3C637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DFEF8-41C9-4697-B56C-63C4D1ED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All use historical residuals; only the volatility clock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8D4EF-832B-4029-8166-632527A9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257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5E68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2B015-AAD4-4BFC-98E7-E5461716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30FD1-CFF0-4A3F-B1D8-92A4D7A9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4573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What did losses look like in the last 500 days?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7BCF4-F6FC-4304-A61F-F973336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383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No volatility scaling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4C543-3F5E-4456-9A9F-8B84F13A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574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16931-D1DC-4C63-AD7F-0DBB129F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257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477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47845-EAEB-4459-8545-E372FEDB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EWMA-HS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D33AC-3519-4529-9943-7C8C705E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622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What if recent shocks matter more?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2FB96-18BA-4820-AD43-F6720B60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432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λ = 0.94 recursive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95CEC-EA95-4187-A9A6-2776A70B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623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F7FFA-653B-44D3-BF4D-4C50DC62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257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E6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F28A9-56B0-4488-82DA-4B33F870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GARCH-HS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2F850-ADFE-4C27-BA0C-B980135B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671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What if volatility mean-reverts?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9C590-F34A-4984-9084-EF95082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481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Symmetric conditional variance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51940-701E-442A-AC2B-FC201D08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72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24A74-2B3C-4433-86BF-C003BEAC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257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8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1D338-3456-4558-AD7F-5373BC03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GJR-HS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CFBFA-39F5-4FB5-8E2F-C52708DC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720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What if bad news raises risk more?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0B6D9-3626-4C15-A95E-C17CE393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530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Asymmetric conditional variance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EE7E7-5F80-4D4E-BEC1-8FD2CF67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721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55BBA5-B449-48DB-8CA8-F8B39CF9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3352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1E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478F5-4ACD-4EDC-BE99-374BFF74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4EEE32-55A7-40A7-A9EA-7B8AF498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85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A1E"/>
                </a:solidFill>
                <a:latin typeface="Arial"/>
                <a:ea typeface="Arial"/>
                <a:cs typeface="Arial"/>
              </a:rPr>
              <a:t>Shared loss definition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8D022-1CA3-4206-9558-59467117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VaR is the loss threshold; Expected Shortfall is the average loss beyond that threshold. Both are reported in percent and dollars.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002D14-6CBD-4EA8-BC2B-B940377A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3352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B89EA3-9075-49C0-92EF-7C28CC69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B0253-D800-4827-ABF0-DCA0543C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Scaling rule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A8A187-AF08-430D-8249-AD6363D6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Filtered models standardize returns by conditional volatility, take a historical tail quantile, then rescale by today’s volatility.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6AB6C5-5D51-4324-9505-EB62B4E8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0C38C9-FF69-4340-A849-B197A3D4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307E9D-E835-49DB-843D-5405A2CF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3584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CB900-B162-4895-87E8-97833A58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Current one-day VaR and Expected Shortfall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194F6-8B40-4CD6-8D71-DC3EA268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2FEAB-7E1C-473F-BFB1-527F704E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At 99% confidence, model choice changes both the threshold and the tail mean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43430F7-CF98-4C85-834D-44008EEEEF39}"/>
              </a:ext>
            </a:extLst>
          </p:cNvPr>
          <p:cNvGraphicFramePr/>
          <p:nvPr/>
        </p:nvGraphicFramePr>
        <p:xfrm>
          <a:off xmlns:a="http://schemas.openxmlformats.org/drawingml/2006/main" x="552450" y="1381125"/>
          <a:ext xmlns:a="http://schemas.openxmlformats.org/drawingml/2006/main" cx="7715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cdc8f96e5e4c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C5DB2-CF37-4ABE-AA53-C6C6A0CC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$297k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DB8CA-ABB6-4B39-9074-06626A86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GJR-HS 99% VaR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75655-26BD-4273-8A09-E36BC32B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$338k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3C277-8BD2-44E5-A6C4-27D721CE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GJR-HS 99% 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BBD0A-AC43-4208-8B63-969BEB2B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2800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DC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8CFF6-5967-473E-9BC0-05EF84E4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79A63-F874-4A94-A261-3C953F97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86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EBC0D-A4EA-443D-A249-C01E0C16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101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On roughly 1 day in 100, losses may exceed the VaR threshold. ES estimates the average loss on those worse days.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5F325-26FD-4B23-8245-E12DB7A6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B7EEB-9BAB-49F0-8AD4-EC20DB8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D02CE-FEF2-4144-BDC3-99CF4DAB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30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CA0E8-7A1B-4C1A-8D38-BDF2C3D4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Confidence and window choice materially change VaR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7EF92-2F71-47D9-A5EC-9396B8C5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0645D-5886-4B7F-AEEE-3DAE8C59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GJR-HS sensitivity, as a percent of portfolio value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00A91-6C1D-43AE-9201-FF70577FBEF0}"/>
              </a:ext>
            </a:extLst>
          </p:cNvPr>
          <p:cNvGraphicFramePr/>
          <p:nvPr/>
        </p:nvGraphicFramePr>
        <p:xfrm>
          <a:off xmlns:a="http://schemas.openxmlformats.org/drawingml/2006/main" x="876300" y="1676400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57132"/>
                <a:gridCol w="1725706"/>
                <a:gridCol w="1725706"/>
                <a:gridCol w="1725706"/>
              </a:tblGrid>
              <a:tr h="738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Confidence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7D0C1"/>
                      </a:solidFill>
                      <a:prstDash val="solid"/>
                    </a:lnL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250 days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500 days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750 days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95.0%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7D0C1"/>
                      </a:solidFill>
                      <a:prstDash val="solid"/>
                    </a:lnL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1.34%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1.46%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1.38%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99.0%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7D0C1"/>
                      </a:solidFill>
                      <a:prstDash val="solid"/>
                    </a:lnL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2.30%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F4E12"/>
                          </a:solidFill>
                          <a:latin typeface="Arial"/>
                          <a:ea typeface="Arial"/>
                          <a:cs typeface="Arial"/>
                        </a:rPr>
                        <a:t>2.97%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1E2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2.74%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99.5%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7D0C1"/>
                      </a:solidFill>
                      <a:prstDash val="solid"/>
                    </a:lnL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2.74%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3.34%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3.23%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12301-B932-47DF-83E7-2BC3FA00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2.97%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3B93F-7EA5-4A16-836D-A659BB96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33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Base choice: 99%, 500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5D28F-F5F3-4C81-A54E-1270B63E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1.34–3.34%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0460B-FF97-4589-B50C-8BC16D21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909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Range across the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C75FE-AC10-42C5-A5A6-C9088237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2781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1BA1C-7A19-4C48-A984-4549F471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FCDA4-F9D2-4FE4-9006-DE090151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48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Governance implication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67D0F-E13F-4EF8-924F-BAE98EFF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72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A limit should name the model, confidence level and estimation window—not just “VaR.”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64CB9-CC1F-43FC-968C-4DEF3CDD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1CE3C-C3C0-4CE7-9ABA-206FF7C7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E0A24-BD65-49B9-B5EB-6E37D8AA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3245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D8EE9-811F-45AE-A3A0-9DBCA79A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Backtesting asks three separate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5899-703E-4BD4-AA96-797FC200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2ED28-8B37-43E6-BAB3-2A24B6C0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3,114 one-day-ahead forecasts; every forecast uses only information available at the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84E38-C8F9-451D-A7EA-7FD59CD5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54C60-9C7F-46B2-AF06-1260ACCE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614D8-99EF-4082-B231-421CB2F1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Exception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AF4B0-A42E-4128-897D-6F13E97D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Kupiec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69F3C-1D74-420C-85FA-BA5059B9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865"/>
                </a:solidFill>
                <a:latin typeface="Arial"/>
                <a:ea typeface="Arial"/>
                <a:cs typeface="Arial"/>
              </a:rPr>
              <a:t>Is the number of breaches consistent with 1%?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0F8CE-50B0-48D7-AA7A-A3B6409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EC829-A8B4-4E43-9F64-0FE4777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192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C1CDC-302D-4315-9AA8-980D706B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Independence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1421C-D3B7-4B9A-92A2-7E36666F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1942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Christoffersen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653AE-4450-42C4-A45B-1A42EC9F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865"/>
                </a:solidFill>
                <a:latin typeface="Arial"/>
                <a:ea typeface="Arial"/>
                <a:cs typeface="Arial"/>
              </a:rPr>
              <a:t>Do breaches arrive randomly rather than in clusters?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BEC2F-5F63-4F55-8800-6C9CAE30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398FB-DE15-42E7-AD64-4A9520A5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192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2344E-37FD-467B-9D6D-0CB4660E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Joint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B3BFF-3403-44D6-A878-2175D049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1942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A5A1E"/>
                </a:solidFill>
                <a:latin typeface="Arial"/>
                <a:ea typeface="Arial"/>
                <a:cs typeface="Arial"/>
              </a:rPr>
              <a:t>Conditional 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82AD5-4A5E-45D1-AA40-54BE0B87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865"/>
                </a:solidFill>
                <a:latin typeface="Arial"/>
                <a:ea typeface="Arial"/>
                <a:cs typeface="Arial"/>
              </a:rPr>
              <a:t>Are both frequency and independence acceptable?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DF220-7CFE-41FF-B91D-AB1A3A68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43ECB-635C-4B4C-8D21-6B4F08D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31.1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CD56D-8182-42F8-91E2-DE7296A1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06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Expected exceptions at 99%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CAA5E-7F8A-4A95-A618-499AE269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E5013-4F3D-45DA-8D7C-4B579B32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00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Decision threshold for p-values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9429E8-9E5C-4235-81B2-44CFAC65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768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Next day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65141-82EF-42CA-A7A0-6BE349AD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006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Forecast horizon prevents look-ahead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AD8DF-7284-4C0F-907E-45A2B8DF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672D1-6296-4A72-A65E-08B989D4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EE944-AA1F-4467-BC47-FD3DEE52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9129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9F8B9-DE06-4F71-B4F5-689E9100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Exception counts look acceptable; clustering is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7C970-CBFB-4A02-A033-F350D123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08623-274C-4C5D-AC09-917EFA4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99% one-day backtest across 3,114 forecasts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163A30F-695D-4D7C-B7D5-B22F7709430B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bca26670b74bb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E9A2C-24F1-49CC-B8D8-6DE432CD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19250"/>
            <a:ext cx="2781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E6E2D-A932-4BA7-9A92-59F762D8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19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1F97C-F701-438F-9467-E445214E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90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All four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5F208-EA43-4D04-AECD-322350BA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Pass unconditional coverage: exception counts are close to the expected 31.1.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1FB24-DE41-49AC-BA3F-C1B0F94F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781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1E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C13ED-B09D-4016-A128-B979C7CF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BFFF4-FDEE-4002-8FF5-D8B4C4E3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A5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A1E"/>
                </a:solidFill>
                <a:latin typeface="Arial"/>
                <a:ea typeface="Arial"/>
                <a:cs typeface="Arial"/>
              </a:rPr>
              <a:t>Only GJR-HS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12960-4FF2-4686-81EB-EE6001EF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814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Passes all three 99% tests; independence p = 0.056.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539F3-D7D8-4212-B111-72E140B2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2781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DC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3920C-D5AF-47AB-9ED6-3A892DB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E1E70-3B92-4A14-85A6-21767608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24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Plain 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AB234-EA4E-4647-B044-E2262292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48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Fails independence most strongly; p = 0.0006.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4D066-1112-4E35-9DE9-60A2A4DB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A8606-1FAA-45B3-8026-552513D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FBB7A-1203-4090-8693-8905D11E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9818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34018-4D73-467F-B71E-AFF0A0C4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GJR-HS ranks first in the 99% backtest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AD9BF-FA33-43FF-8112-C713E0F2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B9A1B-3895-45F1-9C0C-01C18B32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Coverage, independence and joint test p-values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48F54-F132-47A6-97E7-4C4E5F89CAE7}"/>
              </a:ext>
            </a:extLst>
          </p:cNvPr>
          <p:cNvGraphicFramePr/>
          <p:nvPr/>
        </p:nvGraphicFramePr>
        <p:xfrm>
          <a:off xmlns:a="http://schemas.openxmlformats.org/drawingml/2006/main" x="628650" y="156210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22450"/>
                <a:gridCol w="2114042"/>
                <a:gridCol w="1457960"/>
                <a:gridCol w="1822450"/>
                <a:gridCol w="1457960"/>
                <a:gridCol w="1312164"/>
                <a:gridCol w="947674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7D0C1"/>
                      </a:solidFill>
                      <a:prstDash val="solid"/>
                    </a:lnL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Actual / expected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Kupiec p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Independence p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Joint p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Pass all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T w="9525">
                      <a:solidFill>
                        <a:srgbClr val="D7D0C1"/>
                      </a:solidFill>
                      <a:prstDash val="solid"/>
                    </a:lnT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174C4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GJR-HS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7D0C1"/>
                      </a:solidFill>
                      <a:prstDash val="solid"/>
                    </a:lnL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1E2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34 / 31.1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1E2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0.612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1E2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0.056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1E2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0.143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1E2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1E2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1E2B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EWMA-HS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7D0C1"/>
                      </a:solidFill>
                      <a:prstDash val="solid"/>
                    </a:lnL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32 / 31.1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0.877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0.044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0.130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GARCH-HS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7D0C1"/>
                      </a:solidFill>
                      <a:prstDash val="solid"/>
                    </a:lnL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33 / 31.1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0.740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0.005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0.017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HS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7D0C1"/>
                      </a:solidFill>
                      <a:prstDash val="solid"/>
                    </a:lnL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36 / 31.1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0.393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0.002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B292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7D0C1"/>
                      </a:solidFill>
                      <a:prstDash val="solid"/>
                    </a:lnR>
                    <a:lnB w="9525">
                      <a:solidFill>
                        <a:srgbClr val="D7D0C1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7DC4C-429B-49A9-BE39-A5BFDCA7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ADFA2-4755-42F2-BBC0-7FFF51C9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17F35-FE85-4CC4-9CA3-C760E215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12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2EC6B-DB31-4189-B6F5-CF5B53EA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43550"/>
            <a:ext cx="912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Use GJR-HS as the primary monitoring model, keep EWMA-HS as a responsive challenger, and retain HS for transparent benchmarking.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F6DE9-4CF6-4710-B6A2-A81C4CF5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4105D-D8C9-4701-9BA7-2250A8BD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570FE-8567-4ED2-9C00-B5E5B95D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84732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A5000-5FBE-494C-BA00-F6E510A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Crisis losses overwhelm ordinary daily VaR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6FEA2-FCDA-4D18-A6DF-DE80E6D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8B617-3662-4C28-A7E3-2E6FBD75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Historical and hypothetical scenarios, ranked by portfolio loss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2DECE25-4B13-4D49-AF27-0304D80DC707}"/>
              </a:ext>
            </a:extLst>
          </p:cNvPr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81915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d4c4ac2ba64a0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19D2C-C827-4401-B0C0-03D7FAEE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865"/>
                </a:solidFill>
                <a:latin typeface="Arial"/>
                <a:ea typeface="Arial"/>
                <a:cs typeface="Arial"/>
              </a:rPr>
              <a:t>Portfolio loss (%)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602EA-27EB-4916-8F9B-BC4BC6B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192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44.1%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E935C-E4F1-4CB1-AAF7-BCDE2820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2008 crisis loss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51933-8317-4C62-8074-9ABEC613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34.6%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EBF8D-B12B-41DD-98DD-04AAD7A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COVID crash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C2BEE-2F1C-4321-84B7-43FD0D3A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9.6%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4D6C7-1A79-4175-A2F0-CA1D59FC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81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Basel-style stressed VaR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E0F04-972D-45D8-81F5-4857CDE0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578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Daily VaR is a control metric—not a crisis loss ceiling.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91FC0-4218-43A3-B964-AB903110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0B3C7-0332-4769-A111-E546B742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7D25B-366E-4DE3-A769-17028496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47060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F0092-FCFE-4EA2-B70D-C82DF4BB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Risk is more concentrated than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19EF0-005A-48E7-9840-24C030E7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45BDE-5A17-4BFA-B500-8698834F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Current weights versus Expected Shortfall contribution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EF12B48-0FDD-4272-B5A9-1A45FFC08B81}"/>
              </a:ext>
            </a:extLst>
          </p:cNvPr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8572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465f087dca488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4A3D7-69A8-4003-BC6C-D3A3FDFB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865"/>
                </a:solidFill>
                <a:latin typeface="Arial"/>
                <a:ea typeface="Arial"/>
                <a:cs typeface="Arial"/>
              </a:rPr>
              <a:t>Share of portfolio (%)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1CF63-DED8-41AC-B9F7-57E4420D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A4E96-844D-4AC0-BDDB-8A7A4E1C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193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TSLA share of 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DB6A1-6CC4-4A1A-8177-83E340D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8145C-C8C3-4C3B-B2D1-FD785129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76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AMZN share of 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13983-04ED-44EF-9263-0182CD3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38%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9D477-B2D2-4F27-B742-008F2C1D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339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Diversification benefit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88907-E3F1-467B-B633-0FA0C29E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F0064-4E64-4C92-A73B-105F68AD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A9B6A-9121-417A-A6D8-20EB6549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809214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E0206-E051-4381-BDAD-B7CCEE18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The analytics translate into concrete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EB8B6-235A-47DC-ABE9-DFAFD85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5C32F-5262-4253-B0DF-5972D522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Illustrative linear hedge estimates and an in-sample optimization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311EBDB-A588-4739-A06B-C30884708158}"/>
              </a:ext>
            </a:extLst>
          </p:cNvPr>
          <p:cNvGraphicFramePr/>
          <p:nvPr/>
        </p:nvGraphicFramePr>
        <p:xfrm>
          <a:off xmlns:a="http://schemas.openxmlformats.org/drawingml/2006/main" x="590550" y="14287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b0564fbc694fb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85176-E6FB-44A1-A53A-3F7103FE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−59%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ABC8C-433D-4CE7-9C58-B093BD4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62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VaR with beta-neutral SPY hedge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87A80-C956-44D6-ABD3-35CD8894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$330k → $229k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05942-E16A-43A1-88CF-AD9F05EE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528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ES in the optimized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E5C73-739D-4D6C-8851-D498479B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3238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DC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B24B1-696F-4C2A-83EA-DF4C5C98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DB64B-383C-41B6-B076-BA96B32E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482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4A3A"/>
                </a:solidFill>
                <a:latin typeface="Arial"/>
                <a:ea typeface="Arial"/>
                <a:cs typeface="Arial"/>
              </a:rPr>
              <a:t>Use with 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C8742-D028-4575-9C39-CC969FE4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Hedge ratios are linear estimates; optimization is in-sample and needs turnover, liquidity and forecast controls before trading.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F9336-DA84-41D0-A4B5-27CD2DD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D1088-C7A3-4B43-BF00-F330E22D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31B44-F37A-4581-8B02-0C1B0B87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05711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76AA5-2743-4CB8-8B35-A3B66A11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2928"/>
                </a:solidFill>
                <a:latin typeface="Arial"/>
                <a:ea typeface="Arial"/>
                <a:cs typeface="Arial"/>
              </a:rPr>
              <a:t>What the framework does not solve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51B6F-EC1B-4ACF-B7A0-22252834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26377-9858-492E-B239-D2EBE167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677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865"/>
                </a:solidFill>
                <a:latin typeface="Arial"/>
                <a:ea typeface="Arial"/>
                <a:cs typeface="Arial"/>
              </a:rPr>
              <a:t>Known limitations become explicit governance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E07EF-8C44-45E3-A4CE-1A0973C7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77725-8D70-4ABC-9AE7-6C83782D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B2928"/>
                </a:solidFill>
                <a:latin typeface="Arial"/>
                <a:ea typeface="Arial"/>
                <a:cs typeface="Arial"/>
              </a:rPr>
              <a:t>Survivorship and selection bias: today’s large stocks are evaluated historically.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20E59-4E11-458C-9568-4794694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921FA-FB96-4F0D-AD86-8F9F4B57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B2928"/>
                </a:solidFill>
                <a:latin typeface="Arial"/>
                <a:ea typeface="Arial"/>
                <a:cs typeface="Arial"/>
              </a:rPr>
              <a:t>Square-root-of-time scaling does not capture path dependence over ten days.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4EBF4-C5B2-4DB7-B5C2-5958010A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4658C-AA0C-4088-91FE-B3DEF572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B2928"/>
                </a:solidFill>
                <a:latin typeface="Arial"/>
                <a:ea typeface="Arial"/>
                <a:cs typeface="Arial"/>
              </a:rPr>
              <a:t>Backtest conclusions are sample-sensitive, especially at 99%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A28AD-89D8-4FEC-9064-FC35ABD5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9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075C6-BFBC-4141-A1B8-138E9C59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B2928"/>
                </a:solidFill>
                <a:latin typeface="Arial"/>
                <a:ea typeface="Arial"/>
                <a:cs typeface="Arial"/>
              </a:rPr>
              <a:t>Historical crises and hypothetical shocks remain scenario proxies, not forecasts.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D6CC6-AA0E-4CE0-8799-ECDD7B0A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289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392C5-1960-4B8D-A487-80CB78C2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B2928"/>
                </a:solidFill>
                <a:latin typeface="Arial"/>
                <a:ea typeface="Arial"/>
                <a:cs typeface="Arial"/>
              </a:rPr>
              <a:t>Market-cap rebalancing requires archived, point-in-time shares; current shares are never substituted.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7F32F-F8E1-4A95-A937-EB1DD317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6E570-FAA9-4A3F-8755-C2ECE62E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B2928"/>
                </a:solidFill>
                <a:latin typeface="Arial"/>
                <a:ea typeface="Arial"/>
                <a:cs typeface="Arial"/>
              </a:rPr>
              <a:t>Production use should reconcile prices, corporate actions and exceptions against an independent vendor.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5A603-848A-4AE4-A2FA-94750209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190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AEAB2-DEE0-46A2-AD50-DB6B7573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38750"/>
            <a:ext cx="8610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99D58-D012-4C5E-969B-208B1667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38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E4A08-E22E-4805-B7B1-D151DF2C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10200"/>
            <a:ext cx="821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Control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3FAA6-EEC3-4732-B715-ABDBEFFC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34050"/>
            <a:ext cx="821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B292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B2928"/>
                </a:solidFill>
                <a:latin typeface="Arial"/>
                <a:ea typeface="Arial"/>
                <a:cs typeface="Arial"/>
              </a:rPr>
              <a:t>Document configuration, retain challenger models, monitor breach clusters, and rerun stress tests whenever exposures change materially.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68F83-8476-49D5-9E57-CBCEA3E8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475C7-899B-4031-B8E5-0BD96619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5E686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E6865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34994-F3D3-4177-BA0C-A5E78CC4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4C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4C4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8440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B2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7DC02-8F29-4DEC-B785-CF2AD4A4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EFB"/>
                </a:solidFill>
                <a:latin typeface="Arial"/>
                <a:ea typeface="Arial"/>
                <a:cs typeface="Arial"/>
              </a:rPr>
              <a:t>Five 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6F741-CCFE-4E99-982D-BDC3BAA6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066A5-F32D-400D-88BB-8726BF48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75418-1B22-4253-B047-F8ECFE79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763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EFB"/>
                </a:solidFill>
                <a:latin typeface="Arial"/>
                <a:ea typeface="Arial"/>
                <a:cs typeface="Arial"/>
              </a:rPr>
              <a:t>Volatility filtering improves risk timing.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74DA0-EAFF-4ED3-97C7-2114B3F7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193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882DB-436A-4F1B-B634-7A42F92B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B770A-2E38-473A-8942-322A9B1B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145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E2BE"/>
                </a:solidFill>
                <a:latin typeface="Arial"/>
                <a:ea typeface="Arial"/>
                <a:cs typeface="Arial"/>
              </a:rPr>
              <a:t>GJR-HS best balances coverage and breach independence.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DA5D8-1CA6-4D71-974E-8E7226B3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29697-97E4-498B-B791-F2EE7178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62B2B-1886-4A54-9692-683ABD7F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527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EFB"/>
                </a:solidFill>
                <a:latin typeface="Arial"/>
                <a:ea typeface="Arial"/>
                <a:cs typeface="Arial"/>
              </a:rPr>
              <a:t>Expected Shortfall and stress tests reveal losses that VaR hides.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EB108-0906-49C8-92BD-BD3BCFE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A0007-036C-4ED0-BD8A-C7FA1703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A716B-8E23-4579-979A-D0B771BD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909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EFB"/>
                </a:solidFill>
                <a:latin typeface="Arial"/>
                <a:ea typeface="Arial"/>
                <a:cs typeface="Arial"/>
              </a:rPr>
              <a:t>Risk concentration is materially higher than capital concentration.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CDD5B-0B06-49F2-A359-074E61DF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3F7CF-9005-4404-896C-054C14CB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13EFB-3AF2-40F1-828C-36E4C9A4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291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EFB"/>
                </a:solidFill>
                <a:latin typeface="Arial"/>
                <a:ea typeface="Arial"/>
                <a:cs typeface="Arial"/>
              </a:rPr>
              <a:t>The dashboard connects measurement, validation and action in one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BF79E-C4AC-41DA-B6AC-661D8F32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721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8C17C-49DC-4A0C-97D7-3EDC509F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2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C997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973A"/>
                </a:solidFill>
                <a:latin typeface="Arial"/>
                <a:ea typeface="Arial"/>
                <a:cs typeface="Arial"/>
              </a:rPr>
              <a:t>Primary recommendation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F29BC-BF75-4D70-BD54-C7221EC7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000125"/>
            <a:ext cx="385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defPPr>
            <a:lvl1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lvl1pPr>
            <a:lvl2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lvl2pPr>
            <a:lvl3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lvl3pPr>
            <a:lvl4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lvl4pPr>
            <a:lvl5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lvl5pPr>
            <a:lvl6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lvl6pPr>
            <a:lvl7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lvl7pPr>
            <a:lvl8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lvl8pPr>
            <a:lvl9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DDE9E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DE9E4"/>
                </a:solidFill>
                <a:latin typeface="Arial"/>
                <a:ea typeface="Arial"/>
                <a:cs typeface="Arial"/>
              </a:rPr>
              <a:t>Monitor with GJR-HS; challenge with EWMA-HS; govern with stress and attribution.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0FD71-1A13-4B01-9F8B-2464D4A1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22C7F-9B4D-4672-AEBE-4FF3EC4F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defPPr>
            <a:lvl1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lvl1pPr>
            <a:lvl2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lvl2pPr>
            <a:lvl3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lvl3pPr>
            <a:lvl4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lvl4pPr>
            <a:lvl5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lvl5pPr>
            <a:lvl6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lvl6pPr>
            <a:lvl7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lvl7pPr>
            <a:lvl8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lvl8pPr>
            <a:lvl9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">
                <a:solidFill>
                  <a:srgbClr val="A9B7B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A9B7B2"/>
                </a:solidFill>
                <a:latin typeface="Arial"/>
                <a:ea typeface="Arial"/>
                <a:cs typeface="Arial"/>
              </a:rPr>
              <a:t>Source: QFI_V2_report.docx; Advanced Equity Portfolio Risk Management brief; report_assets/results.json, as of 16 October 2026.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F8F25-8280-4460-B74B-DD2A64F0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F1E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E2B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8894062"/>
      </p:ext>
    </p:extLst>
  </p:cSld>
</p:sld>
</file>

<file path=ppt/theme/theme1.xml><?xml version="1.0" encoding="utf-8"?>
<a:theme xmlns:a="http://schemas.openxmlformats.org/drawingml/2006/main" name="ChatGPT">
  <a:themeElements>
    <a:clrScheme name="QFI Editorial">
      <a:dk1>
        <a:srgbClr val="1B2928"/>
      </a:dk1>
      <a:lt1>
        <a:srgbClr val="FFFEFB"/>
      </a:lt1>
      <a:dk2>
        <a:srgbClr val="174C4F"/>
      </a:dk2>
      <a:lt2>
        <a:srgbClr val="F6F1E8"/>
      </a:lt2>
      <a:accent1>
        <a:srgbClr val="174C4F"/>
      </a:accent1>
      <a:accent2>
        <a:srgbClr val="C9973A"/>
      </a:accent2>
      <a:accent3>
        <a:srgbClr val="B84A3A"/>
      </a:accent3>
      <a:accent4>
        <a:srgbClr val="477F8F"/>
      </a:accent4>
      <a:accent5>
        <a:srgbClr val="2E6A68"/>
      </a:accent5>
      <a:accent6>
        <a:srgbClr val="8E7446"/>
      </a:accent6>
      <a:hlink>
        <a:srgbClr val="477F8F"/>
      </a:hlink>
      <a:folHlink>
        <a:srgbClr val="B84A3A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FI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2026-10-20T15:46:29.8290000Z</dcterms:created>
  <dcterms:modified xsi:type="dcterms:W3CDTF">2026-10-20T15:46:29.8290000Z</dcterms:modified>
</coreProperties>
</file>