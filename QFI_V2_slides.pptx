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5.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6.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7.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187ccf1983842db" /><Relationship Type="http://schemas.openxmlformats.org/officeDocument/2006/relationships/extended-properties" Target="/docProps/app.xml" Id="R31568adc2d534fec" /><Relationship Type="http://schemas.openxmlformats.org/officeDocument/2006/relationships/officeDocument" Target="/ppt/presentation.xml" Id="Ra5da62d214ef4be9" /></Relationships>
</file>

<file path=ppt/presentation.xml><?xml version="1.0" encoding="utf-8"?>
<p:presentation xmlns:p="http://schemas.openxmlformats.org/presentationml/2006/main">
  <p:sldMasterIdLst>
    <p:sldMasterId xmlns:r="http://schemas.openxmlformats.org/officeDocument/2006/relationships" id="2147483648" r:id="R7c56a8c0d41f40a7"/>
  </p:sldMasterIdLst>
  <p:notesMasterIdLst>
    <p:notesMasterId xmlns:r="http://schemas.openxmlformats.org/officeDocument/2006/relationships" r:id="R9ef6e13bf6fe4694"/>
  </p:notesMasterIdLst>
  <p:sldIdLst>
    <p:sldId xmlns:r="http://schemas.openxmlformats.org/officeDocument/2006/relationships" id="256" r:id="R62b94915e72c4e9a"/>
    <p:sldId xmlns:r="http://schemas.openxmlformats.org/officeDocument/2006/relationships" id="257" r:id="R3e1f507d58574cca"/>
    <p:sldId xmlns:r="http://schemas.openxmlformats.org/officeDocument/2006/relationships" id="258" r:id="R34568a782c7b4e39"/>
    <p:sldId xmlns:r="http://schemas.openxmlformats.org/officeDocument/2006/relationships" id="259" r:id="Re41ed49d13794e13"/>
    <p:sldId xmlns:r="http://schemas.openxmlformats.org/officeDocument/2006/relationships" id="260" r:id="R7fd10e528b884311"/>
    <p:sldId xmlns:r="http://schemas.openxmlformats.org/officeDocument/2006/relationships" id="261" r:id="Re6f6d3fcb12f46b4"/>
    <p:sldId xmlns:r="http://schemas.openxmlformats.org/officeDocument/2006/relationships" id="262" r:id="R5eff706a83ff4566"/>
    <p:sldId xmlns:r="http://schemas.openxmlformats.org/officeDocument/2006/relationships" id="263" r:id="Re0df8ec4b7394ed5"/>
    <p:sldId xmlns:r="http://schemas.openxmlformats.org/officeDocument/2006/relationships" id="264" r:id="R7d89f44787db49eb"/>
    <p:sldId xmlns:r="http://schemas.openxmlformats.org/officeDocument/2006/relationships" id="265" r:id="R577df6fdb406450b"/>
    <p:sldId xmlns:r="http://schemas.openxmlformats.org/officeDocument/2006/relationships" id="266" r:id="R8f44234ad9364388"/>
    <p:sldId xmlns:r="http://schemas.openxmlformats.org/officeDocument/2006/relationships" id="267" r:id="R17ae9cfad0bc478d"/>
    <p:sldId xmlns:r="http://schemas.openxmlformats.org/officeDocument/2006/relationships" id="268" r:id="R2af0c95587394266"/>
    <p:sldId xmlns:r="http://schemas.openxmlformats.org/officeDocument/2006/relationships" id="269" r:id="R1a98e6ab2f3b4f9c"/>
    <p:sldId xmlns:r="http://schemas.openxmlformats.org/officeDocument/2006/relationships" id="270" r:id="R148e6e6e4095414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455daa678184e65" /><Relationship Type="http://schemas.openxmlformats.org/officeDocument/2006/relationships/slideMaster" Target="/ppt/slideMasters/slideMaster1.xml" Id="R7c56a8c0d41f40a7" /><Relationship Type="http://schemas.openxmlformats.org/officeDocument/2006/relationships/notesMaster" Target="/ppt/notesMasters/notesMaster1.xml" Id="R9ef6e13bf6fe4694" /><Relationship Type="http://schemas.openxmlformats.org/officeDocument/2006/relationships/presProps" Target="/ppt/presProps.xml" Id="R7493beb2716b4185" /><Relationship Type="http://schemas.openxmlformats.org/officeDocument/2006/relationships/tableStyles" Target="/ppt/tableStyles.xml" Id="R11042a4076054fd2" /><Relationship Type="http://schemas.openxmlformats.org/officeDocument/2006/relationships/slide" Target="/ppt/slides/slide1.xml" Id="R62b94915e72c4e9a" /><Relationship Type="http://schemas.openxmlformats.org/officeDocument/2006/relationships/slide" Target="/ppt/slides/slide2.xml" Id="R3e1f507d58574cca" /><Relationship Type="http://schemas.openxmlformats.org/officeDocument/2006/relationships/slide" Target="/ppt/slides/slide3.xml" Id="R34568a782c7b4e39" /><Relationship Type="http://schemas.openxmlformats.org/officeDocument/2006/relationships/slide" Target="/ppt/slides/slide4.xml" Id="Re41ed49d13794e13" /><Relationship Type="http://schemas.openxmlformats.org/officeDocument/2006/relationships/slide" Target="/ppt/slides/slide5.xml" Id="R7fd10e528b884311" /><Relationship Type="http://schemas.openxmlformats.org/officeDocument/2006/relationships/slide" Target="/ppt/slides/slide6.xml" Id="Re6f6d3fcb12f46b4" /><Relationship Type="http://schemas.openxmlformats.org/officeDocument/2006/relationships/slide" Target="/ppt/slides/slide7.xml" Id="R5eff706a83ff4566" /><Relationship Type="http://schemas.openxmlformats.org/officeDocument/2006/relationships/slide" Target="/ppt/slides/slide8.xml" Id="Re0df8ec4b7394ed5" /><Relationship Type="http://schemas.openxmlformats.org/officeDocument/2006/relationships/slide" Target="/ppt/slides/slide9.xml" Id="R7d89f44787db49eb" /><Relationship Type="http://schemas.openxmlformats.org/officeDocument/2006/relationships/slide" Target="/ppt/slides/slide10.xml" Id="R577df6fdb406450b" /><Relationship Type="http://schemas.openxmlformats.org/officeDocument/2006/relationships/slide" Target="/ppt/slides/slide11.xml" Id="R8f44234ad9364388" /><Relationship Type="http://schemas.openxmlformats.org/officeDocument/2006/relationships/slide" Target="/ppt/slides/slide12.xml" Id="R17ae9cfad0bc478d" /><Relationship Type="http://schemas.openxmlformats.org/officeDocument/2006/relationships/slide" Target="/ppt/slides/slide13.xml" Id="R2af0c95587394266" /><Relationship Type="http://schemas.openxmlformats.org/officeDocument/2006/relationships/slide" Target="/ppt/slides/slide14.xml" Id="R1a98e6ab2f3b4f9c" /><Relationship Type="http://schemas.openxmlformats.org/officeDocument/2006/relationships/slide" Target="/ppt/slides/slide15.xml" Id="R148e6e6e4095414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26208fd19d421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QFI Editorial">
      <a:dk1>
        <a:srgbClr val="1B2928"/>
      </a:dk1>
      <a:lt1>
        <a:srgbClr val="FFFEFB"/>
      </a:lt1>
      <a:dk2>
        <a:srgbClr val="174C4F"/>
      </a:dk2>
      <a:lt2>
        <a:srgbClr val="F6F1E8"/>
      </a:lt2>
      <a:accent1>
        <a:srgbClr val="174C4F"/>
      </a:accent1>
      <a:accent2>
        <a:srgbClr val="C9973A"/>
      </a:accent2>
      <a:accent3>
        <a:srgbClr val="B84A3A"/>
      </a:accent3>
      <a:accent4>
        <a:srgbClr val="477F8F"/>
      </a:accent4>
      <a:accent5>
        <a:srgbClr val="2E6A68"/>
      </a:accent5>
      <a:accent6>
        <a:srgbClr val="8E7446"/>
      </a:accent6>
      <a:hlink>
        <a:srgbClr val="477F8F"/>
      </a:hlink>
      <a:folHlink>
        <a:srgbClr val="B84A3A"/>
      </a:folHlink>
    </a:clrScheme>
    <a:fontScheme name="">
      <a:majorFont>
        <a:latin typeface="Arial"/>
        <a:ea typeface=""/>
        <a:cs typeface=""/>
      </a:majorFont>
      <a:minorFont>
        <a:latin typeface="Arial"/>
        <a:ea typeface=""/>
        <a:cs typeface=""/>
      </a:minorFont>
    </a:fontScheme>
    <a:fmtScheme name="QFI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8b7eb70b7c43c1" /><Relationship Type="http://schemas.openxmlformats.org/officeDocument/2006/relationships/notesMaster" Target="/ppt/notesMasters/notesMaster1.xml" Id="Ra8f7edbe6f894adc" /></Relationships>
</file>

<file path=ppt/notesSlides/_rels/notesSlide2.xml.rels>&#65279;<?xml version="1.0" encoding="utf-8"?><Relationships xmlns="http://schemas.openxmlformats.org/package/2006/relationships"><Relationship Type="http://schemas.openxmlformats.org/officeDocument/2006/relationships/slide" Target="/ppt/slides/slide2.xml" Id="Ra052d2fb63574a88" /><Relationship Type="http://schemas.openxmlformats.org/officeDocument/2006/relationships/notesMaster" Target="/ppt/notesMasters/notesMaster1.xml" Id="Reb0af380e0af4a01" /></Relationships>
</file>

<file path=ppt/notesSlides/_rels/notesSlide3.xml.rels>&#65279;<?xml version="1.0" encoding="utf-8"?><Relationships xmlns="http://schemas.openxmlformats.org/package/2006/relationships"><Relationship Type="http://schemas.openxmlformats.org/officeDocument/2006/relationships/slide" Target="/ppt/slides/slide3.xml" Id="Rcf576be8fe434926" /><Relationship Type="http://schemas.openxmlformats.org/officeDocument/2006/relationships/notesMaster" Target="/ppt/notesMasters/notesMaster1.xml" Id="R244fe85a5047477b" /></Relationships>
</file>

<file path=ppt/notesSlides/_rels/notesSlide4.xml.rels>&#65279;<?xml version="1.0" encoding="utf-8"?><Relationships xmlns="http://schemas.openxmlformats.org/package/2006/relationships"><Relationship Type="http://schemas.openxmlformats.org/officeDocument/2006/relationships/slide" Target="/ppt/slides/slide4.xml" Id="R2431a1b16e1443bf" /><Relationship Type="http://schemas.openxmlformats.org/officeDocument/2006/relationships/notesMaster" Target="/ppt/notesMasters/notesMaster1.xml" Id="R339a8e9958964a2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c22b900c0a847e8" /><Relationship Type="http://schemas.openxmlformats.org/officeDocument/2006/relationships/notesMaster" Target="/ppt/notesMasters/notesMaster1.xml" Id="Re34e17681c1a4de7"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7bbd6d1131464f" /><Relationship Type="http://schemas.openxmlformats.org/officeDocument/2006/relationships/notesMaster" Target="/ppt/notesMasters/notesMaster1.xml" Id="Rcbc853f00eae4c8b" /></Relationships>
</file>

<file path=ppt/notesSlides/_rels/notesSlide7.xml.rels>&#65279;<?xml version="1.0" encoding="utf-8"?><Relationships xmlns="http://schemas.openxmlformats.org/package/2006/relationships"><Relationship Type="http://schemas.openxmlformats.org/officeDocument/2006/relationships/slide" Target="/ppt/slides/slide7.xml" Id="R3d1bb385bc1d4852" /><Relationship Type="http://schemas.openxmlformats.org/officeDocument/2006/relationships/notesMaster" Target="/ppt/notesMasters/notesMaster1.xml" Id="Rf97698ec77884637" /></Relationships>
</file>

<file path=ppt/notesSlides/_rels/notesSlide8.xml.rels>&#65279;<?xml version="1.0" encoding="utf-8"?><Relationships xmlns="http://schemas.openxmlformats.org/package/2006/relationships"><Relationship Type="http://schemas.openxmlformats.org/officeDocument/2006/relationships/slide" Target="/ppt/slides/slide8.xml" Id="Rf8cc9aee2b19413f" /><Relationship Type="http://schemas.openxmlformats.org/officeDocument/2006/relationships/notesMaster" Target="/ppt/notesMasters/notesMaster1.xml" Id="Rf4456e4e76fc48c2" /></Relationships>
</file>

<file path=ppt/notesSlides/_rels/notesSlide9.xml.rels>&#65279;<?xml version="1.0" encoding="utf-8"?><Relationships xmlns="http://schemas.openxmlformats.org/package/2006/relationships"><Relationship Type="http://schemas.openxmlformats.org/officeDocument/2006/relationships/slide" Target="/ppt/slides/slide9.xml" Id="R0617050c5900481f" /><Relationship Type="http://schemas.openxmlformats.org/officeDocument/2006/relationships/notesMaster" Target="/ppt/notesMasters/notesMaster1.xml" Id="R866900f09e944e5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00f81425804518" /><Relationship Type="http://schemas.openxmlformats.org/officeDocument/2006/relationships/notesMaster" Target="/ppt/notesMasters/notesMaster1.xml" Id="Rc9a49464817443a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7bdd826409c4246" /><Relationship Type="http://schemas.openxmlformats.org/officeDocument/2006/relationships/notesMaster" Target="/ppt/notesMasters/notesMaster1.xml" Id="Rf74b4252b4c8439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57b5e04c8ba4a8f" /><Relationship Type="http://schemas.openxmlformats.org/officeDocument/2006/relationships/notesMaster" Target="/ppt/notesMasters/notesMaster1.xml" Id="R886edc3373ce4c3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c4a3eff23ad4dff" /><Relationship Type="http://schemas.openxmlformats.org/officeDocument/2006/relationships/notesMaster" Target="/ppt/notesMasters/notesMaster1.xml" Id="Rebdfb0d06dbf4ad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40e49116a91413d" /><Relationship Type="http://schemas.openxmlformats.org/officeDocument/2006/relationships/notesMaster" Target="/ppt/notesMasters/notesMaster1.xml" Id="Rcbc35cdf4e6a4c7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788d961019144a8" /><Relationship Type="http://schemas.openxmlformats.org/officeDocument/2006/relationships/notesMaster" Target="/ppt/notesMasters/notesMaster1.xml" Id="R107a6ca26b4b4b0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1 — OPENING AND PURPOSE</a:t>
            </a:r>
          </a:p>
          <a:p xmlns:a="http://schemas.openxmlformats.org/drawingml/2006/main">
            <a:r>
              <a:t/>
            </a:r>
          </a:p>
          <a:p xmlns:a="http://schemas.openxmlformats.org/drawingml/2006/main">
            <a:r>
              <a:t>- What to say: “This presentation answers three practical questions: how much the portfolio can lose on an ordinary bad day; how we know whether the model is reliable; and what management should do when risk is too high.”</a:t>
            </a:r>
          </a:p>
          <a:p xmlns:a="http://schemas.openxmlformats.org/drawingml/2006/main">
            <a:r>
              <a:t>- Portfolio means the complete basket of investments considered together. We are not measuring each stock in isolation because losses and gains can offset each other.</a:t>
            </a:r>
          </a:p>
          <a:p xmlns:a="http://schemas.openxmlformats.org/drawingml/2006/main">
            <a:r>
              <a:t>- Risk management means measuring uncertainty, deciding how much loss is acceptable, and defining what happens when a threshold is crossed. It does not mean predicting tomorrow perfectly.</a:t>
            </a:r>
          </a:p>
          <a:p xmlns:a="http://schemas.openxmlformats.org/drawingml/2006/main">
            <a:r>
              <a:t>- Quant means quantitative: the argument is based on data, mathematical models, and statistical tests rather than opinion alone.</a:t>
            </a:r>
          </a:p>
          <a:p xmlns:a="http://schemas.openxmlformats.org/drawingml/2006/main">
            <a:r>
              <a:t>- The portfolio is valued at $10 million. All dollar risk numbers scale from that amount. If the same holdings were worth $20 million, dollar VaR would be roughly twice as large, assuming the weights stay the same.</a:t>
            </a:r>
          </a:p>
          <a:p xmlns:a="http://schemas.openxmlformats.org/drawingml/2006/main">
            <a:r>
              <a:t>- Explain the structure: first we define the data and portfolio; next we explain the models; then we validate them; finally we translate the results into limits and actions.</a:t>
            </a:r>
          </a:p>
          <a:p xmlns:a="http://schemas.openxmlformats.org/drawingml/2006/main">
            <a:r>
              <a:t>- Important warning: VaR is not the maximum possible loss. It is a threshold tied to a stated confidence level and time horizon. Stress testing covers more extreme situations.</a:t>
            </a:r>
          </a:p>
          <a:p xmlns:a="http://schemas.openxmlformats.org/drawingml/2006/main">
            <a:r>
              <a:t>- Transition: “I will start with the conclusion, then show the evidence behind it.”</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2 — EXECUTIVE RISK ASSESSMENT</a:t>
            </a:r>
          </a:p>
          <a:p xmlns:a="http://schemas.openxmlformats.org/drawingml/2006/main">
            <a:r>
              <a:t/>
            </a:r>
          </a:p>
          <a:p xmlns:a="http://schemas.openxmlformats.org/drawingml/2006/main">
            <a:r>
              <a:t>- What to say: “The portfolio is manageable under the ordinary one-day metric, but the stress book and concentration analysis require management attention.”</a:t>
            </a:r>
          </a:p>
          <a:p xmlns:a="http://schemas.openxmlformats.org/drawingml/2006/main">
            <a:r>
              <a:t>- Current risk: the selected GJR-HS model estimates 99% one-day VaR at about $296,809 and Expected Shortfall at about $338,445.</a:t>
            </a:r>
          </a:p>
          <a:p xmlns:a="http://schemas.openxmlformats.org/drawingml/2006/main">
            <a:r>
              <a:t>- 99% confidence does not mean 99% certainty that nothing bad happens. It means the model sets a loss threshold expected to be exceeded on about 1 trading day out of 100 if the model remains appropriate.</a:t>
            </a:r>
          </a:p>
          <a:p xmlns:a="http://schemas.openxmlformats.org/drawingml/2006/main">
            <a:r>
              <a:t>- One-day horizon means the estimate covers the next trading day, not a month or a full crisis.</a:t>
            </a:r>
          </a:p>
          <a:p xmlns:a="http://schemas.openxmlformats.org/drawingml/2006/main">
            <a:r>
              <a:t>- Expected Shortfall, abbreviated ES, answers: when the VaR line is crossed, what is the average loss in that worst 1% tail? ES is therefore deliberately larger than VaR.</a:t>
            </a:r>
          </a:p>
          <a:p xmlns:a="http://schemas.openxmlformats.org/drawingml/2006/main">
            <a:r>
              <a:t>- Validation: GJR-HS produces 34 exceptions versus 31.1 expected and passes the Kupiec, independence, and joint coverage tests at the 5% significance level. “Pass” means the evidence is not strong enough to reject the model on that test; it does not prove the model is true.</a:t>
            </a:r>
          </a:p>
          <a:p xmlns:a="http://schemas.openxmlformats.org/drawingml/2006/main">
            <a:r>
              <a:t>- Tail risk: the historical 2008 replay produces about a 44.1% loss. This is why daily VaR cannot be treated as a worst-case number.</a:t>
            </a:r>
          </a:p>
          <a:p xmlns:a="http://schemas.openxmlformats.org/drawingml/2006/main">
            <a:r>
              <a:t>- Concentration: Tesla and Amazon together supply roughly 37% of ES although their combined capital weight is about 20%. Risk weight and money weight are not the same thing.</a:t>
            </a:r>
          </a:p>
          <a:p xmlns:a="http://schemas.openxmlformats.org/drawingml/2006/main">
            <a:r>
              <a:t>- Decision: use GJR-HS as the primary model, keep EWMA-HS as the challenger, and escalate the stress and concentration findings through explicit limits.</a:t>
            </a:r>
          </a:p>
          <a:p xmlns:a="http://schemas.openxmlformats.org/drawingml/2006/main">
            <a:r>
              <a:t>- How to read the slide: green is acceptable evidence, gold is a warning or decision point, and red identifies material tail exposure.</a:t>
            </a:r>
          </a:p>
          <a:p xmlns:a="http://schemas.openxmlformats.org/drawingml/2006/main">
            <a:r>
              <a:t>- Transition: “Now I will show exactly what was measured and how the evidence was produced.”</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3 — PORTFOLIO RESULTS AND EVIDENCE BASE</a:t>
            </a:r>
          </a:p>
          <a:p xmlns:a="http://schemas.openxmlformats.org/drawingml/2006/main">
            <a:r>
              <a:t/>
            </a:r>
          </a:p>
          <a:p xmlns:a="http://schemas.openxmlformats.org/drawingml/2006/main">
            <a:r>
              <a:t>- What to say: “The portfolio produced a strong 31.6% annualized historical return, but that result came with 21.9% annual volatility, a 34.9% maximum drawdown, and beta of 1.19 to the US equity market.” Lead with these results; the data design is supporting evidence, not the presentation’s subject.</a:t>
            </a:r>
          </a:p>
          <a:p xmlns:a="http://schemas.openxmlformats.org/drawingml/2006/main">
            <a:r>
              <a:t>- Annualized return expresses the compounded historical growth rate as a per-year number. It is a past result, not a forecast.</a:t>
            </a:r>
          </a:p>
          <a:p xmlns:a="http://schemas.openxmlformats.org/drawingml/2006/main">
            <a:r>
              <a:t>- Annualized volatility converts daily return variability to a yearly scale. A 21.9% figure means returns moved widely; it does not mean the portfolio lost 21.9%.</a:t>
            </a:r>
          </a:p>
          <a:p xmlns:a="http://schemas.openxmlformats.org/drawingml/2006/main">
            <a:r>
              <a:t>- Maximum drawdown is the largest peak-to-trough fall. The 34.9% drawdown means an investor at the previous high temporarily lost about one-third before recovery.</a:t>
            </a:r>
          </a:p>
          <a:p xmlns:a="http://schemas.openxmlformats.org/drawingml/2006/main">
            <a:r>
              <a:t>- Sharpe ratio compares excess return with volatility. The historical value is 1.27. Higher is better, but the result is sample-dependent and does not remove crash risk.</a:t>
            </a:r>
          </a:p>
          <a:p xmlns:a="http://schemas.openxmlformats.org/drawingml/2006/main">
            <a:r>
              <a:t>- Beta is sensitivity to the broad market. Beta 1.19 means the portfolio historically moved about 1.19% for a 1% market move on average under the fitted relationship.</a:t>
            </a:r>
          </a:p>
          <a:p xmlns:a="http://schemas.openxmlformats.org/drawingml/2006/main">
            <a:r>
              <a:t>- Correlation of 0.90 with SPY means the portfolio and the broad market usually moved in the same direction. Correlation is not the same as beta: correlation measures co-movement strength; beta includes relative movement size.</a:t>
            </a:r>
          </a:p>
          <a:p xmlns:a="http://schemas.openxmlformats.org/drawingml/2006/main">
            <a:r>
              <a:t>- The analysis uses ten large US equities, equal weights, monthly rebalancing, and a $10 million current value.</a:t>
            </a:r>
          </a:p>
          <a:p xmlns:a="http://schemas.openxmlformats.org/drawingml/2006/main">
            <a:r>
              <a:t>- A ticker is the short exchange code for a company, for example AAPL for Apple.</a:t>
            </a:r>
          </a:p>
          <a:p xmlns:a="http://schemas.openxmlformats.org/drawingml/2006/main">
            <a:r>
              <a:t>- Equal weight means each of the ten stocks starts near 10% of portfolio value. Monthly rebalancing means the portfolio is reset toward those target weights once per month.</a:t>
            </a:r>
          </a:p>
          <a:p xmlns:a="http://schemas.openxmlformats.org/drawingml/2006/main">
            <a:r>
              <a:t>- Adjusted close is a historical closing price modified for stock splits and distributions so returns are comparable through time.</a:t>
            </a:r>
          </a:p>
          <a:p xmlns:a="http://schemas.openxmlformats.org/drawingml/2006/main">
            <a:r>
              <a:t>- A return is the percentage change in value. The engine uses daily log returns because they add conveniently across time; for ordinary small daily moves, log and simple percentage returns are very close.</a:t>
            </a:r>
          </a:p>
          <a:p xmlns:a="http://schemas.openxmlformats.org/drawingml/2006/main">
            <a:r>
              <a:t>- NAV means net asset value: the total value of the portfolio. Here the current NAV is $10 million.</a:t>
            </a:r>
          </a:p>
          <a:p xmlns:a="http://schemas.openxmlformats.org/drawingml/2006/main">
            <a:r>
              <a:t>- The sample runs from 04 June 2012 to 16 October 2026, covering 3,614 daily return observations.</a:t>
            </a:r>
          </a:p>
          <a:p xmlns:a="http://schemas.openxmlformats.org/drawingml/2006/main">
            <a:r>
              <a:t>- Data cleaning includes calendar alignment, bounded forward filling, stale-price checks, return construction, and optional outlier treatment. “Forward fill” means using the most recent known price for a short missing gap; it is bounded so a long suspension is not silently treated as normal trading.</a:t>
            </a:r>
          </a:p>
          <a:p xmlns:a="http://schemas.openxmlformats.org/drawingml/2006/main">
            <a:r>
              <a:t>- Point-in-time means information available on that historical date. Using today’s information in a past forecast creates look-ahead bias and makes a backtest unfairly good.</a:t>
            </a:r>
          </a:p>
          <a:p xmlns:a="http://schemas.openxmlformats.org/drawingml/2006/main">
            <a:r>
              <a:t>- The four-stage control chain is collect, clean, model, challenge. Challenge means attempting to disprove or expose weaknesses in the model using sensitivity tests, backtests, and stress scenarios.</a:t>
            </a:r>
          </a:p>
          <a:p xmlns:a="http://schemas.openxmlformats.org/drawingml/2006/main">
            <a:r>
              <a:t>- Reproducible means the dashboard, report, and presentation are driven by the same configuration and calculations rather than manually copied numbers.</a:t>
            </a:r>
          </a:p>
          <a:p xmlns:a="http://schemas.openxmlformats.org/drawingml/2006/main">
            <a:r>
              <a:t>- Transition: “Before choosing a risk model, we need to understand the statistical shape of the returns.”</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4 — RETURN BEHAVIOR AND VOLATILITY</a:t>
            </a:r>
          </a:p>
          <a:p xmlns:a="http://schemas.openxmlformats.org/drawingml/2006/main">
            <a:r>
              <a:t/>
            </a:r>
          </a:p>
          <a:p xmlns:a="http://schemas.openxmlformats.org/drawingml/2006/main">
            <a:r>
              <a:t>- What to say: “The data reject the comforting idea that returns behave like independent draws from a stable bell curve.”</a:t>
            </a:r>
          </a:p>
          <a:p xmlns:a="http://schemas.openxmlformats.org/drawingml/2006/main">
            <a:r>
              <a:t>- Volatility is the typical size of return movements. Higher volatility means the portfolio moves more widely in both directions.</a:t>
            </a:r>
          </a:p>
          <a:p xmlns:a="http://schemas.openxmlformats.org/drawingml/2006/main">
            <a:r>
              <a:t>- Volatility clustering means calm days tend to follow calm days and turbulent days tend to follow turbulent days. Risk therefore changes over time.</a:t>
            </a:r>
          </a:p>
          <a:p xmlns:a="http://schemas.openxmlformats.org/drawingml/2006/main">
            <a:r>
              <a:t>- Skewness measures asymmetry. Negative skew means unusually large downside moves are more common or more severe than equally large upside moves.</a:t>
            </a:r>
          </a:p>
          <a:p xmlns:a="http://schemas.openxmlformats.org/drawingml/2006/main">
            <a:r>
              <a:t>- Kurtosis measures tail thickness. A normal bell curve has kurtosis of 3 under the convention used here. The portfolio’s value is higher, so extreme moves occur more often than a normal model would suggest.</a:t>
            </a:r>
          </a:p>
          <a:p xmlns:a="http://schemas.openxmlformats.org/drawingml/2006/main">
            <a:r>
              <a:t>- The chart groups days by the sign and size of the current move, then measures the average absolute move during the next five days. The taller bar after a large negative shock is evidence of asymmetric volatility.</a:t>
            </a:r>
          </a:p>
          <a:p xmlns:a="http://schemas.openxmlformats.org/drawingml/2006/main">
            <a:r>
              <a:t>- GARCH stands for Generalized Autoregressive Conditional Heteroskedasticity. In plain English, it is a model in which today’s volatility depends on previous shocks and previous volatility.</a:t>
            </a:r>
          </a:p>
          <a:p xmlns:a="http://schemas.openxmlformats.org/drawingml/2006/main">
            <a:r>
              <a:t>- GJR-GARCH adds a leverage or asymmetry term. A positive gamma means a negative shock increases forecast volatility more than a positive shock of the same size.</a:t>
            </a:r>
          </a:p>
          <a:p xmlns:a="http://schemas.openxmlformats.org/drawingml/2006/main">
            <a:r>
              <a:t>- Persistence describes how slowly a volatility shock fades. A half-life of roughly 20.7 trading days means the effect is estimated to shrink by half over about that many trading days.</a:t>
            </a:r>
          </a:p>
          <a:p xmlns:a="http://schemas.openxmlformats.org/drawingml/2006/main">
            <a:r>
              <a:t>- AIC is a model comparison score balancing fit and complexity; lower is better when models use the same data.</a:t>
            </a:r>
          </a:p>
          <a:p xmlns:a="http://schemas.openxmlformats.org/drawingml/2006/main">
            <a:r>
              <a:t>- Transition: “These facts justify a hierarchy of models rather than relying only on unscaled historical losses.”</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5 — MODEL-SELECTION RESULT</a:t>
            </a:r>
          </a:p>
          <a:p xmlns:a="http://schemas.openxmlformats.org/drawingml/2006/main">
            <a:r>
              <a:t/>
            </a:r>
          </a:p>
          <a:p xmlns:a="http://schemas.openxmlformats.org/drawingml/2006/main">
            <a:r>
              <a:t>- What to say: “The result is to use GJR-HS as the primary model, EWMA-HS as the challenger, and plain HS only as a transparent benchmark.” State the decision first, then briefly explain why the candidates differ.</a:t>
            </a:r>
          </a:p>
          <a:p xmlns:a="http://schemas.openxmlformats.org/drawingml/2006/main">
            <a:r>
              <a:t>- Historical Simulation, or HS, sorts the last 500 daily returns and reads the loss at the required tail percentile. It is easy to explain but treats a two-year-old day as equally relevant as yesterday.</a:t>
            </a:r>
          </a:p>
          <a:p xmlns:a="http://schemas.openxmlformats.org/drawingml/2006/main">
            <a:r>
              <a:t>- EWMA means Exponentially Weighted Moving Average. It gives more weight to recent squared returns. Lambda, written λ, is the memory parameter; 0.94 means shocks fade gradually.</a:t>
            </a:r>
          </a:p>
          <a:p xmlns:a="http://schemas.openxmlformats.org/drawingml/2006/main">
            <a:r>
              <a:t>- GARCH-HS standardizes past returns by their estimated volatility, finds the historical tail of those standardized residuals, and scales it by today’s forecast volatility.</a:t>
            </a:r>
          </a:p>
          <a:p xmlns:a="http://schemas.openxmlformats.org/drawingml/2006/main">
            <a:r>
              <a:t>- A residual is the part of a return left after the model’s expected component. A standardized residual divides that shock by the estimated volatility, making high- and low-volatility periods more comparable.</a:t>
            </a:r>
          </a:p>
          <a:p xmlns:a="http://schemas.openxmlformats.org/drawingml/2006/main">
            <a:r>
              <a:t>- GJR-HS does the same filtering but lets negative shocks raise future volatility more than positive shocks.</a:t>
            </a:r>
          </a:p>
          <a:p xmlns:a="http://schemas.openxmlformats.org/drawingml/2006/main">
            <a:r>
              <a:t>- Mean reversion means an unusually high volatility forecast gradually moves back toward a longer-run level instead of remaining high forever.</a:t>
            </a:r>
          </a:p>
          <a:p xmlns:a="http://schemas.openxmlformats.org/drawingml/2006/main">
            <a:r>
              <a:t>- A model hierarchy avoids pretending one model is unquestionably correct. The primary model drives official monitoring, the challenger independently tests whether the primary is behaving sensibly, and the benchmark provides a simple transparent reference.</a:t>
            </a:r>
          </a:p>
          <a:p xmlns:a="http://schemas.openxmlformats.org/drawingml/2006/main">
            <a:r>
              <a:t>- Transition: “With that hierarchy defined, we can compare today’s actual risk numbers.”</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6 — CURRENT VAR AND EXPECTED SHORTFALL</a:t>
            </a:r>
          </a:p>
          <a:p xmlns:a="http://schemas.openxmlformats.org/drawingml/2006/main">
            <a:r>
              <a:t/>
            </a:r>
          </a:p>
          <a:p xmlns:a="http://schemas.openxmlformats.org/drawingml/2006/main">
            <a:r>
              <a:t>- What to say: “For the selected GJR-HS model, the current 99% one-day VaR is $296,809 and ES is $338,445.”</a:t>
            </a:r>
          </a:p>
          <a:p xmlns:a="http://schemas.openxmlformats.org/drawingml/2006/main">
            <a:r>
              <a:t>- VaR, Value at Risk, is a loss threshold. A $297,000 99% one-day VaR means the model expects a larger loss on roughly one trading day in one hundred, not that $297,000 is the most the portfolio can lose.</a:t>
            </a:r>
          </a:p>
          <a:p xmlns:a="http://schemas.openxmlformats.org/drawingml/2006/main">
            <a:r>
              <a:t>- Expected Shortfall is the average loss conditional on already being beyond VaR. “Conditional” means we restrict attention to the bad days that crossed the VaR line.</a:t>
            </a:r>
          </a:p>
          <a:p xmlns:a="http://schemas.openxmlformats.org/drawingml/2006/main">
            <a:r>
              <a:t>- The bars compare four models. For each model, the gold ES bar should be higher than the green VaR bar. If it were not, the calculation or labels would need investigation.</a:t>
            </a:r>
          </a:p>
          <a:p xmlns:a="http://schemas.openxmlformats.org/drawingml/2006/main">
            <a:r>
              <a:t>- HS is currently higher because its raw 500-day window includes more volatile observations without scaling them down to the current volatility regime.</a:t>
            </a:r>
          </a:p>
          <a:p xmlns:a="http://schemas.openxmlformats.org/drawingml/2006/main">
            <a:r>
              <a:t>- Filtered historical simulation means historical shocks are first normalized by the volatility when they happened, then rescaled to today’s estimated volatility.</a:t>
            </a:r>
          </a:p>
          <a:p xmlns:a="http://schemas.openxmlformats.org/drawingml/2006/main">
            <a:r>
              <a:t>- Model dispersion means the gap between model answers. That gap is not noise to hide; it is evidence of model risk.</a:t>
            </a:r>
          </a:p>
          <a:p xmlns:a="http://schemas.openxmlformats.org/drawingml/2006/main">
            <a:r>
              <a:t>- Dollar amounts depend linearly on NAV. Percent values are better for comparing portfolios of different sizes, while dollar values are better for limit consumption and management decisions.</a:t>
            </a:r>
          </a:p>
          <a:p xmlns:a="http://schemas.openxmlformats.org/drawingml/2006/main">
            <a:r>
              <a:t>- Transition: “The next slide shows that confidence and window choices can move the number as much as the model name.”</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7 — PARAMETER AND MODEL RISK</a:t>
            </a:r>
          </a:p>
          <a:p xmlns:a="http://schemas.openxmlformats.org/drawingml/2006/main">
            <a:r>
              <a:t/>
            </a:r>
          </a:p>
          <a:p xmlns:a="http://schemas.openxmlformats.org/drawingml/2006/main">
            <a:r>
              <a:t>- What to say: “A VaR number is incomplete unless we state the model, confidence level, horizon, and historical window.”</a:t>
            </a:r>
          </a:p>
          <a:p xmlns:a="http://schemas.openxmlformats.org/drawingml/2006/main">
            <a:r>
              <a:t>- Confidence level chooses how deep into the loss tail we look. Moving from 95% to 99% or 99.5% deliberately focuses on rarer and worse outcomes.</a:t>
            </a:r>
          </a:p>
          <a:p xmlns:a="http://schemas.openxmlformats.org/drawingml/2006/main">
            <a:r>
              <a:t>- The estimation window is the number of past trading days used to build the loss distribution. A 250-day window is roughly one trading year; 500 days is roughly two years; 750 days is roughly three years.</a:t>
            </a:r>
          </a:p>
          <a:p xmlns:a="http://schemas.openxmlformats.org/drawingml/2006/main">
            <a:r>
              <a:t>- A shorter window reacts faster but contains fewer observations. A longer window is statistically steadier but may mix old regimes with the present.</a:t>
            </a:r>
          </a:p>
          <a:p xmlns:a="http://schemas.openxmlformats.org/drawingml/2006/main">
            <a:r>
              <a:t>- A quantile is a cutoff in an ordered distribution. The 99% VaR uses the 1% worst-loss tail, equivalently the 99th percentile of positive losses.</a:t>
            </a:r>
          </a:p>
          <a:p xmlns:a="http://schemas.openxmlformats.org/drawingml/2006/main">
            <a:r>
              <a:t>- The highlighted base case is 99% confidence and 500 days. The full grid ranges from 1.34% to 3.34% of NAV, which is large enough to change whether a risk limit appears safe or breached.</a:t>
            </a:r>
          </a:p>
          <a:p xmlns:a="http://schemas.openxmlformats.org/drawingml/2006/main">
            <a:r>
              <a:t>- Sensitivity analysis means changing one assumption at a time to see how much the result moves. Large movement means parameter uncertainty is economically important.</a:t>
            </a:r>
          </a:p>
          <a:p xmlns:a="http://schemas.openxmlformats.org/drawingml/2006/main">
            <a:r>
              <a:t>- Model risk is the risk that the method, assumptions, data, or implementation produce a misleading number.</a:t>
            </a:r>
          </a:p>
          <a:p xmlns:a="http://schemas.openxmlformats.org/drawingml/2006/main">
            <a:r>
              <a:t>- Governance implication: a policy should say “99% one-day GJR-HS using a 500-day window,” not simply “VaR.”</a:t>
            </a:r>
          </a:p>
          <a:p xmlns:a="http://schemas.openxmlformats.org/drawingml/2006/main">
            <a:r>
              <a:t>- Transition: “A model is not accepted because its current number looks plausible; it must be tested against what actually happened.”</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8 — VAR VERSUS REALIZED P&amp;L</a:t>
            </a:r>
          </a:p>
          <a:p xmlns:a="http://schemas.openxmlformats.org/drawingml/2006/main">
            <a:r>
              <a:t/>
            </a:r>
          </a:p>
          <a:p xmlns:a="http://schemas.openxmlformats.org/drawingml/2006/main">
            <a:r>
              <a:t>- What to say: “This is the most important validation picture: the model’s forecast is compared with the loss that occurred the next day.”</a:t>
            </a:r>
          </a:p>
          <a:p xmlns:a="http://schemas.openxmlformats.org/drawingml/2006/main">
            <a:r>
              <a:t>- Realized P&amp;L means the profit or loss that actually occurred. Positive values are gains and negative values are losses.</a:t>
            </a:r>
          </a:p>
          <a:p xmlns:a="http://schemas.openxmlformats.org/drawingml/2006/main">
            <a:r>
              <a:t>- The green line is negative VaR, plotted below zero because it is a loss boundary. The gray line is daily realized P&amp;L. Red dots mark days where the realized loss was worse than the VaR forecast.</a:t>
            </a:r>
          </a:p>
          <a:p xmlns:a="http://schemas.openxmlformats.org/drawingml/2006/main">
            <a:r>
              <a:t>- A breach and an exception mean the same thing here: actual loss exceeded the forecast VaR threshold.</a:t>
            </a:r>
          </a:p>
          <a:p xmlns:a="http://schemas.openxmlformats.org/drawingml/2006/main">
            <a:r>
              <a:t>- The slide shows the most recent 750 trading days so the pattern is readable. The statistical tests on the next slide use the full 3,114-day forecast sample.</a:t>
            </a:r>
          </a:p>
          <a:p xmlns:a="http://schemas.openxmlformats.org/drawingml/2006/main">
            <a:r>
              <a:t>- Ex ante means before the event. Every VaR line on this chart was computed using information available before that day’s return. That prevents look-ahead bias.</a:t>
            </a:r>
          </a:p>
          <a:p xmlns:a="http://schemas.openxmlformats.org/drawingml/2006/main">
            <a:r>
              <a:t>- How to read the chart: do not judge the model by one red point. At 99% confidence, occasional breaches are expected. Judge the number of breaches and whether they cluster together.</a:t>
            </a:r>
          </a:p>
          <a:p xmlns:a="http://schemas.openxmlformats.org/drawingml/2006/main">
            <a:r>
              <a:t>- Clustering is dangerous because repeated breaches suggest the model is slow to respond to a new volatility regime.</a:t>
            </a:r>
          </a:p>
          <a:p xmlns:a="http://schemas.openxmlformats.org/drawingml/2006/main">
            <a:r>
              <a:t>- The chart also shows that the VaR boundary widens during turbulent periods and narrows during calm periods. That adaptation is exactly what a conditional-volatility model is supposed to do.</a:t>
            </a:r>
          </a:p>
          <a:p xmlns:a="http://schemas.openxmlformats.org/drawingml/2006/main">
            <a:r>
              <a:t>- Transition: “We now convert this visual pattern into three formal statistical questions.”</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9 — BACKTEST SCORECARD</a:t>
            </a:r>
          </a:p>
          <a:p xmlns:a="http://schemas.openxmlformats.org/drawingml/2006/main">
            <a:r>
              <a:t/>
            </a:r>
          </a:p>
          <a:p xmlns:a="http://schemas.openxmlformats.org/drawingml/2006/main">
            <a:r>
              <a:t>- What to say: “All models get the total count roughly right, but only GJR-HS also makes the timing of breaches statistically acceptable.”</a:t>
            </a:r>
          </a:p>
          <a:p xmlns:a="http://schemas.openxmlformats.org/drawingml/2006/main">
            <a:r>
              <a:t>- Backtesting means applying the model as if we were standing at each historical date, forecasting the next day, and comparing the forecast with the next day’s actual result.</a:t>
            </a:r>
          </a:p>
          <a:p xmlns:a="http://schemas.openxmlformats.org/drawingml/2006/main">
            <a:r>
              <a:t>- Expected exceptions equal the forecast count multiplied by 1 minus the confidence level. Here 3,114 × 1% = 31.14.</a:t>
            </a:r>
          </a:p>
          <a:p xmlns:a="http://schemas.openxmlformats.org/drawingml/2006/main">
            <a:r>
              <a:t>- Kupiec tests unconditional coverage: is the total number of breaches plausible for a 99% model?</a:t>
            </a:r>
          </a:p>
          <a:p xmlns:a="http://schemas.openxmlformats.org/drawingml/2006/main">
            <a:r>
              <a:t>- Christoffersen independence tests timing: is a breach more likely immediately after another breach? If yes, breaches cluster and the model may be reacting too slowly.</a:t>
            </a:r>
          </a:p>
          <a:p xmlns:a="http://schemas.openxmlformats.org/drawingml/2006/main">
            <a:r>
              <a:t>- Conditional coverage combines frequency and independence into one joint test.</a:t>
            </a:r>
          </a:p>
          <a:p xmlns:a="http://schemas.openxmlformats.org/drawingml/2006/main">
            <a:r>
              <a:t>- A p-value measures how surprising the observed result would be if the tested model property were correct. A p-value below 0.05 triggers rejection under the chosen 5% rule. It is not the probability that the model is true.</a:t>
            </a:r>
          </a:p>
          <a:p xmlns:a="http://schemas.openxmlformats.org/drawingml/2006/main">
            <a:r>
              <a:t>- GJR-HS has 34 exceptions versus 31.1 expected. Its independence p-value is 0.056, just above 0.05. This is a pass, but a narrow one, so it should be monitored.</a:t>
            </a:r>
          </a:p>
          <a:p xmlns:a="http://schemas.openxmlformats.org/drawingml/2006/main">
            <a:r>
              <a:t>- HS, EWMA-HS, and GARCH-HS pass the count test but fail independence at 5%, which means their breaches are too clustered.</a:t>
            </a:r>
          </a:p>
          <a:p xmlns:a="http://schemas.openxmlformats.org/drawingml/2006/main">
            <a:r>
              <a:t>- Rank 1 does not mean perfect. It means best under the declared ranking rule and sample.</a:t>
            </a:r>
          </a:p>
          <a:p xmlns:a="http://schemas.openxmlformats.org/drawingml/2006/main">
            <a:r>
              <a:t>- Transition: “The next slide looks inside the breach count, because a small exceedance and a catastrophic exceedance should not be treated as identical.”</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10 — EXCEPTION SEVERITY</a:t>
            </a:r>
          </a:p>
          <a:p xmlns:a="http://schemas.openxmlformats.org/drawingml/2006/main">
            <a:r>
              <a:t/>
            </a:r>
          </a:p>
          <a:p xmlns:a="http://schemas.openxmlformats.org/drawingml/2006/main">
            <a:r>
              <a:t>- What to say: “The worst GJR-HS exception lost about $585,671, which was $326,659 beyond the VaR forecast.”</a:t>
            </a:r>
          </a:p>
          <a:p xmlns:a="http://schemas.openxmlformats.org/drawingml/2006/main">
            <a:r>
              <a:t>- The table is sorted by realized loss, not by date. Loss is the dollar amount actually lost. VaR is the model’s loss boundary before that day. Excess is loss minus VaR.</a:t>
            </a:r>
          </a:p>
          <a:p xmlns:a="http://schemas.openxmlformats.org/drawingml/2006/main">
            <a:r>
              <a:t>- Exception severity matters because the usual traffic-light count treats every breach as one event, whether it exceeds VaR by $1 or $300,000.</a:t>
            </a:r>
          </a:p>
          <a:p xmlns:a="http://schemas.openxmlformats.org/drawingml/2006/main">
            <a:r>
              <a:t>- The event labels are market context, not a claim that one headline caused the entire portfolio move. A diversified portfolio can react to rates, sector moves, market beta, and company-specific news on the same day.</a:t>
            </a:r>
          </a:p>
          <a:p xmlns:a="http://schemas.openxmlformats.org/drawingml/2006/main">
            <a:r>
              <a:t>- The largest observations fall around the COVID selloff, inflation and rate repricing, the 2018 volatility shock, and the April 2025 tariff shock.</a:t>
            </a:r>
          </a:p>
          <a:p xmlns:a="http://schemas.openxmlformats.org/drawingml/2006/main">
            <a:r>
              <a:t>- Economic significance means the dollar size is large enough to matter to capital, liquidity, or management decisions, even if the statistical count remains acceptable.</a:t>
            </a:r>
          </a:p>
          <a:p xmlns:a="http://schemas.openxmlformats.org/drawingml/2006/main">
            <a:r>
              <a:t>- A useful production control is to review every exception within one business day, reconcile prices, identify the main position-level contributors, and record whether the cause was market movement, data error, model lag, or portfolio change.</a:t>
            </a:r>
          </a:p>
          <a:p xmlns:a="http://schemas.openxmlformats.org/drawingml/2006/main">
            <a:r>
              <a:t>- Root-cause analysis means identifying why the breach occurred, not merely recording that it occurred.</a:t>
            </a:r>
          </a:p>
          <a:p xmlns:a="http://schemas.openxmlformats.org/drawingml/2006/main">
            <a:r>
              <a:t>- Transition: “Even a well-backtested one-day model is not designed to describe a full crisis, so we now move to stress testing.”</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11 — STRESS TESTING</a:t>
            </a:r>
          </a:p>
          <a:p xmlns:a="http://schemas.openxmlformats.org/drawingml/2006/main">
            <a:r>
              <a:t/>
            </a:r>
          </a:p>
          <a:p xmlns:a="http://schemas.openxmlformats.org/drawingml/2006/main">
            <a:r>
              <a:t>- What to say: “Daily VaR describes ordinary tail risk; stress testing asks what happens under specific severe scenarios.”</a:t>
            </a:r>
          </a:p>
          <a:p xmlns:a="http://schemas.openxmlformats.org/drawingml/2006/main">
            <a:r>
              <a:t>- A stress scenario is a deliberately harsh market path or shock applied to the current portfolio.</a:t>
            </a:r>
          </a:p>
          <a:p xmlns:a="http://schemas.openxmlformats.org/drawingml/2006/main">
            <a:r>
              <a:t>- Historical stress replays price behavior from a known period, such as the 2008 financial crisis or the 2020 COVID crash.</a:t>
            </a:r>
          </a:p>
          <a:p xmlns:a="http://schemas.openxmlformats.org/drawingml/2006/main">
            <a:r>
              <a:t>- Hypothetical stress applies designed shocks, such as a market fall, a sector decline, higher volatility, or stronger correlations.</a:t>
            </a:r>
          </a:p>
          <a:p xmlns:a="http://schemas.openxmlformats.org/drawingml/2006/main">
            <a:r>
              <a:t>- Correlation measures how assets move together. Correlation often rises in crises, reducing diversification exactly when it is most needed.</a:t>
            </a:r>
          </a:p>
          <a:p xmlns:a="http://schemas.openxmlformats.org/drawingml/2006/main">
            <a:r>
              <a:t>- The 2008 replay gives a portfolio loss of about 44.1%; the COVID replay gives about 34.6%. These are far above the roughly 3% one-day VaR because they represent extended crisis behavior, not one ordinary trading day.</a:t>
            </a:r>
          </a:p>
          <a:p xmlns:a="http://schemas.openxmlformats.org/drawingml/2006/main">
            <a:r>
              <a:t>- Stressed VaR recalculates risk using a historically turbulent window. It is still a model estimate and should not be confused with the full scenario loss.</a:t>
            </a:r>
          </a:p>
          <a:p xmlns:a="http://schemas.openxmlformats.org/drawingml/2006/main">
            <a:r>
              <a:t>- A scenario is not a forecast of what will happen. It is a controlled question: “If this happened, what would it do to us?”</a:t>
            </a:r>
          </a:p>
          <a:p xmlns:a="http://schemas.openxmlformats.org/drawingml/2006/main">
            <a:r>
              <a:t>- How to read the chart: longer red bars mean larger portfolio losses. Compare the result with the organization’s risk appetite and available liquidity, not only with daily VaR.</a:t>
            </a:r>
          </a:p>
          <a:p xmlns:a="http://schemas.openxmlformats.org/drawingml/2006/main">
            <a:r>
              <a:t>- Transition: “To reduce those losses intelligently, we need to know which positions create the risk.”</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12 — RISK ATTRIBUTION</a:t>
            </a:r>
          </a:p>
          <a:p xmlns:a="http://schemas.openxmlformats.org/drawingml/2006/main">
            <a:r>
              <a:t/>
            </a:r>
          </a:p>
          <a:p xmlns:a="http://schemas.openxmlformats.org/drawingml/2006/main">
            <a:r>
              <a:t>- What to say: “Equal money weights do not produce equal risk contributions.”</a:t>
            </a:r>
          </a:p>
          <a:p xmlns:a="http://schemas.openxmlformats.org/drawingml/2006/main">
            <a:r>
              <a:t>- Portfolio weight is the fraction of capital invested in a stock. Expected Shortfall contribution is the fraction of total ES associated with that stock under the attribution method.</a:t>
            </a:r>
          </a:p>
          <a:p xmlns:a="http://schemas.openxmlformats.org/drawingml/2006/main">
            <a:r>
              <a:t>- Risk contribution answers: how much of total portfolio risk is assigned to this position, considering both its own volatility and how it co-moves with the rest of the portfolio?</a:t>
            </a:r>
          </a:p>
          <a:p xmlns:a="http://schemas.openxmlformats.org/drawingml/2006/main">
            <a:r>
              <a:t>- Marginal risk is the approximate change in portfolio risk from adding a small amount to a position.</a:t>
            </a:r>
          </a:p>
          <a:p xmlns:a="http://schemas.openxmlformats.org/drawingml/2006/main">
            <a:r>
              <a:t>- Euler attribution is a mathematical decomposition that makes component contributions add back to total risk for a suitably smooth risk measure.</a:t>
            </a:r>
          </a:p>
          <a:p xmlns:a="http://schemas.openxmlformats.org/drawingml/2006/main">
            <a:r>
              <a:t>- Tesla contributes about 20% of ES and Amazon about 17%, while each holds about 10% of capital. Together they create roughly 37% of tail risk from about 20% of the money.</a:t>
            </a:r>
          </a:p>
          <a:p xmlns:a="http://schemas.openxmlformats.org/drawingml/2006/main">
            <a:r>
              <a:t>- Diversification benefit compares portfolio risk with the sum of standalone risks. A 38% benefit means combining positions reduces risk materially, but the benefit can shrink when correlations rise.</a:t>
            </a:r>
          </a:p>
          <a:p xmlns:a="http://schemas.openxmlformats.org/drawingml/2006/main">
            <a:r>
              <a:t>- Concentration is not only a large capital weight. A volatile or highly correlated stock can be a risk concentration even at an ordinary capital weight.</a:t>
            </a:r>
          </a:p>
          <a:p xmlns:a="http://schemas.openxmlformats.org/drawingml/2006/main">
            <a:r>
              <a:t>- How to read the chart: compare the green capital bar with the gold ES bar for each ticker. A much taller gold bar identifies disproportionate tail-risk contribution.</a:t>
            </a:r>
          </a:p>
          <a:p xmlns:a="http://schemas.openxmlformats.org/drawingml/2006/main">
            <a:r>
              <a:t>- Transition: “This attribution tells us where a hedge or weight change can have the greatest effect.”</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13 — MANAGEMENT ACTIONS</a:t>
            </a:r>
          </a:p>
          <a:p xmlns:a="http://schemas.openxmlformats.org/drawingml/2006/main">
            <a:r>
              <a:t/>
            </a:r>
          </a:p>
          <a:p xmlns:a="http://schemas.openxmlformats.org/drawingml/2006/main">
            <a:r>
              <a:t>- What to say: “The system does not stop at measurement; it shows the approximate effect of hedging and reallocation.”</a:t>
            </a:r>
          </a:p>
          <a:p xmlns:a="http://schemas.openxmlformats.org/drawingml/2006/main">
            <a:r>
              <a:t>- A hedge is a position intended to offset losses elsewhere. An index hedge uses a broad market instrument such as SPY rather than selling every stock individually.</a:t>
            </a:r>
          </a:p>
          <a:p xmlns:a="http://schemas.openxmlformats.org/drawingml/2006/main">
            <a:r>
              <a:t>- Beta measures sensitivity to broad market movement. A beta of 1.2 means the portfolio has historically moved about 1.2% for a 1% market move, on average and under the fitted relationship.</a:t>
            </a:r>
          </a:p>
          <a:p xmlns:a="http://schemas.openxmlformats.org/drawingml/2006/main">
            <a:r>
              <a:t>- Beta-neutral means choosing a hedge size intended to bring net market beta near zero. It removes estimated market direction exposure but does not remove stock-specific, nonlinear, basis, or gap risk.</a:t>
            </a:r>
          </a:p>
          <a:p xmlns:a="http://schemas.openxmlformats.org/drawingml/2006/main">
            <a:r>
              <a:t>- Basis risk means the hedge and the portfolio do not move perfectly together.</a:t>
            </a:r>
          </a:p>
          <a:p xmlns:a="http://schemas.openxmlformats.org/drawingml/2006/main">
            <a:r>
              <a:t>- Optimization means selecting weights to minimize or maximize a stated objective subject to constraints. Here the objective is lower in-sample ES.</a:t>
            </a:r>
          </a:p>
          <a:p xmlns:a="http://schemas.openxmlformats.org/drawingml/2006/main">
            <a:r>
              <a:t>- In-sample means the same historical sample was used to estimate and evaluate the solution. This can overstate future performance.</a:t>
            </a:r>
          </a:p>
          <a:p xmlns:a="http://schemas.openxmlformats.org/drawingml/2006/main">
            <a:r>
              <a:t>- Turnover is the amount traded when moving from old weights to new weights. High turnover creates costs and market impact.</a:t>
            </a:r>
          </a:p>
          <a:p xmlns:a="http://schemas.openxmlformats.org/drawingml/2006/main">
            <a:r>
              <a:t>- Liquidity is the ability to trade without a large price concession. A theoretically attractive hedge may be operationally poor if it is expensive or difficult to trade.</a:t>
            </a:r>
          </a:p>
          <a:p xmlns:a="http://schemas.openxmlformats.org/drawingml/2006/main">
            <a:r>
              <a:t>- The figures are decision aids, not trade instructions. Before execution, add position limits, transaction costs, liquidity constraints, shorting rules, out-of-sample testing, and independent approval.</a:t>
            </a:r>
          </a:p>
          <a:p xmlns:a="http://schemas.openxmlformats.org/drawingml/2006/main">
            <a:r>
              <a:t>- Transition: “The last control step is to convert these analytics into named limits, owners, and escalation actions.”</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14 — LIMITS AND GOVERNANCE</a:t>
            </a:r>
          </a:p>
          <a:p xmlns:a="http://schemas.openxmlformats.org/drawingml/2006/main">
            <a:r>
              <a:t/>
            </a:r>
          </a:p>
          <a:p xmlns:a="http://schemas.openxmlformats.org/drawingml/2006/main">
            <a:r>
              <a:t>- What to say: “These thresholds are proposed controls for discussion; they are not presented as already approved policy.”</a:t>
            </a:r>
          </a:p>
          <a:p xmlns:a="http://schemas.openxmlformats.org/drawingml/2006/main">
            <a:r>
              <a:t>- A risk limit is a measurable boundary that triggers a defined response. A useful limit always names the metric, method, threshold, owner, frequency, and escalation action.</a:t>
            </a:r>
          </a:p>
          <a:p xmlns:a="http://schemas.openxmlformats.org/drawingml/2006/main">
            <a:r>
              <a:t>- Early warning is an amber threshold that prompts investigation before the hard boundary is reached.</a:t>
            </a:r>
          </a:p>
          <a:p xmlns:a="http://schemas.openxmlformats.org/drawingml/2006/main">
            <a:r>
              <a:t>- Escalation means informing a named decision-maker and taking a predefined action rather than relying on informal judgment.</a:t>
            </a:r>
          </a:p>
          <a:p xmlns:a="http://schemas.openxmlformats.org/drawingml/2006/main">
            <a:r>
              <a:t>- The proposed daily VaR control uses the 99% one-day GJR-HS, 500-day specification. Early warning is 3.0% of NAV and escalation is 3.5%.</a:t>
            </a:r>
          </a:p>
          <a:p xmlns:a="http://schemas.openxmlformats.org/drawingml/2006/main">
            <a:r>
              <a:t>- The stress control escalates when the worst approved scenario exceeds 40% of NAV. The current 44.1% result is red and therefore needs an explicit risk-acceptance, hedge, or exposure-reduction decision.</a:t>
            </a:r>
          </a:p>
          <a:p xmlns:a="http://schemas.openxmlformats.org/drawingml/2006/main">
            <a:r>
              <a:t>- The concentration control reviews a single-name ES share above 18% and escalates above 20%. Tesla is approximately 19.9%, so it is amber and close to escalation.</a:t>
            </a:r>
          </a:p>
          <a:p xmlns:a="http://schemas.openxmlformats.org/drawingml/2006/main">
            <a:r>
              <a:t>- The model-health control escalates if any formal backtest p-value falls below 0.05 or if breaches cluster operationally. GJR-HS currently passes, but its independence p-value of about 0.056 is close enough to monitor.</a:t>
            </a:r>
          </a:p>
          <a:p xmlns:a="http://schemas.openxmlformats.org/drawingml/2006/main">
            <a:r>
              <a:t>- A challenger model is an independently maintained alternative used to detect drift or blind spots in the primary model.</a:t>
            </a:r>
          </a:p>
          <a:p xmlns:a="http://schemas.openxmlformats.org/drawingml/2006/main">
            <a:r>
              <a:t>- Key limitations remain: survivorship and selection bias, sample sensitivity, square-root-of-time scaling, historical scenarios that cannot cover every future crisis, and the need for independent price and corporate-action reconciliation.</a:t>
            </a:r>
          </a:p>
          <a:p xmlns:a="http://schemas.openxmlformats.org/drawingml/2006/main">
            <a:r>
              <a:t>- Transition: “I will close with the operating model and the immediate decisions requested from the committee.”</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15 — RECOMMENDATION AND CLOSE</a:t>
            </a:r>
          </a:p>
          <a:p xmlns:a="http://schemas.openxmlformats.org/drawingml/2006/main">
            <a:r>
              <a:t/>
            </a:r>
          </a:p>
          <a:p xmlns:a="http://schemas.openxmlformats.org/drawingml/2006/main">
            <a:r>
              <a:t>- What to say: “Adopt GJR-HS as the primary monitoring model, retain EWMA-HS as the challenger, and make stress and attribution mandatory complements.”</a:t>
            </a:r>
          </a:p>
          <a:p xmlns:a="http://schemas.openxmlformats.org/drawingml/2006/main">
            <a:r>
              <a:t>- Primary model means the official model used for routine reporting and limit monitoring.</a:t>
            </a:r>
          </a:p>
          <a:p xmlns:a="http://schemas.openxmlformats.org/drawingml/2006/main">
            <a:r>
              <a:t>- Challenger model means a separately specified model used to question the primary result. A material gap between them should be investigated, not averaged away automatically.</a:t>
            </a:r>
          </a:p>
          <a:p xmlns:a="http://schemas.openxmlformats.org/drawingml/2006/main">
            <a:r>
              <a:t>- The recommended control cycle is daily measurement, exception review after every breach, monthly model comparison, and quarterly risk-committee review or immediate review after a material portfolio change.</a:t>
            </a:r>
          </a:p>
          <a:p xmlns:a="http://schemas.openxmlformats.org/drawingml/2006/main">
            <a:r>
              <a:t>- Immediate action 1: decide whether the 44.1% stress loss fits risk appetite. If it does not, reduce exposure or add a hedge and rerun the scenario.</a:t>
            </a:r>
          </a:p>
          <a:p xmlns:a="http://schemas.openxmlformats.org/drawingml/2006/main">
            <a:r>
              <a:t>- Immediate action 2: review Tesla’s roughly 19.9% ES share and decide whether to reduce, hedge, or accept the concentration.</a:t>
            </a:r>
          </a:p>
          <a:p xmlns:a="http://schemas.openxmlformats.org/drawingml/2006/main">
            <a:r>
              <a:t>- Immediate action 3: approve exact limits, owners, and escalation timelines. A number without an owner and action is only a report, not a control.</a:t>
            </a:r>
          </a:p>
          <a:p xmlns:a="http://schemas.openxmlformats.org/drawingml/2006/main">
            <a:r>
              <a:t>- Immediate action 4: independently reconcile every future exception and retain an audit trail containing data, model version, forecast, realized loss, cause, and decision.</a:t>
            </a:r>
          </a:p>
          <a:p xmlns:a="http://schemas.openxmlformats.org/drawingml/2006/main">
            <a:r>
              <a:t>- Final reminder: the framework does not predict the future. It creates a disciplined way to measure ordinary risk, challenge the model, imagine severe losses, and make decisions consistently.</a:t>
            </a:r>
          </a:p>
          <a:p xmlns:a="http://schemas.openxmlformats.org/drawingml/2006/main">
            <a:r>
              <a:t>- Closing sentence: “The central recommendation is not one perfect number; it is a controlled system consisting of a primary model, a challenger, stress tests, attribution, and explicit governance.”</a:t>
            </a:r>
          </a:p>
          <a:p xmlns:a="http://schemas.openxmlformats.org/drawingml/2006/main">
            <a:r>
              <a:t/>
            </a:r>
          </a:p>
          <a:p xmlns:a="http://schemas.openxmlformats.org/drawingml/2006/main">
            <a:r>
              <a:t>Source: QFI_V2_report.docx; Advanced Equity Portfolio Risk Management brief; report_assets/results.json and presentation_backtest.json, as of 16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b69bf6c2bdc4f7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fa8fa7307ed47d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4bfc756425f429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4c2ae3f5ea74c5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ff4e8cae73b47c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e73dba1c4344f6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6D10886-5E74-42BF-A3A0-F27CBA013DE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90483A9-789C-482C-B6EB-479F827E580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9C6B846-393D-4D9F-BD04-62C7602E120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D04662A-EF33-45C0-A0F7-2548AAEC7F4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2AFB8F6-D376-4725-A409-66FD8BE628C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EEFFB1D-6B8A-4ADB-87B1-61A0B8B056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E8E6E8A-DC57-4ECB-8401-3886D1C9221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C2783FA-BC60-4B30-895C-C2DCD5B5AE8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E3241D-F035-44F7-BF57-4BC9B0F03F1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A6F1843-7844-4164-9FD8-192210B0EE0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d6b37da8fe94c77" /><Relationship Type="http://schemas.openxmlformats.org/officeDocument/2006/relationships/slideLayout" Target="/ppt/slideLayouts/slideLayout1.xml" Id="R3c4489dfc1fb4c1a" /><Relationship Type="http://schemas.openxmlformats.org/officeDocument/2006/relationships/slideLayout" Target="/ppt/slideLayouts/slideLayout2.xml" Id="Re612e4926f7c44d6" /><Relationship Type="http://schemas.openxmlformats.org/officeDocument/2006/relationships/slideLayout" Target="/ppt/slideLayouts/slideLayout3.xml" Id="Rc0fc846529c942a9" /><Relationship Type="http://schemas.openxmlformats.org/officeDocument/2006/relationships/slideLayout" Target="/ppt/slideLayouts/slideLayout4.xml" Id="R364590e6468542dd" /><Relationship Type="http://schemas.openxmlformats.org/officeDocument/2006/relationships/slideLayout" Target="/ppt/slideLayouts/slideLayout5.xml" Id="Rd444b704b2914dcd" /><Relationship Type="http://schemas.openxmlformats.org/officeDocument/2006/relationships/slideLayout" Target="/ppt/slideLayouts/slideLayout6.xml" Id="R6d4faf0f827149d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c4489dfc1fb4c1a"/>
    <p:sldLayoutId xmlns:r="http://schemas.openxmlformats.org/officeDocument/2006/relationships" id="2147483650" r:id="Re612e4926f7c44d6"/>
    <p:sldLayoutId xmlns:r="http://schemas.openxmlformats.org/officeDocument/2006/relationships" id="2147483651" r:id="Rc0fc846529c942a9"/>
    <p:sldLayoutId xmlns:r="http://schemas.openxmlformats.org/officeDocument/2006/relationships" id="2147483652" r:id="R364590e6468542dd"/>
    <p:sldLayoutId xmlns:r="http://schemas.openxmlformats.org/officeDocument/2006/relationships" id="2147483653" r:id="Rd444b704b2914dcd"/>
    <p:sldLayoutId xmlns:r="http://schemas.openxmlformats.org/officeDocument/2006/relationships" id="2147483654" r:id="R6d4faf0f827149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QFI Editorial">
      <a:dk1>
        <a:srgbClr val="1B2928"/>
      </a:dk1>
      <a:lt1>
        <a:srgbClr val="FFFEFB"/>
      </a:lt1>
      <a:dk2>
        <a:srgbClr val="174C4F"/>
      </a:dk2>
      <a:lt2>
        <a:srgbClr val="F6F1E8"/>
      </a:lt2>
      <a:accent1>
        <a:srgbClr val="174C4F"/>
      </a:accent1>
      <a:accent2>
        <a:srgbClr val="C9973A"/>
      </a:accent2>
      <a:accent3>
        <a:srgbClr val="B84A3A"/>
      </a:accent3>
      <a:accent4>
        <a:srgbClr val="477F8F"/>
      </a:accent4>
      <a:accent5>
        <a:srgbClr val="2E6A68"/>
      </a:accent5>
      <a:accent6>
        <a:srgbClr val="8E7446"/>
      </a:accent6>
      <a:hlink>
        <a:srgbClr val="477F8F"/>
      </a:hlink>
      <a:folHlink>
        <a:srgbClr val="B84A3A"/>
      </a:folHlink>
    </a:clrScheme>
    <a:fontScheme name="">
      <a:majorFont>
        <a:latin typeface="Arial"/>
        <a:ea typeface=""/>
        <a:cs typeface=""/>
      </a:majorFont>
      <a:minorFont>
        <a:latin typeface="Arial"/>
        <a:ea typeface=""/>
        <a:cs typeface=""/>
      </a:minorFont>
    </a:fontScheme>
    <a:fmtScheme name="QFI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181548091494899" /><Relationship Type="http://schemas.openxmlformats.org/officeDocument/2006/relationships/notesSlide" Target="/ppt/notesSlides/notesSlide1.xml" Id="Rd060167daf7b457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a057cb09af94137" /><Relationship Type="http://schemas.openxmlformats.org/officeDocument/2006/relationships/notesSlide" Target="/ppt/notesSlides/notesSlide2.xml" Id="R56c98a2e98c54f1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24b0c3c5056441a" /><Relationship Type="http://schemas.openxmlformats.org/officeDocument/2006/relationships/notesSlide" Target="/ppt/notesSlides/notesSlide3.xml" Id="Rb4080a9dc48143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9efe26194924cfd" /><Relationship Type="http://schemas.openxmlformats.org/officeDocument/2006/relationships/chart" Target="/ppt/slides/charts/chart1.xml" Id="R592df15c34064de2" /><Relationship Type="http://schemas.openxmlformats.org/officeDocument/2006/relationships/notesSlide" Target="/ppt/notesSlides/notesSlide4.xml" Id="Rfc4b1ce377ec46b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d7e3f43030641e7" /><Relationship Type="http://schemas.openxmlformats.org/officeDocument/2006/relationships/notesSlide" Target="/ppt/notesSlides/notesSlide5.xml" Id="Rb5b746dd70e8416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0e6b4ce54664b6c" /><Relationship Type="http://schemas.openxmlformats.org/officeDocument/2006/relationships/chart" Target="/ppt/slides/charts/chart2.xml" Id="Rbcce46b865654995" /><Relationship Type="http://schemas.openxmlformats.org/officeDocument/2006/relationships/notesSlide" Target="/ppt/notesSlides/notesSlide6.xml" Id="R3c0806745be2484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5f71134264f497b" /><Relationship Type="http://schemas.openxmlformats.org/officeDocument/2006/relationships/notesSlide" Target="/ppt/notesSlides/notesSlide7.xml" Id="R70df16e0107d49a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ed0e4bf282642d0" /><Relationship Type="http://schemas.openxmlformats.org/officeDocument/2006/relationships/chart" Target="/ppt/slides/charts/chart3.xml" Id="R9e99b8af4e2d477e" /><Relationship Type="http://schemas.openxmlformats.org/officeDocument/2006/relationships/notesSlide" Target="/ppt/notesSlides/notesSlide8.xml" Id="R84b9fe9b845847d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f4c25b6ad424afa" /><Relationship Type="http://schemas.openxmlformats.org/officeDocument/2006/relationships/chart" Target="/ppt/slides/charts/chart4.xml" Id="R04e8002fc2eb4125" /><Relationship Type="http://schemas.openxmlformats.org/officeDocument/2006/relationships/notesSlide" Target="/ppt/notesSlides/notesSlide9.xml" Id="Rd17309b9da85491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f7cb8b515ed44c7" /><Relationship Type="http://schemas.openxmlformats.org/officeDocument/2006/relationships/notesSlide" Target="/ppt/notesSlides/notesSlide10.xml" Id="R0317f60175084ad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f0b440d13e54e77" /><Relationship Type="http://schemas.openxmlformats.org/officeDocument/2006/relationships/chart" Target="/ppt/slides/charts/chart5.xml" Id="R7ea4c11002d94496" /><Relationship Type="http://schemas.openxmlformats.org/officeDocument/2006/relationships/notesSlide" Target="/ppt/notesSlides/notesSlide11.xml" Id="R820938e53faf454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68d9fd2d98b4b4b" /><Relationship Type="http://schemas.openxmlformats.org/officeDocument/2006/relationships/chart" Target="/ppt/slides/charts/chart6.xml" Id="R58ec0530ffd24113" /><Relationship Type="http://schemas.openxmlformats.org/officeDocument/2006/relationships/notesSlide" Target="/ppt/notesSlides/notesSlide12.xml" Id="R3d25f0f9d5d9485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dddc891008b470a" /><Relationship Type="http://schemas.openxmlformats.org/officeDocument/2006/relationships/chart" Target="/ppt/slides/charts/chart7.xml" Id="R6d0ad76c41684639" /><Relationship Type="http://schemas.openxmlformats.org/officeDocument/2006/relationships/notesSlide" Target="/ppt/notesSlides/notesSlide13.xml" Id="R2c8a5aa072074de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84ab07270244b57" /><Relationship Type="http://schemas.openxmlformats.org/officeDocument/2006/relationships/notesSlide" Target="/ppt/notesSlides/notesSlide14.xml" Id="Rbc146e057ff5428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d6a8834d11b41c7" /><Relationship Type="http://schemas.openxmlformats.org/officeDocument/2006/relationships/notesSlide" Target="/ppt/notesSlides/notesSlide15.xml" Id="R91750114c8394a3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Average absolute move, next 5 days</c:v>
          </c:tx>
          <c:spPr>
            <a:solidFill xmlns:a="http://schemas.openxmlformats.org/drawingml/2006/main">
              <a:srgbClr val="B84A3A"/>
            </a:solidFill>
          </c:spPr>
          <c:invertIfNegative val="0"/>
          <c:cat>
            <c:strRef>
              <c:f>'Chart Data'!$A$2:$A$8</c:f>
              <c:strCache>
                <c:ptCount val="7"/>
                <c:pt idx="0">
                  <c:v>below -3%</c:v>
                </c:pt>
                <c:pt idx="1">
                  <c:v>-3% to -1.5%</c:v>
                </c:pt>
                <c:pt idx="2">
                  <c:v>-1.5% to -0.5%</c:v>
                </c:pt>
                <c:pt idx="3">
                  <c:v>-0.5% to +0.5%</c:v>
                </c:pt>
                <c:pt idx="4">
                  <c:v>+0.5% to +1.5%</c:v>
                </c:pt>
                <c:pt idx="5">
                  <c:v>+1.5% to +3%</c:v>
                </c:pt>
                <c:pt idx="6">
                  <c:v>above +3%</c:v>
                </c:pt>
              </c:strCache>
            </c:strRef>
          </c:cat>
          <c:val>
            <c:numRef>
              <c:f>'Chart Data'!$B$2:$B$8</c:f>
              <c:numCache>
                <c:formatCode>0.0\%</c:formatCode>
                <c:ptCount val="7"/>
                <c:pt idx="0">
                  <c:v>2.1908</c:v>
                </c:pt>
                <c:pt idx="1">
                  <c:v>1.271</c:v>
                </c:pt>
                <c:pt idx="2">
                  <c:v>0.9987</c:v>
                </c:pt>
                <c:pt idx="3">
                  <c:v>0.8471</c:v>
                </c:pt>
                <c:pt idx="4">
                  <c:v>0.8646</c:v>
                </c:pt>
                <c:pt idx="5">
                  <c:v>1.06</c:v>
                </c:pt>
                <c:pt idx="6">
                  <c:v>1.8324</c:v>
                </c:pt>
              </c:numCache>
            </c:numRef>
          </c:val>
        </c:ser>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7D0C1"/>
            </a:solidFill>
            <a:prstDash val="solid"/>
          </a:ln>
        </c:spPr>
        <c:txPr>
          <a:bodyPr xmlns:a="http://schemas.openxmlformats.org/drawingml/2006/main" anchorCtr="1"/>
          <a:lstStyle xmlns:a="http://schemas.openxmlformats.org/drawingml/2006/main"/>
          <a:p xmlns:a="http://schemas.openxmlformats.org/drawingml/2006/main">
            <a:pPr>
              <a:defRPr sz="825">
                <a:solidFill>
                  <a:srgbClr val="5E6865"/>
                </a:solidFill>
              </a:defRPr>
            </a:pPr>
          </a:p>
        </c:txPr>
        <c:crossAx val="48672768"/>
      </c:catAx>
      <c:valAx>
        <c:axId val="48672768"/>
        <c:scaling>
          <c:orientation val="minMax"/>
          <c:max val="2.6"/>
          <c:min val="0"/>
        </c:scaling>
        <c:delete val="0"/>
        <c:axPos val="l"/>
        <c:majorGridlines>
          <c:spPr>
            <a:ln xmlns:a="http://schemas.openxmlformats.org/drawingml/2006/main" w="9525">
              <a:solidFill>
                <a:srgbClr val="E7E1D6"/>
              </a:solidFill>
              <a:prstDash val="solid"/>
            </a:ln>
          </c:spPr>
        </c:majorGridlines>
        <c:numFmt formatCode="0.0\%"/>
        <c:majorTickMark val="none"/>
        <c:minorTickMark val="none"/>
        <c:spPr>
          <a:ln xmlns:a="http://schemas.openxmlformats.org/drawingml/2006/main" w="9525">
            <a:solidFill>
              <a:srgbClr val="D7D0C1"/>
            </a:solidFill>
            <a:prstDash val="solid"/>
          </a:ln>
        </c:spPr>
        <c:txPr>
          <a:bodyPr xmlns:a="http://schemas.openxmlformats.org/drawingml/2006/main" anchorCtr="1"/>
          <a:lstStyle xmlns:a="http://schemas.openxmlformats.org/drawingml/2006/main"/>
          <a:p xmlns:a="http://schemas.openxmlformats.org/drawingml/2006/main">
            <a:pPr>
              <a:defRPr sz="825">
                <a:solidFill>
                  <a:srgbClr val="5E6865"/>
                </a:solidFill>
              </a:defRPr>
            </a:pPr>
          </a:p>
        </c:txPr>
        <c:crossAx val="48650112"/>
        <c:crossBetween val="between"/>
      </c:valAx>
      <c:spPr>
        <a:noFill xmlns:a="http://schemas.openxmlformats.org/drawingml/2006/main"/>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VaR ($000s)</c:v>
          </c:tx>
          <c:spPr>
            <a:solidFill xmlns:a="http://schemas.openxmlformats.org/drawingml/2006/main">
              <a:srgbClr val="174C4F"/>
            </a:solidFill>
          </c:spPr>
          <c:invertIfNegative val="0"/>
          <c:cat>
            <c:strRef>
              <c:f>'Chart Data'!$A$2:$A$5</c:f>
              <c:strCache>
                <c:ptCount val="4"/>
                <c:pt idx="0">
                  <c:v>HS</c:v>
                </c:pt>
                <c:pt idx="1">
                  <c:v>EWMA-HS</c:v>
                </c:pt>
                <c:pt idx="2">
                  <c:v>GARCH-HS</c:v>
                </c:pt>
                <c:pt idx="3">
                  <c:v>GJR-HS</c:v>
                </c:pt>
              </c:strCache>
            </c:strRef>
          </c:cat>
          <c:val>
            <c:numRef>
              <c:f>'Chart Data'!$B$2:$B$5</c:f>
              <c:numCache>
                <c:formatCode>$0</c:formatCode>
                <c:ptCount val="4"/>
                <c:pt idx="0">
                  <c:v>336.5357</c:v>
                </c:pt>
                <c:pt idx="1">
                  <c:v>247.1324</c:v>
                </c:pt>
                <c:pt idx="2">
                  <c:v>278.7506</c:v>
                </c:pt>
                <c:pt idx="3">
                  <c:v>296.8089</c:v>
                </c:pt>
              </c:numCache>
            </c:numRef>
          </c:val>
        </c:ser>
        <c:ser>
          <c:idx val="1"/>
          <c:order val="1"/>
          <c:tx>
            <c:v>ES ($000s)</c:v>
          </c:tx>
          <c:spPr>
            <a:solidFill xmlns:a="http://schemas.openxmlformats.org/drawingml/2006/main">
              <a:srgbClr val="C9973A"/>
            </a:solidFill>
          </c:spPr>
          <c:invertIfNegative val="0"/>
          <c:cat>
            <c:strRef>
              <c:f>'Chart Data'!$C$2:$C$5</c:f>
              <c:strCache>
                <c:ptCount val="4"/>
                <c:pt idx="0">
                  <c:v>HS</c:v>
                </c:pt>
                <c:pt idx="1">
                  <c:v>EWMA-HS</c:v>
                </c:pt>
                <c:pt idx="2">
                  <c:v>GARCH-HS</c:v>
                </c:pt>
                <c:pt idx="3">
                  <c:v>GJR-HS</c:v>
                </c:pt>
              </c:strCache>
            </c:strRef>
          </c:cat>
          <c:val>
            <c:numRef>
              <c:f>'Chart Data'!$D$2:$D$5</c:f>
              <c:numCache>
                <c:formatCode>$0</c:formatCode>
                <c:ptCount val="4"/>
                <c:pt idx="0">
                  <c:v>463.3374</c:v>
                </c:pt>
                <c:pt idx="1">
                  <c:v>284.8247</c:v>
                </c:pt>
                <c:pt idx="2">
                  <c:v>323.5322</c:v>
                </c:pt>
                <c:pt idx="3">
                  <c:v>338.4454</c:v>
                </c:pt>
              </c:numCache>
            </c:numRef>
          </c:val>
        </c:ser>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7D0C1"/>
            </a:solidFill>
            <a:prstDash val="solid"/>
          </a:ln>
        </c:spPr>
        <c:txPr>
          <a:bodyPr xmlns:a="http://schemas.openxmlformats.org/drawingml/2006/main" anchorCtr="1"/>
          <a:lstStyle xmlns:a="http://schemas.openxmlformats.org/drawingml/2006/main"/>
          <a:p xmlns:a="http://schemas.openxmlformats.org/drawingml/2006/main">
            <a:pPr>
              <a:defRPr sz="825">
                <a:solidFill>
                  <a:srgbClr val="5E6865"/>
                </a:solidFill>
              </a:defRPr>
            </a:pPr>
          </a:p>
        </c:txPr>
        <c:crossAx val="48672768"/>
      </c:catAx>
      <c:valAx>
        <c:axId val="48672768"/>
        <c:scaling>
          <c:orientation val="minMax"/>
          <c:max val="520"/>
          <c:min val="0"/>
        </c:scaling>
        <c:delete val="0"/>
        <c:axPos val="l"/>
        <c:majorGridlines>
          <c:spPr>
            <a:ln xmlns:a="http://schemas.openxmlformats.org/drawingml/2006/main" w="9525">
              <a:solidFill>
                <a:srgbClr val="E7E1D6"/>
              </a:solidFill>
              <a:prstDash val="solid"/>
            </a:ln>
          </c:spPr>
        </c:majorGridlines>
        <c:numFmt formatCode="$0"/>
        <c:majorTickMark val="none"/>
        <c:minorTickMark val="none"/>
        <c:spPr>
          <a:ln xmlns:a="http://schemas.openxmlformats.org/drawingml/2006/main" w="9525">
            <a:solidFill>
              <a:srgbClr val="D7D0C1"/>
            </a:solidFill>
            <a:prstDash val="solid"/>
          </a:ln>
        </c:spPr>
        <c:txPr>
          <a:bodyPr xmlns:a="http://schemas.openxmlformats.org/drawingml/2006/main" anchorCtr="1"/>
          <a:lstStyle xmlns:a="http://schemas.openxmlformats.org/drawingml/2006/main"/>
          <a:p xmlns:a="http://schemas.openxmlformats.org/drawingml/2006/main">
            <a:pPr>
              <a:defRPr sz="825">
                <a:solidFill>
                  <a:srgbClr val="5E6865"/>
                </a:solidFill>
              </a:defRPr>
            </a:pPr>
          </a:p>
        </c:txPr>
        <c:crossAx val="48650112"/>
        <c:crossBetween val="between"/>
      </c:valAx>
      <c:spPr>
        <a:noFill xmlns:a="http://schemas.openxmlformats.org/drawingml/2006/main"/>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900">
              <a:solidFill>
                <a:srgbClr val="5E6865"/>
              </a:solidFil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Realized P&amp;L ($000s)</c:v>
          </c:tx>
          <c:spPr>
            <a:ln xmlns:a="http://schemas.openxmlformats.org/drawingml/2006/main" w="9525">
              <a:solidFill>
                <a:srgbClr val="89918E"/>
              </a:solidFill>
              <a:prstDash val="solid"/>
            </a:ln>
          </c:spPr>
          <c:marker>
            <c:symbol val="none"/>
            <c:size val="2"/>
          </c:marker>
          <c:cat>
            <c:strRef>
              <c:f>'Chart Data'!$A$2:$A$751</c:f>
              <c:strCache>
                <c:ptCount val="750"/>
                <c:pt idx="0">
                  <c:v>24 Oct 2023</c:v>
                </c:pt>
                <c:pt idx="1">
                  <c:v>25 Oct 2023</c:v>
                </c:pt>
                <c:pt idx="2">
                  <c:v>26 Oct 2023</c:v>
                </c:pt>
                <c:pt idx="3">
                  <c:v>27 Oct 2023</c:v>
                </c:pt>
                <c:pt idx="4">
                  <c:v>30 Oct 2023</c:v>
                </c:pt>
                <c:pt idx="5">
                  <c:v>31 Oct 2023</c:v>
                </c:pt>
                <c:pt idx="6">
                  <c:v>01 Nov 2023</c:v>
                </c:pt>
                <c:pt idx="7">
                  <c:v>02 Nov 2023</c:v>
                </c:pt>
                <c:pt idx="8">
                  <c:v>03 Nov 2023</c:v>
                </c:pt>
                <c:pt idx="9">
                  <c:v>06 Nov 2023</c:v>
                </c:pt>
                <c:pt idx="10">
                  <c:v>07 Nov 2023</c:v>
                </c:pt>
                <c:pt idx="11">
                  <c:v>08 Nov 2023</c:v>
                </c:pt>
                <c:pt idx="12">
                  <c:v>09 Nov 2023</c:v>
                </c:pt>
                <c:pt idx="13">
                  <c:v>10 Nov 2023</c:v>
                </c:pt>
                <c:pt idx="14">
                  <c:v>13 Nov 2023</c:v>
                </c:pt>
                <c:pt idx="15">
                  <c:v>14 Nov 2023</c:v>
                </c:pt>
                <c:pt idx="16">
                  <c:v>15 Nov 2023</c:v>
                </c:pt>
                <c:pt idx="17">
                  <c:v>16 Nov 2023</c:v>
                </c:pt>
                <c:pt idx="18">
                  <c:v>17 Nov 2023</c:v>
                </c:pt>
                <c:pt idx="19">
                  <c:v>20 Nov 2023</c:v>
                </c:pt>
                <c:pt idx="20">
                  <c:v>21 Nov 2023</c:v>
                </c:pt>
                <c:pt idx="21">
                  <c:v>22 Nov 2023</c:v>
                </c:pt>
                <c:pt idx="22">
                  <c:v>24 Nov 2023</c:v>
                </c:pt>
                <c:pt idx="23">
                  <c:v>27 Nov 2023</c:v>
                </c:pt>
                <c:pt idx="24">
                  <c:v>28 Nov 2023</c:v>
                </c:pt>
                <c:pt idx="25">
                  <c:v>29 Nov 2023</c:v>
                </c:pt>
                <c:pt idx="26">
                  <c:v>30 Nov 2023</c:v>
                </c:pt>
                <c:pt idx="27">
                  <c:v>01 Dec 2023</c:v>
                </c:pt>
                <c:pt idx="28">
                  <c:v>04 Dec 2023</c:v>
                </c:pt>
                <c:pt idx="29">
                  <c:v>05 Dec 2023</c:v>
                </c:pt>
                <c:pt idx="30">
                  <c:v>06 Dec 2023</c:v>
                </c:pt>
                <c:pt idx="31">
                  <c:v>07 Dec 2023</c:v>
                </c:pt>
                <c:pt idx="32">
                  <c:v>08 Dec 2023</c:v>
                </c:pt>
                <c:pt idx="33">
                  <c:v>11 Dec 2023</c:v>
                </c:pt>
                <c:pt idx="34">
                  <c:v>12 Dec 2023</c:v>
                </c:pt>
                <c:pt idx="35">
                  <c:v>13 Dec 2023</c:v>
                </c:pt>
                <c:pt idx="36">
                  <c:v>14 Dec 2023</c:v>
                </c:pt>
                <c:pt idx="37">
                  <c:v>15 Dec 2023</c:v>
                </c:pt>
                <c:pt idx="38">
                  <c:v>18 Dec 2023</c:v>
                </c:pt>
                <c:pt idx="39">
                  <c:v>19 Dec 2023</c:v>
                </c:pt>
                <c:pt idx="40">
                  <c:v>20 Dec 2023</c:v>
                </c:pt>
                <c:pt idx="41">
                  <c:v>21 Dec 2023</c:v>
                </c:pt>
                <c:pt idx="42">
                  <c:v>22 Dec 2023</c:v>
                </c:pt>
                <c:pt idx="43">
                  <c:v>26 Dec 2023</c:v>
                </c:pt>
                <c:pt idx="44">
                  <c:v>27 Dec 2023</c:v>
                </c:pt>
                <c:pt idx="45">
                  <c:v>28 Dec 2023</c:v>
                </c:pt>
                <c:pt idx="46">
                  <c:v>29 Dec 2023</c:v>
                </c:pt>
                <c:pt idx="47">
                  <c:v>02 Jan 2024</c:v>
                </c:pt>
                <c:pt idx="48">
                  <c:v>03 Jan 2024</c:v>
                </c:pt>
                <c:pt idx="49">
                  <c:v>04 Jan 2024</c:v>
                </c:pt>
                <c:pt idx="50">
                  <c:v>05 Jan 2024</c:v>
                </c:pt>
                <c:pt idx="51">
                  <c:v>08 Jan 2024</c:v>
                </c:pt>
                <c:pt idx="52">
                  <c:v>09 Jan 2024</c:v>
                </c:pt>
                <c:pt idx="53">
                  <c:v>10 Jan 2024</c:v>
                </c:pt>
                <c:pt idx="54">
                  <c:v>11 Jan 2024</c:v>
                </c:pt>
                <c:pt idx="55">
                  <c:v>12 Jan 2024</c:v>
                </c:pt>
                <c:pt idx="56">
                  <c:v>16 Jan 2024</c:v>
                </c:pt>
                <c:pt idx="57">
                  <c:v>17 Jan 2024</c:v>
                </c:pt>
                <c:pt idx="58">
                  <c:v>18 Jan 2024</c:v>
                </c:pt>
                <c:pt idx="59">
                  <c:v>19 Jan 2024</c:v>
                </c:pt>
                <c:pt idx="60">
                  <c:v>22 Jan 2024</c:v>
                </c:pt>
                <c:pt idx="61">
                  <c:v>23 Jan 2024</c:v>
                </c:pt>
                <c:pt idx="62">
                  <c:v>24 Jan 2024</c:v>
                </c:pt>
                <c:pt idx="63">
                  <c:v>25 Jan 2024</c:v>
                </c:pt>
                <c:pt idx="64">
                  <c:v>26 Jan 2024</c:v>
                </c:pt>
                <c:pt idx="65">
                  <c:v>29 Jan 2024</c:v>
                </c:pt>
                <c:pt idx="66">
                  <c:v>30 Jan 2024</c:v>
                </c:pt>
                <c:pt idx="67">
                  <c:v>31 Jan 2024</c:v>
                </c:pt>
                <c:pt idx="68">
                  <c:v>01 Feb 2024</c:v>
                </c:pt>
                <c:pt idx="69">
                  <c:v>02 Feb 2024</c:v>
                </c:pt>
                <c:pt idx="70">
                  <c:v>05 Feb 2024</c:v>
                </c:pt>
                <c:pt idx="71">
                  <c:v>06 Feb 2024</c:v>
                </c:pt>
                <c:pt idx="72">
                  <c:v>07 Feb 2024</c:v>
                </c:pt>
                <c:pt idx="73">
                  <c:v>08 Feb 2024</c:v>
                </c:pt>
                <c:pt idx="74">
                  <c:v>09 Feb 2024</c:v>
                </c:pt>
                <c:pt idx="75">
                  <c:v>12 Feb 2024</c:v>
                </c:pt>
                <c:pt idx="76">
                  <c:v>13 Feb 2024</c:v>
                </c:pt>
                <c:pt idx="77">
                  <c:v>14 Feb 2024</c:v>
                </c:pt>
                <c:pt idx="78">
                  <c:v>15 Feb 2024</c:v>
                </c:pt>
                <c:pt idx="79">
                  <c:v>16 Feb 2024</c:v>
                </c:pt>
                <c:pt idx="80">
                  <c:v>20 Feb 2024</c:v>
                </c:pt>
                <c:pt idx="81">
                  <c:v>21 Feb 2024</c:v>
                </c:pt>
                <c:pt idx="82">
                  <c:v>22 Feb 2024</c:v>
                </c:pt>
                <c:pt idx="83">
                  <c:v>23 Feb 2024</c:v>
                </c:pt>
                <c:pt idx="84">
                  <c:v>26 Feb 2024</c:v>
                </c:pt>
                <c:pt idx="85">
                  <c:v>27 Feb 2024</c:v>
                </c:pt>
                <c:pt idx="86">
                  <c:v>28 Feb 2024</c:v>
                </c:pt>
                <c:pt idx="87">
                  <c:v>29 Feb 2024</c:v>
                </c:pt>
                <c:pt idx="88">
                  <c:v>01 Mar 2024</c:v>
                </c:pt>
                <c:pt idx="89">
                  <c:v>04 Mar 2024</c:v>
                </c:pt>
                <c:pt idx="90">
                  <c:v>05 Mar 2024</c:v>
                </c:pt>
                <c:pt idx="91">
                  <c:v>06 Mar 2024</c:v>
                </c:pt>
                <c:pt idx="92">
                  <c:v>07 Mar 2024</c:v>
                </c:pt>
                <c:pt idx="93">
                  <c:v>08 Mar 2024</c:v>
                </c:pt>
                <c:pt idx="94">
                  <c:v>11 Mar 2024</c:v>
                </c:pt>
                <c:pt idx="95">
                  <c:v>12 Mar 2024</c:v>
                </c:pt>
                <c:pt idx="96">
                  <c:v>13 Mar 2024</c:v>
                </c:pt>
                <c:pt idx="97">
                  <c:v>14 Mar 2024</c:v>
                </c:pt>
                <c:pt idx="98">
                  <c:v>15 Mar 2024</c:v>
                </c:pt>
                <c:pt idx="99">
                  <c:v>18 Mar 2024</c:v>
                </c:pt>
                <c:pt idx="100">
                  <c:v>19 Mar 2024</c:v>
                </c:pt>
                <c:pt idx="101">
                  <c:v>20 Mar 2024</c:v>
                </c:pt>
                <c:pt idx="102">
                  <c:v>21 Mar 2024</c:v>
                </c:pt>
                <c:pt idx="103">
                  <c:v>22 Mar 2024</c:v>
                </c:pt>
                <c:pt idx="104">
                  <c:v>25 Mar 2024</c:v>
                </c:pt>
                <c:pt idx="105">
                  <c:v>26 Mar 2024</c:v>
                </c:pt>
                <c:pt idx="106">
                  <c:v>27 Mar 2024</c:v>
                </c:pt>
                <c:pt idx="107">
                  <c:v>28 Mar 2024</c:v>
                </c:pt>
                <c:pt idx="108">
                  <c:v>01 Apr 2024</c:v>
                </c:pt>
                <c:pt idx="109">
                  <c:v>02 Apr 2024</c:v>
                </c:pt>
                <c:pt idx="110">
                  <c:v>03 Apr 2024</c:v>
                </c:pt>
                <c:pt idx="111">
                  <c:v>04 Apr 2024</c:v>
                </c:pt>
                <c:pt idx="112">
                  <c:v>05 Apr 2024</c:v>
                </c:pt>
                <c:pt idx="113">
                  <c:v>08 Apr 2024</c:v>
                </c:pt>
                <c:pt idx="114">
                  <c:v>09 Apr 2024</c:v>
                </c:pt>
                <c:pt idx="115">
                  <c:v>10 Apr 2024</c:v>
                </c:pt>
                <c:pt idx="116">
                  <c:v>11 Apr 2024</c:v>
                </c:pt>
                <c:pt idx="117">
                  <c:v>12 Apr 2024</c:v>
                </c:pt>
                <c:pt idx="118">
                  <c:v>15 Apr 2024</c:v>
                </c:pt>
                <c:pt idx="119">
                  <c:v>16 Apr 2024</c:v>
                </c:pt>
                <c:pt idx="120">
                  <c:v>17 Apr 2024</c:v>
                </c:pt>
                <c:pt idx="121">
                  <c:v>18 Apr 2024</c:v>
                </c:pt>
                <c:pt idx="122">
                  <c:v>19 Apr 2024</c:v>
                </c:pt>
                <c:pt idx="123">
                  <c:v>22 Apr 2024</c:v>
                </c:pt>
                <c:pt idx="124">
                  <c:v>23 Apr 2024</c:v>
                </c:pt>
                <c:pt idx="125">
                  <c:v>24 Apr 2024</c:v>
                </c:pt>
                <c:pt idx="126">
                  <c:v>25 Apr 2024</c:v>
                </c:pt>
                <c:pt idx="127">
                  <c:v>26 Apr 2024</c:v>
                </c:pt>
                <c:pt idx="128">
                  <c:v>29 Apr 2024</c:v>
                </c:pt>
                <c:pt idx="129">
                  <c:v>30 Apr 2024</c:v>
                </c:pt>
                <c:pt idx="130">
                  <c:v>01 May 2024</c:v>
                </c:pt>
                <c:pt idx="131">
                  <c:v>02 May 2024</c:v>
                </c:pt>
                <c:pt idx="132">
                  <c:v>03 May 2024</c:v>
                </c:pt>
                <c:pt idx="133">
                  <c:v>06 May 2024</c:v>
                </c:pt>
                <c:pt idx="134">
                  <c:v>07 May 2024</c:v>
                </c:pt>
                <c:pt idx="135">
                  <c:v>08 May 2024</c:v>
                </c:pt>
                <c:pt idx="136">
                  <c:v>09 May 2024</c:v>
                </c:pt>
                <c:pt idx="137">
                  <c:v>10 May 2024</c:v>
                </c:pt>
                <c:pt idx="138">
                  <c:v>13 May 2024</c:v>
                </c:pt>
                <c:pt idx="139">
                  <c:v>14 May 2024</c:v>
                </c:pt>
                <c:pt idx="140">
                  <c:v>15 May 2024</c:v>
                </c:pt>
                <c:pt idx="141">
                  <c:v>16 May 2024</c:v>
                </c:pt>
                <c:pt idx="142">
                  <c:v>17 May 2024</c:v>
                </c:pt>
                <c:pt idx="143">
                  <c:v>20 May 2024</c:v>
                </c:pt>
                <c:pt idx="144">
                  <c:v>21 May 2024</c:v>
                </c:pt>
                <c:pt idx="145">
                  <c:v>22 May 2024</c:v>
                </c:pt>
                <c:pt idx="146">
                  <c:v>23 May 2024</c:v>
                </c:pt>
                <c:pt idx="147">
                  <c:v>24 May 2024</c:v>
                </c:pt>
                <c:pt idx="148">
                  <c:v>28 May 2024</c:v>
                </c:pt>
                <c:pt idx="149">
                  <c:v>29 May 2024</c:v>
                </c:pt>
                <c:pt idx="150">
                  <c:v>30 May 2024</c:v>
                </c:pt>
                <c:pt idx="151">
                  <c:v>31 May 2024</c:v>
                </c:pt>
                <c:pt idx="152">
                  <c:v>03 Jun 2024</c:v>
                </c:pt>
                <c:pt idx="153">
                  <c:v>04 Jun 2024</c:v>
                </c:pt>
                <c:pt idx="154">
                  <c:v>05 Jun 2024</c:v>
                </c:pt>
                <c:pt idx="155">
                  <c:v>06 Jun 2024</c:v>
                </c:pt>
                <c:pt idx="156">
                  <c:v>07 Jun 2024</c:v>
                </c:pt>
                <c:pt idx="157">
                  <c:v>10 Jun 2024</c:v>
                </c:pt>
                <c:pt idx="158">
                  <c:v>11 Jun 2024</c:v>
                </c:pt>
                <c:pt idx="159">
                  <c:v>12 Jun 2024</c:v>
                </c:pt>
                <c:pt idx="160">
                  <c:v>13 Jun 2024</c:v>
                </c:pt>
                <c:pt idx="161">
                  <c:v>14 Jun 2024</c:v>
                </c:pt>
                <c:pt idx="162">
                  <c:v>17 Jun 2024</c:v>
                </c:pt>
                <c:pt idx="163">
                  <c:v>18 Jun 2024</c:v>
                </c:pt>
                <c:pt idx="164">
                  <c:v>20 Jun 2024</c:v>
                </c:pt>
                <c:pt idx="165">
                  <c:v>21 Jun 2024</c:v>
                </c:pt>
                <c:pt idx="166">
                  <c:v>24 Jun 2024</c:v>
                </c:pt>
                <c:pt idx="167">
                  <c:v>25 Jun 2024</c:v>
                </c:pt>
                <c:pt idx="168">
                  <c:v>26 Jun 2024</c:v>
                </c:pt>
                <c:pt idx="169">
                  <c:v>27 Jun 2024</c:v>
                </c:pt>
                <c:pt idx="170">
                  <c:v>28 Jun 2024</c:v>
                </c:pt>
                <c:pt idx="171">
                  <c:v>01 Jul 2024</c:v>
                </c:pt>
                <c:pt idx="172">
                  <c:v>02 Jul 2024</c:v>
                </c:pt>
                <c:pt idx="173">
                  <c:v>03 Jul 2024</c:v>
                </c:pt>
                <c:pt idx="174">
                  <c:v>05 Jul 2024</c:v>
                </c:pt>
                <c:pt idx="175">
                  <c:v>08 Jul 2024</c:v>
                </c:pt>
                <c:pt idx="176">
                  <c:v>09 Jul 2024</c:v>
                </c:pt>
                <c:pt idx="177">
                  <c:v>10 Jul 2024</c:v>
                </c:pt>
                <c:pt idx="178">
                  <c:v>11 Jul 2024</c:v>
                </c:pt>
                <c:pt idx="179">
                  <c:v>12 Jul 2024</c:v>
                </c:pt>
                <c:pt idx="180">
                  <c:v>15 Jul 2024</c:v>
                </c:pt>
                <c:pt idx="181">
                  <c:v>16 Jul 2024</c:v>
                </c:pt>
                <c:pt idx="182">
                  <c:v>17 Jul 2024</c:v>
                </c:pt>
                <c:pt idx="183">
                  <c:v>18 Jul 2024</c:v>
                </c:pt>
                <c:pt idx="184">
                  <c:v>19 Jul 2024</c:v>
                </c:pt>
                <c:pt idx="185">
                  <c:v>22 Jul 2024</c:v>
                </c:pt>
                <c:pt idx="186">
                  <c:v>23 Jul 2024</c:v>
                </c:pt>
                <c:pt idx="187">
                  <c:v>24 Jul 2024</c:v>
                </c:pt>
                <c:pt idx="188">
                  <c:v>25 Jul 2024</c:v>
                </c:pt>
                <c:pt idx="189">
                  <c:v>26 Jul 2024</c:v>
                </c:pt>
                <c:pt idx="190">
                  <c:v>29 Jul 2024</c:v>
                </c:pt>
                <c:pt idx="191">
                  <c:v>30 Jul 2024</c:v>
                </c:pt>
                <c:pt idx="192">
                  <c:v>31 Jul 2024</c:v>
                </c:pt>
                <c:pt idx="193">
                  <c:v>01 Aug 2024</c:v>
                </c:pt>
                <c:pt idx="194">
                  <c:v>02 Aug 2024</c:v>
                </c:pt>
                <c:pt idx="195">
                  <c:v>05 Aug 2024</c:v>
                </c:pt>
                <c:pt idx="196">
                  <c:v>06 Aug 2024</c:v>
                </c:pt>
                <c:pt idx="197">
                  <c:v>07 Aug 2024</c:v>
                </c:pt>
                <c:pt idx="198">
                  <c:v>08 Aug 2024</c:v>
                </c:pt>
                <c:pt idx="199">
                  <c:v>09 Aug 2024</c:v>
                </c:pt>
                <c:pt idx="200">
                  <c:v>12 Aug 2024</c:v>
                </c:pt>
                <c:pt idx="201">
                  <c:v>13 Aug 2024</c:v>
                </c:pt>
                <c:pt idx="202">
                  <c:v>14 Aug 2024</c:v>
                </c:pt>
                <c:pt idx="203">
                  <c:v>15 Aug 2024</c:v>
                </c:pt>
                <c:pt idx="204">
                  <c:v>16 Aug 2024</c:v>
                </c:pt>
                <c:pt idx="205">
                  <c:v>19 Aug 2024</c:v>
                </c:pt>
                <c:pt idx="206">
                  <c:v>20 Aug 2024</c:v>
                </c:pt>
                <c:pt idx="207">
                  <c:v>21 Aug 2024</c:v>
                </c:pt>
                <c:pt idx="208">
                  <c:v>22 Aug 2024</c:v>
                </c:pt>
                <c:pt idx="209">
                  <c:v>23 Aug 2024</c:v>
                </c:pt>
                <c:pt idx="210">
                  <c:v>26 Aug 2024</c:v>
                </c:pt>
                <c:pt idx="211">
                  <c:v>27 Aug 2024</c:v>
                </c:pt>
                <c:pt idx="212">
                  <c:v>28 Aug 2024</c:v>
                </c:pt>
                <c:pt idx="213">
                  <c:v>29 Aug 2024</c:v>
                </c:pt>
                <c:pt idx="214">
                  <c:v>30 Aug 2024</c:v>
                </c:pt>
                <c:pt idx="215">
                  <c:v>03 Sep 2024</c:v>
                </c:pt>
                <c:pt idx="216">
                  <c:v>04 Sep 2024</c:v>
                </c:pt>
                <c:pt idx="217">
                  <c:v>05 Sep 2024</c:v>
                </c:pt>
                <c:pt idx="218">
                  <c:v>06 Sep 2024</c:v>
                </c:pt>
                <c:pt idx="219">
                  <c:v>09 Sep 2024</c:v>
                </c:pt>
                <c:pt idx="220">
                  <c:v>10 Sep 2024</c:v>
                </c:pt>
                <c:pt idx="221">
                  <c:v>11 Sep 2024</c:v>
                </c:pt>
                <c:pt idx="222">
                  <c:v>12 Sep 2024</c:v>
                </c:pt>
                <c:pt idx="223">
                  <c:v>13 Sep 2024</c:v>
                </c:pt>
                <c:pt idx="224">
                  <c:v>16 Sep 2024</c:v>
                </c:pt>
                <c:pt idx="225">
                  <c:v>17 Sep 2024</c:v>
                </c:pt>
                <c:pt idx="226">
                  <c:v>18 Sep 2024</c:v>
                </c:pt>
                <c:pt idx="227">
                  <c:v>19 Sep 2024</c:v>
                </c:pt>
                <c:pt idx="228">
                  <c:v>20 Sep 2024</c:v>
                </c:pt>
                <c:pt idx="229">
                  <c:v>23 Sep 2024</c:v>
                </c:pt>
                <c:pt idx="230">
                  <c:v>24 Sep 2024</c:v>
                </c:pt>
                <c:pt idx="231">
                  <c:v>25 Sep 2024</c:v>
                </c:pt>
                <c:pt idx="232">
                  <c:v>26 Sep 2024</c:v>
                </c:pt>
                <c:pt idx="233">
                  <c:v>27 Sep 2024</c:v>
                </c:pt>
                <c:pt idx="234">
                  <c:v>30 Sep 2024</c:v>
                </c:pt>
                <c:pt idx="235">
                  <c:v>01 Oct 2024</c:v>
                </c:pt>
                <c:pt idx="236">
                  <c:v>02 Oct 2024</c:v>
                </c:pt>
                <c:pt idx="237">
                  <c:v>03 Oct 2024</c:v>
                </c:pt>
                <c:pt idx="238">
                  <c:v>04 Oct 2024</c:v>
                </c:pt>
                <c:pt idx="239">
                  <c:v>07 Oct 2024</c:v>
                </c:pt>
                <c:pt idx="240">
                  <c:v>08 Oct 2024</c:v>
                </c:pt>
                <c:pt idx="241">
                  <c:v>09 Oct 2024</c:v>
                </c:pt>
                <c:pt idx="242">
                  <c:v>10 Oct 2024</c:v>
                </c:pt>
                <c:pt idx="243">
                  <c:v>11 Oct 2024</c:v>
                </c:pt>
                <c:pt idx="244">
                  <c:v>14 Oct 2024</c:v>
                </c:pt>
                <c:pt idx="245">
                  <c:v>15 Oct 2024</c:v>
                </c:pt>
                <c:pt idx="246">
                  <c:v>16 Oct 2024</c:v>
                </c:pt>
                <c:pt idx="247">
                  <c:v>17 Oct 2024</c:v>
                </c:pt>
                <c:pt idx="248">
                  <c:v>18 Oct 2024</c:v>
                </c:pt>
                <c:pt idx="249">
                  <c:v>21 Oct 2024</c:v>
                </c:pt>
                <c:pt idx="250">
                  <c:v>22 Oct 2024</c:v>
                </c:pt>
                <c:pt idx="251">
                  <c:v>23 Oct 2024</c:v>
                </c:pt>
                <c:pt idx="252">
                  <c:v>24 Oct 2024</c:v>
                </c:pt>
                <c:pt idx="253">
                  <c:v>25 Oct 2024</c:v>
                </c:pt>
                <c:pt idx="254">
                  <c:v>28 Oct 2024</c:v>
                </c:pt>
                <c:pt idx="255">
                  <c:v>29 Oct 2024</c:v>
                </c:pt>
                <c:pt idx="256">
                  <c:v>30 Oct 2024</c:v>
                </c:pt>
                <c:pt idx="257">
                  <c:v>31 Oct 2024</c:v>
                </c:pt>
                <c:pt idx="258">
                  <c:v>01 Nov 2024</c:v>
                </c:pt>
                <c:pt idx="259">
                  <c:v>04 Nov 2024</c:v>
                </c:pt>
                <c:pt idx="260">
                  <c:v>05 Nov 2024</c:v>
                </c:pt>
                <c:pt idx="261">
                  <c:v>06 Nov 2024</c:v>
                </c:pt>
                <c:pt idx="262">
                  <c:v>07 Nov 2024</c:v>
                </c:pt>
                <c:pt idx="263">
                  <c:v>08 Nov 2024</c:v>
                </c:pt>
                <c:pt idx="264">
                  <c:v>11 Nov 2024</c:v>
                </c:pt>
                <c:pt idx="265">
                  <c:v>12 Nov 2024</c:v>
                </c:pt>
                <c:pt idx="266">
                  <c:v>13 Nov 2024</c:v>
                </c:pt>
                <c:pt idx="267">
                  <c:v>14 Nov 2024</c:v>
                </c:pt>
                <c:pt idx="268">
                  <c:v>15 Nov 2024</c:v>
                </c:pt>
                <c:pt idx="269">
                  <c:v>18 Nov 2024</c:v>
                </c:pt>
                <c:pt idx="270">
                  <c:v>19 Nov 2024</c:v>
                </c:pt>
                <c:pt idx="271">
                  <c:v>20 Nov 2024</c:v>
                </c:pt>
                <c:pt idx="272">
                  <c:v>21 Nov 2024</c:v>
                </c:pt>
                <c:pt idx="273">
                  <c:v>22 Nov 2024</c:v>
                </c:pt>
                <c:pt idx="274">
                  <c:v>25 Nov 2024</c:v>
                </c:pt>
                <c:pt idx="275">
                  <c:v>26 Nov 2024</c:v>
                </c:pt>
                <c:pt idx="276">
                  <c:v>27 Nov 2024</c:v>
                </c:pt>
                <c:pt idx="277">
                  <c:v>29 Nov 2024</c:v>
                </c:pt>
                <c:pt idx="278">
                  <c:v>02 Dec 2024</c:v>
                </c:pt>
                <c:pt idx="279">
                  <c:v>03 Dec 2024</c:v>
                </c:pt>
                <c:pt idx="280">
                  <c:v>04 Dec 2024</c:v>
                </c:pt>
                <c:pt idx="281">
                  <c:v>05 Dec 2024</c:v>
                </c:pt>
                <c:pt idx="282">
                  <c:v>06 Dec 2024</c:v>
                </c:pt>
                <c:pt idx="283">
                  <c:v>09 Dec 2024</c:v>
                </c:pt>
                <c:pt idx="284">
                  <c:v>10 Dec 2024</c:v>
                </c:pt>
                <c:pt idx="285">
                  <c:v>11 Dec 2024</c:v>
                </c:pt>
                <c:pt idx="286">
                  <c:v>12 Dec 2024</c:v>
                </c:pt>
                <c:pt idx="287">
                  <c:v>13 Dec 2024</c:v>
                </c:pt>
                <c:pt idx="288">
                  <c:v>16 Dec 2024</c:v>
                </c:pt>
                <c:pt idx="289">
                  <c:v>17 Dec 2024</c:v>
                </c:pt>
                <c:pt idx="290">
                  <c:v>18 Dec 2024</c:v>
                </c:pt>
                <c:pt idx="291">
                  <c:v>19 Dec 2024</c:v>
                </c:pt>
                <c:pt idx="292">
                  <c:v>20 Dec 2024</c:v>
                </c:pt>
                <c:pt idx="293">
                  <c:v>23 Dec 2024</c:v>
                </c:pt>
                <c:pt idx="294">
                  <c:v>24 Dec 2024</c:v>
                </c:pt>
                <c:pt idx="295">
                  <c:v>26 Dec 2024</c:v>
                </c:pt>
                <c:pt idx="296">
                  <c:v>27 Dec 2024</c:v>
                </c:pt>
                <c:pt idx="297">
                  <c:v>30 Dec 2024</c:v>
                </c:pt>
                <c:pt idx="298">
                  <c:v>31 Dec 2024</c:v>
                </c:pt>
                <c:pt idx="299">
                  <c:v>02 Jan 2025</c:v>
                </c:pt>
                <c:pt idx="300">
                  <c:v>03 Jan 2025</c:v>
                </c:pt>
                <c:pt idx="301">
                  <c:v>06 Jan 2025</c:v>
                </c:pt>
                <c:pt idx="302">
                  <c:v>07 Jan 2025</c:v>
                </c:pt>
                <c:pt idx="303">
                  <c:v>08 Jan 2025</c:v>
                </c:pt>
                <c:pt idx="304">
                  <c:v>10 Jan 2025</c:v>
                </c:pt>
                <c:pt idx="305">
                  <c:v>13 Jan 2025</c:v>
                </c:pt>
                <c:pt idx="306">
                  <c:v>14 Jan 2025</c:v>
                </c:pt>
                <c:pt idx="307">
                  <c:v>15 Jan 2025</c:v>
                </c:pt>
                <c:pt idx="308">
                  <c:v>16 Jan 2025</c:v>
                </c:pt>
                <c:pt idx="309">
                  <c:v>17 Jan 2025</c:v>
                </c:pt>
                <c:pt idx="310">
                  <c:v>21 Jan 2025</c:v>
                </c:pt>
                <c:pt idx="311">
                  <c:v>22 Jan 2025</c:v>
                </c:pt>
                <c:pt idx="312">
                  <c:v>23 Jan 2025</c:v>
                </c:pt>
                <c:pt idx="313">
                  <c:v>24 Jan 2025</c:v>
                </c:pt>
                <c:pt idx="314">
                  <c:v>27 Jan 2025</c:v>
                </c:pt>
                <c:pt idx="315">
                  <c:v>28 Jan 2025</c:v>
                </c:pt>
                <c:pt idx="316">
                  <c:v>29 Jan 2025</c:v>
                </c:pt>
                <c:pt idx="317">
                  <c:v>30 Jan 2025</c:v>
                </c:pt>
                <c:pt idx="318">
                  <c:v>31 Jan 2025</c:v>
                </c:pt>
                <c:pt idx="319">
                  <c:v>03 Feb 2025</c:v>
                </c:pt>
                <c:pt idx="320">
                  <c:v>04 Feb 2025</c:v>
                </c:pt>
                <c:pt idx="321">
                  <c:v>05 Feb 2025</c:v>
                </c:pt>
                <c:pt idx="322">
                  <c:v>06 Feb 2025</c:v>
                </c:pt>
                <c:pt idx="323">
                  <c:v>07 Feb 2025</c:v>
                </c:pt>
                <c:pt idx="324">
                  <c:v>10 Feb 2025</c:v>
                </c:pt>
                <c:pt idx="325">
                  <c:v>11 Feb 2025</c:v>
                </c:pt>
                <c:pt idx="326">
                  <c:v>12 Feb 2025</c:v>
                </c:pt>
                <c:pt idx="327">
                  <c:v>13 Feb 2025</c:v>
                </c:pt>
                <c:pt idx="328">
                  <c:v>14 Feb 2025</c:v>
                </c:pt>
                <c:pt idx="329">
                  <c:v>18 Feb 2025</c:v>
                </c:pt>
                <c:pt idx="330">
                  <c:v>19 Feb 2025</c:v>
                </c:pt>
                <c:pt idx="331">
                  <c:v>20 Feb 2025</c:v>
                </c:pt>
                <c:pt idx="332">
                  <c:v>21 Feb 2025</c:v>
                </c:pt>
                <c:pt idx="333">
                  <c:v>24 Feb 2025</c:v>
                </c:pt>
                <c:pt idx="334">
                  <c:v>25 Feb 2025</c:v>
                </c:pt>
                <c:pt idx="335">
                  <c:v>26 Feb 2025</c:v>
                </c:pt>
                <c:pt idx="336">
                  <c:v>27 Feb 2025</c:v>
                </c:pt>
                <c:pt idx="337">
                  <c:v>28 Feb 2025</c:v>
                </c:pt>
                <c:pt idx="338">
                  <c:v>03 Mar 2025</c:v>
                </c:pt>
                <c:pt idx="339">
                  <c:v>04 Mar 2025</c:v>
                </c:pt>
                <c:pt idx="340">
                  <c:v>05 Mar 2025</c:v>
                </c:pt>
                <c:pt idx="341">
                  <c:v>06 Mar 2025</c:v>
                </c:pt>
                <c:pt idx="342">
                  <c:v>07 Mar 2025</c:v>
                </c:pt>
                <c:pt idx="343">
                  <c:v>10 Mar 2025</c:v>
                </c:pt>
                <c:pt idx="344">
                  <c:v>11 Mar 2025</c:v>
                </c:pt>
                <c:pt idx="345">
                  <c:v>12 Mar 2025</c:v>
                </c:pt>
                <c:pt idx="346">
                  <c:v>13 Mar 2025</c:v>
                </c:pt>
                <c:pt idx="347">
                  <c:v>14 Mar 2025</c:v>
                </c:pt>
                <c:pt idx="348">
                  <c:v>17 Mar 2025</c:v>
                </c:pt>
                <c:pt idx="349">
                  <c:v>18 Mar 2025</c:v>
                </c:pt>
                <c:pt idx="350">
                  <c:v>19 Mar 2025</c:v>
                </c:pt>
                <c:pt idx="351">
                  <c:v>20 Mar 2025</c:v>
                </c:pt>
                <c:pt idx="352">
                  <c:v>21 Mar 2025</c:v>
                </c:pt>
                <c:pt idx="353">
                  <c:v>24 Mar 2025</c:v>
                </c:pt>
                <c:pt idx="354">
                  <c:v>25 Mar 2025</c:v>
                </c:pt>
                <c:pt idx="355">
                  <c:v>26 Mar 2025</c:v>
                </c:pt>
                <c:pt idx="356">
                  <c:v>27 Mar 2025</c:v>
                </c:pt>
                <c:pt idx="357">
                  <c:v>28 Mar 2025</c:v>
                </c:pt>
                <c:pt idx="358">
                  <c:v>31 Mar 2025</c:v>
                </c:pt>
                <c:pt idx="359">
                  <c:v>01 Apr 2025</c:v>
                </c:pt>
                <c:pt idx="360">
                  <c:v>02 Apr 2025</c:v>
                </c:pt>
                <c:pt idx="361">
                  <c:v>03 Apr 2025</c:v>
                </c:pt>
                <c:pt idx="362">
                  <c:v>04 Apr 2025</c:v>
                </c:pt>
                <c:pt idx="363">
                  <c:v>07 Apr 2025</c:v>
                </c:pt>
                <c:pt idx="364">
                  <c:v>08 Apr 2025</c:v>
                </c:pt>
                <c:pt idx="365">
                  <c:v>09 Apr 2025</c:v>
                </c:pt>
                <c:pt idx="366">
                  <c:v>10 Apr 2025</c:v>
                </c:pt>
                <c:pt idx="367">
                  <c:v>11 Apr 2025</c:v>
                </c:pt>
                <c:pt idx="368">
                  <c:v>14 Apr 2025</c:v>
                </c:pt>
                <c:pt idx="369">
                  <c:v>15 Apr 2025</c:v>
                </c:pt>
                <c:pt idx="370">
                  <c:v>16 Apr 2025</c:v>
                </c:pt>
                <c:pt idx="371">
                  <c:v>17 Apr 2025</c:v>
                </c:pt>
                <c:pt idx="372">
                  <c:v>21 Apr 2025</c:v>
                </c:pt>
                <c:pt idx="373">
                  <c:v>22 Apr 2025</c:v>
                </c:pt>
                <c:pt idx="374">
                  <c:v>23 Apr 2025</c:v>
                </c:pt>
                <c:pt idx="375">
                  <c:v>24 Apr 2025</c:v>
                </c:pt>
                <c:pt idx="376">
                  <c:v>25 Apr 2025</c:v>
                </c:pt>
                <c:pt idx="377">
                  <c:v>28 Apr 2025</c:v>
                </c:pt>
                <c:pt idx="378">
                  <c:v>29 Apr 2025</c:v>
                </c:pt>
                <c:pt idx="379">
                  <c:v>30 Apr 2025</c:v>
                </c:pt>
                <c:pt idx="380">
                  <c:v>01 May 2025</c:v>
                </c:pt>
                <c:pt idx="381">
                  <c:v>02 May 2025</c:v>
                </c:pt>
                <c:pt idx="382">
                  <c:v>05 May 2025</c:v>
                </c:pt>
                <c:pt idx="383">
                  <c:v>06 May 2025</c:v>
                </c:pt>
                <c:pt idx="384">
                  <c:v>07 May 2025</c:v>
                </c:pt>
                <c:pt idx="385">
                  <c:v>08 May 2025</c:v>
                </c:pt>
                <c:pt idx="386">
                  <c:v>09 May 2025</c:v>
                </c:pt>
                <c:pt idx="387">
                  <c:v>12 May 2025</c:v>
                </c:pt>
                <c:pt idx="388">
                  <c:v>13 May 2025</c:v>
                </c:pt>
                <c:pt idx="389">
                  <c:v>14 May 2025</c:v>
                </c:pt>
                <c:pt idx="390">
                  <c:v>15 May 2025</c:v>
                </c:pt>
                <c:pt idx="391">
                  <c:v>16 May 2025</c:v>
                </c:pt>
                <c:pt idx="392">
                  <c:v>19 May 2025</c:v>
                </c:pt>
                <c:pt idx="393">
                  <c:v>20 May 2025</c:v>
                </c:pt>
                <c:pt idx="394">
                  <c:v>21 May 2025</c:v>
                </c:pt>
                <c:pt idx="395">
                  <c:v>22 May 2025</c:v>
                </c:pt>
                <c:pt idx="396">
                  <c:v>23 May 2025</c:v>
                </c:pt>
                <c:pt idx="397">
                  <c:v>27 May 2025</c:v>
                </c:pt>
                <c:pt idx="398">
                  <c:v>28 May 2025</c:v>
                </c:pt>
                <c:pt idx="399">
                  <c:v>29 May 2025</c:v>
                </c:pt>
                <c:pt idx="400">
                  <c:v>30 May 2025</c:v>
                </c:pt>
                <c:pt idx="401">
                  <c:v>02 Jun 2025</c:v>
                </c:pt>
                <c:pt idx="402">
                  <c:v>03 Jun 2025</c:v>
                </c:pt>
                <c:pt idx="403">
                  <c:v>04 Jun 2025</c:v>
                </c:pt>
                <c:pt idx="404">
                  <c:v>05 Jun 2025</c:v>
                </c:pt>
                <c:pt idx="405">
                  <c:v>06 Jun 2025</c:v>
                </c:pt>
                <c:pt idx="406">
                  <c:v>09 Jun 2025</c:v>
                </c:pt>
                <c:pt idx="407">
                  <c:v>10 Jun 2025</c:v>
                </c:pt>
                <c:pt idx="408">
                  <c:v>11 Jun 2025</c:v>
                </c:pt>
                <c:pt idx="409">
                  <c:v>12 Jun 2025</c:v>
                </c:pt>
                <c:pt idx="410">
                  <c:v>13 Jun 2025</c:v>
                </c:pt>
                <c:pt idx="411">
                  <c:v>16 Jun 2025</c:v>
                </c:pt>
                <c:pt idx="412">
                  <c:v>17 Jun 2025</c:v>
                </c:pt>
                <c:pt idx="413">
                  <c:v>18 Jun 2025</c:v>
                </c:pt>
                <c:pt idx="414">
                  <c:v>20 Jun 2025</c:v>
                </c:pt>
                <c:pt idx="415">
                  <c:v>23 Jun 2025</c:v>
                </c:pt>
                <c:pt idx="416">
                  <c:v>24 Jun 2025</c:v>
                </c:pt>
                <c:pt idx="417">
                  <c:v>25 Jun 2025</c:v>
                </c:pt>
                <c:pt idx="418">
                  <c:v>26 Jun 2025</c:v>
                </c:pt>
                <c:pt idx="419">
                  <c:v>27 Jun 2025</c:v>
                </c:pt>
                <c:pt idx="420">
                  <c:v>30 Jun 2025</c:v>
                </c:pt>
                <c:pt idx="421">
                  <c:v>01 Jul 2025</c:v>
                </c:pt>
                <c:pt idx="422">
                  <c:v>02 Jul 2025</c:v>
                </c:pt>
                <c:pt idx="423">
                  <c:v>03 Jul 2025</c:v>
                </c:pt>
                <c:pt idx="424">
                  <c:v>07 Jul 2025</c:v>
                </c:pt>
                <c:pt idx="425">
                  <c:v>08 Jul 2025</c:v>
                </c:pt>
                <c:pt idx="426">
                  <c:v>09 Jul 2025</c:v>
                </c:pt>
                <c:pt idx="427">
                  <c:v>10 Jul 2025</c:v>
                </c:pt>
                <c:pt idx="428">
                  <c:v>11 Jul 2025</c:v>
                </c:pt>
                <c:pt idx="429">
                  <c:v>14 Jul 2025</c:v>
                </c:pt>
                <c:pt idx="430">
                  <c:v>15 Jul 2025</c:v>
                </c:pt>
                <c:pt idx="431">
                  <c:v>16 Jul 2025</c:v>
                </c:pt>
                <c:pt idx="432">
                  <c:v>17 Jul 2025</c:v>
                </c:pt>
                <c:pt idx="433">
                  <c:v>18 Jul 2025</c:v>
                </c:pt>
                <c:pt idx="434">
                  <c:v>21 Jul 2025</c:v>
                </c:pt>
                <c:pt idx="435">
                  <c:v>22 Jul 2025</c:v>
                </c:pt>
                <c:pt idx="436">
                  <c:v>23 Jul 2025</c:v>
                </c:pt>
                <c:pt idx="437">
                  <c:v>24 Jul 2025</c:v>
                </c:pt>
                <c:pt idx="438">
                  <c:v>25 Jul 2025</c:v>
                </c:pt>
                <c:pt idx="439">
                  <c:v>28 Jul 2025</c:v>
                </c:pt>
                <c:pt idx="440">
                  <c:v>29 Jul 2025</c:v>
                </c:pt>
                <c:pt idx="441">
                  <c:v>30 Jul 2025</c:v>
                </c:pt>
                <c:pt idx="442">
                  <c:v>31 Jul 2025</c:v>
                </c:pt>
                <c:pt idx="443">
                  <c:v>01 Aug 2025</c:v>
                </c:pt>
                <c:pt idx="444">
                  <c:v>04 Aug 2025</c:v>
                </c:pt>
                <c:pt idx="445">
                  <c:v>05 Aug 2025</c:v>
                </c:pt>
                <c:pt idx="446">
                  <c:v>06 Aug 2025</c:v>
                </c:pt>
                <c:pt idx="447">
                  <c:v>07 Aug 2025</c:v>
                </c:pt>
                <c:pt idx="448">
                  <c:v>08 Aug 2025</c:v>
                </c:pt>
                <c:pt idx="449">
                  <c:v>11 Aug 2025</c:v>
                </c:pt>
                <c:pt idx="450">
                  <c:v>12 Aug 2025</c:v>
                </c:pt>
                <c:pt idx="451">
                  <c:v>13 Aug 2025</c:v>
                </c:pt>
                <c:pt idx="452">
                  <c:v>14 Aug 2025</c:v>
                </c:pt>
                <c:pt idx="453">
                  <c:v>15 Aug 2025</c:v>
                </c:pt>
                <c:pt idx="454">
                  <c:v>18 Aug 2025</c:v>
                </c:pt>
                <c:pt idx="455">
                  <c:v>19 Aug 2025</c:v>
                </c:pt>
                <c:pt idx="456">
                  <c:v>20 Aug 2025</c:v>
                </c:pt>
                <c:pt idx="457">
                  <c:v>21 Aug 2025</c:v>
                </c:pt>
                <c:pt idx="458">
                  <c:v>22 Aug 2025</c:v>
                </c:pt>
                <c:pt idx="459">
                  <c:v>25 Aug 2025</c:v>
                </c:pt>
                <c:pt idx="460">
                  <c:v>26 Aug 2025</c:v>
                </c:pt>
                <c:pt idx="461">
                  <c:v>27 Aug 2025</c:v>
                </c:pt>
                <c:pt idx="462">
                  <c:v>28 Aug 2025</c:v>
                </c:pt>
                <c:pt idx="463">
                  <c:v>29 Aug 2025</c:v>
                </c:pt>
                <c:pt idx="464">
                  <c:v>02 Sep 2025</c:v>
                </c:pt>
                <c:pt idx="465">
                  <c:v>03 Sep 2025</c:v>
                </c:pt>
                <c:pt idx="466">
                  <c:v>04 Sep 2025</c:v>
                </c:pt>
                <c:pt idx="467">
                  <c:v>05 Sep 2025</c:v>
                </c:pt>
                <c:pt idx="468">
                  <c:v>08 Sep 2025</c:v>
                </c:pt>
                <c:pt idx="469">
                  <c:v>09 Sep 2025</c:v>
                </c:pt>
                <c:pt idx="470">
                  <c:v>10 Sep 2025</c:v>
                </c:pt>
                <c:pt idx="471">
                  <c:v>11 Sep 2025</c:v>
                </c:pt>
                <c:pt idx="472">
                  <c:v>12 Sep 2025</c:v>
                </c:pt>
                <c:pt idx="473">
                  <c:v>15 Sep 2025</c:v>
                </c:pt>
                <c:pt idx="474">
                  <c:v>16 Sep 2025</c:v>
                </c:pt>
                <c:pt idx="475">
                  <c:v>17 Sep 2025</c:v>
                </c:pt>
                <c:pt idx="476">
                  <c:v>18 Sep 2025</c:v>
                </c:pt>
                <c:pt idx="477">
                  <c:v>19 Sep 2025</c:v>
                </c:pt>
                <c:pt idx="478">
                  <c:v>22 Sep 2025</c:v>
                </c:pt>
                <c:pt idx="479">
                  <c:v>23 Sep 2025</c:v>
                </c:pt>
                <c:pt idx="480">
                  <c:v>24 Sep 2025</c:v>
                </c:pt>
                <c:pt idx="481">
                  <c:v>25 Sep 2025</c:v>
                </c:pt>
                <c:pt idx="482">
                  <c:v>26 Sep 2025</c:v>
                </c:pt>
                <c:pt idx="483">
                  <c:v>29 Sep 2025</c:v>
                </c:pt>
                <c:pt idx="484">
                  <c:v>30 Sep 2025</c:v>
                </c:pt>
                <c:pt idx="485">
                  <c:v>01 Oct 2025</c:v>
                </c:pt>
                <c:pt idx="486">
                  <c:v>02 Oct 2025</c:v>
                </c:pt>
                <c:pt idx="487">
                  <c:v>03 Oct 2025</c:v>
                </c:pt>
                <c:pt idx="488">
                  <c:v>06 Oct 2025</c:v>
                </c:pt>
                <c:pt idx="489">
                  <c:v>07 Oct 2025</c:v>
                </c:pt>
                <c:pt idx="490">
                  <c:v>08 Oct 2025</c:v>
                </c:pt>
                <c:pt idx="491">
                  <c:v>09 Oct 2025</c:v>
                </c:pt>
                <c:pt idx="492">
                  <c:v>10 Oct 2025</c:v>
                </c:pt>
                <c:pt idx="493">
                  <c:v>13 Oct 2025</c:v>
                </c:pt>
                <c:pt idx="494">
                  <c:v>14 Oct 2025</c:v>
                </c:pt>
                <c:pt idx="495">
                  <c:v>15 Oct 2025</c:v>
                </c:pt>
                <c:pt idx="496">
                  <c:v>16 Oct 2025</c:v>
                </c:pt>
                <c:pt idx="497">
                  <c:v>17 Oct 2025</c:v>
                </c:pt>
                <c:pt idx="498">
                  <c:v>20 Oct 2025</c:v>
                </c:pt>
                <c:pt idx="499">
                  <c:v>21 Oct 2025</c:v>
                </c:pt>
                <c:pt idx="500">
                  <c:v>22 Oct 2025</c:v>
                </c:pt>
                <c:pt idx="501">
                  <c:v>23 Oct 2025</c:v>
                </c:pt>
                <c:pt idx="502">
                  <c:v>24 Oct 2025</c:v>
                </c:pt>
                <c:pt idx="503">
                  <c:v>27 Oct 2025</c:v>
                </c:pt>
                <c:pt idx="504">
                  <c:v>28 Oct 2025</c:v>
                </c:pt>
                <c:pt idx="505">
                  <c:v>29 Oct 2025</c:v>
                </c:pt>
                <c:pt idx="506">
                  <c:v>30 Oct 2025</c:v>
                </c:pt>
                <c:pt idx="507">
                  <c:v>31 Oct 2025</c:v>
                </c:pt>
                <c:pt idx="508">
                  <c:v>03 Nov 2025</c:v>
                </c:pt>
                <c:pt idx="509">
                  <c:v>04 Nov 2025</c:v>
                </c:pt>
                <c:pt idx="510">
                  <c:v>05 Nov 2025</c:v>
                </c:pt>
                <c:pt idx="511">
                  <c:v>06 Nov 2025</c:v>
                </c:pt>
                <c:pt idx="512">
                  <c:v>07 Nov 2025</c:v>
                </c:pt>
                <c:pt idx="513">
                  <c:v>10 Nov 2025</c:v>
                </c:pt>
                <c:pt idx="514">
                  <c:v>11 Nov 2025</c:v>
                </c:pt>
                <c:pt idx="515">
                  <c:v>12 Nov 2025</c:v>
                </c:pt>
                <c:pt idx="516">
                  <c:v>13 Nov 2025</c:v>
                </c:pt>
                <c:pt idx="517">
                  <c:v>14 Nov 2025</c:v>
                </c:pt>
                <c:pt idx="518">
                  <c:v>17 Nov 2025</c:v>
                </c:pt>
                <c:pt idx="519">
                  <c:v>18 Nov 2025</c:v>
                </c:pt>
                <c:pt idx="520">
                  <c:v>19 Nov 2025</c:v>
                </c:pt>
                <c:pt idx="521">
                  <c:v>20 Nov 2025</c:v>
                </c:pt>
                <c:pt idx="522">
                  <c:v>21 Nov 2025</c:v>
                </c:pt>
                <c:pt idx="523">
                  <c:v>24 Nov 2025</c:v>
                </c:pt>
                <c:pt idx="524">
                  <c:v>25 Nov 2025</c:v>
                </c:pt>
                <c:pt idx="525">
                  <c:v>26 Nov 2025</c:v>
                </c:pt>
                <c:pt idx="526">
                  <c:v>28 Nov 2025</c:v>
                </c:pt>
                <c:pt idx="527">
                  <c:v>01 Dec 2025</c:v>
                </c:pt>
                <c:pt idx="528">
                  <c:v>02 Dec 2025</c:v>
                </c:pt>
                <c:pt idx="529">
                  <c:v>03 Dec 2025</c:v>
                </c:pt>
                <c:pt idx="530">
                  <c:v>04 Dec 2025</c:v>
                </c:pt>
                <c:pt idx="531">
                  <c:v>05 Dec 2025</c:v>
                </c:pt>
                <c:pt idx="532">
                  <c:v>08 Dec 2025</c:v>
                </c:pt>
                <c:pt idx="533">
                  <c:v>09 Dec 2025</c:v>
                </c:pt>
                <c:pt idx="534">
                  <c:v>10 Dec 2025</c:v>
                </c:pt>
                <c:pt idx="535">
                  <c:v>11 Dec 2025</c:v>
                </c:pt>
                <c:pt idx="536">
                  <c:v>12 Dec 2025</c:v>
                </c:pt>
                <c:pt idx="537">
                  <c:v>15 Dec 2025</c:v>
                </c:pt>
                <c:pt idx="538">
                  <c:v>16 Dec 2025</c:v>
                </c:pt>
                <c:pt idx="539">
                  <c:v>17 Dec 2025</c:v>
                </c:pt>
                <c:pt idx="540">
                  <c:v>18 Dec 2025</c:v>
                </c:pt>
                <c:pt idx="541">
                  <c:v>19 Dec 2025</c:v>
                </c:pt>
                <c:pt idx="542">
                  <c:v>22 Dec 2025</c:v>
                </c:pt>
                <c:pt idx="543">
                  <c:v>23 Dec 2025</c:v>
                </c:pt>
                <c:pt idx="544">
                  <c:v>24 Dec 2025</c:v>
                </c:pt>
                <c:pt idx="545">
                  <c:v>26 Dec 2025</c:v>
                </c:pt>
                <c:pt idx="546">
                  <c:v>29 Dec 2025</c:v>
                </c:pt>
                <c:pt idx="547">
                  <c:v>30 Dec 2025</c:v>
                </c:pt>
                <c:pt idx="548">
                  <c:v>31 Dec 2025</c:v>
                </c:pt>
                <c:pt idx="549">
                  <c:v>02 Jan 2026</c:v>
                </c:pt>
                <c:pt idx="550">
                  <c:v>05 Jan 2026</c:v>
                </c:pt>
                <c:pt idx="551">
                  <c:v>06 Jan 2026</c:v>
                </c:pt>
                <c:pt idx="552">
                  <c:v>07 Jan 2026</c:v>
                </c:pt>
                <c:pt idx="553">
                  <c:v>08 Jan 2026</c:v>
                </c:pt>
                <c:pt idx="554">
                  <c:v>09 Jan 2026</c:v>
                </c:pt>
                <c:pt idx="555">
                  <c:v>12 Jan 2026</c:v>
                </c:pt>
                <c:pt idx="556">
                  <c:v>13 Jan 2026</c:v>
                </c:pt>
                <c:pt idx="557">
                  <c:v>14 Jan 2026</c:v>
                </c:pt>
                <c:pt idx="558">
                  <c:v>15 Jan 2026</c:v>
                </c:pt>
                <c:pt idx="559">
                  <c:v>16 Jan 2026</c:v>
                </c:pt>
                <c:pt idx="560">
                  <c:v>20 Jan 2026</c:v>
                </c:pt>
                <c:pt idx="561">
                  <c:v>21 Jan 2026</c:v>
                </c:pt>
                <c:pt idx="562">
                  <c:v>22 Jan 2026</c:v>
                </c:pt>
                <c:pt idx="563">
                  <c:v>23 Jan 2026</c:v>
                </c:pt>
                <c:pt idx="564">
                  <c:v>26 Jan 2026</c:v>
                </c:pt>
                <c:pt idx="565">
                  <c:v>27 Jan 2026</c:v>
                </c:pt>
                <c:pt idx="566">
                  <c:v>28 Jan 2026</c:v>
                </c:pt>
                <c:pt idx="567">
                  <c:v>29 Jan 2026</c:v>
                </c:pt>
                <c:pt idx="568">
                  <c:v>30 Jan 2026</c:v>
                </c:pt>
                <c:pt idx="569">
                  <c:v>02 Feb 2026</c:v>
                </c:pt>
                <c:pt idx="570">
                  <c:v>03 Feb 2026</c:v>
                </c:pt>
                <c:pt idx="571">
                  <c:v>04 Feb 2026</c:v>
                </c:pt>
                <c:pt idx="572">
                  <c:v>05 Feb 2026</c:v>
                </c:pt>
                <c:pt idx="573">
                  <c:v>06 Feb 2026</c:v>
                </c:pt>
                <c:pt idx="574">
                  <c:v>09 Feb 2026</c:v>
                </c:pt>
                <c:pt idx="575">
                  <c:v>10 Feb 2026</c:v>
                </c:pt>
                <c:pt idx="576">
                  <c:v>11 Feb 2026</c:v>
                </c:pt>
                <c:pt idx="577">
                  <c:v>12 Feb 2026</c:v>
                </c:pt>
                <c:pt idx="578">
                  <c:v>13 Feb 2026</c:v>
                </c:pt>
                <c:pt idx="579">
                  <c:v>17 Feb 2026</c:v>
                </c:pt>
                <c:pt idx="580">
                  <c:v>18 Feb 2026</c:v>
                </c:pt>
                <c:pt idx="581">
                  <c:v>19 Feb 2026</c:v>
                </c:pt>
                <c:pt idx="582">
                  <c:v>20 Feb 2026</c:v>
                </c:pt>
                <c:pt idx="583">
                  <c:v>23 Feb 2026</c:v>
                </c:pt>
                <c:pt idx="584">
                  <c:v>24 Feb 2026</c:v>
                </c:pt>
                <c:pt idx="585">
                  <c:v>25 Feb 2026</c:v>
                </c:pt>
                <c:pt idx="586">
                  <c:v>26 Feb 2026</c:v>
                </c:pt>
                <c:pt idx="587">
                  <c:v>27 Feb 2026</c:v>
                </c:pt>
                <c:pt idx="588">
                  <c:v>02 Mar 2026</c:v>
                </c:pt>
                <c:pt idx="589">
                  <c:v>03 Mar 2026</c:v>
                </c:pt>
                <c:pt idx="590">
                  <c:v>04 Mar 2026</c:v>
                </c:pt>
                <c:pt idx="591">
                  <c:v>05 Mar 2026</c:v>
                </c:pt>
                <c:pt idx="592">
                  <c:v>06 Mar 2026</c:v>
                </c:pt>
                <c:pt idx="593">
                  <c:v>09 Mar 2026</c:v>
                </c:pt>
                <c:pt idx="594">
                  <c:v>10 Mar 2026</c:v>
                </c:pt>
                <c:pt idx="595">
                  <c:v>11 Mar 2026</c:v>
                </c:pt>
                <c:pt idx="596">
                  <c:v>12 Mar 2026</c:v>
                </c:pt>
                <c:pt idx="597">
                  <c:v>13 Mar 2026</c:v>
                </c:pt>
                <c:pt idx="598">
                  <c:v>16 Mar 2026</c:v>
                </c:pt>
                <c:pt idx="599">
                  <c:v>17 Mar 2026</c:v>
                </c:pt>
                <c:pt idx="600">
                  <c:v>18 Mar 2026</c:v>
                </c:pt>
                <c:pt idx="601">
                  <c:v>19 Mar 2026</c:v>
                </c:pt>
                <c:pt idx="602">
                  <c:v>20 Mar 2026</c:v>
                </c:pt>
                <c:pt idx="603">
                  <c:v>23 Mar 2026</c:v>
                </c:pt>
                <c:pt idx="604">
                  <c:v>24 Mar 2026</c:v>
                </c:pt>
                <c:pt idx="605">
                  <c:v>25 Mar 2026</c:v>
                </c:pt>
                <c:pt idx="606">
                  <c:v>26 Mar 2026</c:v>
                </c:pt>
                <c:pt idx="607">
                  <c:v>27 Mar 2026</c:v>
                </c:pt>
                <c:pt idx="608">
                  <c:v>30 Mar 2026</c:v>
                </c:pt>
                <c:pt idx="609">
                  <c:v>31 Mar 2026</c:v>
                </c:pt>
                <c:pt idx="610">
                  <c:v>01 Apr 2026</c:v>
                </c:pt>
                <c:pt idx="611">
                  <c:v>02 Apr 2026</c:v>
                </c:pt>
                <c:pt idx="612">
                  <c:v>06 Apr 2026</c:v>
                </c:pt>
                <c:pt idx="613">
                  <c:v>07 Apr 2026</c:v>
                </c:pt>
                <c:pt idx="614">
                  <c:v>08 Apr 2026</c:v>
                </c:pt>
                <c:pt idx="615">
                  <c:v>09 Apr 2026</c:v>
                </c:pt>
                <c:pt idx="616">
                  <c:v>10 Apr 2026</c:v>
                </c:pt>
                <c:pt idx="617">
                  <c:v>13 Apr 2026</c:v>
                </c:pt>
                <c:pt idx="618">
                  <c:v>14 Apr 2026</c:v>
                </c:pt>
                <c:pt idx="619">
                  <c:v>15 Apr 2026</c:v>
                </c:pt>
                <c:pt idx="620">
                  <c:v>16 Apr 2026</c:v>
                </c:pt>
                <c:pt idx="621">
                  <c:v>17 Apr 2026</c:v>
                </c:pt>
                <c:pt idx="622">
                  <c:v>20 Apr 2026</c:v>
                </c:pt>
                <c:pt idx="623">
                  <c:v>21 Apr 2026</c:v>
                </c:pt>
                <c:pt idx="624">
                  <c:v>22 Apr 2026</c:v>
                </c:pt>
                <c:pt idx="625">
                  <c:v>23 Apr 2026</c:v>
                </c:pt>
                <c:pt idx="626">
                  <c:v>24 Apr 2026</c:v>
                </c:pt>
                <c:pt idx="627">
                  <c:v>27 Apr 2026</c:v>
                </c:pt>
                <c:pt idx="628">
                  <c:v>28 Apr 2026</c:v>
                </c:pt>
                <c:pt idx="629">
                  <c:v>29 Apr 2026</c:v>
                </c:pt>
                <c:pt idx="630">
                  <c:v>30 Apr 2026</c:v>
                </c:pt>
                <c:pt idx="631">
                  <c:v>01 May 2026</c:v>
                </c:pt>
                <c:pt idx="632">
                  <c:v>04 May 2026</c:v>
                </c:pt>
                <c:pt idx="633">
                  <c:v>05 May 2026</c:v>
                </c:pt>
                <c:pt idx="634">
                  <c:v>06 May 2026</c:v>
                </c:pt>
                <c:pt idx="635">
                  <c:v>07 May 2026</c:v>
                </c:pt>
                <c:pt idx="636">
                  <c:v>08 May 2026</c:v>
                </c:pt>
                <c:pt idx="637">
                  <c:v>11 May 2026</c:v>
                </c:pt>
                <c:pt idx="638">
                  <c:v>12 May 2026</c:v>
                </c:pt>
                <c:pt idx="639">
                  <c:v>13 May 2026</c:v>
                </c:pt>
                <c:pt idx="640">
                  <c:v>14 May 2026</c:v>
                </c:pt>
                <c:pt idx="641">
                  <c:v>15 May 2026</c:v>
                </c:pt>
                <c:pt idx="642">
                  <c:v>18 May 2026</c:v>
                </c:pt>
                <c:pt idx="643">
                  <c:v>19 May 2026</c:v>
                </c:pt>
                <c:pt idx="644">
                  <c:v>20 May 2026</c:v>
                </c:pt>
                <c:pt idx="645">
                  <c:v>21 May 2026</c:v>
                </c:pt>
                <c:pt idx="646">
                  <c:v>22 May 2026</c:v>
                </c:pt>
                <c:pt idx="647">
                  <c:v>26 May 2026</c:v>
                </c:pt>
                <c:pt idx="648">
                  <c:v>27 May 2026</c:v>
                </c:pt>
                <c:pt idx="649">
                  <c:v>28 May 2026</c:v>
                </c:pt>
                <c:pt idx="650">
                  <c:v>29 May 2026</c:v>
                </c:pt>
                <c:pt idx="651">
                  <c:v>01 Jun 2026</c:v>
                </c:pt>
                <c:pt idx="652">
                  <c:v>02 Jun 2026</c:v>
                </c:pt>
                <c:pt idx="653">
                  <c:v>03 Jun 2026</c:v>
                </c:pt>
                <c:pt idx="654">
                  <c:v>04 Jun 2026</c:v>
                </c:pt>
                <c:pt idx="655">
                  <c:v>05 Jun 2026</c:v>
                </c:pt>
                <c:pt idx="656">
                  <c:v>08 Jun 2026</c:v>
                </c:pt>
                <c:pt idx="657">
                  <c:v>09 Jun 2026</c:v>
                </c:pt>
                <c:pt idx="658">
                  <c:v>10 Jun 2026</c:v>
                </c:pt>
                <c:pt idx="659">
                  <c:v>11 Jun 2026</c:v>
                </c:pt>
                <c:pt idx="660">
                  <c:v>12 Jun 2026</c:v>
                </c:pt>
                <c:pt idx="661">
                  <c:v>15 Jun 2026</c:v>
                </c:pt>
                <c:pt idx="662">
                  <c:v>16 Jun 2026</c:v>
                </c:pt>
                <c:pt idx="663">
                  <c:v>17 Jun 2026</c:v>
                </c:pt>
                <c:pt idx="664">
                  <c:v>18 Jun 2026</c:v>
                </c:pt>
                <c:pt idx="665">
                  <c:v>22 Jun 2026</c:v>
                </c:pt>
                <c:pt idx="666">
                  <c:v>23 Jun 2026</c:v>
                </c:pt>
                <c:pt idx="667">
                  <c:v>24 Jun 2026</c:v>
                </c:pt>
                <c:pt idx="668">
                  <c:v>25 Jun 2026</c:v>
                </c:pt>
                <c:pt idx="669">
                  <c:v>26 Jun 2026</c:v>
                </c:pt>
                <c:pt idx="670">
                  <c:v>29 Jun 2026</c:v>
                </c:pt>
                <c:pt idx="671">
                  <c:v>30 Jun 2026</c:v>
                </c:pt>
                <c:pt idx="672">
                  <c:v>01 Jul 2026</c:v>
                </c:pt>
                <c:pt idx="673">
                  <c:v>02 Jul 2026</c:v>
                </c:pt>
                <c:pt idx="674">
                  <c:v>06 Jul 2026</c:v>
                </c:pt>
                <c:pt idx="675">
                  <c:v>07 Jul 2026</c:v>
                </c:pt>
                <c:pt idx="676">
                  <c:v>08 Jul 2026</c:v>
                </c:pt>
                <c:pt idx="677">
                  <c:v>09 Jul 2026</c:v>
                </c:pt>
                <c:pt idx="678">
                  <c:v>10 Jul 2026</c:v>
                </c:pt>
                <c:pt idx="679">
                  <c:v>13 Jul 2026</c:v>
                </c:pt>
                <c:pt idx="680">
                  <c:v>14 Jul 2026</c:v>
                </c:pt>
                <c:pt idx="681">
                  <c:v>15 Jul 2026</c:v>
                </c:pt>
                <c:pt idx="682">
                  <c:v>16 Jul 2026</c:v>
                </c:pt>
                <c:pt idx="683">
                  <c:v>17 Jul 2026</c:v>
                </c:pt>
                <c:pt idx="684">
                  <c:v>20 Jul 2026</c:v>
                </c:pt>
                <c:pt idx="685">
                  <c:v>21 Jul 2026</c:v>
                </c:pt>
                <c:pt idx="686">
                  <c:v>22 Jul 2026</c:v>
                </c:pt>
                <c:pt idx="687">
                  <c:v>23 Jul 2026</c:v>
                </c:pt>
                <c:pt idx="688">
                  <c:v>24 Jul 2026</c:v>
                </c:pt>
                <c:pt idx="689">
                  <c:v>27 Jul 2026</c:v>
                </c:pt>
                <c:pt idx="690">
                  <c:v>28 Jul 2026</c:v>
                </c:pt>
                <c:pt idx="691">
                  <c:v>29 Jul 2026</c:v>
                </c:pt>
                <c:pt idx="692">
                  <c:v>30 Jul 2026</c:v>
                </c:pt>
                <c:pt idx="693">
                  <c:v>31 Jul 2026</c:v>
                </c:pt>
                <c:pt idx="694">
                  <c:v>03 Aug 2026</c:v>
                </c:pt>
                <c:pt idx="695">
                  <c:v>04 Aug 2026</c:v>
                </c:pt>
                <c:pt idx="696">
                  <c:v>05 Aug 2026</c:v>
                </c:pt>
                <c:pt idx="697">
                  <c:v>06 Aug 2026</c:v>
                </c:pt>
                <c:pt idx="698">
                  <c:v>07 Aug 2026</c:v>
                </c:pt>
                <c:pt idx="699">
                  <c:v>10 Aug 2026</c:v>
                </c:pt>
                <c:pt idx="700">
                  <c:v>11 Aug 2026</c:v>
                </c:pt>
                <c:pt idx="701">
                  <c:v>12 Aug 2026</c:v>
                </c:pt>
                <c:pt idx="702">
                  <c:v>13 Aug 2026</c:v>
                </c:pt>
                <c:pt idx="703">
                  <c:v>14 Aug 2026</c:v>
                </c:pt>
                <c:pt idx="704">
                  <c:v>17 Aug 2026</c:v>
                </c:pt>
                <c:pt idx="705">
                  <c:v>18 Aug 2026</c:v>
                </c:pt>
                <c:pt idx="706">
                  <c:v>19 Aug 2026</c:v>
                </c:pt>
                <c:pt idx="707">
                  <c:v>20 Aug 2026</c:v>
                </c:pt>
                <c:pt idx="708">
                  <c:v>21 Aug 2026</c:v>
                </c:pt>
                <c:pt idx="709">
                  <c:v>24 Aug 2026</c:v>
                </c:pt>
                <c:pt idx="710">
                  <c:v>25 Aug 2026</c:v>
                </c:pt>
                <c:pt idx="711">
                  <c:v>26 Aug 2026</c:v>
                </c:pt>
                <c:pt idx="712">
                  <c:v>27 Aug 2026</c:v>
                </c:pt>
                <c:pt idx="713">
                  <c:v>28 Aug 2026</c:v>
                </c:pt>
                <c:pt idx="714">
                  <c:v>31 Aug 2026</c:v>
                </c:pt>
                <c:pt idx="715">
                  <c:v>01 Sep 2026</c:v>
                </c:pt>
                <c:pt idx="716">
                  <c:v>02 Sep 2026</c:v>
                </c:pt>
                <c:pt idx="717">
                  <c:v>03 Sep 2026</c:v>
                </c:pt>
                <c:pt idx="718">
                  <c:v>04 Sep 2026</c:v>
                </c:pt>
                <c:pt idx="719">
                  <c:v>08 Sep 2026</c:v>
                </c:pt>
                <c:pt idx="720">
                  <c:v>09 Sep 2026</c:v>
                </c:pt>
                <c:pt idx="721">
                  <c:v>10 Sep 2026</c:v>
                </c:pt>
                <c:pt idx="722">
                  <c:v>11 Sep 2026</c:v>
                </c:pt>
                <c:pt idx="723">
                  <c:v>14 Sep 2026</c:v>
                </c:pt>
                <c:pt idx="724">
                  <c:v>15 Sep 2026</c:v>
                </c:pt>
                <c:pt idx="725">
                  <c:v>16 Sep 2026</c:v>
                </c:pt>
                <c:pt idx="726">
                  <c:v>17 Sep 2026</c:v>
                </c:pt>
                <c:pt idx="727">
                  <c:v>18 Sep 2026</c:v>
                </c:pt>
                <c:pt idx="728">
                  <c:v>21 Sep 2026</c:v>
                </c:pt>
                <c:pt idx="729">
                  <c:v>22 Sep 2026</c:v>
                </c:pt>
                <c:pt idx="730">
                  <c:v>23 Sep 2026</c:v>
                </c:pt>
                <c:pt idx="731">
                  <c:v>24 Sep 2026</c:v>
                </c:pt>
                <c:pt idx="732">
                  <c:v>25 Sep 2026</c:v>
                </c:pt>
                <c:pt idx="733">
                  <c:v>28 Sep 2026</c:v>
                </c:pt>
                <c:pt idx="734">
                  <c:v>29 Sep 2026</c:v>
                </c:pt>
                <c:pt idx="735">
                  <c:v>30 Sep 2026</c:v>
                </c:pt>
                <c:pt idx="736">
                  <c:v>01 Oct 2026</c:v>
                </c:pt>
                <c:pt idx="737">
                  <c:v>02 Oct 2026</c:v>
                </c:pt>
                <c:pt idx="738">
                  <c:v>05 Oct 2026</c:v>
                </c:pt>
                <c:pt idx="739">
                  <c:v>06 Oct 2026</c:v>
                </c:pt>
                <c:pt idx="740">
                  <c:v>07 Oct 2026</c:v>
                </c:pt>
                <c:pt idx="741">
                  <c:v>08 Oct 2026</c:v>
                </c:pt>
                <c:pt idx="742">
                  <c:v>09 Oct 2026</c:v>
                </c:pt>
                <c:pt idx="743">
                  <c:v>12 Oct 2026</c:v>
                </c:pt>
                <c:pt idx="744">
                  <c:v>13 Oct 2026</c:v>
                </c:pt>
                <c:pt idx="745">
                  <c:v>14 Oct 2026</c:v>
                </c:pt>
                <c:pt idx="746">
                  <c:v>15 Oct 2026</c:v>
                </c:pt>
                <c:pt idx="747">
                  <c:v>16 Oct 2026</c:v>
                </c:pt>
                <c:pt idx="748">
                  <c:v>19 Oct 2026</c:v>
                </c:pt>
                <c:pt idx="749">
                  <c:v>20 Oct 2026</c:v>
                </c:pt>
              </c:strCache>
            </c:strRef>
          </c:cat>
          <c:val>
            <c:numRef>
              <c:f>'Chart Data'!$B$2:$B$751</c:f>
              <c:numCache>
                <c:formatCode>$0</c:formatCode>
                <c:ptCount val="750"/>
                <c:pt idx="0">
                  <c:v>68</c:v>
                </c:pt>
                <c:pt idx="1">
                  <c:v>-235.5</c:v>
                </c:pt>
                <c:pt idx="2">
                  <c:v>-217.1</c:v>
                </c:pt>
                <c:pt idx="3">
                  <c:v>58</c:v>
                </c:pt>
                <c:pt idx="4">
                  <c:v>117.8</c:v>
                </c:pt>
                <c:pt idx="5">
                  <c:v>29</c:v>
                </c:pt>
                <c:pt idx="6">
                  <c:v>177.5</c:v>
                </c:pt>
                <c:pt idx="7">
                  <c:v>189.6</c:v>
                </c:pt>
                <c:pt idx="8">
                  <c:v>67.7</c:v>
                </c:pt>
                <c:pt idx="9">
                  <c:v>54.9</c:v>
                </c:pt>
                <c:pt idx="10">
                  <c:v>73</c:v>
                </c:pt>
                <c:pt idx="11">
                  <c:v>24</c:v>
                </c:pt>
                <c:pt idx="12">
                  <c:v>-76.8</c:v>
                </c:pt>
                <c:pt idx="13">
                  <c:v>194</c:v>
                </c:pt>
                <c:pt idx="14">
                  <c:v>29.9</c:v>
                </c:pt>
                <c:pt idx="15">
                  <c:v>184.9</c:v>
                </c:pt>
                <c:pt idx="16">
                  <c:v>-10.9</c:v>
                </c:pt>
                <c:pt idx="17">
                  <c:v>20</c:v>
                </c:pt>
                <c:pt idx="18">
                  <c:v>13.4</c:v>
                </c:pt>
                <c:pt idx="19">
                  <c:v>86</c:v>
                </c:pt>
                <c:pt idx="20">
                  <c:v>-14.8</c:v>
                </c:pt>
                <c:pt idx="21">
                  <c:v>6.9</c:v>
                </c:pt>
                <c:pt idx="22">
                  <c:v>-34.3</c:v>
                </c:pt>
                <c:pt idx="23">
                  <c:v>-4</c:v>
                </c:pt>
                <c:pt idx="24">
                  <c:v>63.4</c:v>
                </c:pt>
                <c:pt idx="25">
                  <c:v>-79.1</c:v>
                </c:pt>
                <c:pt idx="26">
                  <c:v>-35</c:v>
                </c:pt>
                <c:pt idx="27">
                  <c:v>-15.7</c:v>
                </c:pt>
                <c:pt idx="28">
                  <c:v>-109.5</c:v>
                </c:pt>
                <c:pt idx="29">
                  <c:v>72.3</c:v>
                </c:pt>
                <c:pt idx="30">
                  <c:v>-87</c:v>
                </c:pt>
                <c:pt idx="31">
                  <c:v>145.3</c:v>
                </c:pt>
                <c:pt idx="32">
                  <c:v>73.4</c:v>
                </c:pt>
                <c:pt idx="33">
                  <c:v>-108.9</c:v>
                </c:pt>
                <c:pt idx="34">
                  <c:v>56.9</c:v>
                </c:pt>
                <c:pt idx="35">
                  <c:v>64.8</c:v>
                </c:pt>
                <c:pt idx="36">
                  <c:v>31.4</c:v>
                </c:pt>
                <c:pt idx="37">
                  <c:v>54.4</c:v>
                </c:pt>
                <c:pt idx="38">
                  <c:v>101.2</c:v>
                </c:pt>
                <c:pt idx="39">
                  <c:v>61.5</c:v>
                </c:pt>
                <c:pt idx="40">
                  <c:v>-133.1</c:v>
                </c:pt>
                <c:pt idx="41">
                  <c:v>113.9</c:v>
                </c:pt>
                <c:pt idx="42">
                  <c:v>-9.3</c:v>
                </c:pt>
                <c:pt idx="43">
                  <c:v>35.4</c:v>
                </c:pt>
                <c:pt idx="44">
                  <c:v>27.9</c:v>
                </c:pt>
                <c:pt idx="45">
                  <c:v>-29.6</c:v>
                </c:pt>
                <c:pt idx="46">
                  <c:v>-49.1</c:v>
                </c:pt>
                <c:pt idx="47">
                  <c:v>-63</c:v>
                </c:pt>
                <c:pt idx="48">
                  <c:v>-60.6</c:v>
                </c:pt>
                <c:pt idx="49">
                  <c:v>-45.4</c:v>
                </c:pt>
                <c:pt idx="50">
                  <c:v>22.8</c:v>
                </c:pt>
                <c:pt idx="51">
                  <c:v>165.7</c:v>
                </c:pt>
                <c:pt idx="52">
                  <c:v>6.1</c:v>
                </c:pt>
                <c:pt idx="53">
                  <c:v>96.9</c:v>
                </c:pt>
                <c:pt idx="54">
                  <c:v>-10.3</c:v>
                </c:pt>
                <c:pt idx="55">
                  <c:v>-38.5</c:v>
                </c:pt>
                <c:pt idx="56">
                  <c:v>-33</c:v>
                </c:pt>
                <c:pt idx="57">
                  <c:v>-46.8</c:v>
                </c:pt>
                <c:pt idx="58">
                  <c:v>81.1</c:v>
                </c:pt>
                <c:pt idx="59">
                  <c:v>124.3</c:v>
                </c:pt>
                <c:pt idx="60">
                  <c:v>0.2</c:v>
                </c:pt>
                <c:pt idx="61">
                  <c:v>52.2</c:v>
                </c:pt>
                <c:pt idx="62">
                  <c:v>83.4</c:v>
                </c:pt>
                <c:pt idx="63">
                  <c:v>-52.5</c:v>
                </c:pt>
                <c:pt idx="64">
                  <c:v>16.1</c:v>
                </c:pt>
                <c:pt idx="65">
                  <c:v>117.6</c:v>
                </c:pt>
                <c:pt idx="66">
                  <c:v>-8.8</c:v>
                </c:pt>
                <c:pt idx="67">
                  <c:v>-231.8</c:v>
                </c:pt>
                <c:pt idx="68">
                  <c:v>90.8</c:v>
                </c:pt>
                <c:pt idx="69">
                  <c:v>358.6</c:v>
                </c:pt>
                <c:pt idx="70">
                  <c:v>-46.9</c:v>
                </c:pt>
                <c:pt idx="71">
                  <c:v>19.9</c:v>
                </c:pt>
                <c:pt idx="72">
                  <c:v>136</c:v>
                </c:pt>
                <c:pt idx="73">
                  <c:v>10.8</c:v>
                </c:pt>
                <c:pt idx="74">
                  <c:v>99.6</c:v>
                </c:pt>
                <c:pt idx="75">
                  <c:v>-51.3</c:v>
                </c:pt>
                <c:pt idx="76">
                  <c:v>-131.9</c:v>
                </c:pt>
                <c:pt idx="77">
                  <c:v>113.3</c:v>
                </c:pt>
                <c:pt idx="78">
                  <c:v>83.9</c:v>
                </c:pt>
                <c:pt idx="79">
                  <c:v>-62.6</c:v>
                </c:pt>
                <c:pt idx="80">
                  <c:v>-106.9</c:v>
                </c:pt>
                <c:pt idx="81">
                  <c:v>15.8</c:v>
                </c:pt>
                <c:pt idx="82">
                  <c:v>328</c:v>
                </c:pt>
                <c:pt idx="83">
                  <c:v>-40.3</c:v>
                </c:pt>
                <c:pt idx="84">
                  <c:v>-24.7</c:v>
                </c:pt>
                <c:pt idx="85">
                  <c:v>-5.9</c:v>
                </c:pt>
                <c:pt idx="86">
                  <c:v>-55.5</c:v>
                </c:pt>
                <c:pt idx="87">
                  <c:v>83.9</c:v>
                </c:pt>
                <c:pt idx="88">
                  <c:v>66.1</c:v>
                </c:pt>
                <c:pt idx="89">
                  <c:v>-121.8</c:v>
                </c:pt>
                <c:pt idx="90">
                  <c:v>-121.4</c:v>
                </c:pt>
                <c:pt idx="91">
                  <c:v>21.6</c:v>
                </c:pt>
                <c:pt idx="92">
                  <c:v>162</c:v>
                </c:pt>
                <c:pt idx="93">
                  <c:v>-81.6</c:v>
                </c:pt>
                <c:pt idx="94">
                  <c:v>-19.6</c:v>
                </c:pt>
                <c:pt idx="95">
                  <c:v>167.2</c:v>
                </c:pt>
                <c:pt idx="96">
                  <c:v>-40.1</c:v>
                </c:pt>
                <c:pt idx="97">
                  <c:v>-6</c:v>
                </c:pt>
                <c:pt idx="98">
                  <c:v>-59.1</c:v>
                </c:pt>
                <c:pt idx="99">
                  <c:v>155.8</c:v>
                </c:pt>
                <c:pt idx="100">
                  <c:v>50.2</c:v>
                </c:pt>
                <c:pt idx="101">
                  <c:v>114</c:v>
                </c:pt>
                <c:pt idx="102">
                  <c:v>-19.8</c:v>
                </c:pt>
                <c:pt idx="103">
                  <c:v>42.9</c:v>
                </c:pt>
                <c:pt idx="104">
                  <c:v>-24.2</c:v>
                </c:pt>
                <c:pt idx="105">
                  <c:v>-22.9</c:v>
                </c:pt>
                <c:pt idx="106">
                  <c:v>39.1</c:v>
                </c:pt>
                <c:pt idx="107">
                  <c:v>-23.6</c:v>
                </c:pt>
                <c:pt idx="108">
                  <c:v>32.5</c:v>
                </c:pt>
                <c:pt idx="109">
                  <c:v>-112.8</c:v>
                </c:pt>
                <c:pt idx="110">
                  <c:v>39.1</c:v>
                </c:pt>
                <c:pt idx="111">
                  <c:v>-76.2</c:v>
                </c:pt>
                <c:pt idx="112">
                  <c:v>110.8</c:v>
                </c:pt>
                <c:pt idx="113">
                  <c:v>25.7</c:v>
                </c:pt>
                <c:pt idx="114">
                  <c:v>29.3</c:v>
                </c:pt>
                <c:pt idx="115">
                  <c:v>-43.1</c:v>
                </c:pt>
                <c:pt idx="116">
                  <c:v>134.3</c:v>
                </c:pt>
                <c:pt idx="117">
                  <c:v>-181.4</c:v>
                </c:pt>
                <c:pt idx="118">
                  <c:v>-171</c:v>
                </c:pt>
                <c:pt idx="119">
                  <c:v>-4</c:v>
                </c:pt>
                <c:pt idx="120">
                  <c:v>-62.2</c:v>
                </c:pt>
                <c:pt idx="121">
                  <c:v>-6.7</c:v>
                </c:pt>
                <c:pt idx="122">
                  <c:v>-169.4</c:v>
                </c:pt>
                <c:pt idx="123">
                  <c:v>54.3</c:v>
                </c:pt>
                <c:pt idx="124">
                  <c:v>137.6</c:v>
                </c:pt>
                <c:pt idx="125">
                  <c:v>78.1</c:v>
                </c:pt>
                <c:pt idx="126">
                  <c:v>-68.7</c:v>
                </c:pt>
                <c:pt idx="127">
                  <c:v>181.5</c:v>
                </c:pt>
                <c:pt idx="128">
                  <c:v>110.2</c:v>
                </c:pt>
                <c:pt idx="129">
                  <c:v>-215.6</c:v>
                </c:pt>
                <c:pt idx="130">
                  <c:v>-15.5</c:v>
                </c:pt>
                <c:pt idx="131">
                  <c:v>136.3</c:v>
                </c:pt>
                <c:pt idx="132">
                  <c:v>149.6</c:v>
                </c:pt>
                <c:pt idx="133">
                  <c:v>132</c:v>
                </c:pt>
                <c:pt idx="134">
                  <c:v>-28.8</c:v>
                </c:pt>
                <c:pt idx="135">
                  <c:v>5.5</c:v>
                </c:pt>
                <c:pt idx="136">
                  <c:v>35.3</c:v>
                </c:pt>
                <c:pt idx="137">
                  <c:v>-10.1</c:v>
                </c:pt>
                <c:pt idx="138">
                  <c:v>16.3</c:v>
                </c:pt>
                <c:pt idx="139">
                  <c:v>96</c:v>
                </c:pt>
                <c:pt idx="140">
                  <c:v>93.9</c:v>
                </c:pt>
                <c:pt idx="141">
                  <c:v>-20.9</c:v>
                </c:pt>
                <c:pt idx="142">
                  <c:v>37.2</c:v>
                </c:pt>
                <c:pt idx="143">
                  <c:v>-44.2</c:v>
                </c:pt>
                <c:pt idx="144">
                  <c:v>102</c:v>
                </c:pt>
                <c:pt idx="145">
                  <c:v>-72.9</c:v>
                </c:pt>
                <c:pt idx="146">
                  <c:v>-30.4</c:v>
                </c:pt>
                <c:pt idx="147">
                  <c:v>117.4</c:v>
                </c:pt>
                <c:pt idx="148">
                  <c:v>84.2</c:v>
                </c:pt>
                <c:pt idx="149">
                  <c:v>-62.2</c:v>
                </c:pt>
                <c:pt idx="150">
                  <c:v>-111.7</c:v>
                </c:pt>
                <c:pt idx="151">
                  <c:v>48.8</c:v>
                </c:pt>
                <c:pt idx="152">
                  <c:v>58</c:v>
                </c:pt>
                <c:pt idx="153">
                  <c:v>8.5</c:v>
                </c:pt>
                <c:pt idx="154">
                  <c:v>131</c:v>
                </c:pt>
                <c:pt idx="155">
                  <c:v>25.9</c:v>
                </c:pt>
                <c:pt idx="156">
                  <c:v>-28.9</c:v>
                </c:pt>
                <c:pt idx="157">
                  <c:v>27.5</c:v>
                </c:pt>
                <c:pt idx="158">
                  <c:v>47.5</c:v>
                </c:pt>
                <c:pt idx="159">
                  <c:v>101.5</c:v>
                </c:pt>
                <c:pt idx="160">
                  <c:v>43.7</c:v>
                </c:pt>
                <c:pt idx="161">
                  <c:v>-8.7</c:v>
                </c:pt>
                <c:pt idx="162">
                  <c:v>75.3</c:v>
                </c:pt>
                <c:pt idx="163">
                  <c:v>-21.5</c:v>
                </c:pt>
                <c:pt idx="164">
                  <c:v>-21</c:v>
                </c:pt>
                <c:pt idx="165">
                  <c:v>-33</c:v>
                </c:pt>
                <c:pt idx="166">
                  <c:v>-37.4</c:v>
                </c:pt>
                <c:pt idx="167">
                  <c:v>151.6</c:v>
                </c:pt>
                <c:pt idx="168">
                  <c:v>114.1</c:v>
                </c:pt>
                <c:pt idx="169">
                  <c:v>51</c:v>
                </c:pt>
                <c:pt idx="170">
                  <c:v>-45.2</c:v>
                </c:pt>
                <c:pt idx="171">
                  <c:v>129.3</c:v>
                </c:pt>
                <c:pt idx="172">
                  <c:v>168.6</c:v>
                </c:pt>
                <c:pt idx="173">
                  <c:v>107.6</c:v>
                </c:pt>
                <c:pt idx="174">
                  <c:v>108.3</c:v>
                </c:pt>
                <c:pt idx="175">
                  <c:v>-8.3</c:v>
                </c:pt>
                <c:pt idx="176">
                  <c:v>67.1</c:v>
                </c:pt>
                <c:pt idx="177">
                  <c:v>112.5</c:v>
                </c:pt>
                <c:pt idx="178">
                  <c:v>-286.8</c:v>
                </c:pt>
                <c:pt idx="179">
                  <c:v>30.3</c:v>
                </c:pt>
                <c:pt idx="180">
                  <c:v>75.1</c:v>
                </c:pt>
                <c:pt idx="181">
                  <c:v>57.4</c:v>
                </c:pt>
                <c:pt idx="182">
                  <c:v>-160.4</c:v>
                </c:pt>
                <c:pt idx="183">
                  <c:v>-52.6</c:v>
                </c:pt>
                <c:pt idx="184">
                  <c:v>-103.7</c:v>
                </c:pt>
                <c:pt idx="185">
                  <c:v>138</c:v>
                </c:pt>
                <c:pt idx="186">
                  <c:v>-23.7</c:v>
                </c:pt>
                <c:pt idx="187">
                  <c:v>-392</c:v>
                </c:pt>
                <c:pt idx="188">
                  <c:v>-51.9</c:v>
                </c:pt>
                <c:pt idx="189">
                  <c:v>95.8</c:v>
                </c:pt>
                <c:pt idx="190">
                  <c:v>49</c:v>
                </c:pt>
                <c:pt idx="191">
                  <c:v>-67.3</c:v>
                </c:pt>
                <c:pt idx="192">
                  <c:v>209.9</c:v>
                </c:pt>
                <c:pt idx="193">
                  <c:v>-166.3</c:v>
                </c:pt>
                <c:pt idx="194">
                  <c:v>-216.7</c:v>
                </c:pt>
                <c:pt idx="195">
                  <c:v>-368</c:v>
                </c:pt>
                <c:pt idx="196">
                  <c:v>104.8</c:v>
                </c:pt>
                <c:pt idx="197">
                  <c:v>-73.2</c:v>
                </c:pt>
                <c:pt idx="198">
                  <c:v>239</c:v>
                </c:pt>
                <c:pt idx="199">
                  <c:v>63.4</c:v>
                </c:pt>
                <c:pt idx="200">
                  <c:v>37.9</c:v>
                </c:pt>
                <c:pt idx="201">
                  <c:v>217.8</c:v>
                </c:pt>
                <c:pt idx="202">
                  <c:v>0.5</c:v>
                </c:pt>
                <c:pt idx="203">
                  <c:v>204.7</c:v>
                </c:pt>
                <c:pt idx="204">
                  <c:v>12.3</c:v>
                </c:pt>
                <c:pt idx="205">
                  <c:v>124.6</c:v>
                </c:pt>
                <c:pt idx="206">
                  <c:v>-52.6</c:v>
                </c:pt>
                <c:pt idx="207">
                  <c:v>24</c:v>
                </c:pt>
                <c:pt idx="208">
                  <c:v>-144</c:v>
                </c:pt>
                <c:pt idx="209">
                  <c:v>142</c:v>
                </c:pt>
                <c:pt idx="210">
                  <c:v>-51</c:v>
                </c:pt>
                <c:pt idx="211">
                  <c:v>-26.7</c:v>
                </c:pt>
                <c:pt idx="212">
                  <c:v>-82.7</c:v>
                </c:pt>
                <c:pt idx="213">
                  <c:v>-18.3</c:v>
                </c:pt>
                <c:pt idx="214">
                  <c:v>113.7</c:v>
                </c:pt>
                <c:pt idx="215">
                  <c:v>-251.7</c:v>
                </c:pt>
                <c:pt idx="216">
                  <c:v>-10.8</c:v>
                </c:pt>
                <c:pt idx="217">
                  <c:v>74.5</c:v>
                </c:pt>
                <c:pt idx="218">
                  <c:v>-287.9</c:v>
                </c:pt>
                <c:pt idx="219">
                  <c:v>125.9</c:v>
                </c:pt>
                <c:pt idx="220">
                  <c:v>23.3</c:v>
                </c:pt>
                <c:pt idx="221">
                  <c:v>159.6</c:v>
                </c:pt>
                <c:pt idx="222">
                  <c:v>108.2</c:v>
                </c:pt>
                <c:pt idx="223">
                  <c:v>20.9</c:v>
                </c:pt>
                <c:pt idx="224">
                  <c:v>-25.1</c:v>
                </c:pt>
                <c:pt idx="225">
                  <c:v>30.9</c:v>
                </c:pt>
                <c:pt idx="226">
                  <c:v>-11.2</c:v>
                </c:pt>
                <c:pt idx="227">
                  <c:v>265.1</c:v>
                </c:pt>
                <c:pt idx="228">
                  <c:v>-36.6</c:v>
                </c:pt>
                <c:pt idx="229">
                  <c:v>68.7</c:v>
                </c:pt>
                <c:pt idx="230">
                  <c:v>52.9</c:v>
                </c:pt>
                <c:pt idx="231">
                  <c:v>10.3</c:v>
                </c:pt>
                <c:pt idx="232">
                  <c:v>-26.8</c:v>
                </c:pt>
                <c:pt idx="233">
                  <c:v>29</c:v>
                </c:pt>
                <c:pt idx="234">
                  <c:v>62.6</c:v>
                </c:pt>
                <c:pt idx="235">
                  <c:v>-91.7</c:v>
                </c:pt>
                <c:pt idx="236">
                  <c:v>-10.1</c:v>
                </c:pt>
                <c:pt idx="237">
                  <c:v>-2.8</c:v>
                </c:pt>
                <c:pt idx="238">
                  <c:v>164.3</c:v>
                </c:pt>
                <c:pt idx="239">
                  <c:v>-133.2</c:v>
                </c:pt>
                <c:pt idx="240">
                  <c:v>87</c:v>
                </c:pt>
                <c:pt idx="241">
                  <c:v>30.8</c:v>
                </c:pt>
                <c:pt idx="242">
                  <c:v>18</c:v>
                </c:pt>
                <c:pt idx="243">
                  <c:v>-6.4</c:v>
                </c:pt>
                <c:pt idx="244">
                  <c:v>71.4</c:v>
                </c:pt>
                <c:pt idx="245">
                  <c:v>-154.7</c:v>
                </c:pt>
                <c:pt idx="246">
                  <c:v>37.5</c:v>
                </c:pt>
                <c:pt idx="247">
                  <c:v>-6.5</c:v>
                </c:pt>
                <c:pt idx="248">
                  <c:v>41.4</c:v>
                </c:pt>
                <c:pt idx="249">
                  <c:v>42.1</c:v>
                </c:pt>
                <c:pt idx="250">
                  <c:v>42.6</c:v>
                </c:pt>
                <c:pt idx="251">
                  <c:v>-165.3</c:v>
                </c:pt>
                <c:pt idx="252">
                  <c:v>197.2</c:v>
                </c:pt>
                <c:pt idx="253">
                  <c:v>78.5</c:v>
                </c:pt>
                <c:pt idx="254">
                  <c:v>2.6</c:v>
                </c:pt>
                <c:pt idx="255">
                  <c:v>33.2</c:v>
                </c:pt>
                <c:pt idx="256">
                  <c:v>2.7</c:v>
                </c:pt>
                <c:pt idx="257">
                  <c:v>-260.3</c:v>
                </c:pt>
                <c:pt idx="258">
                  <c:v>69.5</c:v>
                </c:pt>
                <c:pt idx="259">
                  <c:v>-63.1</c:v>
                </c:pt>
                <c:pt idx="260">
                  <c:v>147.9</c:v>
                </c:pt>
                <c:pt idx="261">
                  <c:v>467.3</c:v>
                </c:pt>
                <c:pt idx="262">
                  <c:v>128.1</c:v>
                </c:pt>
                <c:pt idx="263">
                  <c:v>67</c:v>
                </c:pt>
                <c:pt idx="264">
                  <c:v>82.5</c:v>
                </c:pt>
                <c:pt idx="265">
                  <c:v>-44</c:v>
                </c:pt>
                <c:pt idx="266">
                  <c:v>5.2</c:v>
                </c:pt>
                <c:pt idx="267">
                  <c:v>-102.6</c:v>
                </c:pt>
                <c:pt idx="268">
                  <c:v>-134.2</c:v>
                </c:pt>
                <c:pt idx="269">
                  <c:v>83.3</c:v>
                </c:pt>
                <c:pt idx="270">
                  <c:v>79.4</c:v>
                </c:pt>
                <c:pt idx="271">
                  <c:v>4.7</c:v>
                </c:pt>
                <c:pt idx="272">
                  <c:v>-56.4</c:v>
                </c:pt>
                <c:pt idx="273">
                  <c:v>5.6</c:v>
                </c:pt>
                <c:pt idx="274">
                  <c:v>-12.7</c:v>
                </c:pt>
                <c:pt idx="275">
                  <c:v>73.2</c:v>
                </c:pt>
                <c:pt idx="276">
                  <c:v>-60.3</c:v>
                </c:pt>
                <c:pt idx="277">
                  <c:v>99.8</c:v>
                </c:pt>
                <c:pt idx="278">
                  <c:v>107.8</c:v>
                </c:pt>
                <c:pt idx="279">
                  <c:v>44.2</c:v>
                </c:pt>
                <c:pt idx="280">
                  <c:v>84.6</c:v>
                </c:pt>
                <c:pt idx="281">
                  <c:v>-1.3</c:v>
                </c:pt>
                <c:pt idx="282">
                  <c:v>56.7</c:v>
                </c:pt>
                <c:pt idx="283">
                  <c:v>-17.4</c:v>
                </c:pt>
                <c:pt idx="284">
                  <c:v>66.3</c:v>
                </c:pt>
                <c:pt idx="285">
                  <c:v>155.4</c:v>
                </c:pt>
                <c:pt idx="286">
                  <c:v>-89.5</c:v>
                </c:pt>
                <c:pt idx="287">
                  <c:v>-18.8</c:v>
                </c:pt>
                <c:pt idx="288">
                  <c:v>96.8</c:v>
                </c:pt>
                <c:pt idx="289">
                  <c:v>-0.2</c:v>
                </c:pt>
                <c:pt idx="290">
                  <c:v>-326.5</c:v>
                </c:pt>
                <c:pt idx="291">
                  <c:v>4.3</c:v>
                </c:pt>
                <c:pt idx="292">
                  <c:v>49.9</c:v>
                </c:pt>
                <c:pt idx="293">
                  <c:v>123.4</c:v>
                </c:pt>
                <c:pt idx="294">
                  <c:v>170</c:v>
                </c:pt>
                <c:pt idx="295">
                  <c:v>-31.5</c:v>
                </c:pt>
                <c:pt idx="296">
                  <c:v>-159.8</c:v>
                </c:pt>
                <c:pt idx="297">
                  <c:v>-114.9</c:v>
                </c:pt>
                <c:pt idx="298">
                  <c:v>-93</c:v>
                </c:pt>
                <c:pt idx="299">
                  <c:v>-40</c:v>
                </c:pt>
                <c:pt idx="300">
                  <c:v>208.6</c:v>
                </c:pt>
                <c:pt idx="301">
                  <c:v>134.8</c:v>
                </c:pt>
                <c:pt idx="302">
                  <c:v>-162.8</c:v>
                </c:pt>
                <c:pt idx="303">
                  <c:v>-8.6</c:v>
                </c:pt>
                <c:pt idx="304">
                  <c:v>-107.8</c:v>
                </c:pt>
                <c:pt idx="305">
                  <c:v>50.9</c:v>
                </c:pt>
                <c:pt idx="306">
                  <c:v>-47.5</c:v>
                </c:pt>
                <c:pt idx="307">
                  <c:v>287.3</c:v>
                </c:pt>
                <c:pt idx="308">
                  <c:v>-187</c:v>
                </c:pt>
                <c:pt idx="309">
                  <c:v>149</c:v>
                </c:pt>
                <c:pt idx="310">
                  <c:v>62.3</c:v>
                </c:pt>
                <c:pt idx="311">
                  <c:v>72.7</c:v>
                </c:pt>
                <c:pt idx="312">
                  <c:v>53.3</c:v>
                </c:pt>
                <c:pt idx="313">
                  <c:v>-41.5</c:v>
                </c:pt>
                <c:pt idx="314">
                  <c:v>-171.2</c:v>
                </c:pt>
                <c:pt idx="315">
                  <c:v>179.4</c:v>
                </c:pt>
                <c:pt idx="316">
                  <c:v>-71.6</c:v>
                </c:pt>
                <c:pt idx="317">
                  <c:v>27.6</c:v>
                </c:pt>
                <c:pt idx="318">
                  <c:v>-29.7</c:v>
                </c:pt>
                <c:pt idx="319">
                  <c:v>-115.6</c:v>
                </c:pt>
                <c:pt idx="320">
                  <c:v>143.7</c:v>
                </c:pt>
                <c:pt idx="321">
                  <c:v>-81.6</c:v>
                </c:pt>
                <c:pt idx="322">
                  <c:v>47.6</c:v>
                </c:pt>
                <c:pt idx="323">
                  <c:v>-133.2</c:v>
                </c:pt>
                <c:pt idx="324">
                  <c:v>51.8</c:v>
                </c:pt>
                <c:pt idx="325">
                  <c:v>-23.8</c:v>
                </c:pt>
                <c:pt idx="326">
                  <c:v>-40.4</c:v>
                </c:pt>
                <c:pt idx="327">
                  <c:v>148.9</c:v>
                </c:pt>
                <c:pt idx="328">
                  <c:v>25.5</c:v>
                </c:pt>
                <c:pt idx="329">
                  <c:v>-53.9</c:v>
                </c:pt>
                <c:pt idx="330">
                  <c:v>35.6</c:v>
                </c:pt>
                <c:pt idx="331">
                  <c:v>-77.2</c:v>
                </c:pt>
                <c:pt idx="332">
                  <c:v>-265.9</c:v>
                </c:pt>
                <c:pt idx="333">
                  <c:v>-115.1</c:v>
                </c:pt>
                <c:pt idx="334">
                  <c:v>-168.3</c:v>
                </c:pt>
                <c:pt idx="335">
                  <c:v>-8.4</c:v>
                </c:pt>
                <c:pt idx="336">
                  <c:v>-208</c:v>
                </c:pt>
                <c:pt idx="337">
                  <c:v>194.9</c:v>
                </c:pt>
                <c:pt idx="338">
                  <c:v>-289.6</c:v>
                </c:pt>
                <c:pt idx="339">
                  <c:v>-68.5</c:v>
                </c:pt>
                <c:pt idx="340">
                  <c:v>116.5</c:v>
                </c:pt>
                <c:pt idx="341">
                  <c:v>-181.1</c:v>
                </c:pt>
                <c:pt idx="342">
                  <c:v>29.2</c:v>
                </c:pt>
                <c:pt idx="343">
                  <c:v>-427.9</c:v>
                </c:pt>
                <c:pt idx="344">
                  <c:v>4</c:v>
                </c:pt>
                <c:pt idx="345">
                  <c:v>153.4</c:v>
                </c:pt>
                <c:pt idx="346">
                  <c:v>-186.3</c:v>
                </c:pt>
                <c:pt idx="347">
                  <c:v>276.8</c:v>
                </c:pt>
                <c:pt idx="348">
                  <c:v>-34.8</c:v>
                </c:pt>
                <c:pt idx="349">
                  <c:v>-160.3</c:v>
                </c:pt>
                <c:pt idx="350">
                  <c:v>150.1</c:v>
                </c:pt>
                <c:pt idx="351">
                  <c:v>18.3</c:v>
                </c:pt>
                <c:pt idx="352">
                  <c:v>117.7</c:v>
                </c:pt>
                <c:pt idx="353">
                  <c:v>274.4</c:v>
                </c:pt>
                <c:pt idx="354">
                  <c:v>99.4</c:v>
                </c:pt>
                <c:pt idx="355">
                  <c:v>-187.3</c:v>
                </c:pt>
                <c:pt idx="356">
                  <c:v>-53.3</c:v>
                </c:pt>
                <c:pt idx="357">
                  <c:v>-257.3</c:v>
                </c:pt>
                <c:pt idx="358">
                  <c:v>10.2</c:v>
                </c:pt>
                <c:pt idx="359">
                  <c:v>110.6</c:v>
                </c:pt>
                <c:pt idx="360">
                  <c:v>82</c:v>
                </c:pt>
                <c:pt idx="361">
                  <c:v>-559.2</c:v>
                </c:pt>
                <c:pt idx="362">
                  <c:v>-586.6</c:v>
                </c:pt>
                <c:pt idx="363">
                  <c:v>27.6</c:v>
                </c:pt>
                <c:pt idx="364">
                  <c:v>-118.4</c:v>
                </c:pt>
                <c:pt idx="365">
                  <c:v>1188.1</c:v>
                </c:pt>
                <c:pt idx="366">
                  <c:v>-406.5</c:v>
                </c:pt>
                <c:pt idx="367">
                  <c:v>208.3</c:v>
                </c:pt>
                <c:pt idx="368">
                  <c:v>-35.1</c:v>
                </c:pt>
                <c:pt idx="369">
                  <c:v>-51.8</c:v>
                </c:pt>
                <c:pt idx="370">
                  <c:v>-282.5</c:v>
                </c:pt>
                <c:pt idx="371">
                  <c:v>-283.2</c:v>
                </c:pt>
                <c:pt idx="372">
                  <c:v>-321.4</c:v>
                </c:pt>
                <c:pt idx="373">
                  <c:v>276.8</c:v>
                </c:pt>
                <c:pt idx="374">
                  <c:v>262.9</c:v>
                </c:pt>
                <c:pt idx="375">
                  <c:v>231.4</c:v>
                </c:pt>
                <c:pt idx="376">
                  <c:v>203.5</c:v>
                </c:pt>
                <c:pt idx="377">
                  <c:v>-25.4</c:v>
                </c:pt>
                <c:pt idx="378">
                  <c:v>26</c:v>
                </c:pt>
                <c:pt idx="379">
                  <c:v>-84.1</c:v>
                </c:pt>
                <c:pt idx="380">
                  <c:v>172.9</c:v>
                </c:pt>
                <c:pt idx="381">
                  <c:v>122</c:v>
                </c:pt>
                <c:pt idx="382">
                  <c:v>-86.6</c:v>
                </c:pt>
                <c:pt idx="383">
                  <c:v>-87.3</c:v>
                </c:pt>
                <c:pt idx="384">
                  <c:v>-20.9</c:v>
                </c:pt>
                <c:pt idx="385">
                  <c:v>106.2</c:v>
                </c:pt>
                <c:pt idx="386">
                  <c:v>30.5</c:v>
                </c:pt>
                <c:pt idx="387">
                  <c:v>451.9</c:v>
                </c:pt>
                <c:pt idx="388">
                  <c:v>29.9</c:v>
                </c:pt>
                <c:pt idx="389">
                  <c:v>125.6</c:v>
                </c:pt>
                <c:pt idx="390">
                  <c:v>-139.8</c:v>
                </c:pt>
                <c:pt idx="391">
                  <c:v>76.3</c:v>
                </c:pt>
                <c:pt idx="392">
                  <c:v>9.2</c:v>
                </c:pt>
                <c:pt idx="393">
                  <c:v>-43.1</c:v>
                </c:pt>
                <c:pt idx="394">
                  <c:v>-148.3</c:v>
                </c:pt>
                <c:pt idx="395">
                  <c:v>36.2</c:v>
                </c:pt>
                <c:pt idx="396">
                  <c:v>-100.2</c:v>
                </c:pt>
                <c:pt idx="397">
                  <c:v>263.1</c:v>
                </c:pt>
                <c:pt idx="398">
                  <c:v>-52.2</c:v>
                </c:pt>
                <c:pt idx="399">
                  <c:v>56.6</c:v>
                </c:pt>
                <c:pt idx="400">
                  <c:v>-62.3</c:v>
                </c:pt>
                <c:pt idx="401">
                  <c:v>61</c:v>
                </c:pt>
                <c:pt idx="402">
                  <c:v>17.3</c:v>
                </c:pt>
                <c:pt idx="403">
                  <c:v>-4.7</c:v>
                </c:pt>
                <c:pt idx="404">
                  <c:v>-181.4</c:v>
                </c:pt>
                <c:pt idx="405">
                  <c:v>209.8</c:v>
                </c:pt>
                <c:pt idx="406">
                  <c:v>74.5</c:v>
                </c:pt>
                <c:pt idx="407">
                  <c:v>122</c:v>
                </c:pt>
                <c:pt idx="408">
                  <c:v>-22.7</c:v>
                </c:pt>
                <c:pt idx="409">
                  <c:v>29.9</c:v>
                </c:pt>
                <c:pt idx="410">
                  <c:v>-58.3</c:v>
                </c:pt>
                <c:pt idx="411">
                  <c:v>121.2</c:v>
                </c:pt>
                <c:pt idx="412">
                  <c:v>-58.1</c:v>
                </c:pt>
                <c:pt idx="413">
                  <c:v>10.2</c:v>
                </c:pt>
                <c:pt idx="414">
                  <c:v>-65.9</c:v>
                </c:pt>
                <c:pt idx="415">
                  <c:v>87.5</c:v>
                </c:pt>
                <c:pt idx="416">
                  <c:v>51</c:v>
                </c:pt>
                <c:pt idx="417">
                  <c:v>32.3</c:v>
                </c:pt>
                <c:pt idx="418">
                  <c:v>108.2</c:v>
                </c:pt>
                <c:pt idx="419">
                  <c:v>86.8</c:v>
                </c:pt>
                <c:pt idx="420">
                  <c:v>-12</c:v>
                </c:pt>
                <c:pt idx="421">
                  <c:v>-43.3</c:v>
                </c:pt>
                <c:pt idx="422">
                  <c:v>61.4</c:v>
                </c:pt>
                <c:pt idx="423">
                  <c:v>94</c:v>
                </c:pt>
                <c:pt idx="424">
                  <c:v>-148.3</c:v>
                </c:pt>
                <c:pt idx="425">
                  <c:v>1.5</c:v>
                </c:pt>
                <c:pt idx="426">
                  <c:v>57.8</c:v>
                </c:pt>
                <c:pt idx="427">
                  <c:v>67.6</c:v>
                </c:pt>
                <c:pt idx="428">
                  <c:v>42.6</c:v>
                </c:pt>
                <c:pt idx="429">
                  <c:v>-11</c:v>
                </c:pt>
                <c:pt idx="430">
                  <c:v>-23</c:v>
                </c:pt>
                <c:pt idx="431">
                  <c:v>17.7</c:v>
                </c:pt>
                <c:pt idx="432">
                  <c:v>13.8</c:v>
                </c:pt>
                <c:pt idx="433">
                  <c:v>4.6</c:v>
                </c:pt>
                <c:pt idx="434">
                  <c:v>50.3</c:v>
                </c:pt>
                <c:pt idx="435">
                  <c:v>-12.8</c:v>
                </c:pt>
                <c:pt idx="436">
                  <c:v>88</c:v>
                </c:pt>
                <c:pt idx="437">
                  <c:v>-64</c:v>
                </c:pt>
                <c:pt idx="438">
                  <c:v>48.4</c:v>
                </c:pt>
                <c:pt idx="439">
                  <c:v>68.6</c:v>
                </c:pt>
                <c:pt idx="440">
                  <c:v>-104.2</c:v>
                </c:pt>
                <c:pt idx="441">
                  <c:v>17.2</c:v>
                </c:pt>
                <c:pt idx="442">
                  <c:v>20.9</c:v>
                </c:pt>
                <c:pt idx="443">
                  <c:v>-300</c:v>
                </c:pt>
                <c:pt idx="444">
                  <c:v>148.2</c:v>
                </c:pt>
                <c:pt idx="445">
                  <c:v>-9</c:v>
                </c:pt>
                <c:pt idx="446">
                  <c:v>116.7</c:v>
                </c:pt>
                <c:pt idx="447">
                  <c:v>8.5</c:v>
                </c:pt>
                <c:pt idx="448">
                  <c:v>154.6</c:v>
                </c:pt>
                <c:pt idx="449">
                  <c:v>4.4</c:v>
                </c:pt>
                <c:pt idx="450">
                  <c:v>131.2</c:v>
                </c:pt>
                <c:pt idx="451">
                  <c:v>26.8</c:v>
                </c:pt>
                <c:pt idx="452">
                  <c:v>34.2</c:v>
                </c:pt>
                <c:pt idx="453">
                  <c:v>90.1</c:v>
                </c:pt>
                <c:pt idx="454">
                  <c:v>14.3</c:v>
                </c:pt>
                <c:pt idx="455">
                  <c:v>-124</c:v>
                </c:pt>
                <c:pt idx="456">
                  <c:v>-82.8</c:v>
                </c:pt>
                <c:pt idx="457">
                  <c:v>-19.9</c:v>
                </c:pt>
                <c:pt idx="458">
                  <c:v>230.3</c:v>
                </c:pt>
                <c:pt idx="459">
                  <c:v>18.5</c:v>
                </c:pt>
                <c:pt idx="460">
                  <c:v>22.4</c:v>
                </c:pt>
                <c:pt idx="461">
                  <c:v>28</c:v>
                </c:pt>
                <c:pt idx="462">
                  <c:v>36.1</c:v>
                </c:pt>
                <c:pt idx="463">
                  <c:v>-57.9</c:v>
                </c:pt>
                <c:pt idx="464">
                  <c:v>-80.4</c:v>
                </c:pt>
                <c:pt idx="465">
                  <c:v>120.6</c:v>
                </c:pt>
                <c:pt idx="466">
                  <c:v>122</c:v>
                </c:pt>
                <c:pt idx="467">
                  <c:v>-54.6</c:v>
                </c:pt>
                <c:pt idx="468">
                  <c:v>20.2</c:v>
                </c:pt>
                <c:pt idx="469">
                  <c:v>166.5</c:v>
                </c:pt>
                <c:pt idx="470">
                  <c:v>-21.7</c:v>
                </c:pt>
                <c:pt idx="471">
                  <c:v>112.3</c:v>
                </c:pt>
                <c:pt idx="472">
                  <c:v>117</c:v>
                </c:pt>
                <c:pt idx="473">
                  <c:v>135</c:v>
                </c:pt>
                <c:pt idx="474">
                  <c:v>33.5</c:v>
                </c:pt>
                <c:pt idx="475">
                  <c:v>-10.3</c:v>
                </c:pt>
                <c:pt idx="476">
                  <c:v>-12.7</c:v>
                </c:pt>
                <c:pt idx="477">
                  <c:v>88.5</c:v>
                </c:pt>
                <c:pt idx="478">
                  <c:v>54.7</c:v>
                </c:pt>
                <c:pt idx="479">
                  <c:v>-75</c:v>
                </c:pt>
                <c:pt idx="480">
                  <c:v>37</c:v>
                </c:pt>
                <c:pt idx="481">
                  <c:v>-77</c:v>
                </c:pt>
                <c:pt idx="482">
                  <c:v>73.2</c:v>
                </c:pt>
                <c:pt idx="483">
                  <c:v>5.1</c:v>
                </c:pt>
                <c:pt idx="484">
                  <c:v>-2.1</c:v>
                </c:pt>
                <c:pt idx="485">
                  <c:v>19.3</c:v>
                </c:pt>
                <c:pt idx="486">
                  <c:v>-20.9</c:v>
                </c:pt>
                <c:pt idx="487">
                  <c:v>-7</c:v>
                </c:pt>
                <c:pt idx="488">
                  <c:v>98.5</c:v>
                </c:pt>
                <c:pt idx="489">
                  <c:v>-65.9</c:v>
                </c:pt>
                <c:pt idx="490">
                  <c:v>63.9</c:v>
                </c:pt>
                <c:pt idx="491">
                  <c:v>-0.5</c:v>
                </c:pt>
                <c:pt idx="492">
                  <c:v>-336.5</c:v>
                </c:pt>
                <c:pt idx="493">
                  <c:v>208.9</c:v>
                </c:pt>
                <c:pt idx="494">
                  <c:v>-96</c:v>
                </c:pt>
                <c:pt idx="495">
                  <c:v>59.3</c:v>
                </c:pt>
                <c:pt idx="496">
                  <c:v>-70.4</c:v>
                </c:pt>
                <c:pt idx="497">
                  <c:v>73.8</c:v>
                </c:pt>
                <c:pt idx="498">
                  <c:v>153.7</c:v>
                </c:pt>
                <c:pt idx="499">
                  <c:v>-27.2</c:v>
                </c:pt>
                <c:pt idx="500">
                  <c:v>-40.4</c:v>
                </c:pt>
                <c:pt idx="501">
                  <c:v>67.5</c:v>
                </c:pt>
                <c:pt idx="502">
                  <c:v>73.6</c:v>
                </c:pt>
                <c:pt idx="503">
                  <c:v>200.8</c:v>
                </c:pt>
                <c:pt idx="504">
                  <c:v>92.3</c:v>
                </c:pt>
                <c:pt idx="505">
                  <c:v>45.1</c:v>
                </c:pt>
                <c:pt idx="506">
                  <c:v>-237.6</c:v>
                </c:pt>
                <c:pt idx="507">
                  <c:v>78.2</c:v>
                </c:pt>
                <c:pt idx="508">
                  <c:v>40.1</c:v>
                </c:pt>
                <c:pt idx="509">
                  <c:v>-157</c:v>
                </c:pt>
                <c:pt idx="510">
                  <c:v>44.6</c:v>
                </c:pt>
                <c:pt idx="511">
                  <c:v>-151.8</c:v>
                </c:pt>
                <c:pt idx="512">
                  <c:v>-18.4</c:v>
                </c:pt>
                <c:pt idx="513">
                  <c:v>196.8</c:v>
                </c:pt>
                <c:pt idx="514">
                  <c:v>12.1</c:v>
                </c:pt>
                <c:pt idx="515">
                  <c:v>-48</c:v>
                </c:pt>
                <c:pt idx="516">
                  <c:v>-219</c:v>
                </c:pt>
                <c:pt idx="517">
                  <c:v>-24.7</c:v>
                </c:pt>
                <c:pt idx="518">
                  <c:v>-49.6</c:v>
                </c:pt>
                <c:pt idx="519">
                  <c:v>-137.4</c:v>
                </c:pt>
                <c:pt idx="520">
                  <c:v>28.2</c:v>
                </c:pt>
                <c:pt idx="521">
                  <c:v>-125.8</c:v>
                </c:pt>
                <c:pt idx="522">
                  <c:v>76.8</c:v>
                </c:pt>
                <c:pt idx="523">
                  <c:v>214.6</c:v>
                </c:pt>
                <c:pt idx="524">
                  <c:v>83.8</c:v>
                </c:pt>
                <c:pt idx="525">
                  <c:v>56.5</c:v>
                </c:pt>
                <c:pt idx="526">
                  <c:v>78</c:v>
                </c:pt>
                <c:pt idx="527">
                  <c:v>-30.7</c:v>
                </c:pt>
                <c:pt idx="528">
                  <c:v>29.1</c:v>
                </c:pt>
                <c:pt idx="529">
                  <c:v>69.9</c:v>
                </c:pt>
                <c:pt idx="530">
                  <c:v>35</c:v>
                </c:pt>
                <c:pt idx="531">
                  <c:v>8.5</c:v>
                </c:pt>
                <c:pt idx="532">
                  <c:v>-68.8</c:v>
                </c:pt>
                <c:pt idx="533">
                  <c:v>-18.4</c:v>
                </c:pt>
                <c:pt idx="534">
                  <c:v>58.3</c:v>
                </c:pt>
                <c:pt idx="535">
                  <c:v>2.5</c:v>
                </c:pt>
                <c:pt idx="536">
                  <c:v>-41.5</c:v>
                </c:pt>
                <c:pt idx="537">
                  <c:v>2.9</c:v>
                </c:pt>
                <c:pt idx="538">
                  <c:v>-5.1</c:v>
                </c:pt>
                <c:pt idx="539">
                  <c:v>-135.1</c:v>
                </c:pt>
                <c:pt idx="540">
                  <c:v>113.9</c:v>
                </c:pt>
                <c:pt idx="541">
                  <c:v>63.8</c:v>
                </c:pt>
                <c:pt idx="542">
                  <c:v>62</c:v>
                </c:pt>
                <c:pt idx="543">
                  <c:v>85.9</c:v>
                </c:pt>
                <c:pt idx="544">
                  <c:v>24.6</c:v>
                </c:pt>
                <c:pt idx="545">
                  <c:v>-14.4</c:v>
                </c:pt>
                <c:pt idx="546">
                  <c:v>-66.3</c:v>
                </c:pt>
                <c:pt idx="547">
                  <c:v>9.1</c:v>
                </c:pt>
                <c:pt idx="548">
                  <c:v>-62.6</c:v>
                </c:pt>
                <c:pt idx="549">
                  <c:v>-16.7</c:v>
                </c:pt>
                <c:pt idx="550">
                  <c:v>124.2</c:v>
                </c:pt>
                <c:pt idx="551">
                  <c:v>-30.8</c:v>
                </c:pt>
                <c:pt idx="552">
                  <c:v>-48.2</c:v>
                </c:pt>
                <c:pt idx="553">
                  <c:v>60.6</c:v>
                </c:pt>
                <c:pt idx="554">
                  <c:v>51.6</c:v>
                </c:pt>
                <c:pt idx="555">
                  <c:v>-31.7</c:v>
                </c:pt>
                <c:pt idx="556">
                  <c:v>-70.6</c:v>
                </c:pt>
                <c:pt idx="557">
                  <c:v>-84.8</c:v>
                </c:pt>
                <c:pt idx="558">
                  <c:v>20</c:v>
                </c:pt>
                <c:pt idx="559">
                  <c:v>-23.5</c:v>
                </c:pt>
                <c:pt idx="560">
                  <c:v>-217.3</c:v>
                </c:pt>
                <c:pt idx="561">
                  <c:v>128</c:v>
                </c:pt>
                <c:pt idx="562">
                  <c:v>165.6</c:v>
                </c:pt>
                <c:pt idx="563">
                  <c:v>71.3</c:v>
                </c:pt>
                <c:pt idx="564">
                  <c:v>28.3</c:v>
                </c:pt>
                <c:pt idx="565">
                  <c:v>-127.6</c:v>
                </c:pt>
                <c:pt idx="566">
                  <c:v>45.8</c:v>
                </c:pt>
                <c:pt idx="567">
                  <c:v>23.1</c:v>
                </c:pt>
                <c:pt idx="568">
                  <c:v>-33.5</c:v>
                </c:pt>
                <c:pt idx="569">
                  <c:v>-24.8</c:v>
                </c:pt>
                <c:pt idx="570">
                  <c:v>-53.4</c:v>
                </c:pt>
                <c:pt idx="571">
                  <c:v>-104.6</c:v>
                </c:pt>
                <c:pt idx="572">
                  <c:v>-192.2</c:v>
                </c:pt>
                <c:pt idx="573">
                  <c:v>134.5</c:v>
                </c:pt>
                <c:pt idx="574">
                  <c:v>87.8</c:v>
                </c:pt>
                <c:pt idx="575">
                  <c:v>-46.5</c:v>
                </c:pt>
                <c:pt idx="576">
                  <c:v>-12.8</c:v>
                </c:pt>
                <c:pt idx="577">
                  <c:v>-196.8</c:v>
                </c:pt>
                <c:pt idx="578">
                  <c:v>-54.3</c:v>
                </c:pt>
                <c:pt idx="579">
                  <c:v>-0.8</c:v>
                </c:pt>
                <c:pt idx="580">
                  <c:v>88.4</c:v>
                </c:pt>
                <c:pt idx="581">
                  <c:v>-8.1</c:v>
                </c:pt>
                <c:pt idx="582">
                  <c:v>81.9</c:v>
                </c:pt>
                <c:pt idx="583">
                  <c:v>-147.9</c:v>
                </c:pt>
                <c:pt idx="584">
                  <c:v>38</c:v>
                </c:pt>
                <c:pt idx="585">
                  <c:v>163.2</c:v>
                </c:pt>
                <c:pt idx="586">
                  <c:v>-89.9</c:v>
                </c:pt>
                <c:pt idx="587">
                  <c:v>-70</c:v>
                </c:pt>
                <c:pt idx="588">
                  <c:v>40.3</c:v>
                </c:pt>
                <c:pt idx="589">
                  <c:v>-62.1</c:v>
                </c:pt>
                <c:pt idx="590">
                  <c:v>99.1</c:v>
                </c:pt>
                <c:pt idx="591">
                  <c:v>-25.9</c:v>
                </c:pt>
                <c:pt idx="592">
                  <c:v>-144.9</c:v>
                </c:pt>
                <c:pt idx="593">
                  <c:v>73.7</c:v>
                </c:pt>
                <c:pt idx="594">
                  <c:v>-4.7</c:v>
                </c:pt>
                <c:pt idx="595">
                  <c:v>53.4</c:v>
                </c:pt>
                <c:pt idx="596">
                  <c:v>-162.4</c:v>
                </c:pt>
                <c:pt idx="597">
                  <c:v>-78.8</c:v>
                </c:pt>
                <c:pt idx="598">
                  <c:v>131.8</c:v>
                </c:pt>
                <c:pt idx="599">
                  <c:v>52.6</c:v>
                </c:pt>
                <c:pt idx="600">
                  <c:v>-123.6</c:v>
                </c:pt>
                <c:pt idx="601">
                  <c:v>-83.3</c:v>
                </c:pt>
                <c:pt idx="602">
                  <c:v>-156.8</c:v>
                </c:pt>
                <c:pt idx="603">
                  <c:v>111.2</c:v>
                </c:pt>
                <c:pt idx="604">
                  <c:v>-46.7</c:v>
                </c:pt>
                <c:pt idx="605">
                  <c:v>43.8</c:v>
                </c:pt>
                <c:pt idx="606">
                  <c:v>-226.8</c:v>
                </c:pt>
                <c:pt idx="607">
                  <c:v>-214.1</c:v>
                </c:pt>
                <c:pt idx="608">
                  <c:v>5.4</c:v>
                </c:pt>
                <c:pt idx="609">
                  <c:v>362.4</c:v>
                </c:pt>
                <c:pt idx="610">
                  <c:v>60.4</c:v>
                </c:pt>
                <c:pt idx="611">
                  <c:v>-42.6</c:v>
                </c:pt>
                <c:pt idx="612">
                  <c:v>56.1</c:v>
                </c:pt>
                <c:pt idx="613">
                  <c:v>97.2</c:v>
                </c:pt>
                <c:pt idx="614">
                  <c:v>164.4</c:v>
                </c:pt>
                <c:pt idx="615">
                  <c:v>112</c:v>
                </c:pt>
                <c:pt idx="616">
                  <c:v>23.9</c:v>
                </c:pt>
                <c:pt idx="617">
                  <c:v>114.6</c:v>
                </c:pt>
                <c:pt idx="618">
                  <c:v>192.3</c:v>
                </c:pt>
                <c:pt idx="619">
                  <c:v>162.4</c:v>
                </c:pt>
                <c:pt idx="620">
                  <c:v>47.7</c:v>
                </c:pt>
                <c:pt idx="621">
                  <c:v>115.6</c:v>
                </c:pt>
                <c:pt idx="622">
                  <c:v>-46.6</c:v>
                </c:pt>
                <c:pt idx="623">
                  <c:v>18.5</c:v>
                </c:pt>
                <c:pt idx="624">
                  <c:v>148</c:v>
                </c:pt>
                <c:pt idx="625">
                  <c:v>-109.4</c:v>
                </c:pt>
                <c:pt idx="626">
                  <c:v>126.1</c:v>
                </c:pt>
                <c:pt idx="627">
                  <c:v>53.6</c:v>
                </c:pt>
                <c:pt idx="628">
                  <c:v>29.8</c:v>
                </c:pt>
                <c:pt idx="629">
                  <c:v>-1.9</c:v>
                </c:pt>
                <c:pt idx="630">
                  <c:v>-26.8</c:v>
                </c:pt>
                <c:pt idx="631">
                  <c:v>59.2</c:v>
                </c:pt>
                <c:pt idx="632">
                  <c:v>-2.9</c:v>
                </c:pt>
                <c:pt idx="633">
                  <c:v>8.3</c:v>
                </c:pt>
                <c:pt idx="634">
                  <c:v>129.1</c:v>
                </c:pt>
                <c:pt idx="635">
                  <c:v>25.8</c:v>
                </c:pt>
                <c:pt idx="636">
                  <c:v>70.8</c:v>
                </c:pt>
                <c:pt idx="637">
                  <c:v>31.9</c:v>
                </c:pt>
                <c:pt idx="638">
                  <c:v>17.2</c:v>
                </c:pt>
                <c:pt idx="639">
                  <c:v>142.5</c:v>
                </c:pt>
                <c:pt idx="640">
                  <c:v>39.6</c:v>
                </c:pt>
                <c:pt idx="641">
                  <c:v>-75.5</c:v>
                </c:pt>
                <c:pt idx="642">
                  <c:v>-33.5</c:v>
                </c:pt>
                <c:pt idx="643">
                  <c:v>-97.5</c:v>
                </c:pt>
                <c:pt idx="644">
                  <c:v>59.7</c:v>
                </c:pt>
                <c:pt idx="645">
                  <c:v>-2.6</c:v>
                </c:pt>
                <c:pt idx="646">
                  <c:v>21.5</c:v>
                </c:pt>
                <c:pt idx="647">
                  <c:v>-37.7</c:v>
                </c:pt>
                <c:pt idx="648">
                  <c:v>50.7</c:v>
                </c:pt>
                <c:pt idx="649">
                  <c:v>45.5</c:v>
                </c:pt>
                <c:pt idx="650">
                  <c:v>-26.9</c:v>
                </c:pt>
                <c:pt idx="651">
                  <c:v>-56.4</c:v>
                </c:pt>
                <c:pt idx="652">
                  <c:v>-53.1</c:v>
                </c:pt>
                <c:pt idx="653">
                  <c:v>-59.6</c:v>
                </c:pt>
                <c:pt idx="654">
                  <c:v>152.2</c:v>
                </c:pt>
                <c:pt idx="655">
                  <c:v>-260.2</c:v>
                </c:pt>
                <c:pt idx="656">
                  <c:v>28.1</c:v>
                </c:pt>
                <c:pt idx="657">
                  <c:v>-86.1</c:v>
                </c:pt>
                <c:pt idx="658">
                  <c:v>-167</c:v>
                </c:pt>
                <c:pt idx="659">
                  <c:v>56</c:v>
                </c:pt>
                <c:pt idx="660">
                  <c:v>32.7</c:v>
                </c:pt>
                <c:pt idx="661">
                  <c:v>150.7</c:v>
                </c:pt>
                <c:pt idx="662">
                  <c:v>15</c:v>
                </c:pt>
                <c:pt idx="663">
                  <c:v>-210.4</c:v>
                </c:pt>
                <c:pt idx="664">
                  <c:v>56.3</c:v>
                </c:pt>
                <c:pt idx="665">
                  <c:v>-105.2</c:v>
                </c:pt>
                <c:pt idx="666">
                  <c:v>-75.1</c:v>
                </c:pt>
                <c:pt idx="667">
                  <c:v>-86.3</c:v>
                </c:pt>
                <c:pt idx="668">
                  <c:v>-129</c:v>
                </c:pt>
                <c:pt idx="669">
                  <c:v>96.7</c:v>
                </c:pt>
                <c:pt idx="670">
                  <c:v>145.3</c:v>
                </c:pt>
                <c:pt idx="671">
                  <c:v>73.6</c:v>
                </c:pt>
                <c:pt idx="672">
                  <c:v>202.7</c:v>
                </c:pt>
                <c:pt idx="673">
                  <c:v>-70.7</c:v>
                </c:pt>
                <c:pt idx="674">
                  <c:v>116.1</c:v>
                </c:pt>
                <c:pt idx="675">
                  <c:v>67.7</c:v>
                </c:pt>
                <c:pt idx="676">
                  <c:v>-71.2</c:v>
                </c:pt>
                <c:pt idx="677">
                  <c:v>92.1</c:v>
                </c:pt>
                <c:pt idx="678">
                  <c:v>91.1</c:v>
                </c:pt>
                <c:pt idx="679">
                  <c:v>-25.3</c:v>
                </c:pt>
                <c:pt idx="680">
                  <c:v>65.8</c:v>
                </c:pt>
                <c:pt idx="681">
                  <c:v>155.7</c:v>
                </c:pt>
                <c:pt idx="682">
                  <c:v>-80.3</c:v>
                </c:pt>
                <c:pt idx="683">
                  <c:v>-113.8</c:v>
                </c:pt>
                <c:pt idx="684">
                  <c:v>-10.5</c:v>
                </c:pt>
                <c:pt idx="685">
                  <c:v>82.8</c:v>
                </c:pt>
                <c:pt idx="686">
                  <c:v>-49.6</c:v>
                </c:pt>
                <c:pt idx="687">
                  <c:v>-317.5</c:v>
                </c:pt>
                <c:pt idx="688">
                  <c:v>-2.2</c:v>
                </c:pt>
                <c:pt idx="689">
                  <c:v>-27.5</c:v>
                </c:pt>
                <c:pt idx="690">
                  <c:v>54.7</c:v>
                </c:pt>
                <c:pt idx="691">
                  <c:v>-123.3</c:v>
                </c:pt>
                <c:pt idx="692">
                  <c:v>164.2</c:v>
                </c:pt>
                <c:pt idx="693">
                  <c:v>202.4</c:v>
                </c:pt>
                <c:pt idx="694">
                  <c:v>253</c:v>
                </c:pt>
                <c:pt idx="695">
                  <c:v>43.8</c:v>
                </c:pt>
                <c:pt idx="696">
                  <c:v>-43.7</c:v>
                </c:pt>
                <c:pt idx="697">
                  <c:v>2.1</c:v>
                </c:pt>
                <c:pt idx="698">
                  <c:v>57.5</c:v>
                </c:pt>
                <c:pt idx="699">
                  <c:v>52.6</c:v>
                </c:pt>
                <c:pt idx="700">
                  <c:v>-69</c:v>
                </c:pt>
                <c:pt idx="701">
                  <c:v>-54.4</c:v>
                </c:pt>
                <c:pt idx="702">
                  <c:v>63.8</c:v>
                </c:pt>
                <c:pt idx="703">
                  <c:v>1.3</c:v>
                </c:pt>
                <c:pt idx="704">
                  <c:v>-93.3</c:v>
                </c:pt>
                <c:pt idx="705">
                  <c:v>-38.9</c:v>
                </c:pt>
                <c:pt idx="706">
                  <c:v>56</c:v>
                </c:pt>
                <c:pt idx="707">
                  <c:v>-92.6</c:v>
                </c:pt>
                <c:pt idx="708">
                  <c:v>63.3</c:v>
                </c:pt>
                <c:pt idx="709">
                  <c:v>2</c:v>
                </c:pt>
                <c:pt idx="710">
                  <c:v>21.1</c:v>
                </c:pt>
                <c:pt idx="711">
                  <c:v>-20.7</c:v>
                </c:pt>
                <c:pt idx="712">
                  <c:v>81.1</c:v>
                </c:pt>
                <c:pt idx="713">
                  <c:v>35.3</c:v>
                </c:pt>
                <c:pt idx="714">
                  <c:v>14</c:v>
                </c:pt>
                <c:pt idx="715">
                  <c:v>-17.1</c:v>
                </c:pt>
                <c:pt idx="716">
                  <c:v>66.5</c:v>
                </c:pt>
                <c:pt idx="717">
                  <c:v>176.2</c:v>
                </c:pt>
                <c:pt idx="718">
                  <c:v>-133.9</c:v>
                </c:pt>
                <c:pt idx="719">
                  <c:v>-15.2</c:v>
                </c:pt>
                <c:pt idx="720">
                  <c:v>17.8</c:v>
                </c:pt>
                <c:pt idx="721">
                  <c:v>-19.1</c:v>
                </c:pt>
                <c:pt idx="722">
                  <c:v>59.9</c:v>
                </c:pt>
                <c:pt idx="723">
                  <c:v>15.9</c:v>
                </c:pt>
                <c:pt idx="724">
                  <c:v>-33.7</c:v>
                </c:pt>
                <c:pt idx="725">
                  <c:v>-56.9</c:v>
                </c:pt>
                <c:pt idx="726">
                  <c:v>124.9</c:v>
                </c:pt>
                <c:pt idx="727">
                  <c:v>-8</c:v>
                </c:pt>
                <c:pt idx="728">
                  <c:v>216.8</c:v>
                </c:pt>
                <c:pt idx="729">
                  <c:v>-61.6</c:v>
                </c:pt>
                <c:pt idx="730">
                  <c:v>-57.3</c:v>
                </c:pt>
                <c:pt idx="731">
                  <c:v>69.7</c:v>
                </c:pt>
                <c:pt idx="732">
                  <c:v>5.9</c:v>
                </c:pt>
                <c:pt idx="733">
                  <c:v>-123.5</c:v>
                </c:pt>
                <c:pt idx="734">
                  <c:v>-30.4</c:v>
                </c:pt>
                <c:pt idx="735">
                  <c:v>1.6</c:v>
                </c:pt>
                <c:pt idx="736">
                  <c:v>-10.5</c:v>
                </c:pt>
                <c:pt idx="737">
                  <c:v>127.9</c:v>
                </c:pt>
                <c:pt idx="738">
                  <c:v>101.3</c:v>
                </c:pt>
                <c:pt idx="739">
                  <c:v>33.9</c:v>
                </c:pt>
                <c:pt idx="740">
                  <c:v>-15.6</c:v>
                </c:pt>
                <c:pt idx="741">
                  <c:v>-51.3</c:v>
                </c:pt>
                <c:pt idx="742">
                  <c:v>98.1</c:v>
                </c:pt>
                <c:pt idx="743">
                  <c:v>44</c:v>
                </c:pt>
                <c:pt idx="744">
                  <c:v>33.3</c:v>
                </c:pt>
                <c:pt idx="745">
                  <c:v>-58.2</c:v>
                </c:pt>
                <c:pt idx="746">
                  <c:v>-0.1</c:v>
                </c:pt>
                <c:pt idx="747">
                  <c:v>-105.1</c:v>
                </c:pt>
                <c:pt idx="748">
                  <c:v>51</c:v>
                </c:pt>
                <c:pt idx="749">
                  <c:v>-19.5</c:v>
                </c:pt>
              </c:numCache>
            </c:numRef>
          </c:val>
          <c:smooth val="0"/>
        </c:ser>
        <c:ser>
          <c:idx val="1"/>
          <c:order val="1"/>
          <c:tx>
            <c:v>99% VaR limit ($000s)</c:v>
          </c:tx>
          <c:spPr>
            <a:ln xmlns:a="http://schemas.openxmlformats.org/drawingml/2006/main" w="28575">
              <a:solidFill>
                <a:srgbClr val="174C4F"/>
              </a:solidFill>
              <a:prstDash val="solid"/>
            </a:ln>
          </c:spPr>
          <c:marker>
            <c:symbol val="none"/>
            <c:size val="2"/>
          </c:marker>
          <c:cat>
            <c:strRef>
              <c:f>'Chart Data'!$C$2:$C$751</c:f>
              <c:strCache>
                <c:ptCount val="750"/>
                <c:pt idx="0">
                  <c:v>24 Oct 2023</c:v>
                </c:pt>
                <c:pt idx="1">
                  <c:v>25 Oct 2023</c:v>
                </c:pt>
                <c:pt idx="2">
                  <c:v>26 Oct 2023</c:v>
                </c:pt>
                <c:pt idx="3">
                  <c:v>27 Oct 2023</c:v>
                </c:pt>
                <c:pt idx="4">
                  <c:v>30 Oct 2023</c:v>
                </c:pt>
                <c:pt idx="5">
                  <c:v>31 Oct 2023</c:v>
                </c:pt>
                <c:pt idx="6">
                  <c:v>01 Nov 2023</c:v>
                </c:pt>
                <c:pt idx="7">
                  <c:v>02 Nov 2023</c:v>
                </c:pt>
                <c:pt idx="8">
                  <c:v>03 Nov 2023</c:v>
                </c:pt>
                <c:pt idx="9">
                  <c:v>06 Nov 2023</c:v>
                </c:pt>
                <c:pt idx="10">
                  <c:v>07 Nov 2023</c:v>
                </c:pt>
                <c:pt idx="11">
                  <c:v>08 Nov 2023</c:v>
                </c:pt>
                <c:pt idx="12">
                  <c:v>09 Nov 2023</c:v>
                </c:pt>
                <c:pt idx="13">
                  <c:v>10 Nov 2023</c:v>
                </c:pt>
                <c:pt idx="14">
                  <c:v>13 Nov 2023</c:v>
                </c:pt>
                <c:pt idx="15">
                  <c:v>14 Nov 2023</c:v>
                </c:pt>
                <c:pt idx="16">
                  <c:v>15 Nov 2023</c:v>
                </c:pt>
                <c:pt idx="17">
                  <c:v>16 Nov 2023</c:v>
                </c:pt>
                <c:pt idx="18">
                  <c:v>17 Nov 2023</c:v>
                </c:pt>
                <c:pt idx="19">
                  <c:v>20 Nov 2023</c:v>
                </c:pt>
                <c:pt idx="20">
                  <c:v>21 Nov 2023</c:v>
                </c:pt>
                <c:pt idx="21">
                  <c:v>22 Nov 2023</c:v>
                </c:pt>
                <c:pt idx="22">
                  <c:v>24 Nov 2023</c:v>
                </c:pt>
                <c:pt idx="23">
                  <c:v>27 Nov 2023</c:v>
                </c:pt>
                <c:pt idx="24">
                  <c:v>28 Nov 2023</c:v>
                </c:pt>
                <c:pt idx="25">
                  <c:v>29 Nov 2023</c:v>
                </c:pt>
                <c:pt idx="26">
                  <c:v>30 Nov 2023</c:v>
                </c:pt>
                <c:pt idx="27">
                  <c:v>01 Dec 2023</c:v>
                </c:pt>
                <c:pt idx="28">
                  <c:v>04 Dec 2023</c:v>
                </c:pt>
                <c:pt idx="29">
                  <c:v>05 Dec 2023</c:v>
                </c:pt>
                <c:pt idx="30">
                  <c:v>06 Dec 2023</c:v>
                </c:pt>
                <c:pt idx="31">
                  <c:v>07 Dec 2023</c:v>
                </c:pt>
                <c:pt idx="32">
                  <c:v>08 Dec 2023</c:v>
                </c:pt>
                <c:pt idx="33">
                  <c:v>11 Dec 2023</c:v>
                </c:pt>
                <c:pt idx="34">
                  <c:v>12 Dec 2023</c:v>
                </c:pt>
                <c:pt idx="35">
                  <c:v>13 Dec 2023</c:v>
                </c:pt>
                <c:pt idx="36">
                  <c:v>14 Dec 2023</c:v>
                </c:pt>
                <c:pt idx="37">
                  <c:v>15 Dec 2023</c:v>
                </c:pt>
                <c:pt idx="38">
                  <c:v>18 Dec 2023</c:v>
                </c:pt>
                <c:pt idx="39">
                  <c:v>19 Dec 2023</c:v>
                </c:pt>
                <c:pt idx="40">
                  <c:v>20 Dec 2023</c:v>
                </c:pt>
                <c:pt idx="41">
                  <c:v>21 Dec 2023</c:v>
                </c:pt>
                <c:pt idx="42">
                  <c:v>22 Dec 2023</c:v>
                </c:pt>
                <c:pt idx="43">
                  <c:v>26 Dec 2023</c:v>
                </c:pt>
                <c:pt idx="44">
                  <c:v>27 Dec 2023</c:v>
                </c:pt>
                <c:pt idx="45">
                  <c:v>28 Dec 2023</c:v>
                </c:pt>
                <c:pt idx="46">
                  <c:v>29 Dec 2023</c:v>
                </c:pt>
                <c:pt idx="47">
                  <c:v>02 Jan 2024</c:v>
                </c:pt>
                <c:pt idx="48">
                  <c:v>03 Jan 2024</c:v>
                </c:pt>
                <c:pt idx="49">
                  <c:v>04 Jan 2024</c:v>
                </c:pt>
                <c:pt idx="50">
                  <c:v>05 Jan 2024</c:v>
                </c:pt>
                <c:pt idx="51">
                  <c:v>08 Jan 2024</c:v>
                </c:pt>
                <c:pt idx="52">
                  <c:v>09 Jan 2024</c:v>
                </c:pt>
                <c:pt idx="53">
                  <c:v>10 Jan 2024</c:v>
                </c:pt>
                <c:pt idx="54">
                  <c:v>11 Jan 2024</c:v>
                </c:pt>
                <c:pt idx="55">
                  <c:v>12 Jan 2024</c:v>
                </c:pt>
                <c:pt idx="56">
                  <c:v>16 Jan 2024</c:v>
                </c:pt>
                <c:pt idx="57">
                  <c:v>17 Jan 2024</c:v>
                </c:pt>
                <c:pt idx="58">
                  <c:v>18 Jan 2024</c:v>
                </c:pt>
                <c:pt idx="59">
                  <c:v>19 Jan 2024</c:v>
                </c:pt>
                <c:pt idx="60">
                  <c:v>22 Jan 2024</c:v>
                </c:pt>
                <c:pt idx="61">
                  <c:v>23 Jan 2024</c:v>
                </c:pt>
                <c:pt idx="62">
                  <c:v>24 Jan 2024</c:v>
                </c:pt>
                <c:pt idx="63">
                  <c:v>25 Jan 2024</c:v>
                </c:pt>
                <c:pt idx="64">
                  <c:v>26 Jan 2024</c:v>
                </c:pt>
                <c:pt idx="65">
                  <c:v>29 Jan 2024</c:v>
                </c:pt>
                <c:pt idx="66">
                  <c:v>30 Jan 2024</c:v>
                </c:pt>
                <c:pt idx="67">
                  <c:v>31 Jan 2024</c:v>
                </c:pt>
                <c:pt idx="68">
                  <c:v>01 Feb 2024</c:v>
                </c:pt>
                <c:pt idx="69">
                  <c:v>02 Feb 2024</c:v>
                </c:pt>
                <c:pt idx="70">
                  <c:v>05 Feb 2024</c:v>
                </c:pt>
                <c:pt idx="71">
                  <c:v>06 Feb 2024</c:v>
                </c:pt>
                <c:pt idx="72">
                  <c:v>07 Feb 2024</c:v>
                </c:pt>
                <c:pt idx="73">
                  <c:v>08 Feb 2024</c:v>
                </c:pt>
                <c:pt idx="74">
                  <c:v>09 Feb 2024</c:v>
                </c:pt>
                <c:pt idx="75">
                  <c:v>12 Feb 2024</c:v>
                </c:pt>
                <c:pt idx="76">
                  <c:v>13 Feb 2024</c:v>
                </c:pt>
                <c:pt idx="77">
                  <c:v>14 Feb 2024</c:v>
                </c:pt>
                <c:pt idx="78">
                  <c:v>15 Feb 2024</c:v>
                </c:pt>
                <c:pt idx="79">
                  <c:v>16 Feb 2024</c:v>
                </c:pt>
                <c:pt idx="80">
                  <c:v>20 Feb 2024</c:v>
                </c:pt>
                <c:pt idx="81">
                  <c:v>21 Feb 2024</c:v>
                </c:pt>
                <c:pt idx="82">
                  <c:v>22 Feb 2024</c:v>
                </c:pt>
                <c:pt idx="83">
                  <c:v>23 Feb 2024</c:v>
                </c:pt>
                <c:pt idx="84">
                  <c:v>26 Feb 2024</c:v>
                </c:pt>
                <c:pt idx="85">
                  <c:v>27 Feb 2024</c:v>
                </c:pt>
                <c:pt idx="86">
                  <c:v>28 Feb 2024</c:v>
                </c:pt>
                <c:pt idx="87">
                  <c:v>29 Feb 2024</c:v>
                </c:pt>
                <c:pt idx="88">
                  <c:v>01 Mar 2024</c:v>
                </c:pt>
                <c:pt idx="89">
                  <c:v>04 Mar 2024</c:v>
                </c:pt>
                <c:pt idx="90">
                  <c:v>05 Mar 2024</c:v>
                </c:pt>
                <c:pt idx="91">
                  <c:v>06 Mar 2024</c:v>
                </c:pt>
                <c:pt idx="92">
                  <c:v>07 Mar 2024</c:v>
                </c:pt>
                <c:pt idx="93">
                  <c:v>08 Mar 2024</c:v>
                </c:pt>
                <c:pt idx="94">
                  <c:v>11 Mar 2024</c:v>
                </c:pt>
                <c:pt idx="95">
                  <c:v>12 Mar 2024</c:v>
                </c:pt>
                <c:pt idx="96">
                  <c:v>13 Mar 2024</c:v>
                </c:pt>
                <c:pt idx="97">
                  <c:v>14 Mar 2024</c:v>
                </c:pt>
                <c:pt idx="98">
                  <c:v>15 Mar 2024</c:v>
                </c:pt>
                <c:pt idx="99">
                  <c:v>18 Mar 2024</c:v>
                </c:pt>
                <c:pt idx="100">
                  <c:v>19 Mar 2024</c:v>
                </c:pt>
                <c:pt idx="101">
                  <c:v>20 Mar 2024</c:v>
                </c:pt>
                <c:pt idx="102">
                  <c:v>21 Mar 2024</c:v>
                </c:pt>
                <c:pt idx="103">
                  <c:v>22 Mar 2024</c:v>
                </c:pt>
                <c:pt idx="104">
                  <c:v>25 Mar 2024</c:v>
                </c:pt>
                <c:pt idx="105">
                  <c:v>26 Mar 2024</c:v>
                </c:pt>
                <c:pt idx="106">
                  <c:v>27 Mar 2024</c:v>
                </c:pt>
                <c:pt idx="107">
                  <c:v>28 Mar 2024</c:v>
                </c:pt>
                <c:pt idx="108">
                  <c:v>01 Apr 2024</c:v>
                </c:pt>
                <c:pt idx="109">
                  <c:v>02 Apr 2024</c:v>
                </c:pt>
                <c:pt idx="110">
                  <c:v>03 Apr 2024</c:v>
                </c:pt>
                <c:pt idx="111">
                  <c:v>04 Apr 2024</c:v>
                </c:pt>
                <c:pt idx="112">
                  <c:v>05 Apr 2024</c:v>
                </c:pt>
                <c:pt idx="113">
                  <c:v>08 Apr 2024</c:v>
                </c:pt>
                <c:pt idx="114">
                  <c:v>09 Apr 2024</c:v>
                </c:pt>
                <c:pt idx="115">
                  <c:v>10 Apr 2024</c:v>
                </c:pt>
                <c:pt idx="116">
                  <c:v>11 Apr 2024</c:v>
                </c:pt>
                <c:pt idx="117">
                  <c:v>12 Apr 2024</c:v>
                </c:pt>
                <c:pt idx="118">
                  <c:v>15 Apr 2024</c:v>
                </c:pt>
                <c:pt idx="119">
                  <c:v>16 Apr 2024</c:v>
                </c:pt>
                <c:pt idx="120">
                  <c:v>17 Apr 2024</c:v>
                </c:pt>
                <c:pt idx="121">
                  <c:v>18 Apr 2024</c:v>
                </c:pt>
                <c:pt idx="122">
                  <c:v>19 Apr 2024</c:v>
                </c:pt>
                <c:pt idx="123">
                  <c:v>22 Apr 2024</c:v>
                </c:pt>
                <c:pt idx="124">
                  <c:v>23 Apr 2024</c:v>
                </c:pt>
                <c:pt idx="125">
                  <c:v>24 Apr 2024</c:v>
                </c:pt>
                <c:pt idx="126">
                  <c:v>25 Apr 2024</c:v>
                </c:pt>
                <c:pt idx="127">
                  <c:v>26 Apr 2024</c:v>
                </c:pt>
                <c:pt idx="128">
                  <c:v>29 Apr 2024</c:v>
                </c:pt>
                <c:pt idx="129">
                  <c:v>30 Apr 2024</c:v>
                </c:pt>
                <c:pt idx="130">
                  <c:v>01 May 2024</c:v>
                </c:pt>
                <c:pt idx="131">
                  <c:v>02 May 2024</c:v>
                </c:pt>
                <c:pt idx="132">
                  <c:v>03 May 2024</c:v>
                </c:pt>
                <c:pt idx="133">
                  <c:v>06 May 2024</c:v>
                </c:pt>
                <c:pt idx="134">
                  <c:v>07 May 2024</c:v>
                </c:pt>
                <c:pt idx="135">
                  <c:v>08 May 2024</c:v>
                </c:pt>
                <c:pt idx="136">
                  <c:v>09 May 2024</c:v>
                </c:pt>
                <c:pt idx="137">
                  <c:v>10 May 2024</c:v>
                </c:pt>
                <c:pt idx="138">
                  <c:v>13 May 2024</c:v>
                </c:pt>
                <c:pt idx="139">
                  <c:v>14 May 2024</c:v>
                </c:pt>
                <c:pt idx="140">
                  <c:v>15 May 2024</c:v>
                </c:pt>
                <c:pt idx="141">
                  <c:v>16 May 2024</c:v>
                </c:pt>
                <c:pt idx="142">
                  <c:v>17 May 2024</c:v>
                </c:pt>
                <c:pt idx="143">
                  <c:v>20 May 2024</c:v>
                </c:pt>
                <c:pt idx="144">
                  <c:v>21 May 2024</c:v>
                </c:pt>
                <c:pt idx="145">
                  <c:v>22 May 2024</c:v>
                </c:pt>
                <c:pt idx="146">
                  <c:v>23 May 2024</c:v>
                </c:pt>
                <c:pt idx="147">
                  <c:v>24 May 2024</c:v>
                </c:pt>
                <c:pt idx="148">
                  <c:v>28 May 2024</c:v>
                </c:pt>
                <c:pt idx="149">
                  <c:v>29 May 2024</c:v>
                </c:pt>
                <c:pt idx="150">
                  <c:v>30 May 2024</c:v>
                </c:pt>
                <c:pt idx="151">
                  <c:v>31 May 2024</c:v>
                </c:pt>
                <c:pt idx="152">
                  <c:v>03 Jun 2024</c:v>
                </c:pt>
                <c:pt idx="153">
                  <c:v>04 Jun 2024</c:v>
                </c:pt>
                <c:pt idx="154">
                  <c:v>05 Jun 2024</c:v>
                </c:pt>
                <c:pt idx="155">
                  <c:v>06 Jun 2024</c:v>
                </c:pt>
                <c:pt idx="156">
                  <c:v>07 Jun 2024</c:v>
                </c:pt>
                <c:pt idx="157">
                  <c:v>10 Jun 2024</c:v>
                </c:pt>
                <c:pt idx="158">
                  <c:v>11 Jun 2024</c:v>
                </c:pt>
                <c:pt idx="159">
                  <c:v>12 Jun 2024</c:v>
                </c:pt>
                <c:pt idx="160">
                  <c:v>13 Jun 2024</c:v>
                </c:pt>
                <c:pt idx="161">
                  <c:v>14 Jun 2024</c:v>
                </c:pt>
                <c:pt idx="162">
                  <c:v>17 Jun 2024</c:v>
                </c:pt>
                <c:pt idx="163">
                  <c:v>18 Jun 2024</c:v>
                </c:pt>
                <c:pt idx="164">
                  <c:v>20 Jun 2024</c:v>
                </c:pt>
                <c:pt idx="165">
                  <c:v>21 Jun 2024</c:v>
                </c:pt>
                <c:pt idx="166">
                  <c:v>24 Jun 2024</c:v>
                </c:pt>
                <c:pt idx="167">
                  <c:v>25 Jun 2024</c:v>
                </c:pt>
                <c:pt idx="168">
                  <c:v>26 Jun 2024</c:v>
                </c:pt>
                <c:pt idx="169">
                  <c:v>27 Jun 2024</c:v>
                </c:pt>
                <c:pt idx="170">
                  <c:v>28 Jun 2024</c:v>
                </c:pt>
                <c:pt idx="171">
                  <c:v>01 Jul 2024</c:v>
                </c:pt>
                <c:pt idx="172">
                  <c:v>02 Jul 2024</c:v>
                </c:pt>
                <c:pt idx="173">
                  <c:v>03 Jul 2024</c:v>
                </c:pt>
                <c:pt idx="174">
                  <c:v>05 Jul 2024</c:v>
                </c:pt>
                <c:pt idx="175">
                  <c:v>08 Jul 2024</c:v>
                </c:pt>
                <c:pt idx="176">
                  <c:v>09 Jul 2024</c:v>
                </c:pt>
                <c:pt idx="177">
                  <c:v>10 Jul 2024</c:v>
                </c:pt>
                <c:pt idx="178">
                  <c:v>11 Jul 2024</c:v>
                </c:pt>
                <c:pt idx="179">
                  <c:v>12 Jul 2024</c:v>
                </c:pt>
                <c:pt idx="180">
                  <c:v>15 Jul 2024</c:v>
                </c:pt>
                <c:pt idx="181">
                  <c:v>16 Jul 2024</c:v>
                </c:pt>
                <c:pt idx="182">
                  <c:v>17 Jul 2024</c:v>
                </c:pt>
                <c:pt idx="183">
                  <c:v>18 Jul 2024</c:v>
                </c:pt>
                <c:pt idx="184">
                  <c:v>19 Jul 2024</c:v>
                </c:pt>
                <c:pt idx="185">
                  <c:v>22 Jul 2024</c:v>
                </c:pt>
                <c:pt idx="186">
                  <c:v>23 Jul 2024</c:v>
                </c:pt>
                <c:pt idx="187">
                  <c:v>24 Jul 2024</c:v>
                </c:pt>
                <c:pt idx="188">
                  <c:v>25 Jul 2024</c:v>
                </c:pt>
                <c:pt idx="189">
                  <c:v>26 Jul 2024</c:v>
                </c:pt>
                <c:pt idx="190">
                  <c:v>29 Jul 2024</c:v>
                </c:pt>
                <c:pt idx="191">
                  <c:v>30 Jul 2024</c:v>
                </c:pt>
                <c:pt idx="192">
                  <c:v>31 Jul 2024</c:v>
                </c:pt>
                <c:pt idx="193">
                  <c:v>01 Aug 2024</c:v>
                </c:pt>
                <c:pt idx="194">
                  <c:v>02 Aug 2024</c:v>
                </c:pt>
                <c:pt idx="195">
                  <c:v>05 Aug 2024</c:v>
                </c:pt>
                <c:pt idx="196">
                  <c:v>06 Aug 2024</c:v>
                </c:pt>
                <c:pt idx="197">
                  <c:v>07 Aug 2024</c:v>
                </c:pt>
                <c:pt idx="198">
                  <c:v>08 Aug 2024</c:v>
                </c:pt>
                <c:pt idx="199">
                  <c:v>09 Aug 2024</c:v>
                </c:pt>
                <c:pt idx="200">
                  <c:v>12 Aug 2024</c:v>
                </c:pt>
                <c:pt idx="201">
                  <c:v>13 Aug 2024</c:v>
                </c:pt>
                <c:pt idx="202">
                  <c:v>14 Aug 2024</c:v>
                </c:pt>
                <c:pt idx="203">
                  <c:v>15 Aug 2024</c:v>
                </c:pt>
                <c:pt idx="204">
                  <c:v>16 Aug 2024</c:v>
                </c:pt>
                <c:pt idx="205">
                  <c:v>19 Aug 2024</c:v>
                </c:pt>
                <c:pt idx="206">
                  <c:v>20 Aug 2024</c:v>
                </c:pt>
                <c:pt idx="207">
                  <c:v>21 Aug 2024</c:v>
                </c:pt>
                <c:pt idx="208">
                  <c:v>22 Aug 2024</c:v>
                </c:pt>
                <c:pt idx="209">
                  <c:v>23 Aug 2024</c:v>
                </c:pt>
                <c:pt idx="210">
                  <c:v>26 Aug 2024</c:v>
                </c:pt>
                <c:pt idx="211">
                  <c:v>27 Aug 2024</c:v>
                </c:pt>
                <c:pt idx="212">
                  <c:v>28 Aug 2024</c:v>
                </c:pt>
                <c:pt idx="213">
                  <c:v>29 Aug 2024</c:v>
                </c:pt>
                <c:pt idx="214">
                  <c:v>30 Aug 2024</c:v>
                </c:pt>
                <c:pt idx="215">
                  <c:v>03 Sep 2024</c:v>
                </c:pt>
                <c:pt idx="216">
                  <c:v>04 Sep 2024</c:v>
                </c:pt>
                <c:pt idx="217">
                  <c:v>05 Sep 2024</c:v>
                </c:pt>
                <c:pt idx="218">
                  <c:v>06 Sep 2024</c:v>
                </c:pt>
                <c:pt idx="219">
                  <c:v>09 Sep 2024</c:v>
                </c:pt>
                <c:pt idx="220">
                  <c:v>10 Sep 2024</c:v>
                </c:pt>
                <c:pt idx="221">
                  <c:v>11 Sep 2024</c:v>
                </c:pt>
                <c:pt idx="222">
                  <c:v>12 Sep 2024</c:v>
                </c:pt>
                <c:pt idx="223">
                  <c:v>13 Sep 2024</c:v>
                </c:pt>
                <c:pt idx="224">
                  <c:v>16 Sep 2024</c:v>
                </c:pt>
                <c:pt idx="225">
                  <c:v>17 Sep 2024</c:v>
                </c:pt>
                <c:pt idx="226">
                  <c:v>18 Sep 2024</c:v>
                </c:pt>
                <c:pt idx="227">
                  <c:v>19 Sep 2024</c:v>
                </c:pt>
                <c:pt idx="228">
                  <c:v>20 Sep 2024</c:v>
                </c:pt>
                <c:pt idx="229">
                  <c:v>23 Sep 2024</c:v>
                </c:pt>
                <c:pt idx="230">
                  <c:v>24 Sep 2024</c:v>
                </c:pt>
                <c:pt idx="231">
                  <c:v>25 Sep 2024</c:v>
                </c:pt>
                <c:pt idx="232">
                  <c:v>26 Sep 2024</c:v>
                </c:pt>
                <c:pt idx="233">
                  <c:v>27 Sep 2024</c:v>
                </c:pt>
                <c:pt idx="234">
                  <c:v>30 Sep 2024</c:v>
                </c:pt>
                <c:pt idx="235">
                  <c:v>01 Oct 2024</c:v>
                </c:pt>
                <c:pt idx="236">
                  <c:v>02 Oct 2024</c:v>
                </c:pt>
                <c:pt idx="237">
                  <c:v>03 Oct 2024</c:v>
                </c:pt>
                <c:pt idx="238">
                  <c:v>04 Oct 2024</c:v>
                </c:pt>
                <c:pt idx="239">
                  <c:v>07 Oct 2024</c:v>
                </c:pt>
                <c:pt idx="240">
                  <c:v>08 Oct 2024</c:v>
                </c:pt>
                <c:pt idx="241">
                  <c:v>09 Oct 2024</c:v>
                </c:pt>
                <c:pt idx="242">
                  <c:v>10 Oct 2024</c:v>
                </c:pt>
                <c:pt idx="243">
                  <c:v>11 Oct 2024</c:v>
                </c:pt>
                <c:pt idx="244">
                  <c:v>14 Oct 2024</c:v>
                </c:pt>
                <c:pt idx="245">
                  <c:v>15 Oct 2024</c:v>
                </c:pt>
                <c:pt idx="246">
                  <c:v>16 Oct 2024</c:v>
                </c:pt>
                <c:pt idx="247">
                  <c:v>17 Oct 2024</c:v>
                </c:pt>
                <c:pt idx="248">
                  <c:v>18 Oct 2024</c:v>
                </c:pt>
                <c:pt idx="249">
                  <c:v>21 Oct 2024</c:v>
                </c:pt>
                <c:pt idx="250">
                  <c:v>22 Oct 2024</c:v>
                </c:pt>
                <c:pt idx="251">
                  <c:v>23 Oct 2024</c:v>
                </c:pt>
                <c:pt idx="252">
                  <c:v>24 Oct 2024</c:v>
                </c:pt>
                <c:pt idx="253">
                  <c:v>25 Oct 2024</c:v>
                </c:pt>
                <c:pt idx="254">
                  <c:v>28 Oct 2024</c:v>
                </c:pt>
                <c:pt idx="255">
                  <c:v>29 Oct 2024</c:v>
                </c:pt>
                <c:pt idx="256">
                  <c:v>30 Oct 2024</c:v>
                </c:pt>
                <c:pt idx="257">
                  <c:v>31 Oct 2024</c:v>
                </c:pt>
                <c:pt idx="258">
                  <c:v>01 Nov 2024</c:v>
                </c:pt>
                <c:pt idx="259">
                  <c:v>04 Nov 2024</c:v>
                </c:pt>
                <c:pt idx="260">
                  <c:v>05 Nov 2024</c:v>
                </c:pt>
                <c:pt idx="261">
                  <c:v>06 Nov 2024</c:v>
                </c:pt>
                <c:pt idx="262">
                  <c:v>07 Nov 2024</c:v>
                </c:pt>
                <c:pt idx="263">
                  <c:v>08 Nov 2024</c:v>
                </c:pt>
                <c:pt idx="264">
                  <c:v>11 Nov 2024</c:v>
                </c:pt>
                <c:pt idx="265">
                  <c:v>12 Nov 2024</c:v>
                </c:pt>
                <c:pt idx="266">
                  <c:v>13 Nov 2024</c:v>
                </c:pt>
                <c:pt idx="267">
                  <c:v>14 Nov 2024</c:v>
                </c:pt>
                <c:pt idx="268">
                  <c:v>15 Nov 2024</c:v>
                </c:pt>
                <c:pt idx="269">
                  <c:v>18 Nov 2024</c:v>
                </c:pt>
                <c:pt idx="270">
                  <c:v>19 Nov 2024</c:v>
                </c:pt>
                <c:pt idx="271">
                  <c:v>20 Nov 2024</c:v>
                </c:pt>
                <c:pt idx="272">
                  <c:v>21 Nov 2024</c:v>
                </c:pt>
                <c:pt idx="273">
                  <c:v>22 Nov 2024</c:v>
                </c:pt>
                <c:pt idx="274">
                  <c:v>25 Nov 2024</c:v>
                </c:pt>
                <c:pt idx="275">
                  <c:v>26 Nov 2024</c:v>
                </c:pt>
                <c:pt idx="276">
                  <c:v>27 Nov 2024</c:v>
                </c:pt>
                <c:pt idx="277">
                  <c:v>29 Nov 2024</c:v>
                </c:pt>
                <c:pt idx="278">
                  <c:v>02 Dec 2024</c:v>
                </c:pt>
                <c:pt idx="279">
                  <c:v>03 Dec 2024</c:v>
                </c:pt>
                <c:pt idx="280">
                  <c:v>04 Dec 2024</c:v>
                </c:pt>
                <c:pt idx="281">
                  <c:v>05 Dec 2024</c:v>
                </c:pt>
                <c:pt idx="282">
                  <c:v>06 Dec 2024</c:v>
                </c:pt>
                <c:pt idx="283">
                  <c:v>09 Dec 2024</c:v>
                </c:pt>
                <c:pt idx="284">
                  <c:v>10 Dec 2024</c:v>
                </c:pt>
                <c:pt idx="285">
                  <c:v>11 Dec 2024</c:v>
                </c:pt>
                <c:pt idx="286">
                  <c:v>12 Dec 2024</c:v>
                </c:pt>
                <c:pt idx="287">
                  <c:v>13 Dec 2024</c:v>
                </c:pt>
                <c:pt idx="288">
                  <c:v>16 Dec 2024</c:v>
                </c:pt>
                <c:pt idx="289">
                  <c:v>17 Dec 2024</c:v>
                </c:pt>
                <c:pt idx="290">
                  <c:v>18 Dec 2024</c:v>
                </c:pt>
                <c:pt idx="291">
                  <c:v>19 Dec 2024</c:v>
                </c:pt>
                <c:pt idx="292">
                  <c:v>20 Dec 2024</c:v>
                </c:pt>
                <c:pt idx="293">
                  <c:v>23 Dec 2024</c:v>
                </c:pt>
                <c:pt idx="294">
                  <c:v>24 Dec 2024</c:v>
                </c:pt>
                <c:pt idx="295">
                  <c:v>26 Dec 2024</c:v>
                </c:pt>
                <c:pt idx="296">
                  <c:v>27 Dec 2024</c:v>
                </c:pt>
                <c:pt idx="297">
                  <c:v>30 Dec 2024</c:v>
                </c:pt>
                <c:pt idx="298">
                  <c:v>31 Dec 2024</c:v>
                </c:pt>
                <c:pt idx="299">
                  <c:v>02 Jan 2025</c:v>
                </c:pt>
                <c:pt idx="300">
                  <c:v>03 Jan 2025</c:v>
                </c:pt>
                <c:pt idx="301">
                  <c:v>06 Jan 2025</c:v>
                </c:pt>
                <c:pt idx="302">
                  <c:v>07 Jan 2025</c:v>
                </c:pt>
                <c:pt idx="303">
                  <c:v>08 Jan 2025</c:v>
                </c:pt>
                <c:pt idx="304">
                  <c:v>10 Jan 2025</c:v>
                </c:pt>
                <c:pt idx="305">
                  <c:v>13 Jan 2025</c:v>
                </c:pt>
                <c:pt idx="306">
                  <c:v>14 Jan 2025</c:v>
                </c:pt>
                <c:pt idx="307">
                  <c:v>15 Jan 2025</c:v>
                </c:pt>
                <c:pt idx="308">
                  <c:v>16 Jan 2025</c:v>
                </c:pt>
                <c:pt idx="309">
                  <c:v>17 Jan 2025</c:v>
                </c:pt>
                <c:pt idx="310">
                  <c:v>21 Jan 2025</c:v>
                </c:pt>
                <c:pt idx="311">
                  <c:v>22 Jan 2025</c:v>
                </c:pt>
                <c:pt idx="312">
                  <c:v>23 Jan 2025</c:v>
                </c:pt>
                <c:pt idx="313">
                  <c:v>24 Jan 2025</c:v>
                </c:pt>
                <c:pt idx="314">
                  <c:v>27 Jan 2025</c:v>
                </c:pt>
                <c:pt idx="315">
                  <c:v>28 Jan 2025</c:v>
                </c:pt>
                <c:pt idx="316">
                  <c:v>29 Jan 2025</c:v>
                </c:pt>
                <c:pt idx="317">
                  <c:v>30 Jan 2025</c:v>
                </c:pt>
                <c:pt idx="318">
                  <c:v>31 Jan 2025</c:v>
                </c:pt>
                <c:pt idx="319">
                  <c:v>03 Feb 2025</c:v>
                </c:pt>
                <c:pt idx="320">
                  <c:v>04 Feb 2025</c:v>
                </c:pt>
                <c:pt idx="321">
                  <c:v>05 Feb 2025</c:v>
                </c:pt>
                <c:pt idx="322">
                  <c:v>06 Feb 2025</c:v>
                </c:pt>
                <c:pt idx="323">
                  <c:v>07 Feb 2025</c:v>
                </c:pt>
                <c:pt idx="324">
                  <c:v>10 Feb 2025</c:v>
                </c:pt>
                <c:pt idx="325">
                  <c:v>11 Feb 2025</c:v>
                </c:pt>
                <c:pt idx="326">
                  <c:v>12 Feb 2025</c:v>
                </c:pt>
                <c:pt idx="327">
                  <c:v>13 Feb 2025</c:v>
                </c:pt>
                <c:pt idx="328">
                  <c:v>14 Feb 2025</c:v>
                </c:pt>
                <c:pt idx="329">
                  <c:v>18 Feb 2025</c:v>
                </c:pt>
                <c:pt idx="330">
                  <c:v>19 Feb 2025</c:v>
                </c:pt>
                <c:pt idx="331">
                  <c:v>20 Feb 2025</c:v>
                </c:pt>
                <c:pt idx="332">
                  <c:v>21 Feb 2025</c:v>
                </c:pt>
                <c:pt idx="333">
                  <c:v>24 Feb 2025</c:v>
                </c:pt>
                <c:pt idx="334">
                  <c:v>25 Feb 2025</c:v>
                </c:pt>
                <c:pt idx="335">
                  <c:v>26 Feb 2025</c:v>
                </c:pt>
                <c:pt idx="336">
                  <c:v>27 Feb 2025</c:v>
                </c:pt>
                <c:pt idx="337">
                  <c:v>28 Feb 2025</c:v>
                </c:pt>
                <c:pt idx="338">
                  <c:v>03 Mar 2025</c:v>
                </c:pt>
                <c:pt idx="339">
                  <c:v>04 Mar 2025</c:v>
                </c:pt>
                <c:pt idx="340">
                  <c:v>05 Mar 2025</c:v>
                </c:pt>
                <c:pt idx="341">
                  <c:v>06 Mar 2025</c:v>
                </c:pt>
                <c:pt idx="342">
                  <c:v>07 Mar 2025</c:v>
                </c:pt>
                <c:pt idx="343">
                  <c:v>10 Mar 2025</c:v>
                </c:pt>
                <c:pt idx="344">
                  <c:v>11 Mar 2025</c:v>
                </c:pt>
                <c:pt idx="345">
                  <c:v>12 Mar 2025</c:v>
                </c:pt>
                <c:pt idx="346">
                  <c:v>13 Mar 2025</c:v>
                </c:pt>
                <c:pt idx="347">
                  <c:v>14 Mar 2025</c:v>
                </c:pt>
                <c:pt idx="348">
                  <c:v>17 Mar 2025</c:v>
                </c:pt>
                <c:pt idx="349">
                  <c:v>18 Mar 2025</c:v>
                </c:pt>
                <c:pt idx="350">
                  <c:v>19 Mar 2025</c:v>
                </c:pt>
                <c:pt idx="351">
                  <c:v>20 Mar 2025</c:v>
                </c:pt>
                <c:pt idx="352">
                  <c:v>21 Mar 2025</c:v>
                </c:pt>
                <c:pt idx="353">
                  <c:v>24 Mar 2025</c:v>
                </c:pt>
                <c:pt idx="354">
                  <c:v>25 Mar 2025</c:v>
                </c:pt>
                <c:pt idx="355">
                  <c:v>26 Mar 2025</c:v>
                </c:pt>
                <c:pt idx="356">
                  <c:v>27 Mar 2025</c:v>
                </c:pt>
                <c:pt idx="357">
                  <c:v>28 Mar 2025</c:v>
                </c:pt>
                <c:pt idx="358">
                  <c:v>31 Mar 2025</c:v>
                </c:pt>
                <c:pt idx="359">
                  <c:v>01 Apr 2025</c:v>
                </c:pt>
                <c:pt idx="360">
                  <c:v>02 Apr 2025</c:v>
                </c:pt>
                <c:pt idx="361">
                  <c:v>03 Apr 2025</c:v>
                </c:pt>
                <c:pt idx="362">
                  <c:v>04 Apr 2025</c:v>
                </c:pt>
                <c:pt idx="363">
                  <c:v>07 Apr 2025</c:v>
                </c:pt>
                <c:pt idx="364">
                  <c:v>08 Apr 2025</c:v>
                </c:pt>
                <c:pt idx="365">
                  <c:v>09 Apr 2025</c:v>
                </c:pt>
                <c:pt idx="366">
                  <c:v>10 Apr 2025</c:v>
                </c:pt>
                <c:pt idx="367">
                  <c:v>11 Apr 2025</c:v>
                </c:pt>
                <c:pt idx="368">
                  <c:v>14 Apr 2025</c:v>
                </c:pt>
                <c:pt idx="369">
                  <c:v>15 Apr 2025</c:v>
                </c:pt>
                <c:pt idx="370">
                  <c:v>16 Apr 2025</c:v>
                </c:pt>
                <c:pt idx="371">
                  <c:v>17 Apr 2025</c:v>
                </c:pt>
                <c:pt idx="372">
                  <c:v>21 Apr 2025</c:v>
                </c:pt>
                <c:pt idx="373">
                  <c:v>22 Apr 2025</c:v>
                </c:pt>
                <c:pt idx="374">
                  <c:v>23 Apr 2025</c:v>
                </c:pt>
                <c:pt idx="375">
                  <c:v>24 Apr 2025</c:v>
                </c:pt>
                <c:pt idx="376">
                  <c:v>25 Apr 2025</c:v>
                </c:pt>
                <c:pt idx="377">
                  <c:v>28 Apr 2025</c:v>
                </c:pt>
                <c:pt idx="378">
                  <c:v>29 Apr 2025</c:v>
                </c:pt>
                <c:pt idx="379">
                  <c:v>30 Apr 2025</c:v>
                </c:pt>
                <c:pt idx="380">
                  <c:v>01 May 2025</c:v>
                </c:pt>
                <c:pt idx="381">
                  <c:v>02 May 2025</c:v>
                </c:pt>
                <c:pt idx="382">
                  <c:v>05 May 2025</c:v>
                </c:pt>
                <c:pt idx="383">
                  <c:v>06 May 2025</c:v>
                </c:pt>
                <c:pt idx="384">
                  <c:v>07 May 2025</c:v>
                </c:pt>
                <c:pt idx="385">
                  <c:v>08 May 2025</c:v>
                </c:pt>
                <c:pt idx="386">
                  <c:v>09 May 2025</c:v>
                </c:pt>
                <c:pt idx="387">
                  <c:v>12 May 2025</c:v>
                </c:pt>
                <c:pt idx="388">
                  <c:v>13 May 2025</c:v>
                </c:pt>
                <c:pt idx="389">
                  <c:v>14 May 2025</c:v>
                </c:pt>
                <c:pt idx="390">
                  <c:v>15 May 2025</c:v>
                </c:pt>
                <c:pt idx="391">
                  <c:v>16 May 2025</c:v>
                </c:pt>
                <c:pt idx="392">
                  <c:v>19 May 2025</c:v>
                </c:pt>
                <c:pt idx="393">
                  <c:v>20 May 2025</c:v>
                </c:pt>
                <c:pt idx="394">
                  <c:v>21 May 2025</c:v>
                </c:pt>
                <c:pt idx="395">
                  <c:v>22 May 2025</c:v>
                </c:pt>
                <c:pt idx="396">
                  <c:v>23 May 2025</c:v>
                </c:pt>
                <c:pt idx="397">
                  <c:v>27 May 2025</c:v>
                </c:pt>
                <c:pt idx="398">
                  <c:v>28 May 2025</c:v>
                </c:pt>
                <c:pt idx="399">
                  <c:v>29 May 2025</c:v>
                </c:pt>
                <c:pt idx="400">
                  <c:v>30 May 2025</c:v>
                </c:pt>
                <c:pt idx="401">
                  <c:v>02 Jun 2025</c:v>
                </c:pt>
                <c:pt idx="402">
                  <c:v>03 Jun 2025</c:v>
                </c:pt>
                <c:pt idx="403">
                  <c:v>04 Jun 2025</c:v>
                </c:pt>
                <c:pt idx="404">
                  <c:v>05 Jun 2025</c:v>
                </c:pt>
                <c:pt idx="405">
                  <c:v>06 Jun 2025</c:v>
                </c:pt>
                <c:pt idx="406">
                  <c:v>09 Jun 2025</c:v>
                </c:pt>
                <c:pt idx="407">
                  <c:v>10 Jun 2025</c:v>
                </c:pt>
                <c:pt idx="408">
                  <c:v>11 Jun 2025</c:v>
                </c:pt>
                <c:pt idx="409">
                  <c:v>12 Jun 2025</c:v>
                </c:pt>
                <c:pt idx="410">
                  <c:v>13 Jun 2025</c:v>
                </c:pt>
                <c:pt idx="411">
                  <c:v>16 Jun 2025</c:v>
                </c:pt>
                <c:pt idx="412">
                  <c:v>17 Jun 2025</c:v>
                </c:pt>
                <c:pt idx="413">
                  <c:v>18 Jun 2025</c:v>
                </c:pt>
                <c:pt idx="414">
                  <c:v>20 Jun 2025</c:v>
                </c:pt>
                <c:pt idx="415">
                  <c:v>23 Jun 2025</c:v>
                </c:pt>
                <c:pt idx="416">
                  <c:v>24 Jun 2025</c:v>
                </c:pt>
                <c:pt idx="417">
                  <c:v>25 Jun 2025</c:v>
                </c:pt>
                <c:pt idx="418">
                  <c:v>26 Jun 2025</c:v>
                </c:pt>
                <c:pt idx="419">
                  <c:v>27 Jun 2025</c:v>
                </c:pt>
                <c:pt idx="420">
                  <c:v>30 Jun 2025</c:v>
                </c:pt>
                <c:pt idx="421">
                  <c:v>01 Jul 2025</c:v>
                </c:pt>
                <c:pt idx="422">
                  <c:v>02 Jul 2025</c:v>
                </c:pt>
                <c:pt idx="423">
                  <c:v>03 Jul 2025</c:v>
                </c:pt>
                <c:pt idx="424">
                  <c:v>07 Jul 2025</c:v>
                </c:pt>
                <c:pt idx="425">
                  <c:v>08 Jul 2025</c:v>
                </c:pt>
                <c:pt idx="426">
                  <c:v>09 Jul 2025</c:v>
                </c:pt>
                <c:pt idx="427">
                  <c:v>10 Jul 2025</c:v>
                </c:pt>
                <c:pt idx="428">
                  <c:v>11 Jul 2025</c:v>
                </c:pt>
                <c:pt idx="429">
                  <c:v>14 Jul 2025</c:v>
                </c:pt>
                <c:pt idx="430">
                  <c:v>15 Jul 2025</c:v>
                </c:pt>
                <c:pt idx="431">
                  <c:v>16 Jul 2025</c:v>
                </c:pt>
                <c:pt idx="432">
                  <c:v>17 Jul 2025</c:v>
                </c:pt>
                <c:pt idx="433">
                  <c:v>18 Jul 2025</c:v>
                </c:pt>
                <c:pt idx="434">
                  <c:v>21 Jul 2025</c:v>
                </c:pt>
                <c:pt idx="435">
                  <c:v>22 Jul 2025</c:v>
                </c:pt>
                <c:pt idx="436">
                  <c:v>23 Jul 2025</c:v>
                </c:pt>
                <c:pt idx="437">
                  <c:v>24 Jul 2025</c:v>
                </c:pt>
                <c:pt idx="438">
                  <c:v>25 Jul 2025</c:v>
                </c:pt>
                <c:pt idx="439">
                  <c:v>28 Jul 2025</c:v>
                </c:pt>
                <c:pt idx="440">
                  <c:v>29 Jul 2025</c:v>
                </c:pt>
                <c:pt idx="441">
                  <c:v>30 Jul 2025</c:v>
                </c:pt>
                <c:pt idx="442">
                  <c:v>31 Jul 2025</c:v>
                </c:pt>
                <c:pt idx="443">
                  <c:v>01 Aug 2025</c:v>
                </c:pt>
                <c:pt idx="444">
                  <c:v>04 Aug 2025</c:v>
                </c:pt>
                <c:pt idx="445">
                  <c:v>05 Aug 2025</c:v>
                </c:pt>
                <c:pt idx="446">
                  <c:v>06 Aug 2025</c:v>
                </c:pt>
                <c:pt idx="447">
                  <c:v>07 Aug 2025</c:v>
                </c:pt>
                <c:pt idx="448">
                  <c:v>08 Aug 2025</c:v>
                </c:pt>
                <c:pt idx="449">
                  <c:v>11 Aug 2025</c:v>
                </c:pt>
                <c:pt idx="450">
                  <c:v>12 Aug 2025</c:v>
                </c:pt>
                <c:pt idx="451">
                  <c:v>13 Aug 2025</c:v>
                </c:pt>
                <c:pt idx="452">
                  <c:v>14 Aug 2025</c:v>
                </c:pt>
                <c:pt idx="453">
                  <c:v>15 Aug 2025</c:v>
                </c:pt>
                <c:pt idx="454">
                  <c:v>18 Aug 2025</c:v>
                </c:pt>
                <c:pt idx="455">
                  <c:v>19 Aug 2025</c:v>
                </c:pt>
                <c:pt idx="456">
                  <c:v>20 Aug 2025</c:v>
                </c:pt>
                <c:pt idx="457">
                  <c:v>21 Aug 2025</c:v>
                </c:pt>
                <c:pt idx="458">
                  <c:v>22 Aug 2025</c:v>
                </c:pt>
                <c:pt idx="459">
                  <c:v>25 Aug 2025</c:v>
                </c:pt>
                <c:pt idx="460">
                  <c:v>26 Aug 2025</c:v>
                </c:pt>
                <c:pt idx="461">
                  <c:v>27 Aug 2025</c:v>
                </c:pt>
                <c:pt idx="462">
                  <c:v>28 Aug 2025</c:v>
                </c:pt>
                <c:pt idx="463">
                  <c:v>29 Aug 2025</c:v>
                </c:pt>
                <c:pt idx="464">
                  <c:v>02 Sep 2025</c:v>
                </c:pt>
                <c:pt idx="465">
                  <c:v>03 Sep 2025</c:v>
                </c:pt>
                <c:pt idx="466">
                  <c:v>04 Sep 2025</c:v>
                </c:pt>
                <c:pt idx="467">
                  <c:v>05 Sep 2025</c:v>
                </c:pt>
                <c:pt idx="468">
                  <c:v>08 Sep 2025</c:v>
                </c:pt>
                <c:pt idx="469">
                  <c:v>09 Sep 2025</c:v>
                </c:pt>
                <c:pt idx="470">
                  <c:v>10 Sep 2025</c:v>
                </c:pt>
                <c:pt idx="471">
                  <c:v>11 Sep 2025</c:v>
                </c:pt>
                <c:pt idx="472">
                  <c:v>12 Sep 2025</c:v>
                </c:pt>
                <c:pt idx="473">
                  <c:v>15 Sep 2025</c:v>
                </c:pt>
                <c:pt idx="474">
                  <c:v>16 Sep 2025</c:v>
                </c:pt>
                <c:pt idx="475">
                  <c:v>17 Sep 2025</c:v>
                </c:pt>
                <c:pt idx="476">
                  <c:v>18 Sep 2025</c:v>
                </c:pt>
                <c:pt idx="477">
                  <c:v>19 Sep 2025</c:v>
                </c:pt>
                <c:pt idx="478">
                  <c:v>22 Sep 2025</c:v>
                </c:pt>
                <c:pt idx="479">
                  <c:v>23 Sep 2025</c:v>
                </c:pt>
                <c:pt idx="480">
                  <c:v>24 Sep 2025</c:v>
                </c:pt>
                <c:pt idx="481">
                  <c:v>25 Sep 2025</c:v>
                </c:pt>
                <c:pt idx="482">
                  <c:v>26 Sep 2025</c:v>
                </c:pt>
                <c:pt idx="483">
                  <c:v>29 Sep 2025</c:v>
                </c:pt>
                <c:pt idx="484">
                  <c:v>30 Sep 2025</c:v>
                </c:pt>
                <c:pt idx="485">
                  <c:v>01 Oct 2025</c:v>
                </c:pt>
                <c:pt idx="486">
                  <c:v>02 Oct 2025</c:v>
                </c:pt>
                <c:pt idx="487">
                  <c:v>03 Oct 2025</c:v>
                </c:pt>
                <c:pt idx="488">
                  <c:v>06 Oct 2025</c:v>
                </c:pt>
                <c:pt idx="489">
                  <c:v>07 Oct 2025</c:v>
                </c:pt>
                <c:pt idx="490">
                  <c:v>08 Oct 2025</c:v>
                </c:pt>
                <c:pt idx="491">
                  <c:v>09 Oct 2025</c:v>
                </c:pt>
                <c:pt idx="492">
                  <c:v>10 Oct 2025</c:v>
                </c:pt>
                <c:pt idx="493">
                  <c:v>13 Oct 2025</c:v>
                </c:pt>
                <c:pt idx="494">
                  <c:v>14 Oct 2025</c:v>
                </c:pt>
                <c:pt idx="495">
                  <c:v>15 Oct 2025</c:v>
                </c:pt>
                <c:pt idx="496">
                  <c:v>16 Oct 2025</c:v>
                </c:pt>
                <c:pt idx="497">
                  <c:v>17 Oct 2025</c:v>
                </c:pt>
                <c:pt idx="498">
                  <c:v>20 Oct 2025</c:v>
                </c:pt>
                <c:pt idx="499">
                  <c:v>21 Oct 2025</c:v>
                </c:pt>
                <c:pt idx="500">
                  <c:v>22 Oct 2025</c:v>
                </c:pt>
                <c:pt idx="501">
                  <c:v>23 Oct 2025</c:v>
                </c:pt>
                <c:pt idx="502">
                  <c:v>24 Oct 2025</c:v>
                </c:pt>
                <c:pt idx="503">
                  <c:v>27 Oct 2025</c:v>
                </c:pt>
                <c:pt idx="504">
                  <c:v>28 Oct 2025</c:v>
                </c:pt>
                <c:pt idx="505">
                  <c:v>29 Oct 2025</c:v>
                </c:pt>
                <c:pt idx="506">
                  <c:v>30 Oct 2025</c:v>
                </c:pt>
                <c:pt idx="507">
                  <c:v>31 Oct 2025</c:v>
                </c:pt>
                <c:pt idx="508">
                  <c:v>03 Nov 2025</c:v>
                </c:pt>
                <c:pt idx="509">
                  <c:v>04 Nov 2025</c:v>
                </c:pt>
                <c:pt idx="510">
                  <c:v>05 Nov 2025</c:v>
                </c:pt>
                <c:pt idx="511">
                  <c:v>06 Nov 2025</c:v>
                </c:pt>
                <c:pt idx="512">
                  <c:v>07 Nov 2025</c:v>
                </c:pt>
                <c:pt idx="513">
                  <c:v>10 Nov 2025</c:v>
                </c:pt>
                <c:pt idx="514">
                  <c:v>11 Nov 2025</c:v>
                </c:pt>
                <c:pt idx="515">
                  <c:v>12 Nov 2025</c:v>
                </c:pt>
                <c:pt idx="516">
                  <c:v>13 Nov 2025</c:v>
                </c:pt>
                <c:pt idx="517">
                  <c:v>14 Nov 2025</c:v>
                </c:pt>
                <c:pt idx="518">
                  <c:v>17 Nov 2025</c:v>
                </c:pt>
                <c:pt idx="519">
                  <c:v>18 Nov 2025</c:v>
                </c:pt>
                <c:pt idx="520">
                  <c:v>19 Nov 2025</c:v>
                </c:pt>
                <c:pt idx="521">
                  <c:v>20 Nov 2025</c:v>
                </c:pt>
                <c:pt idx="522">
                  <c:v>21 Nov 2025</c:v>
                </c:pt>
                <c:pt idx="523">
                  <c:v>24 Nov 2025</c:v>
                </c:pt>
                <c:pt idx="524">
                  <c:v>25 Nov 2025</c:v>
                </c:pt>
                <c:pt idx="525">
                  <c:v>26 Nov 2025</c:v>
                </c:pt>
                <c:pt idx="526">
                  <c:v>28 Nov 2025</c:v>
                </c:pt>
                <c:pt idx="527">
                  <c:v>01 Dec 2025</c:v>
                </c:pt>
                <c:pt idx="528">
                  <c:v>02 Dec 2025</c:v>
                </c:pt>
                <c:pt idx="529">
                  <c:v>03 Dec 2025</c:v>
                </c:pt>
                <c:pt idx="530">
                  <c:v>04 Dec 2025</c:v>
                </c:pt>
                <c:pt idx="531">
                  <c:v>05 Dec 2025</c:v>
                </c:pt>
                <c:pt idx="532">
                  <c:v>08 Dec 2025</c:v>
                </c:pt>
                <c:pt idx="533">
                  <c:v>09 Dec 2025</c:v>
                </c:pt>
                <c:pt idx="534">
                  <c:v>10 Dec 2025</c:v>
                </c:pt>
                <c:pt idx="535">
                  <c:v>11 Dec 2025</c:v>
                </c:pt>
                <c:pt idx="536">
                  <c:v>12 Dec 2025</c:v>
                </c:pt>
                <c:pt idx="537">
                  <c:v>15 Dec 2025</c:v>
                </c:pt>
                <c:pt idx="538">
                  <c:v>16 Dec 2025</c:v>
                </c:pt>
                <c:pt idx="539">
                  <c:v>17 Dec 2025</c:v>
                </c:pt>
                <c:pt idx="540">
                  <c:v>18 Dec 2025</c:v>
                </c:pt>
                <c:pt idx="541">
                  <c:v>19 Dec 2025</c:v>
                </c:pt>
                <c:pt idx="542">
                  <c:v>22 Dec 2025</c:v>
                </c:pt>
                <c:pt idx="543">
                  <c:v>23 Dec 2025</c:v>
                </c:pt>
                <c:pt idx="544">
                  <c:v>24 Dec 2025</c:v>
                </c:pt>
                <c:pt idx="545">
                  <c:v>26 Dec 2025</c:v>
                </c:pt>
                <c:pt idx="546">
                  <c:v>29 Dec 2025</c:v>
                </c:pt>
                <c:pt idx="547">
                  <c:v>30 Dec 2025</c:v>
                </c:pt>
                <c:pt idx="548">
                  <c:v>31 Dec 2025</c:v>
                </c:pt>
                <c:pt idx="549">
                  <c:v>02 Jan 2026</c:v>
                </c:pt>
                <c:pt idx="550">
                  <c:v>05 Jan 2026</c:v>
                </c:pt>
                <c:pt idx="551">
                  <c:v>06 Jan 2026</c:v>
                </c:pt>
                <c:pt idx="552">
                  <c:v>07 Jan 2026</c:v>
                </c:pt>
                <c:pt idx="553">
                  <c:v>08 Jan 2026</c:v>
                </c:pt>
                <c:pt idx="554">
                  <c:v>09 Jan 2026</c:v>
                </c:pt>
                <c:pt idx="555">
                  <c:v>12 Jan 2026</c:v>
                </c:pt>
                <c:pt idx="556">
                  <c:v>13 Jan 2026</c:v>
                </c:pt>
                <c:pt idx="557">
                  <c:v>14 Jan 2026</c:v>
                </c:pt>
                <c:pt idx="558">
                  <c:v>15 Jan 2026</c:v>
                </c:pt>
                <c:pt idx="559">
                  <c:v>16 Jan 2026</c:v>
                </c:pt>
                <c:pt idx="560">
                  <c:v>20 Jan 2026</c:v>
                </c:pt>
                <c:pt idx="561">
                  <c:v>21 Jan 2026</c:v>
                </c:pt>
                <c:pt idx="562">
                  <c:v>22 Jan 2026</c:v>
                </c:pt>
                <c:pt idx="563">
                  <c:v>23 Jan 2026</c:v>
                </c:pt>
                <c:pt idx="564">
                  <c:v>26 Jan 2026</c:v>
                </c:pt>
                <c:pt idx="565">
                  <c:v>27 Jan 2026</c:v>
                </c:pt>
                <c:pt idx="566">
                  <c:v>28 Jan 2026</c:v>
                </c:pt>
                <c:pt idx="567">
                  <c:v>29 Jan 2026</c:v>
                </c:pt>
                <c:pt idx="568">
                  <c:v>30 Jan 2026</c:v>
                </c:pt>
                <c:pt idx="569">
                  <c:v>02 Feb 2026</c:v>
                </c:pt>
                <c:pt idx="570">
                  <c:v>03 Feb 2026</c:v>
                </c:pt>
                <c:pt idx="571">
                  <c:v>04 Feb 2026</c:v>
                </c:pt>
                <c:pt idx="572">
                  <c:v>05 Feb 2026</c:v>
                </c:pt>
                <c:pt idx="573">
                  <c:v>06 Feb 2026</c:v>
                </c:pt>
                <c:pt idx="574">
                  <c:v>09 Feb 2026</c:v>
                </c:pt>
                <c:pt idx="575">
                  <c:v>10 Feb 2026</c:v>
                </c:pt>
                <c:pt idx="576">
                  <c:v>11 Feb 2026</c:v>
                </c:pt>
                <c:pt idx="577">
                  <c:v>12 Feb 2026</c:v>
                </c:pt>
                <c:pt idx="578">
                  <c:v>13 Feb 2026</c:v>
                </c:pt>
                <c:pt idx="579">
                  <c:v>17 Feb 2026</c:v>
                </c:pt>
                <c:pt idx="580">
                  <c:v>18 Feb 2026</c:v>
                </c:pt>
                <c:pt idx="581">
                  <c:v>19 Feb 2026</c:v>
                </c:pt>
                <c:pt idx="582">
                  <c:v>20 Feb 2026</c:v>
                </c:pt>
                <c:pt idx="583">
                  <c:v>23 Feb 2026</c:v>
                </c:pt>
                <c:pt idx="584">
                  <c:v>24 Feb 2026</c:v>
                </c:pt>
                <c:pt idx="585">
                  <c:v>25 Feb 2026</c:v>
                </c:pt>
                <c:pt idx="586">
                  <c:v>26 Feb 2026</c:v>
                </c:pt>
                <c:pt idx="587">
                  <c:v>27 Feb 2026</c:v>
                </c:pt>
                <c:pt idx="588">
                  <c:v>02 Mar 2026</c:v>
                </c:pt>
                <c:pt idx="589">
                  <c:v>03 Mar 2026</c:v>
                </c:pt>
                <c:pt idx="590">
                  <c:v>04 Mar 2026</c:v>
                </c:pt>
                <c:pt idx="591">
                  <c:v>05 Mar 2026</c:v>
                </c:pt>
                <c:pt idx="592">
                  <c:v>06 Mar 2026</c:v>
                </c:pt>
                <c:pt idx="593">
                  <c:v>09 Mar 2026</c:v>
                </c:pt>
                <c:pt idx="594">
                  <c:v>10 Mar 2026</c:v>
                </c:pt>
                <c:pt idx="595">
                  <c:v>11 Mar 2026</c:v>
                </c:pt>
                <c:pt idx="596">
                  <c:v>12 Mar 2026</c:v>
                </c:pt>
                <c:pt idx="597">
                  <c:v>13 Mar 2026</c:v>
                </c:pt>
                <c:pt idx="598">
                  <c:v>16 Mar 2026</c:v>
                </c:pt>
                <c:pt idx="599">
                  <c:v>17 Mar 2026</c:v>
                </c:pt>
                <c:pt idx="600">
                  <c:v>18 Mar 2026</c:v>
                </c:pt>
                <c:pt idx="601">
                  <c:v>19 Mar 2026</c:v>
                </c:pt>
                <c:pt idx="602">
                  <c:v>20 Mar 2026</c:v>
                </c:pt>
                <c:pt idx="603">
                  <c:v>23 Mar 2026</c:v>
                </c:pt>
                <c:pt idx="604">
                  <c:v>24 Mar 2026</c:v>
                </c:pt>
                <c:pt idx="605">
                  <c:v>25 Mar 2026</c:v>
                </c:pt>
                <c:pt idx="606">
                  <c:v>26 Mar 2026</c:v>
                </c:pt>
                <c:pt idx="607">
                  <c:v>27 Mar 2026</c:v>
                </c:pt>
                <c:pt idx="608">
                  <c:v>30 Mar 2026</c:v>
                </c:pt>
                <c:pt idx="609">
                  <c:v>31 Mar 2026</c:v>
                </c:pt>
                <c:pt idx="610">
                  <c:v>01 Apr 2026</c:v>
                </c:pt>
                <c:pt idx="611">
                  <c:v>02 Apr 2026</c:v>
                </c:pt>
                <c:pt idx="612">
                  <c:v>06 Apr 2026</c:v>
                </c:pt>
                <c:pt idx="613">
                  <c:v>07 Apr 2026</c:v>
                </c:pt>
                <c:pt idx="614">
                  <c:v>08 Apr 2026</c:v>
                </c:pt>
                <c:pt idx="615">
                  <c:v>09 Apr 2026</c:v>
                </c:pt>
                <c:pt idx="616">
                  <c:v>10 Apr 2026</c:v>
                </c:pt>
                <c:pt idx="617">
                  <c:v>13 Apr 2026</c:v>
                </c:pt>
                <c:pt idx="618">
                  <c:v>14 Apr 2026</c:v>
                </c:pt>
                <c:pt idx="619">
                  <c:v>15 Apr 2026</c:v>
                </c:pt>
                <c:pt idx="620">
                  <c:v>16 Apr 2026</c:v>
                </c:pt>
                <c:pt idx="621">
                  <c:v>17 Apr 2026</c:v>
                </c:pt>
                <c:pt idx="622">
                  <c:v>20 Apr 2026</c:v>
                </c:pt>
                <c:pt idx="623">
                  <c:v>21 Apr 2026</c:v>
                </c:pt>
                <c:pt idx="624">
                  <c:v>22 Apr 2026</c:v>
                </c:pt>
                <c:pt idx="625">
                  <c:v>23 Apr 2026</c:v>
                </c:pt>
                <c:pt idx="626">
                  <c:v>24 Apr 2026</c:v>
                </c:pt>
                <c:pt idx="627">
                  <c:v>27 Apr 2026</c:v>
                </c:pt>
                <c:pt idx="628">
                  <c:v>28 Apr 2026</c:v>
                </c:pt>
                <c:pt idx="629">
                  <c:v>29 Apr 2026</c:v>
                </c:pt>
                <c:pt idx="630">
                  <c:v>30 Apr 2026</c:v>
                </c:pt>
                <c:pt idx="631">
                  <c:v>01 May 2026</c:v>
                </c:pt>
                <c:pt idx="632">
                  <c:v>04 May 2026</c:v>
                </c:pt>
                <c:pt idx="633">
                  <c:v>05 May 2026</c:v>
                </c:pt>
                <c:pt idx="634">
                  <c:v>06 May 2026</c:v>
                </c:pt>
                <c:pt idx="635">
                  <c:v>07 May 2026</c:v>
                </c:pt>
                <c:pt idx="636">
                  <c:v>08 May 2026</c:v>
                </c:pt>
                <c:pt idx="637">
                  <c:v>11 May 2026</c:v>
                </c:pt>
                <c:pt idx="638">
                  <c:v>12 May 2026</c:v>
                </c:pt>
                <c:pt idx="639">
                  <c:v>13 May 2026</c:v>
                </c:pt>
                <c:pt idx="640">
                  <c:v>14 May 2026</c:v>
                </c:pt>
                <c:pt idx="641">
                  <c:v>15 May 2026</c:v>
                </c:pt>
                <c:pt idx="642">
                  <c:v>18 May 2026</c:v>
                </c:pt>
                <c:pt idx="643">
                  <c:v>19 May 2026</c:v>
                </c:pt>
                <c:pt idx="644">
                  <c:v>20 May 2026</c:v>
                </c:pt>
                <c:pt idx="645">
                  <c:v>21 May 2026</c:v>
                </c:pt>
                <c:pt idx="646">
                  <c:v>22 May 2026</c:v>
                </c:pt>
                <c:pt idx="647">
                  <c:v>26 May 2026</c:v>
                </c:pt>
                <c:pt idx="648">
                  <c:v>27 May 2026</c:v>
                </c:pt>
                <c:pt idx="649">
                  <c:v>28 May 2026</c:v>
                </c:pt>
                <c:pt idx="650">
                  <c:v>29 May 2026</c:v>
                </c:pt>
                <c:pt idx="651">
                  <c:v>01 Jun 2026</c:v>
                </c:pt>
                <c:pt idx="652">
                  <c:v>02 Jun 2026</c:v>
                </c:pt>
                <c:pt idx="653">
                  <c:v>03 Jun 2026</c:v>
                </c:pt>
                <c:pt idx="654">
                  <c:v>04 Jun 2026</c:v>
                </c:pt>
                <c:pt idx="655">
                  <c:v>05 Jun 2026</c:v>
                </c:pt>
                <c:pt idx="656">
                  <c:v>08 Jun 2026</c:v>
                </c:pt>
                <c:pt idx="657">
                  <c:v>09 Jun 2026</c:v>
                </c:pt>
                <c:pt idx="658">
                  <c:v>10 Jun 2026</c:v>
                </c:pt>
                <c:pt idx="659">
                  <c:v>11 Jun 2026</c:v>
                </c:pt>
                <c:pt idx="660">
                  <c:v>12 Jun 2026</c:v>
                </c:pt>
                <c:pt idx="661">
                  <c:v>15 Jun 2026</c:v>
                </c:pt>
                <c:pt idx="662">
                  <c:v>16 Jun 2026</c:v>
                </c:pt>
                <c:pt idx="663">
                  <c:v>17 Jun 2026</c:v>
                </c:pt>
                <c:pt idx="664">
                  <c:v>18 Jun 2026</c:v>
                </c:pt>
                <c:pt idx="665">
                  <c:v>22 Jun 2026</c:v>
                </c:pt>
                <c:pt idx="666">
                  <c:v>23 Jun 2026</c:v>
                </c:pt>
                <c:pt idx="667">
                  <c:v>24 Jun 2026</c:v>
                </c:pt>
                <c:pt idx="668">
                  <c:v>25 Jun 2026</c:v>
                </c:pt>
                <c:pt idx="669">
                  <c:v>26 Jun 2026</c:v>
                </c:pt>
                <c:pt idx="670">
                  <c:v>29 Jun 2026</c:v>
                </c:pt>
                <c:pt idx="671">
                  <c:v>30 Jun 2026</c:v>
                </c:pt>
                <c:pt idx="672">
                  <c:v>01 Jul 2026</c:v>
                </c:pt>
                <c:pt idx="673">
                  <c:v>02 Jul 2026</c:v>
                </c:pt>
                <c:pt idx="674">
                  <c:v>06 Jul 2026</c:v>
                </c:pt>
                <c:pt idx="675">
                  <c:v>07 Jul 2026</c:v>
                </c:pt>
                <c:pt idx="676">
                  <c:v>08 Jul 2026</c:v>
                </c:pt>
                <c:pt idx="677">
                  <c:v>09 Jul 2026</c:v>
                </c:pt>
                <c:pt idx="678">
                  <c:v>10 Jul 2026</c:v>
                </c:pt>
                <c:pt idx="679">
                  <c:v>13 Jul 2026</c:v>
                </c:pt>
                <c:pt idx="680">
                  <c:v>14 Jul 2026</c:v>
                </c:pt>
                <c:pt idx="681">
                  <c:v>15 Jul 2026</c:v>
                </c:pt>
                <c:pt idx="682">
                  <c:v>16 Jul 2026</c:v>
                </c:pt>
                <c:pt idx="683">
                  <c:v>17 Jul 2026</c:v>
                </c:pt>
                <c:pt idx="684">
                  <c:v>20 Jul 2026</c:v>
                </c:pt>
                <c:pt idx="685">
                  <c:v>21 Jul 2026</c:v>
                </c:pt>
                <c:pt idx="686">
                  <c:v>22 Jul 2026</c:v>
                </c:pt>
                <c:pt idx="687">
                  <c:v>23 Jul 2026</c:v>
                </c:pt>
                <c:pt idx="688">
                  <c:v>24 Jul 2026</c:v>
                </c:pt>
                <c:pt idx="689">
                  <c:v>27 Jul 2026</c:v>
                </c:pt>
                <c:pt idx="690">
                  <c:v>28 Jul 2026</c:v>
                </c:pt>
                <c:pt idx="691">
                  <c:v>29 Jul 2026</c:v>
                </c:pt>
                <c:pt idx="692">
                  <c:v>30 Jul 2026</c:v>
                </c:pt>
                <c:pt idx="693">
                  <c:v>31 Jul 2026</c:v>
                </c:pt>
                <c:pt idx="694">
                  <c:v>03 Aug 2026</c:v>
                </c:pt>
                <c:pt idx="695">
                  <c:v>04 Aug 2026</c:v>
                </c:pt>
                <c:pt idx="696">
                  <c:v>05 Aug 2026</c:v>
                </c:pt>
                <c:pt idx="697">
                  <c:v>06 Aug 2026</c:v>
                </c:pt>
                <c:pt idx="698">
                  <c:v>07 Aug 2026</c:v>
                </c:pt>
                <c:pt idx="699">
                  <c:v>10 Aug 2026</c:v>
                </c:pt>
                <c:pt idx="700">
                  <c:v>11 Aug 2026</c:v>
                </c:pt>
                <c:pt idx="701">
                  <c:v>12 Aug 2026</c:v>
                </c:pt>
                <c:pt idx="702">
                  <c:v>13 Aug 2026</c:v>
                </c:pt>
                <c:pt idx="703">
                  <c:v>14 Aug 2026</c:v>
                </c:pt>
                <c:pt idx="704">
                  <c:v>17 Aug 2026</c:v>
                </c:pt>
                <c:pt idx="705">
                  <c:v>18 Aug 2026</c:v>
                </c:pt>
                <c:pt idx="706">
                  <c:v>19 Aug 2026</c:v>
                </c:pt>
                <c:pt idx="707">
                  <c:v>20 Aug 2026</c:v>
                </c:pt>
                <c:pt idx="708">
                  <c:v>21 Aug 2026</c:v>
                </c:pt>
                <c:pt idx="709">
                  <c:v>24 Aug 2026</c:v>
                </c:pt>
                <c:pt idx="710">
                  <c:v>25 Aug 2026</c:v>
                </c:pt>
                <c:pt idx="711">
                  <c:v>26 Aug 2026</c:v>
                </c:pt>
                <c:pt idx="712">
                  <c:v>27 Aug 2026</c:v>
                </c:pt>
                <c:pt idx="713">
                  <c:v>28 Aug 2026</c:v>
                </c:pt>
                <c:pt idx="714">
                  <c:v>31 Aug 2026</c:v>
                </c:pt>
                <c:pt idx="715">
                  <c:v>01 Sep 2026</c:v>
                </c:pt>
                <c:pt idx="716">
                  <c:v>02 Sep 2026</c:v>
                </c:pt>
                <c:pt idx="717">
                  <c:v>03 Sep 2026</c:v>
                </c:pt>
                <c:pt idx="718">
                  <c:v>04 Sep 2026</c:v>
                </c:pt>
                <c:pt idx="719">
                  <c:v>08 Sep 2026</c:v>
                </c:pt>
                <c:pt idx="720">
                  <c:v>09 Sep 2026</c:v>
                </c:pt>
                <c:pt idx="721">
                  <c:v>10 Sep 2026</c:v>
                </c:pt>
                <c:pt idx="722">
                  <c:v>11 Sep 2026</c:v>
                </c:pt>
                <c:pt idx="723">
                  <c:v>14 Sep 2026</c:v>
                </c:pt>
                <c:pt idx="724">
                  <c:v>15 Sep 2026</c:v>
                </c:pt>
                <c:pt idx="725">
                  <c:v>16 Sep 2026</c:v>
                </c:pt>
                <c:pt idx="726">
                  <c:v>17 Sep 2026</c:v>
                </c:pt>
                <c:pt idx="727">
                  <c:v>18 Sep 2026</c:v>
                </c:pt>
                <c:pt idx="728">
                  <c:v>21 Sep 2026</c:v>
                </c:pt>
                <c:pt idx="729">
                  <c:v>22 Sep 2026</c:v>
                </c:pt>
                <c:pt idx="730">
                  <c:v>23 Sep 2026</c:v>
                </c:pt>
                <c:pt idx="731">
                  <c:v>24 Sep 2026</c:v>
                </c:pt>
                <c:pt idx="732">
                  <c:v>25 Sep 2026</c:v>
                </c:pt>
                <c:pt idx="733">
                  <c:v>28 Sep 2026</c:v>
                </c:pt>
                <c:pt idx="734">
                  <c:v>29 Sep 2026</c:v>
                </c:pt>
                <c:pt idx="735">
                  <c:v>30 Sep 2026</c:v>
                </c:pt>
                <c:pt idx="736">
                  <c:v>01 Oct 2026</c:v>
                </c:pt>
                <c:pt idx="737">
                  <c:v>02 Oct 2026</c:v>
                </c:pt>
                <c:pt idx="738">
                  <c:v>05 Oct 2026</c:v>
                </c:pt>
                <c:pt idx="739">
                  <c:v>06 Oct 2026</c:v>
                </c:pt>
                <c:pt idx="740">
                  <c:v>07 Oct 2026</c:v>
                </c:pt>
                <c:pt idx="741">
                  <c:v>08 Oct 2026</c:v>
                </c:pt>
                <c:pt idx="742">
                  <c:v>09 Oct 2026</c:v>
                </c:pt>
                <c:pt idx="743">
                  <c:v>12 Oct 2026</c:v>
                </c:pt>
                <c:pt idx="744">
                  <c:v>13 Oct 2026</c:v>
                </c:pt>
                <c:pt idx="745">
                  <c:v>14 Oct 2026</c:v>
                </c:pt>
                <c:pt idx="746">
                  <c:v>15 Oct 2026</c:v>
                </c:pt>
                <c:pt idx="747">
                  <c:v>16 Oct 2026</c:v>
                </c:pt>
                <c:pt idx="748">
                  <c:v>19 Oct 2026</c:v>
                </c:pt>
                <c:pt idx="749">
                  <c:v>20 Oct 2026</c:v>
                </c:pt>
              </c:strCache>
            </c:strRef>
          </c:cat>
          <c:val>
            <c:numRef>
              <c:f>'Chart Data'!$D$2:$D$751</c:f>
              <c:numCache>
                <c:formatCode>$0</c:formatCode>
                <c:ptCount val="750"/>
                <c:pt idx="0">
                  <c:v>-357.2</c:v>
                </c:pt>
                <c:pt idx="1">
                  <c:v>-340.5</c:v>
                </c:pt>
                <c:pt idx="2">
                  <c:v>-426.9</c:v>
                </c:pt>
                <c:pt idx="3">
                  <c:v>-476.6</c:v>
                </c:pt>
                <c:pt idx="4">
                  <c:v>-449.1</c:v>
                </c:pt>
                <c:pt idx="5">
                  <c:v>-427.3</c:v>
                </c:pt>
                <c:pt idx="6">
                  <c:v>-403.1</c:v>
                </c:pt>
                <c:pt idx="7">
                  <c:v>-391.7</c:v>
                </c:pt>
                <c:pt idx="8">
                  <c:v>-383.1</c:v>
                </c:pt>
                <c:pt idx="9">
                  <c:v>-364</c:v>
                </c:pt>
                <c:pt idx="10">
                  <c:v>-346.1</c:v>
                </c:pt>
                <c:pt idx="11">
                  <c:v>-330.8</c:v>
                </c:pt>
                <c:pt idx="12">
                  <c:v>-314.8</c:v>
                </c:pt>
                <c:pt idx="13">
                  <c:v>-313.5</c:v>
                </c:pt>
                <c:pt idx="14">
                  <c:v>-315.7</c:v>
                </c:pt>
                <c:pt idx="15">
                  <c:v>-301.4</c:v>
                </c:pt>
                <c:pt idx="16">
                  <c:v>-303.8</c:v>
                </c:pt>
                <c:pt idx="17">
                  <c:v>-290.4</c:v>
                </c:pt>
                <c:pt idx="18">
                  <c:v>-278.3</c:v>
                </c:pt>
                <c:pt idx="19">
                  <c:v>-267.2</c:v>
                </c:pt>
                <c:pt idx="20">
                  <c:v>-261.1</c:v>
                </c:pt>
                <c:pt idx="21">
                  <c:v>-252.3</c:v>
                </c:pt>
                <c:pt idx="22">
                  <c:v>-203.3</c:v>
                </c:pt>
                <c:pt idx="23">
                  <c:v>-199.9</c:v>
                </c:pt>
                <c:pt idx="24">
                  <c:v>-193.9</c:v>
                </c:pt>
                <c:pt idx="25">
                  <c:v>-190.7</c:v>
                </c:pt>
                <c:pt idx="26">
                  <c:v>-201.7</c:v>
                </c:pt>
                <c:pt idx="27">
                  <c:v>-198.5</c:v>
                </c:pt>
                <c:pt idx="28">
                  <c:v>-193.5</c:v>
                </c:pt>
                <c:pt idx="29">
                  <c:v>-217.7</c:v>
                </c:pt>
                <c:pt idx="30">
                  <c:v>-212.2</c:v>
                </c:pt>
                <c:pt idx="31">
                  <c:v>-222.5</c:v>
                </c:pt>
                <c:pt idx="32">
                  <c:v>-223.4</c:v>
                </c:pt>
                <c:pt idx="33">
                  <c:v>-217.4</c:v>
                </c:pt>
                <c:pt idx="34">
                  <c:v>-235.9</c:v>
                </c:pt>
                <c:pt idx="35">
                  <c:v>-227.6</c:v>
                </c:pt>
                <c:pt idx="36">
                  <c:v>-220.5</c:v>
                </c:pt>
                <c:pt idx="37">
                  <c:v>-212.8</c:v>
                </c:pt>
                <c:pt idx="38">
                  <c:v>-206.8</c:v>
                </c:pt>
                <c:pt idx="39">
                  <c:v>-205</c:v>
                </c:pt>
                <c:pt idx="40">
                  <c:v>-200.3</c:v>
                </c:pt>
                <c:pt idx="41">
                  <c:v>-235.4</c:v>
                </c:pt>
                <c:pt idx="42">
                  <c:v>-231.2</c:v>
                </c:pt>
                <c:pt idx="43">
                  <c:v>-222.1</c:v>
                </c:pt>
                <c:pt idx="44">
                  <c:v>-214.3</c:v>
                </c:pt>
                <c:pt idx="45">
                  <c:v>-207.1</c:v>
                </c:pt>
                <c:pt idx="46">
                  <c:v>-202.5</c:v>
                </c:pt>
                <c:pt idx="47">
                  <c:v>-202.3</c:v>
                </c:pt>
                <c:pt idx="48">
                  <c:v>-205.8</c:v>
                </c:pt>
                <c:pt idx="49">
                  <c:v>-207.9</c:v>
                </c:pt>
                <c:pt idx="50">
                  <c:v>-206</c:v>
                </c:pt>
                <c:pt idx="51">
                  <c:v>-199.6</c:v>
                </c:pt>
                <c:pt idx="52">
                  <c:v>-207</c:v>
                </c:pt>
                <c:pt idx="53">
                  <c:v>-200.2</c:v>
                </c:pt>
                <c:pt idx="54">
                  <c:v>-198.9</c:v>
                </c:pt>
                <c:pt idx="55">
                  <c:v>-193.3</c:v>
                </c:pt>
                <c:pt idx="56">
                  <c:v>-191.9</c:v>
                </c:pt>
                <c:pt idx="57">
                  <c:v>-189.7</c:v>
                </c:pt>
                <c:pt idx="58">
                  <c:v>-190.6</c:v>
                </c:pt>
                <c:pt idx="59">
                  <c:v>-189.1</c:v>
                </c:pt>
                <c:pt idx="60">
                  <c:v>-192.4</c:v>
                </c:pt>
                <c:pt idx="61">
                  <c:v>-187.2</c:v>
                </c:pt>
                <c:pt idx="62">
                  <c:v>-184.2</c:v>
                </c:pt>
                <c:pt idx="63">
                  <c:v>-183.7</c:v>
                </c:pt>
                <c:pt idx="64">
                  <c:v>-187.1</c:v>
                </c:pt>
                <c:pt idx="65">
                  <c:v>-182.7</c:v>
                </c:pt>
                <c:pt idx="66">
                  <c:v>-186.1</c:v>
                </c:pt>
                <c:pt idx="67">
                  <c:v>-181.9</c:v>
                </c:pt>
                <c:pt idx="68">
                  <c:v>-350.6</c:v>
                </c:pt>
                <c:pt idx="69">
                  <c:v>-280</c:v>
                </c:pt>
                <c:pt idx="70">
                  <c:v>-308</c:v>
                </c:pt>
                <c:pt idx="71">
                  <c:v>-295.1</c:v>
                </c:pt>
                <c:pt idx="72">
                  <c:v>-279.9</c:v>
                </c:pt>
                <c:pt idx="73">
                  <c:v>-272.5</c:v>
                </c:pt>
                <c:pt idx="74">
                  <c:v>-259.2</c:v>
                </c:pt>
                <c:pt idx="75">
                  <c:v>-251</c:v>
                </c:pt>
                <c:pt idx="76">
                  <c:v>-245.1</c:v>
                </c:pt>
                <c:pt idx="77">
                  <c:v>-268.6</c:v>
                </c:pt>
                <c:pt idx="78">
                  <c:v>-260.4</c:v>
                </c:pt>
                <c:pt idx="79">
                  <c:v>-251</c:v>
                </c:pt>
                <c:pt idx="80">
                  <c:v>-247.6</c:v>
                </c:pt>
                <c:pt idx="81">
                  <c:v>-259.4</c:v>
                </c:pt>
                <c:pt idx="82">
                  <c:v>-247.4</c:v>
                </c:pt>
                <c:pt idx="83">
                  <c:v>-276.1</c:v>
                </c:pt>
                <c:pt idx="84">
                  <c:v>-265.5</c:v>
                </c:pt>
                <c:pt idx="85">
                  <c:v>-254</c:v>
                </c:pt>
                <c:pt idx="86">
                  <c:v>-242.5</c:v>
                </c:pt>
                <c:pt idx="87">
                  <c:v>-238.5</c:v>
                </c:pt>
                <c:pt idx="88">
                  <c:v>-231.5</c:v>
                </c:pt>
                <c:pt idx="89">
                  <c:v>-224</c:v>
                </c:pt>
                <c:pt idx="90">
                  <c:v>-247.2</c:v>
                </c:pt>
                <c:pt idx="91">
                  <c:v>-265.9</c:v>
                </c:pt>
                <c:pt idx="92">
                  <c:v>-253.5</c:v>
                </c:pt>
                <c:pt idx="93">
                  <c:v>-251.8</c:v>
                </c:pt>
                <c:pt idx="94">
                  <c:v>-254</c:v>
                </c:pt>
                <c:pt idx="95">
                  <c:v>-243.3</c:v>
                </c:pt>
                <c:pt idx="96">
                  <c:v>-243.6</c:v>
                </c:pt>
                <c:pt idx="97">
                  <c:v>-236.6</c:v>
                </c:pt>
                <c:pt idx="98">
                  <c:v>-227</c:v>
                </c:pt>
                <c:pt idx="99">
                  <c:v>-226.1</c:v>
                </c:pt>
                <c:pt idx="100">
                  <c:v>-227.4</c:v>
                </c:pt>
                <c:pt idx="101">
                  <c:v>-219.7</c:v>
                </c:pt>
                <c:pt idx="102">
                  <c:v>-217.3</c:v>
                </c:pt>
                <c:pt idx="103">
                  <c:v>-210.5</c:v>
                </c:pt>
                <c:pt idx="104">
                  <c:v>-204.4</c:v>
                </c:pt>
                <c:pt idx="105">
                  <c:v>-199.5</c:v>
                </c:pt>
                <c:pt idx="106">
                  <c:v>-195.1</c:v>
                </c:pt>
                <c:pt idx="107">
                  <c:v>-190.6</c:v>
                </c:pt>
                <c:pt idx="108">
                  <c:v>-187.4</c:v>
                </c:pt>
                <c:pt idx="109">
                  <c:v>-183.5</c:v>
                </c:pt>
                <c:pt idx="110">
                  <c:v>-212.3</c:v>
                </c:pt>
                <c:pt idx="111">
                  <c:v>-205.8</c:v>
                </c:pt>
                <c:pt idx="112">
                  <c:v>-213.4</c:v>
                </c:pt>
                <c:pt idx="113">
                  <c:v>-211.5</c:v>
                </c:pt>
                <c:pt idx="114">
                  <c:v>-204.7</c:v>
                </c:pt>
                <c:pt idx="115">
                  <c:v>-198.8</c:v>
                </c:pt>
                <c:pt idx="116">
                  <c:v>-197.9</c:v>
                </c:pt>
                <c:pt idx="117">
                  <c:v>-200.7</c:v>
                </c:pt>
                <c:pt idx="118">
                  <c:v>-266.6</c:v>
                </c:pt>
                <c:pt idx="119">
                  <c:v>-306.1</c:v>
                </c:pt>
                <c:pt idx="120">
                  <c:v>-289.9</c:v>
                </c:pt>
                <c:pt idx="121">
                  <c:v>-281.9</c:v>
                </c:pt>
                <c:pt idx="122">
                  <c:v>-267.9</c:v>
                </c:pt>
                <c:pt idx="123">
                  <c:v>-306.2</c:v>
                </c:pt>
                <c:pt idx="124">
                  <c:v>-290.8</c:v>
                </c:pt>
                <c:pt idx="125">
                  <c:v>-282.1</c:v>
                </c:pt>
                <c:pt idx="126">
                  <c:v>-270.1</c:v>
                </c:pt>
                <c:pt idx="127">
                  <c:v>-266</c:v>
                </c:pt>
                <c:pt idx="128">
                  <c:v>-265</c:v>
                </c:pt>
                <c:pt idx="129">
                  <c:v>-256.8</c:v>
                </c:pt>
                <c:pt idx="130">
                  <c:v>-326.6</c:v>
                </c:pt>
                <c:pt idx="131">
                  <c:v>-308.9</c:v>
                </c:pt>
                <c:pt idx="132">
                  <c:v>-298.1</c:v>
                </c:pt>
                <c:pt idx="133">
                  <c:v>-289.6</c:v>
                </c:pt>
                <c:pt idx="134">
                  <c:v>-280.5</c:v>
                </c:pt>
                <c:pt idx="135">
                  <c:v>-268.1</c:v>
                </c:pt>
                <c:pt idx="136">
                  <c:v>-255.3</c:v>
                </c:pt>
                <c:pt idx="137">
                  <c:v>-244.2</c:v>
                </c:pt>
                <c:pt idx="138">
                  <c:v>-234</c:v>
                </c:pt>
                <c:pt idx="139">
                  <c:v>-224.6</c:v>
                </c:pt>
                <c:pt idx="140">
                  <c:v>-220.1</c:v>
                </c:pt>
                <c:pt idx="141">
                  <c:v>-215.8</c:v>
                </c:pt>
                <c:pt idx="142">
                  <c:v>-209.3</c:v>
                </c:pt>
                <c:pt idx="143">
                  <c:v>-203.1</c:v>
                </c:pt>
                <c:pt idx="144">
                  <c:v>-201.8</c:v>
                </c:pt>
                <c:pt idx="145">
                  <c:v>-200.7</c:v>
                </c:pt>
                <c:pt idx="146">
                  <c:v>-208</c:v>
                </c:pt>
                <c:pt idx="147">
                  <c:v>-203.6</c:v>
                </c:pt>
                <c:pt idx="148">
                  <c:v>-203.7</c:v>
                </c:pt>
                <c:pt idx="149">
                  <c:v>-200.7</c:v>
                </c:pt>
                <c:pt idx="150">
                  <c:v>-204.5</c:v>
                </c:pt>
                <c:pt idx="151">
                  <c:v>-227.6</c:v>
                </c:pt>
                <c:pt idx="152">
                  <c:v>-219.8</c:v>
                </c:pt>
                <c:pt idx="153">
                  <c:v>-213.3</c:v>
                </c:pt>
                <c:pt idx="154">
                  <c:v>-205.9</c:v>
                </c:pt>
                <c:pt idx="155">
                  <c:v>-207.1</c:v>
                </c:pt>
                <c:pt idx="156">
                  <c:v>-200.8</c:v>
                </c:pt>
                <c:pt idx="157">
                  <c:v>-197</c:v>
                </c:pt>
                <c:pt idx="158">
                  <c:v>-191.8</c:v>
                </c:pt>
                <c:pt idx="159">
                  <c:v>-188</c:v>
                </c:pt>
                <c:pt idx="160">
                  <c:v>-188.7</c:v>
                </c:pt>
                <c:pt idx="161">
                  <c:v>-185.1</c:v>
                </c:pt>
                <c:pt idx="162">
                  <c:v>-181.2</c:v>
                </c:pt>
                <c:pt idx="163">
                  <c:v>-180.4</c:v>
                </c:pt>
                <c:pt idx="164">
                  <c:v>-178.2</c:v>
                </c:pt>
                <c:pt idx="165">
                  <c:v>-176.2</c:v>
                </c:pt>
                <c:pt idx="166">
                  <c:v>-176.3</c:v>
                </c:pt>
                <c:pt idx="167">
                  <c:v>-177.3</c:v>
                </c:pt>
                <c:pt idx="168">
                  <c:v>-185.8</c:v>
                </c:pt>
                <c:pt idx="169">
                  <c:v>-188</c:v>
                </c:pt>
                <c:pt idx="170">
                  <c:v>-184.9</c:v>
                </c:pt>
                <c:pt idx="171">
                  <c:v>-186.4</c:v>
                </c:pt>
                <c:pt idx="172">
                  <c:v>-190.3</c:v>
                </c:pt>
                <c:pt idx="173">
                  <c:v>-199.1</c:v>
                </c:pt>
                <c:pt idx="174">
                  <c:v>-198.8</c:v>
                </c:pt>
                <c:pt idx="175">
                  <c:v>-198.5</c:v>
                </c:pt>
                <c:pt idx="176">
                  <c:v>-193</c:v>
                </c:pt>
                <c:pt idx="177">
                  <c:v>-190.2</c:v>
                </c:pt>
                <c:pt idx="178">
                  <c:v>-191.6</c:v>
                </c:pt>
                <c:pt idx="179">
                  <c:v>-413.2</c:v>
                </c:pt>
                <c:pt idx="180">
                  <c:v>-390</c:v>
                </c:pt>
                <c:pt idx="181">
                  <c:v>-370.5</c:v>
                </c:pt>
                <c:pt idx="182">
                  <c:v>-351.9</c:v>
                </c:pt>
                <c:pt idx="183">
                  <c:v>-385.2</c:v>
                </c:pt>
                <c:pt idx="184">
                  <c:v>-369.5</c:v>
                </c:pt>
                <c:pt idx="185">
                  <c:v>-371.1</c:v>
                </c:pt>
                <c:pt idx="186">
                  <c:v>-358.2</c:v>
                </c:pt>
                <c:pt idx="187">
                  <c:v>-340.7</c:v>
                </c:pt>
                <c:pt idx="188">
                  <c:v>-573.5</c:v>
                </c:pt>
                <c:pt idx="189">
                  <c:v>-540.8</c:v>
                </c:pt>
                <c:pt idx="190">
                  <c:v>-509.3</c:v>
                </c:pt>
                <c:pt idx="191">
                  <c:v>-478.7</c:v>
                </c:pt>
                <c:pt idx="192">
                  <c:v>-456.9</c:v>
                </c:pt>
                <c:pt idx="193">
                  <c:v>-442.7</c:v>
                </c:pt>
                <c:pt idx="194">
                  <c:v>-461.8</c:v>
                </c:pt>
                <c:pt idx="195">
                  <c:v>-505.6</c:v>
                </c:pt>
                <c:pt idx="196">
                  <c:v>-647.1</c:v>
                </c:pt>
                <c:pt idx="197">
                  <c:v>-607.6</c:v>
                </c:pt>
                <c:pt idx="198">
                  <c:v>-575.2</c:v>
                </c:pt>
                <c:pt idx="199">
                  <c:v>-552</c:v>
                </c:pt>
                <c:pt idx="200">
                  <c:v>-518.4</c:v>
                </c:pt>
                <c:pt idx="201">
                  <c:v>-486.8</c:v>
                </c:pt>
                <c:pt idx="202">
                  <c:v>-470.3</c:v>
                </c:pt>
                <c:pt idx="203">
                  <c:v>-442.1</c:v>
                </c:pt>
                <c:pt idx="204">
                  <c:v>-429</c:v>
                </c:pt>
                <c:pt idx="205">
                  <c:v>-404.2</c:v>
                </c:pt>
                <c:pt idx="206">
                  <c:v>-386.8</c:v>
                </c:pt>
                <c:pt idx="207">
                  <c:v>-371</c:v>
                </c:pt>
                <c:pt idx="208">
                  <c:v>-351.4</c:v>
                </c:pt>
                <c:pt idx="209">
                  <c:v>-375.5</c:v>
                </c:pt>
                <c:pt idx="210">
                  <c:v>-361.7</c:v>
                </c:pt>
                <c:pt idx="211">
                  <c:v>-348.1</c:v>
                </c:pt>
                <c:pt idx="212">
                  <c:v>-331.8</c:v>
                </c:pt>
                <c:pt idx="213">
                  <c:v>-330.7</c:v>
                </c:pt>
                <c:pt idx="214">
                  <c:v>-315.3</c:v>
                </c:pt>
                <c:pt idx="215">
                  <c:v>-306.1</c:v>
                </c:pt>
                <c:pt idx="216">
                  <c:v>-421</c:v>
                </c:pt>
                <c:pt idx="217">
                  <c:v>-393</c:v>
                </c:pt>
                <c:pt idx="218">
                  <c:v>-373</c:v>
                </c:pt>
                <c:pt idx="219">
                  <c:v>-491.1</c:v>
                </c:pt>
                <c:pt idx="220">
                  <c:v>-465.4</c:v>
                </c:pt>
                <c:pt idx="221">
                  <c:v>-368.8</c:v>
                </c:pt>
                <c:pt idx="222">
                  <c:v>-353.9</c:v>
                </c:pt>
                <c:pt idx="223">
                  <c:v>-336.7</c:v>
                </c:pt>
                <c:pt idx="224">
                  <c:v>-317.7</c:v>
                </c:pt>
                <c:pt idx="225">
                  <c:v>-301.3</c:v>
                </c:pt>
                <c:pt idx="226">
                  <c:v>-285.7</c:v>
                </c:pt>
                <c:pt idx="227">
                  <c:v>-271.4</c:v>
                </c:pt>
                <c:pt idx="228">
                  <c:v>-283.4</c:v>
                </c:pt>
                <c:pt idx="229">
                  <c:v>-271.5</c:v>
                </c:pt>
                <c:pt idx="230">
                  <c:v>-260.2</c:v>
                </c:pt>
                <c:pt idx="231">
                  <c:v>-249.2</c:v>
                </c:pt>
                <c:pt idx="232">
                  <c:v>-238.3</c:v>
                </c:pt>
                <c:pt idx="233">
                  <c:v>-230</c:v>
                </c:pt>
                <c:pt idx="234">
                  <c:v>-221.3</c:v>
                </c:pt>
                <c:pt idx="235">
                  <c:v>-215.1</c:v>
                </c:pt>
                <c:pt idx="236">
                  <c:v>-227.2</c:v>
                </c:pt>
                <c:pt idx="237">
                  <c:v>-218.7</c:v>
                </c:pt>
                <c:pt idx="238">
                  <c:v>-210.9</c:v>
                </c:pt>
                <c:pt idx="239">
                  <c:v>-213.4</c:v>
                </c:pt>
                <c:pt idx="240">
                  <c:v>-244.6</c:v>
                </c:pt>
                <c:pt idx="241">
                  <c:v>-236.9</c:v>
                </c:pt>
                <c:pt idx="242">
                  <c:v>-227.4</c:v>
                </c:pt>
                <c:pt idx="243">
                  <c:v>-218.6</c:v>
                </c:pt>
                <c:pt idx="244">
                  <c:v>-210.7</c:v>
                </c:pt>
                <c:pt idx="245">
                  <c:v>-205.9</c:v>
                </c:pt>
                <c:pt idx="246">
                  <c:v>-251.4</c:v>
                </c:pt>
                <c:pt idx="247">
                  <c:v>-240.6</c:v>
                </c:pt>
                <c:pt idx="248">
                  <c:v>-230.3</c:v>
                </c:pt>
                <c:pt idx="249">
                  <c:v>-221.8</c:v>
                </c:pt>
                <c:pt idx="250">
                  <c:v>-214.3</c:v>
                </c:pt>
                <c:pt idx="251">
                  <c:v>-207.6</c:v>
                </c:pt>
                <c:pt idx="252">
                  <c:v>-259.1</c:v>
                </c:pt>
                <c:pt idx="253">
                  <c:v>-261.4</c:v>
                </c:pt>
                <c:pt idx="254">
                  <c:v>-251.4</c:v>
                </c:pt>
                <c:pt idx="255">
                  <c:v>-240</c:v>
                </c:pt>
                <c:pt idx="256">
                  <c:v>-230.2</c:v>
                </c:pt>
                <c:pt idx="257">
                  <c:v>-221</c:v>
                </c:pt>
                <c:pt idx="258">
                  <c:v>-393.7</c:v>
                </c:pt>
                <c:pt idx="259">
                  <c:v>-373</c:v>
                </c:pt>
                <c:pt idx="260">
                  <c:v>-359.8</c:v>
                </c:pt>
                <c:pt idx="261">
                  <c:v>-348.7</c:v>
                </c:pt>
                <c:pt idx="262">
                  <c:v>-405.4</c:v>
                </c:pt>
                <c:pt idx="263">
                  <c:v>-387.6</c:v>
                </c:pt>
                <c:pt idx="264">
                  <c:v>-367.3</c:v>
                </c:pt>
                <c:pt idx="265">
                  <c:v>-349.8</c:v>
                </c:pt>
                <c:pt idx="266">
                  <c:v>-335.1</c:v>
                </c:pt>
                <c:pt idx="267">
                  <c:v>-318</c:v>
                </c:pt>
                <c:pt idx="268">
                  <c:v>-325</c:v>
                </c:pt>
                <c:pt idx="269">
                  <c:v>-345.8</c:v>
                </c:pt>
                <c:pt idx="270">
                  <c:v>-330.4</c:v>
                </c:pt>
                <c:pt idx="271">
                  <c:v>-316.4</c:v>
                </c:pt>
                <c:pt idx="272">
                  <c:v>-301</c:v>
                </c:pt>
                <c:pt idx="273">
                  <c:v>-294.4</c:v>
                </c:pt>
                <c:pt idx="274">
                  <c:v>-281.2</c:v>
                </c:pt>
                <c:pt idx="275">
                  <c:v>-269.7</c:v>
                </c:pt>
                <c:pt idx="276">
                  <c:v>-261.7</c:v>
                </c:pt>
                <c:pt idx="277">
                  <c:v>-261.4</c:v>
                </c:pt>
                <c:pt idx="278">
                  <c:v>-256.8</c:v>
                </c:pt>
                <c:pt idx="279">
                  <c:v>-253.6</c:v>
                </c:pt>
                <c:pt idx="280">
                  <c:v>-245.1</c:v>
                </c:pt>
                <c:pt idx="281">
                  <c:v>-240.9</c:v>
                </c:pt>
                <c:pt idx="282">
                  <c:v>-233.4</c:v>
                </c:pt>
                <c:pt idx="283">
                  <c:v>-228.6</c:v>
                </c:pt>
                <c:pt idx="284">
                  <c:v>-223.5</c:v>
                </c:pt>
                <c:pt idx="285">
                  <c:v>-220.6</c:v>
                </c:pt>
                <c:pt idx="286">
                  <c:v>-228.9</c:v>
                </c:pt>
                <c:pt idx="287">
                  <c:v>-246.2</c:v>
                </c:pt>
                <c:pt idx="288">
                  <c:v>-239.1</c:v>
                </c:pt>
                <c:pt idx="289">
                  <c:v>-236.8</c:v>
                </c:pt>
                <c:pt idx="290">
                  <c:v>-229.9</c:v>
                </c:pt>
                <c:pt idx="291">
                  <c:v>-455.7</c:v>
                </c:pt>
                <c:pt idx="292">
                  <c:v>-428.4</c:v>
                </c:pt>
                <c:pt idx="293">
                  <c:v>-404.2</c:v>
                </c:pt>
                <c:pt idx="294">
                  <c:v>-386.3</c:v>
                </c:pt>
                <c:pt idx="295">
                  <c:v>-374.9</c:v>
                </c:pt>
                <c:pt idx="296">
                  <c:v>-356.5</c:v>
                </c:pt>
                <c:pt idx="297">
                  <c:v>-388</c:v>
                </c:pt>
                <c:pt idx="298">
                  <c:v>-391.2</c:v>
                </c:pt>
                <c:pt idx="299">
                  <c:v>-385.6</c:v>
                </c:pt>
                <c:pt idx="300">
                  <c:v>-367.4</c:v>
                </c:pt>
                <c:pt idx="301">
                  <c:v>-363.3</c:v>
                </c:pt>
                <c:pt idx="302">
                  <c:v>-350.7</c:v>
                </c:pt>
                <c:pt idx="303">
                  <c:v>-385.3</c:v>
                </c:pt>
                <c:pt idx="304">
                  <c:v>-364.2</c:v>
                </c:pt>
                <c:pt idx="305">
                  <c:v>-368</c:v>
                </c:pt>
                <c:pt idx="306">
                  <c:v>-349.2</c:v>
                </c:pt>
                <c:pt idx="307">
                  <c:v>-336</c:v>
                </c:pt>
                <c:pt idx="308">
                  <c:v>-350.4</c:v>
                </c:pt>
                <c:pt idx="309">
                  <c:v>-400.4</c:v>
                </c:pt>
                <c:pt idx="310">
                  <c:v>-385.2</c:v>
                </c:pt>
                <c:pt idx="311">
                  <c:v>-365.4</c:v>
                </c:pt>
                <c:pt idx="312">
                  <c:v>-347.9</c:v>
                </c:pt>
                <c:pt idx="313">
                  <c:v>-331.1</c:v>
                </c:pt>
                <c:pt idx="314">
                  <c:v>-318.7</c:v>
                </c:pt>
                <c:pt idx="315">
                  <c:v>-366.4</c:v>
                </c:pt>
                <c:pt idx="316">
                  <c:v>-358.4</c:v>
                </c:pt>
                <c:pt idx="317">
                  <c:v>-350.1</c:v>
                </c:pt>
                <c:pt idx="318">
                  <c:v>-332.4</c:v>
                </c:pt>
                <c:pt idx="319">
                  <c:v>-318</c:v>
                </c:pt>
                <c:pt idx="320">
                  <c:v>-333</c:v>
                </c:pt>
                <c:pt idx="321">
                  <c:v>-324.8</c:v>
                </c:pt>
                <c:pt idx="322">
                  <c:v>-324.1</c:v>
                </c:pt>
                <c:pt idx="323">
                  <c:v>-309.5</c:v>
                </c:pt>
                <c:pt idx="324">
                  <c:v>-335.6</c:v>
                </c:pt>
                <c:pt idx="325">
                  <c:v>-320</c:v>
                </c:pt>
                <c:pt idx="326">
                  <c:v>-306.1</c:v>
                </c:pt>
                <c:pt idx="327">
                  <c:v>-296.2</c:v>
                </c:pt>
                <c:pt idx="328">
                  <c:v>-293.3</c:v>
                </c:pt>
                <c:pt idx="329">
                  <c:v>-281</c:v>
                </c:pt>
                <c:pt idx="330">
                  <c:v>-277.3</c:v>
                </c:pt>
                <c:pt idx="331">
                  <c:v>-267.1</c:v>
                </c:pt>
                <c:pt idx="332">
                  <c:v>-273.4</c:v>
                </c:pt>
                <c:pt idx="333">
                  <c:v>-413.9</c:v>
                </c:pt>
                <c:pt idx="334">
                  <c:v>-413.4</c:v>
                </c:pt>
                <c:pt idx="335">
                  <c:v>-438.1</c:v>
                </c:pt>
                <c:pt idx="336">
                  <c:v>-412.4</c:v>
                </c:pt>
                <c:pt idx="337">
                  <c:v>-461</c:v>
                </c:pt>
                <c:pt idx="338">
                  <c:v>-444.1</c:v>
                </c:pt>
                <c:pt idx="339">
                  <c:v>-541.7</c:v>
                </c:pt>
                <c:pt idx="340">
                  <c:v>-513.8</c:v>
                </c:pt>
                <c:pt idx="341">
                  <c:v>-485.2</c:v>
                </c:pt>
                <c:pt idx="342">
                  <c:v>-503.5</c:v>
                </c:pt>
                <c:pt idx="343">
                  <c:v>-468</c:v>
                </c:pt>
                <c:pt idx="344">
                  <c:v>-665.4</c:v>
                </c:pt>
                <c:pt idx="345">
                  <c:v>-622.7</c:v>
                </c:pt>
                <c:pt idx="346">
                  <c:v>-587.7</c:v>
                </c:pt>
                <c:pt idx="347">
                  <c:v>-591</c:v>
                </c:pt>
                <c:pt idx="348">
                  <c:v>-569.4</c:v>
                </c:pt>
                <c:pt idx="349">
                  <c:v>-535.3</c:v>
                </c:pt>
                <c:pt idx="350">
                  <c:v>-535.4</c:v>
                </c:pt>
                <c:pt idx="351">
                  <c:v>-507.6</c:v>
                </c:pt>
                <c:pt idx="352">
                  <c:v>-477</c:v>
                </c:pt>
                <c:pt idx="353">
                  <c:v>-452.3</c:v>
                </c:pt>
                <c:pt idx="354">
                  <c:v>-446</c:v>
                </c:pt>
                <c:pt idx="355">
                  <c:v>-423</c:v>
                </c:pt>
                <c:pt idx="356">
                  <c:v>-454.7</c:v>
                </c:pt>
                <c:pt idx="357">
                  <c:v>-432.6</c:v>
                </c:pt>
                <c:pt idx="358">
                  <c:v>-506.2</c:v>
                </c:pt>
                <c:pt idx="359">
                  <c:v>-475.6</c:v>
                </c:pt>
                <c:pt idx="360">
                  <c:v>-450.6</c:v>
                </c:pt>
                <c:pt idx="361">
                  <c:v>-426.3</c:v>
                </c:pt>
                <c:pt idx="362">
                  <c:v>-804.9</c:v>
                </c:pt>
                <c:pt idx="363">
                  <c:v>-1031</c:v>
                </c:pt>
                <c:pt idx="364">
                  <c:v>-963.1</c:v>
                </c:pt>
                <c:pt idx="365">
                  <c:v>-910.3</c:v>
                </c:pt>
                <c:pt idx="366">
                  <c:v>-1014.6</c:v>
                </c:pt>
                <c:pt idx="367">
                  <c:v>-1062.1</c:v>
                </c:pt>
                <c:pt idx="368">
                  <c:v>-997.1</c:v>
                </c:pt>
                <c:pt idx="369">
                  <c:v>-932.3</c:v>
                </c:pt>
                <c:pt idx="370">
                  <c:v>-873.1</c:v>
                </c:pt>
                <c:pt idx="371">
                  <c:v>-882.1</c:v>
                </c:pt>
                <c:pt idx="372">
                  <c:v>-890.2</c:v>
                </c:pt>
                <c:pt idx="373">
                  <c:v>-915.2</c:v>
                </c:pt>
                <c:pt idx="374">
                  <c:v>-865.7</c:v>
                </c:pt>
                <c:pt idx="375">
                  <c:v>-819.2</c:v>
                </c:pt>
                <c:pt idx="376">
                  <c:v>-774.3</c:v>
                </c:pt>
                <c:pt idx="377">
                  <c:v>-731</c:v>
                </c:pt>
                <c:pt idx="378">
                  <c:v>-684.6</c:v>
                </c:pt>
                <c:pt idx="379">
                  <c:v>-641</c:v>
                </c:pt>
                <c:pt idx="380">
                  <c:v>-608.9</c:v>
                </c:pt>
                <c:pt idx="381">
                  <c:v>-577.4</c:v>
                </c:pt>
                <c:pt idx="382">
                  <c:v>-545.2</c:v>
                </c:pt>
                <c:pt idx="383">
                  <c:v>-522.5</c:v>
                </c:pt>
                <c:pt idx="384">
                  <c:v>-502.3</c:v>
                </c:pt>
                <c:pt idx="385">
                  <c:v>-473.2</c:v>
                </c:pt>
                <c:pt idx="386">
                  <c:v>-449</c:v>
                </c:pt>
                <c:pt idx="387">
                  <c:v>-423.8</c:v>
                </c:pt>
                <c:pt idx="388">
                  <c:v>-460.3</c:v>
                </c:pt>
                <c:pt idx="389">
                  <c:v>-434.1</c:v>
                </c:pt>
                <c:pt idx="390">
                  <c:v>-414.9</c:v>
                </c:pt>
                <c:pt idx="391">
                  <c:v>-427.9</c:v>
                </c:pt>
                <c:pt idx="392">
                  <c:v>-406.1</c:v>
                </c:pt>
                <c:pt idx="393">
                  <c:v>-384.3</c:v>
                </c:pt>
                <c:pt idx="394">
                  <c:v>-368.2</c:v>
                </c:pt>
                <c:pt idx="395">
                  <c:v>-394.1</c:v>
                </c:pt>
                <c:pt idx="396">
                  <c:v>-373.8</c:v>
                </c:pt>
                <c:pt idx="397">
                  <c:v>-375.4</c:v>
                </c:pt>
                <c:pt idx="398">
                  <c:v>-380.6</c:v>
                </c:pt>
                <c:pt idx="399">
                  <c:v>-366.6</c:v>
                </c:pt>
                <c:pt idx="400">
                  <c:v>-349.5</c:v>
                </c:pt>
                <c:pt idx="401">
                  <c:v>-341.4</c:v>
                </c:pt>
                <c:pt idx="402">
                  <c:v>-326.9</c:v>
                </c:pt>
                <c:pt idx="403">
                  <c:v>-312.5</c:v>
                </c:pt>
                <c:pt idx="404">
                  <c:v>-299.3</c:v>
                </c:pt>
                <c:pt idx="405">
                  <c:v>-364</c:v>
                </c:pt>
                <c:pt idx="406">
                  <c:v>-362.9</c:v>
                </c:pt>
                <c:pt idx="407">
                  <c:v>-347.1</c:v>
                </c:pt>
                <c:pt idx="408">
                  <c:v>-336.1</c:v>
                </c:pt>
                <c:pt idx="409">
                  <c:v>-322.1</c:v>
                </c:pt>
                <c:pt idx="410">
                  <c:v>-308.7</c:v>
                </c:pt>
                <c:pt idx="411">
                  <c:v>-304.9</c:v>
                </c:pt>
                <c:pt idx="412">
                  <c:v>-298.5</c:v>
                </c:pt>
                <c:pt idx="413">
                  <c:v>-295.9</c:v>
                </c:pt>
                <c:pt idx="414">
                  <c:v>-284.8</c:v>
                </c:pt>
                <c:pt idx="415">
                  <c:v>-286.7</c:v>
                </c:pt>
                <c:pt idx="416">
                  <c:v>-279.6</c:v>
                </c:pt>
                <c:pt idx="417">
                  <c:v>-271.2</c:v>
                </c:pt>
                <c:pt idx="418">
                  <c:v>-263</c:v>
                </c:pt>
                <c:pt idx="419">
                  <c:v>-260.5</c:v>
                </c:pt>
                <c:pt idx="420">
                  <c:v>-256.5</c:v>
                </c:pt>
                <c:pt idx="421">
                  <c:v>-249.9</c:v>
                </c:pt>
                <c:pt idx="422">
                  <c:v>-249.5</c:v>
                </c:pt>
                <c:pt idx="423">
                  <c:v>-245.1</c:v>
                </c:pt>
                <c:pt idx="424">
                  <c:v>-243.6</c:v>
                </c:pt>
                <c:pt idx="425">
                  <c:v>-301.8</c:v>
                </c:pt>
                <c:pt idx="426">
                  <c:v>-290</c:v>
                </c:pt>
                <c:pt idx="427">
                  <c:v>-280.7</c:v>
                </c:pt>
                <c:pt idx="428">
                  <c:v>-273</c:v>
                </c:pt>
                <c:pt idx="429">
                  <c:v>-265</c:v>
                </c:pt>
                <c:pt idx="430">
                  <c:v>-257.4</c:v>
                </c:pt>
                <c:pt idx="431">
                  <c:v>-251.9</c:v>
                </c:pt>
                <c:pt idx="432">
                  <c:v>-245.5</c:v>
                </c:pt>
                <c:pt idx="433">
                  <c:v>-239.8</c:v>
                </c:pt>
                <c:pt idx="434">
                  <c:v>-234.7</c:v>
                </c:pt>
                <c:pt idx="435">
                  <c:v>-231.5</c:v>
                </c:pt>
                <c:pt idx="436">
                  <c:v>-227.9</c:v>
                </c:pt>
                <c:pt idx="437">
                  <c:v>-228.2</c:v>
                </c:pt>
                <c:pt idx="438">
                  <c:v>-238.3</c:v>
                </c:pt>
                <c:pt idx="439">
                  <c:v>-234.5</c:v>
                </c:pt>
                <c:pt idx="440">
                  <c:v>-232.4</c:v>
                </c:pt>
                <c:pt idx="441">
                  <c:v>-262.8</c:v>
                </c:pt>
                <c:pt idx="442">
                  <c:v>-255.2</c:v>
                </c:pt>
                <c:pt idx="443">
                  <c:v>-248.5</c:v>
                </c:pt>
                <c:pt idx="444">
                  <c:v>-490.6</c:v>
                </c:pt>
                <c:pt idx="445">
                  <c:v>-469.7</c:v>
                </c:pt>
                <c:pt idx="446">
                  <c:v>-444.3</c:v>
                </c:pt>
                <c:pt idx="447">
                  <c:v>-425.4</c:v>
                </c:pt>
                <c:pt idx="448">
                  <c:v>-403.7</c:v>
                </c:pt>
                <c:pt idx="449">
                  <c:v>-392.4</c:v>
                </c:pt>
                <c:pt idx="450">
                  <c:v>-373.6</c:v>
                </c:pt>
                <c:pt idx="451">
                  <c:v>-363.2</c:v>
                </c:pt>
                <c:pt idx="452">
                  <c:v>-347.4</c:v>
                </c:pt>
                <c:pt idx="453">
                  <c:v>-333.3</c:v>
                </c:pt>
                <c:pt idx="454">
                  <c:v>-323.7</c:v>
                </c:pt>
                <c:pt idx="455">
                  <c:v>-311.6</c:v>
                </c:pt>
                <c:pt idx="456">
                  <c:v>-345.2</c:v>
                </c:pt>
                <c:pt idx="457">
                  <c:v>-349.7</c:v>
                </c:pt>
                <c:pt idx="458">
                  <c:v>-336</c:v>
                </c:pt>
                <c:pt idx="459">
                  <c:v>-344.4</c:v>
                </c:pt>
                <c:pt idx="460">
                  <c:v>-330.3</c:v>
                </c:pt>
                <c:pt idx="461">
                  <c:v>-317.7</c:v>
                </c:pt>
                <c:pt idx="462">
                  <c:v>-306.5</c:v>
                </c:pt>
                <c:pt idx="463">
                  <c:v>-296.7</c:v>
                </c:pt>
                <c:pt idx="464">
                  <c:v>-298</c:v>
                </c:pt>
                <c:pt idx="465">
                  <c:v>-308.8</c:v>
                </c:pt>
                <c:pt idx="466">
                  <c:v>-304.8</c:v>
                </c:pt>
                <c:pt idx="467">
                  <c:v>-301.6</c:v>
                </c:pt>
                <c:pt idx="468">
                  <c:v>-301.1</c:v>
                </c:pt>
                <c:pt idx="469">
                  <c:v>-291.2</c:v>
                </c:pt>
                <c:pt idx="470">
                  <c:v>-295.4</c:v>
                </c:pt>
                <c:pt idx="471">
                  <c:v>-287.8</c:v>
                </c:pt>
                <c:pt idx="472">
                  <c:v>-285.5</c:v>
                </c:pt>
                <c:pt idx="473">
                  <c:v>-284</c:v>
                </c:pt>
                <c:pt idx="474">
                  <c:v>-284.9</c:v>
                </c:pt>
                <c:pt idx="475">
                  <c:v>-277.4</c:v>
                </c:pt>
                <c:pt idx="476">
                  <c:v>-270.6</c:v>
                </c:pt>
                <c:pt idx="477">
                  <c:v>-264.8</c:v>
                </c:pt>
                <c:pt idx="478">
                  <c:v>-263.2</c:v>
                </c:pt>
                <c:pt idx="479">
                  <c:v>-259.2</c:v>
                </c:pt>
                <c:pt idx="480">
                  <c:v>-274.3</c:v>
                </c:pt>
                <c:pt idx="481">
                  <c:v>-268.1</c:v>
                </c:pt>
                <c:pt idx="482">
                  <c:v>-282.6</c:v>
                </c:pt>
                <c:pt idx="483">
                  <c:v>-277.4</c:v>
                </c:pt>
                <c:pt idx="484">
                  <c:v>-270.3</c:v>
                </c:pt>
                <c:pt idx="485">
                  <c:v>-263.9</c:v>
                </c:pt>
                <c:pt idx="486">
                  <c:v>-258.5</c:v>
                </c:pt>
                <c:pt idx="487">
                  <c:v>-255.1</c:v>
                </c:pt>
                <c:pt idx="488">
                  <c:v>-250.8</c:v>
                </c:pt>
                <c:pt idx="489">
                  <c:v>-252</c:v>
                </c:pt>
                <c:pt idx="490">
                  <c:v>-263.9</c:v>
                </c:pt>
                <c:pt idx="491">
                  <c:v>-260.4</c:v>
                </c:pt>
                <c:pt idx="492">
                  <c:v>-255.2</c:v>
                </c:pt>
                <c:pt idx="493">
                  <c:v>-574.9</c:v>
                </c:pt>
                <c:pt idx="494">
                  <c:v>-554.2</c:v>
                </c:pt>
                <c:pt idx="495">
                  <c:v>-541.7</c:v>
                </c:pt>
                <c:pt idx="496">
                  <c:v>-512.5</c:v>
                </c:pt>
                <c:pt idx="497">
                  <c:v>-495.6</c:v>
                </c:pt>
                <c:pt idx="498">
                  <c:v>-471</c:v>
                </c:pt>
                <c:pt idx="499">
                  <c:v>-454.9</c:v>
                </c:pt>
                <c:pt idx="500">
                  <c:v>-433.9</c:v>
                </c:pt>
                <c:pt idx="501">
                  <c:v>-417.2</c:v>
                </c:pt>
                <c:pt idx="502">
                  <c:v>-399.6</c:v>
                </c:pt>
                <c:pt idx="503">
                  <c:v>-384</c:v>
                </c:pt>
                <c:pt idx="504">
                  <c:v>-384.7</c:v>
                </c:pt>
                <c:pt idx="505">
                  <c:v>-372</c:v>
                </c:pt>
                <c:pt idx="506">
                  <c:v>-357.8</c:v>
                </c:pt>
                <c:pt idx="507">
                  <c:v>-494.8</c:v>
                </c:pt>
                <c:pt idx="508">
                  <c:v>-470.5</c:v>
                </c:pt>
                <c:pt idx="509">
                  <c:v>-446.8</c:v>
                </c:pt>
                <c:pt idx="510">
                  <c:v>-484.6</c:v>
                </c:pt>
                <c:pt idx="511">
                  <c:v>-459.8</c:v>
                </c:pt>
                <c:pt idx="512">
                  <c:v>-491.3</c:v>
                </c:pt>
                <c:pt idx="513">
                  <c:v>-466</c:v>
                </c:pt>
                <c:pt idx="514">
                  <c:v>-455.7</c:v>
                </c:pt>
                <c:pt idx="515">
                  <c:v>-432.8</c:v>
                </c:pt>
                <c:pt idx="516">
                  <c:v>-418</c:v>
                </c:pt>
                <c:pt idx="517">
                  <c:v>-515.2</c:v>
                </c:pt>
                <c:pt idx="518">
                  <c:v>-488.5</c:v>
                </c:pt>
                <c:pt idx="519">
                  <c:v>-468.4</c:v>
                </c:pt>
                <c:pt idx="520">
                  <c:v>-488.9</c:v>
                </c:pt>
                <c:pt idx="521">
                  <c:v>-463.3</c:v>
                </c:pt>
                <c:pt idx="522">
                  <c:v>-477.7</c:v>
                </c:pt>
                <c:pt idx="523">
                  <c:v>-454.8</c:v>
                </c:pt>
                <c:pt idx="524">
                  <c:v>-448.4</c:v>
                </c:pt>
                <c:pt idx="525">
                  <c:v>-428.7</c:v>
                </c:pt>
                <c:pt idx="526">
                  <c:v>-409.4</c:v>
                </c:pt>
                <c:pt idx="527">
                  <c:v>-393.1</c:v>
                </c:pt>
                <c:pt idx="528">
                  <c:v>-378.7</c:v>
                </c:pt>
                <c:pt idx="529">
                  <c:v>-363.2</c:v>
                </c:pt>
                <c:pt idx="530">
                  <c:v>-351.2</c:v>
                </c:pt>
                <c:pt idx="531">
                  <c:v>-338.8</c:v>
                </c:pt>
                <c:pt idx="532">
                  <c:v>-328.1</c:v>
                </c:pt>
                <c:pt idx="533">
                  <c:v>-333.7</c:v>
                </c:pt>
                <c:pt idx="534">
                  <c:v>-324</c:v>
                </c:pt>
                <c:pt idx="535">
                  <c:v>-315.8</c:v>
                </c:pt>
                <c:pt idx="536">
                  <c:v>-307</c:v>
                </c:pt>
                <c:pt idx="537">
                  <c:v>-305.3</c:v>
                </c:pt>
                <c:pt idx="538">
                  <c:v>-297.6</c:v>
                </c:pt>
                <c:pt idx="539">
                  <c:v>-290.8</c:v>
                </c:pt>
                <c:pt idx="540">
                  <c:v>-348</c:v>
                </c:pt>
                <c:pt idx="541">
                  <c:v>-341.4</c:v>
                </c:pt>
                <c:pt idx="542">
                  <c:v>-331.6</c:v>
                </c:pt>
                <c:pt idx="543">
                  <c:v>-322.8</c:v>
                </c:pt>
                <c:pt idx="544">
                  <c:v>-316.7</c:v>
                </c:pt>
                <c:pt idx="545">
                  <c:v>-308</c:v>
                </c:pt>
                <c:pt idx="546">
                  <c:v>-300.7</c:v>
                </c:pt>
                <c:pt idx="547">
                  <c:v>-309.4</c:v>
                </c:pt>
                <c:pt idx="548">
                  <c:v>-301.3</c:v>
                </c:pt>
                <c:pt idx="549">
                  <c:v>-308.3</c:v>
                </c:pt>
                <c:pt idx="550">
                  <c:v>-301.2</c:v>
                </c:pt>
                <c:pt idx="551">
                  <c:v>-301.7</c:v>
                </c:pt>
                <c:pt idx="552">
                  <c:v>-297.9</c:v>
                </c:pt>
                <c:pt idx="553">
                  <c:v>-299.6</c:v>
                </c:pt>
                <c:pt idx="554">
                  <c:v>-294.5</c:v>
                </c:pt>
                <c:pt idx="555">
                  <c:v>-289.4</c:v>
                </c:pt>
                <c:pt idx="556">
                  <c:v>-287.3</c:v>
                </c:pt>
                <c:pt idx="557">
                  <c:v>-300.4</c:v>
                </c:pt>
                <c:pt idx="558">
                  <c:v>-318.9</c:v>
                </c:pt>
                <c:pt idx="559">
                  <c:v>-309.9</c:v>
                </c:pt>
                <c:pt idx="560">
                  <c:v>-303.6</c:v>
                </c:pt>
                <c:pt idx="561">
                  <c:v>-437.2</c:v>
                </c:pt>
                <c:pt idx="562">
                  <c:v>-422.1</c:v>
                </c:pt>
                <c:pt idx="563">
                  <c:v>-412.5</c:v>
                </c:pt>
                <c:pt idx="564">
                  <c:v>-395.9</c:v>
                </c:pt>
                <c:pt idx="565">
                  <c:v>-379.1</c:v>
                </c:pt>
                <c:pt idx="566">
                  <c:v>-409.4</c:v>
                </c:pt>
                <c:pt idx="567">
                  <c:v>-391.9</c:v>
                </c:pt>
                <c:pt idx="568">
                  <c:v>-375.4</c:v>
                </c:pt>
                <c:pt idx="569">
                  <c:v>-363.7</c:v>
                </c:pt>
                <c:pt idx="570">
                  <c:v>-351.7</c:v>
                </c:pt>
                <c:pt idx="571">
                  <c:v>-348</c:v>
                </c:pt>
                <c:pt idx="572">
                  <c:v>-369.4</c:v>
                </c:pt>
                <c:pt idx="573">
                  <c:v>-454.2</c:v>
                </c:pt>
                <c:pt idx="574">
                  <c:v>-437.9</c:v>
                </c:pt>
                <c:pt idx="575">
                  <c:v>-419.8</c:v>
                </c:pt>
                <c:pt idx="576">
                  <c:v>-406.2</c:v>
                </c:pt>
                <c:pt idx="577">
                  <c:v>-388.7</c:v>
                </c:pt>
                <c:pt idx="578">
                  <c:v>-471.9</c:v>
                </c:pt>
                <c:pt idx="579">
                  <c:v>-454.9</c:v>
                </c:pt>
                <c:pt idx="580">
                  <c:v>-432.5</c:v>
                </c:pt>
                <c:pt idx="581">
                  <c:v>-414.8</c:v>
                </c:pt>
                <c:pt idx="582">
                  <c:v>-396.2</c:v>
                </c:pt>
                <c:pt idx="583">
                  <c:v>-381.8</c:v>
                </c:pt>
                <c:pt idx="584">
                  <c:v>-426</c:v>
                </c:pt>
                <c:pt idx="585">
                  <c:v>-406.7</c:v>
                </c:pt>
                <c:pt idx="586">
                  <c:v>-398.6</c:v>
                </c:pt>
                <c:pt idx="587">
                  <c:v>-403.5</c:v>
                </c:pt>
                <c:pt idx="588">
                  <c:v>-399.2</c:v>
                </c:pt>
                <c:pt idx="589">
                  <c:v>-382.5</c:v>
                </c:pt>
                <c:pt idx="590">
                  <c:v>-377.9</c:v>
                </c:pt>
                <c:pt idx="591">
                  <c:v>-366.6</c:v>
                </c:pt>
                <c:pt idx="592">
                  <c:v>-354.5</c:v>
                </c:pt>
                <c:pt idx="593">
                  <c:v>-402.9</c:v>
                </c:pt>
                <c:pt idx="594">
                  <c:v>-387.3</c:v>
                </c:pt>
                <c:pt idx="595">
                  <c:v>-370.2</c:v>
                </c:pt>
                <c:pt idx="596">
                  <c:v>-356.7</c:v>
                </c:pt>
                <c:pt idx="597">
                  <c:v>-418.6</c:v>
                </c:pt>
                <c:pt idx="598">
                  <c:v>-415.7</c:v>
                </c:pt>
                <c:pt idx="599">
                  <c:v>-403.3</c:v>
                </c:pt>
                <c:pt idx="600">
                  <c:v>-386.5</c:v>
                </c:pt>
                <c:pt idx="601">
                  <c:v>-412.4</c:v>
                </c:pt>
                <c:pt idx="602">
                  <c:v>-412.2</c:v>
                </c:pt>
                <c:pt idx="603">
                  <c:v>-455.9</c:v>
                </c:pt>
                <c:pt idx="604">
                  <c:v>-437.6</c:v>
                </c:pt>
                <c:pt idx="605">
                  <c:v>-422.1</c:v>
                </c:pt>
                <c:pt idx="606">
                  <c:v>-403.2</c:v>
                </c:pt>
                <c:pt idx="607">
                  <c:v>-509.7</c:v>
                </c:pt>
                <c:pt idx="608">
                  <c:v>-574.9</c:v>
                </c:pt>
                <c:pt idx="609">
                  <c:v>-542.3</c:v>
                </c:pt>
                <c:pt idx="610">
                  <c:v>-548.7</c:v>
                </c:pt>
                <c:pt idx="611">
                  <c:v>-519.2</c:v>
                </c:pt>
                <c:pt idx="612">
                  <c:v>-495</c:v>
                </c:pt>
                <c:pt idx="613">
                  <c:v>-470</c:v>
                </c:pt>
                <c:pt idx="614">
                  <c:v>-449.3</c:v>
                </c:pt>
                <c:pt idx="615">
                  <c:v>-436.7</c:v>
                </c:pt>
                <c:pt idx="616">
                  <c:v>-420.3</c:v>
                </c:pt>
                <c:pt idx="617">
                  <c:v>-401.1</c:v>
                </c:pt>
                <c:pt idx="618">
                  <c:v>-388.6</c:v>
                </c:pt>
                <c:pt idx="619">
                  <c:v>-387</c:v>
                </c:pt>
                <c:pt idx="620">
                  <c:v>-381.4</c:v>
                </c:pt>
                <c:pt idx="621">
                  <c:v>-366.6</c:v>
                </c:pt>
                <c:pt idx="622">
                  <c:v>-358.1</c:v>
                </c:pt>
                <c:pt idx="623">
                  <c:v>-351.3</c:v>
                </c:pt>
                <c:pt idx="624">
                  <c:v>-338.6</c:v>
                </c:pt>
                <c:pt idx="625">
                  <c:v>-337.3</c:v>
                </c:pt>
                <c:pt idx="626">
                  <c:v>-363.7</c:v>
                </c:pt>
                <c:pt idx="627">
                  <c:v>-356.6</c:v>
                </c:pt>
                <c:pt idx="628">
                  <c:v>-344.6</c:v>
                </c:pt>
                <c:pt idx="629">
                  <c:v>-332.9</c:v>
                </c:pt>
                <c:pt idx="630">
                  <c:v>-322</c:v>
                </c:pt>
                <c:pt idx="631">
                  <c:v>-314.7</c:v>
                </c:pt>
                <c:pt idx="632">
                  <c:v>-307.6</c:v>
                </c:pt>
                <c:pt idx="633">
                  <c:v>-299.5</c:v>
                </c:pt>
                <c:pt idx="634">
                  <c:v>-292.3</c:v>
                </c:pt>
                <c:pt idx="635">
                  <c:v>-294.9</c:v>
                </c:pt>
                <c:pt idx="636">
                  <c:v>-288.5</c:v>
                </c:pt>
                <c:pt idx="637">
                  <c:v>-285.3</c:v>
                </c:pt>
                <c:pt idx="638">
                  <c:v>-280.3</c:v>
                </c:pt>
                <c:pt idx="639">
                  <c:v>-275.5</c:v>
                </c:pt>
                <c:pt idx="640">
                  <c:v>-282.6</c:v>
                </c:pt>
                <c:pt idx="641">
                  <c:v>-278.2</c:v>
                </c:pt>
                <c:pt idx="642">
                  <c:v>-295.4</c:v>
                </c:pt>
                <c:pt idx="643">
                  <c:v>-292.9</c:v>
                </c:pt>
                <c:pt idx="644">
                  <c:v>-320.6</c:v>
                </c:pt>
                <c:pt idx="645">
                  <c:v>-312.8</c:v>
                </c:pt>
                <c:pt idx="646">
                  <c:v>-304.1</c:v>
                </c:pt>
                <c:pt idx="647">
                  <c:v>-296.6</c:v>
                </c:pt>
                <c:pt idx="648">
                  <c:v>-295</c:v>
                </c:pt>
                <c:pt idx="649">
                  <c:v>-289.7</c:v>
                </c:pt>
                <c:pt idx="650">
                  <c:v>-284.8</c:v>
                </c:pt>
                <c:pt idx="651">
                  <c:v>-282.1</c:v>
                </c:pt>
                <c:pt idx="652">
                  <c:v>-289.1</c:v>
                </c:pt>
                <c:pt idx="653">
                  <c:v>-293.8</c:v>
                </c:pt>
                <c:pt idx="654">
                  <c:v>-300.4</c:v>
                </c:pt>
                <c:pt idx="655">
                  <c:v>-305.1</c:v>
                </c:pt>
                <c:pt idx="656">
                  <c:v>-486.4</c:v>
                </c:pt>
                <c:pt idx="657">
                  <c:v>-461.4</c:v>
                </c:pt>
                <c:pt idx="658">
                  <c:v>-457.9</c:v>
                </c:pt>
                <c:pt idx="659">
                  <c:v>-499.9</c:v>
                </c:pt>
                <c:pt idx="660">
                  <c:v>-474.4</c:v>
                </c:pt>
                <c:pt idx="661">
                  <c:v>-450.6</c:v>
                </c:pt>
                <c:pt idx="662">
                  <c:v>-436.2</c:v>
                </c:pt>
                <c:pt idx="663">
                  <c:v>-415.5</c:v>
                </c:pt>
                <c:pt idx="664">
                  <c:v>-503.9</c:v>
                </c:pt>
                <c:pt idx="665">
                  <c:v>-478.2</c:v>
                </c:pt>
                <c:pt idx="666">
                  <c:v>-479.2</c:v>
                </c:pt>
                <c:pt idx="667">
                  <c:v>-467.7</c:v>
                </c:pt>
                <c:pt idx="668">
                  <c:v>-461.8</c:v>
                </c:pt>
                <c:pt idx="669">
                  <c:v>-478</c:v>
                </c:pt>
                <c:pt idx="670">
                  <c:v>-456.5</c:v>
                </c:pt>
                <c:pt idx="671">
                  <c:v>-441</c:v>
                </c:pt>
                <c:pt idx="672">
                  <c:v>-421.6</c:v>
                </c:pt>
                <c:pt idx="673">
                  <c:v>-416.9</c:v>
                </c:pt>
                <c:pt idx="674">
                  <c:v>-411.2</c:v>
                </c:pt>
                <c:pt idx="675">
                  <c:v>-397.8</c:v>
                </c:pt>
                <c:pt idx="676">
                  <c:v>-382.3</c:v>
                </c:pt>
                <c:pt idx="677">
                  <c:v>-381.3</c:v>
                </c:pt>
                <c:pt idx="678">
                  <c:v>-369.1</c:v>
                </c:pt>
                <c:pt idx="679">
                  <c:v>-328.6</c:v>
                </c:pt>
                <c:pt idx="680">
                  <c:v>-318.1</c:v>
                </c:pt>
                <c:pt idx="681">
                  <c:v>-308.7</c:v>
                </c:pt>
                <c:pt idx="682">
                  <c:v>-308.5</c:v>
                </c:pt>
                <c:pt idx="683">
                  <c:v>-317.7</c:v>
                </c:pt>
                <c:pt idx="684">
                  <c:v>-343.4</c:v>
                </c:pt>
                <c:pt idx="685">
                  <c:v>-329.9</c:v>
                </c:pt>
                <c:pt idx="686">
                  <c:v>-320.2</c:v>
                </c:pt>
                <c:pt idx="687">
                  <c:v>-316</c:v>
                </c:pt>
                <c:pt idx="688">
                  <c:v>-532.2</c:v>
                </c:pt>
                <c:pt idx="689">
                  <c:v>-502</c:v>
                </c:pt>
                <c:pt idx="690">
                  <c:v>-475.6</c:v>
                </c:pt>
                <c:pt idx="691">
                  <c:v>-450.8</c:v>
                </c:pt>
                <c:pt idx="692">
                  <c:v>-458.8</c:v>
                </c:pt>
                <c:pt idx="693">
                  <c:v>-442.3</c:v>
                </c:pt>
                <c:pt idx="694">
                  <c:v>-431.5</c:v>
                </c:pt>
                <c:pt idx="695">
                  <c:v>-428.6</c:v>
                </c:pt>
                <c:pt idx="696">
                  <c:v>-407.6</c:v>
                </c:pt>
                <c:pt idx="697">
                  <c:v>-392.4</c:v>
                </c:pt>
                <c:pt idx="698">
                  <c:v>-374</c:v>
                </c:pt>
                <c:pt idx="699">
                  <c:v>-358.6</c:v>
                </c:pt>
                <c:pt idx="700">
                  <c:v>-344.4</c:v>
                </c:pt>
                <c:pt idx="701">
                  <c:v>-343.8</c:v>
                </c:pt>
                <c:pt idx="702">
                  <c:v>-338.3</c:v>
                </c:pt>
                <c:pt idx="703">
                  <c:v>-326.7</c:v>
                </c:pt>
                <c:pt idx="704">
                  <c:v>-314.7</c:v>
                </c:pt>
                <c:pt idx="705">
                  <c:v>-329.6</c:v>
                </c:pt>
                <c:pt idx="706">
                  <c:v>-321.7</c:v>
                </c:pt>
                <c:pt idx="707">
                  <c:v>-311.5</c:v>
                </c:pt>
                <c:pt idx="708">
                  <c:v>-326.6</c:v>
                </c:pt>
                <c:pt idx="709">
                  <c:v>-316.2</c:v>
                </c:pt>
                <c:pt idx="710">
                  <c:v>-305.3</c:v>
                </c:pt>
                <c:pt idx="711">
                  <c:v>-295.7</c:v>
                </c:pt>
                <c:pt idx="712">
                  <c:v>-288.4</c:v>
                </c:pt>
                <c:pt idx="713">
                  <c:v>-283.4</c:v>
                </c:pt>
                <c:pt idx="714">
                  <c:v>-276.6</c:v>
                </c:pt>
                <c:pt idx="715">
                  <c:v>-270.1</c:v>
                </c:pt>
                <c:pt idx="716">
                  <c:v>-265.3</c:v>
                </c:pt>
                <c:pt idx="717">
                  <c:v>-262.2</c:v>
                </c:pt>
                <c:pt idx="718">
                  <c:v>-272.3</c:v>
                </c:pt>
                <c:pt idx="719">
                  <c:v>-323.4</c:v>
                </c:pt>
                <c:pt idx="720">
                  <c:v>-312.4</c:v>
                </c:pt>
                <c:pt idx="721">
                  <c:v>-302</c:v>
                </c:pt>
                <c:pt idx="722">
                  <c:v>-293.8</c:v>
                </c:pt>
                <c:pt idx="723">
                  <c:v>-287</c:v>
                </c:pt>
                <c:pt idx="724">
                  <c:v>-279.4</c:v>
                </c:pt>
                <c:pt idx="725">
                  <c:v>-276.4</c:v>
                </c:pt>
                <c:pt idx="726">
                  <c:v>-280.8</c:v>
                </c:pt>
                <c:pt idx="727">
                  <c:v>-280.9</c:v>
                </c:pt>
                <c:pt idx="728">
                  <c:v>-274.1</c:v>
                </c:pt>
                <c:pt idx="729">
                  <c:v>-289</c:v>
                </c:pt>
                <c:pt idx="730">
                  <c:v>-293.3</c:v>
                </c:pt>
                <c:pt idx="731">
                  <c:v>-295.4</c:v>
                </c:pt>
                <c:pt idx="732">
                  <c:v>-288.9</c:v>
                </c:pt>
                <c:pt idx="733">
                  <c:v>-281.1</c:v>
                </c:pt>
                <c:pt idx="734">
                  <c:v>-321.5</c:v>
                </c:pt>
                <c:pt idx="735">
                  <c:v>-312.9</c:v>
                </c:pt>
                <c:pt idx="736">
                  <c:v>-302.5</c:v>
                </c:pt>
                <c:pt idx="737">
                  <c:v>-293.5</c:v>
                </c:pt>
                <c:pt idx="738">
                  <c:v>-292.2</c:v>
                </c:pt>
                <c:pt idx="739">
                  <c:v>-288.5</c:v>
                </c:pt>
                <c:pt idx="740">
                  <c:v>-281.2</c:v>
                </c:pt>
                <c:pt idx="741">
                  <c:v>-275</c:v>
                </c:pt>
                <c:pt idx="742">
                  <c:v>-277.6</c:v>
                </c:pt>
                <c:pt idx="743">
                  <c:v>-275.4</c:v>
                </c:pt>
                <c:pt idx="744">
                  <c:v>-270</c:v>
                </c:pt>
                <c:pt idx="745">
                  <c:v>-264.8</c:v>
                </c:pt>
                <c:pt idx="746">
                  <c:v>-271.4</c:v>
                </c:pt>
                <c:pt idx="747">
                  <c:v>-265.5</c:v>
                </c:pt>
                <c:pt idx="748">
                  <c:v>-297.1</c:v>
                </c:pt>
                <c:pt idx="749">
                  <c:v>-289.5</c:v>
                </c:pt>
              </c:numCache>
            </c:numRef>
          </c:val>
          <c:smooth val="0"/>
        </c:ser>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7D0C1"/>
            </a:solidFill>
            <a:prstDash val="solid"/>
          </a:ln>
        </c:spPr>
        <c:txPr>
          <a:bodyPr xmlns:a="http://schemas.openxmlformats.org/drawingml/2006/main" anchorCtr="1"/>
          <a:lstStyle xmlns:a="http://schemas.openxmlformats.org/drawingml/2006/main"/>
          <a:p xmlns:a="http://schemas.openxmlformats.org/drawingml/2006/main">
            <a:pPr>
              <a:defRPr sz="675">
                <a:solidFill>
                  <a:srgbClr val="5E6865"/>
                </a:solidFill>
              </a:defRPr>
            </a:pPr>
          </a:p>
        </c:txPr>
        <c:crossAx val="48672768"/>
      </c:catAx>
      <c:valAx>
        <c:axId val="48672768"/>
        <c:scaling>
          <c:orientation val="minMax"/>
          <c:max val="500"/>
          <c:min val="-650"/>
        </c:scaling>
        <c:delete val="0"/>
        <c:axPos val="l"/>
        <c:majorGridlines>
          <c:spPr>
            <a:ln xmlns:a="http://schemas.openxmlformats.org/drawingml/2006/main" w="9525">
              <a:solidFill>
                <a:srgbClr val="E7E1D6"/>
              </a:solidFill>
              <a:prstDash val="solid"/>
            </a:ln>
          </c:spPr>
        </c:majorGridlines>
        <c:numFmt formatCode="$0"/>
        <c:majorTickMark val="none"/>
        <c:minorTickMark val="none"/>
        <c:spPr>
          <a:ln xmlns:a="http://schemas.openxmlformats.org/drawingml/2006/main" w="9525">
            <a:solidFill>
              <a:srgbClr val="D7D0C1"/>
            </a:solidFill>
            <a:prstDash val="solid"/>
          </a:ln>
        </c:spPr>
        <c:txPr>
          <a:bodyPr xmlns:a="http://schemas.openxmlformats.org/drawingml/2006/main" anchorCtr="1"/>
          <a:lstStyle xmlns:a="http://schemas.openxmlformats.org/drawingml/2006/main"/>
          <a:p xmlns:a="http://schemas.openxmlformats.org/drawingml/2006/main">
            <a:pPr>
              <a:defRPr sz="825">
                <a:solidFill>
                  <a:srgbClr val="5E6865"/>
                </a:solidFill>
              </a:defRPr>
            </a:pPr>
          </a:p>
        </c:txPr>
        <c:crossAx val="48650112"/>
        <c:crossBetween val="between"/>
      </c:valAx>
      <c:spPr>
        <a:noFill xmlns:a="http://schemas.openxmlformats.org/drawingml/2006/main"/>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900">
              <a:solidFill>
                <a:srgbClr val="5E6865"/>
              </a:solidFil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Actual exceptions</c:v>
          </c:tx>
          <c:spPr>
            <a:solidFill xmlns:a="http://schemas.openxmlformats.org/drawingml/2006/main">
              <a:srgbClr val="B84A3A"/>
            </a:solidFill>
          </c:spPr>
          <c:invertIfNegative val="0"/>
          <c:cat>
            <c:strRef>
              <c:f>'Chart Data'!$A$2:$A$5</c:f>
              <c:strCache>
                <c:ptCount val="4"/>
                <c:pt idx="0">
                  <c:v>HS</c:v>
                </c:pt>
                <c:pt idx="1">
                  <c:v>EWMA-HS</c:v>
                </c:pt>
                <c:pt idx="2">
                  <c:v>GARCH-HS</c:v>
                </c:pt>
                <c:pt idx="3">
                  <c:v>GJR-HS</c:v>
                </c:pt>
              </c:strCache>
            </c:strRef>
          </c:cat>
          <c:val>
            <c:numRef>
              <c:f>'Chart Data'!$B$2:$B$5</c:f>
              <c:numCache>
                <c:formatCode>0</c:formatCode>
                <c:ptCount val="4"/>
                <c:pt idx="0">
                  <c:v>36</c:v>
                </c:pt>
                <c:pt idx="1">
                  <c:v>32</c:v>
                </c:pt>
                <c:pt idx="2">
                  <c:v>33</c:v>
                </c:pt>
                <c:pt idx="3">
                  <c:v>34</c:v>
                </c:pt>
              </c:numCache>
            </c:numRef>
          </c:val>
        </c:ser>
        <c:ser>
          <c:idx val="1"/>
          <c:order val="1"/>
          <c:tx>
            <c:v>Expected</c:v>
          </c:tx>
          <c:spPr>
            <a:solidFill xmlns:a="http://schemas.openxmlformats.org/drawingml/2006/main">
              <a:srgbClr val="C9973A"/>
            </a:solidFill>
          </c:spPr>
          <c:invertIfNegative val="0"/>
          <c:cat>
            <c:strRef>
              <c:f>'Chart Data'!$C$2:$C$5</c:f>
              <c:strCache>
                <c:ptCount val="4"/>
                <c:pt idx="0">
                  <c:v>HS</c:v>
                </c:pt>
                <c:pt idx="1">
                  <c:v>EWMA-HS</c:v>
                </c:pt>
                <c:pt idx="2">
                  <c:v>GARCH-HS</c:v>
                </c:pt>
                <c:pt idx="3">
                  <c:v>GJR-HS</c:v>
                </c:pt>
              </c:strCache>
            </c:strRef>
          </c:cat>
          <c:val>
            <c:numRef>
              <c:f>'Chart Data'!$D$2:$D$5</c:f>
              <c:numCache>
                <c:formatCode>0</c:formatCode>
                <c:ptCount val="4"/>
                <c:pt idx="0">
                  <c:v>31.14</c:v>
                </c:pt>
                <c:pt idx="1">
                  <c:v>31.14</c:v>
                </c:pt>
                <c:pt idx="2">
                  <c:v>31.14</c:v>
                </c:pt>
                <c:pt idx="3">
                  <c:v>31.14</c:v>
                </c:pt>
              </c:numCache>
            </c:numRef>
          </c:val>
        </c:ser>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7D0C1"/>
            </a:solidFill>
            <a:prstDash val="solid"/>
          </a:ln>
        </c:spPr>
        <c:txPr>
          <a:bodyPr xmlns:a="http://schemas.openxmlformats.org/drawingml/2006/main" anchorCtr="1"/>
          <a:lstStyle xmlns:a="http://schemas.openxmlformats.org/drawingml/2006/main"/>
          <a:p xmlns:a="http://schemas.openxmlformats.org/drawingml/2006/main">
            <a:pPr>
              <a:defRPr sz="825">
                <a:solidFill>
                  <a:srgbClr val="5E6865"/>
                </a:solidFill>
              </a:defRPr>
            </a:pPr>
          </a:p>
        </c:txPr>
        <c:crossAx val="48672768"/>
      </c:catAx>
      <c:valAx>
        <c:axId val="48672768"/>
        <c:scaling>
          <c:orientation val="minMax"/>
          <c:max val="42"/>
          <c:min val="0"/>
        </c:scaling>
        <c:delete val="0"/>
        <c:axPos val="l"/>
        <c:majorGridlines>
          <c:spPr>
            <a:ln xmlns:a="http://schemas.openxmlformats.org/drawingml/2006/main" w="9525">
              <a:solidFill>
                <a:srgbClr val="E7E1D6"/>
              </a:solidFill>
              <a:prstDash val="solid"/>
            </a:ln>
          </c:spPr>
        </c:majorGridlines>
        <c:numFmt formatCode="0"/>
        <c:majorTickMark val="none"/>
        <c:minorTickMark val="none"/>
        <c:spPr>
          <a:ln xmlns:a="http://schemas.openxmlformats.org/drawingml/2006/main" w="9525">
            <a:solidFill>
              <a:srgbClr val="D7D0C1"/>
            </a:solidFill>
            <a:prstDash val="solid"/>
          </a:ln>
        </c:spPr>
        <c:txPr>
          <a:bodyPr xmlns:a="http://schemas.openxmlformats.org/drawingml/2006/main" anchorCtr="1"/>
          <a:lstStyle xmlns:a="http://schemas.openxmlformats.org/drawingml/2006/main"/>
          <a:p xmlns:a="http://schemas.openxmlformats.org/drawingml/2006/main">
            <a:pPr>
              <a:defRPr sz="825">
                <a:solidFill>
                  <a:srgbClr val="5E6865"/>
                </a:solidFill>
              </a:defRPr>
            </a:pPr>
          </a:p>
        </c:txPr>
        <c:crossAx val="48650112"/>
        <c:crossBetween val="between"/>
      </c:valAx>
      <c:spPr>
        <a:noFill xmlns:a="http://schemas.openxmlformats.org/drawingml/2006/main"/>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900">
              <a:solidFill>
                <a:srgbClr val="5E6865"/>
              </a:solidFil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Portfolio loss</c:v>
          </c:tx>
          <c:spPr>
            <a:solidFill xmlns:a="http://schemas.openxmlformats.org/drawingml/2006/main">
              <a:srgbClr val="B84A3A"/>
            </a:solidFill>
          </c:spPr>
          <c:invertIfNegative val="0"/>
          <c:cat>
            <c:strRef>
              <c:f>'Chart Data'!$A$2:$A$9</c:f>
              <c:strCache>
                <c:ptCount val="8"/>
                <c:pt idx="0">
                  <c:v>2008 financial crisis</c:v>
                </c:pt>
                <c:pt idx="1">
                  <c:v>COVID crash 2020</c:v>
                </c:pt>
                <c:pt idx="2">
                  <c:v>Inflation shock 2022</c:v>
                </c:pt>
                <c:pt idx="3">
                  <c:v>Tech selloff 2021-22</c:v>
                </c:pt>
                <c:pt idx="4">
                  <c:v>Market -20%</c:v>
                </c:pt>
                <c:pt idx="5">
                  <c:v>Tariff shock April 2025</c:v>
                </c:pt>
                <c:pt idx="6">
                  <c:v>Market -10%</c:v>
                </c:pt>
                <c:pt idx="7">
                  <c:v>Volatility x2</c:v>
                </c:pt>
              </c:strCache>
            </c:strRef>
          </c:cat>
          <c:val>
            <c:numRef>
              <c:f>'Chart Data'!$B$2:$B$9</c:f>
              <c:numCache>
                <c:formatCode>0.0\%</c:formatCode>
                <c:ptCount val="8"/>
                <c:pt idx="0">
                  <c:v>44.0907</c:v>
                </c:pt>
                <c:pt idx="1">
                  <c:v>34.5996</c:v>
                </c:pt>
                <c:pt idx="2">
                  <c:v>25.2122</c:v>
                </c:pt>
                <c:pt idx="3">
                  <c:v>23.2912</c:v>
                </c:pt>
                <c:pt idx="4">
                  <c:v>22.357</c:v>
                </c:pt>
                <c:pt idx="5">
                  <c:v>11.7365</c:v>
                </c:pt>
                <c:pt idx="6">
                  <c:v>11.1785</c:v>
                </c:pt>
                <c:pt idx="7">
                  <c:v>5.8481</c:v>
                </c:pt>
              </c:numCache>
            </c:numRef>
          </c:val>
        </c:ser>
        <c:gapWidth val="5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7D0C1"/>
            </a:solidFill>
            <a:prstDash val="solid"/>
          </a:ln>
        </c:spPr>
        <c:txPr>
          <a:bodyPr xmlns:a="http://schemas.openxmlformats.org/drawingml/2006/main" anchorCtr="1"/>
          <a:lstStyle xmlns:a="http://schemas.openxmlformats.org/drawingml/2006/main"/>
          <a:p xmlns:a="http://schemas.openxmlformats.org/drawingml/2006/main">
            <a:pPr>
              <a:defRPr sz="825">
                <a:solidFill>
                  <a:srgbClr val="5E6865"/>
                </a:solidFill>
              </a:defRPr>
            </a:pPr>
          </a:p>
        </c:txPr>
        <c:crossAx val="48672768"/>
      </c:catAx>
      <c:valAx>
        <c:axId val="48672768"/>
        <c:scaling>
          <c:orientation val="minMax"/>
          <c:max val="50"/>
          <c:min val="0"/>
        </c:scaling>
        <c:delete val="0"/>
        <c:axPos val="b"/>
        <c:majorGridlines>
          <c:spPr>
            <a:ln xmlns:a="http://schemas.openxmlformats.org/drawingml/2006/main" w="9525">
              <a:solidFill>
                <a:srgbClr val="E7E1D6"/>
              </a:solidFill>
              <a:prstDash val="solid"/>
            </a:ln>
          </c:spPr>
        </c:majorGridlines>
        <c:numFmt formatCode="0.0\%"/>
        <c:majorTickMark val="none"/>
        <c:minorTickMark val="none"/>
        <c:spPr>
          <a:ln xmlns:a="http://schemas.openxmlformats.org/drawingml/2006/main" w="9525">
            <a:solidFill>
              <a:srgbClr val="D7D0C1"/>
            </a:solidFill>
            <a:prstDash val="solid"/>
          </a:ln>
        </c:spPr>
        <c:txPr>
          <a:bodyPr xmlns:a="http://schemas.openxmlformats.org/drawingml/2006/main" anchorCtr="1"/>
          <a:lstStyle xmlns:a="http://schemas.openxmlformats.org/drawingml/2006/main"/>
          <a:p xmlns:a="http://schemas.openxmlformats.org/drawingml/2006/main">
            <a:pPr>
              <a:defRPr sz="825">
                <a:solidFill>
                  <a:srgbClr val="5E6865"/>
                </a:solidFill>
              </a:defRPr>
            </a:pPr>
          </a:p>
        </c:txPr>
        <c:crossAx val="48650112"/>
        <c:crossBetween val="between"/>
      </c:valAx>
      <c:spPr>
        <a:noFill xmlns:a="http://schemas.openxmlformats.org/drawingml/2006/main"/>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Portfolio weight</c:v>
          </c:tx>
          <c:spPr>
            <a:solidFill xmlns:a="http://schemas.openxmlformats.org/drawingml/2006/main">
              <a:srgbClr val="174C4F"/>
            </a:solidFill>
          </c:spPr>
          <c:invertIfNegative val="0"/>
          <c:cat>
            <c:strRef>
              <c:f>'Chart Data'!$A$2:$A$11</c:f>
              <c:strCache>
                <c:ptCount val="10"/>
                <c:pt idx="0">
                  <c:v>TSLA</c:v>
                </c:pt>
                <c:pt idx="1">
                  <c:v>AMZN</c:v>
                </c:pt>
                <c:pt idx="2">
                  <c:v>META</c:v>
                </c:pt>
                <c:pt idx="3">
                  <c:v>GOOGL</c:v>
                </c:pt>
                <c:pt idx="4">
                  <c:v>AAPL</c:v>
                </c:pt>
                <c:pt idx="5">
                  <c:v>NVDA</c:v>
                </c:pt>
                <c:pt idx="6">
                  <c:v>MSFT</c:v>
                </c:pt>
                <c:pt idx="7">
                  <c:v>JPM</c:v>
                </c:pt>
                <c:pt idx="8">
                  <c:v>XOM</c:v>
                </c:pt>
                <c:pt idx="9">
                  <c:v>UNH</c:v>
                </c:pt>
              </c:strCache>
            </c:strRef>
          </c:cat>
          <c:val>
            <c:numRef>
              <c:f>'Chart Data'!$B$2:$B$11</c:f>
              <c:numCache>
                <c:formatCode>0.0\%</c:formatCode>
                <c:ptCount val="10"/>
                <c:pt idx="0">
                  <c:v>9.8044</c:v>
                </c:pt>
                <c:pt idx="1">
                  <c:v>9.8404</c:v>
                </c:pt>
                <c:pt idx="2">
                  <c:v>9.5926</c:v>
                </c:pt>
                <c:pt idx="3">
                  <c:v>9.7074</c:v>
                </c:pt>
                <c:pt idx="4">
                  <c:v>10.1143</c:v>
                </c:pt>
                <c:pt idx="5">
                  <c:v>9.195</c:v>
                </c:pt>
                <c:pt idx="6">
                  <c:v>10.1157</c:v>
                </c:pt>
                <c:pt idx="7">
                  <c:v>10.1207</c:v>
                </c:pt>
                <c:pt idx="8">
                  <c:v>10.7849</c:v>
                </c:pt>
                <c:pt idx="9">
                  <c:v>10.7246</c:v>
                </c:pt>
              </c:numCache>
            </c:numRef>
          </c:val>
        </c:ser>
        <c:ser>
          <c:idx val="1"/>
          <c:order val="1"/>
          <c:tx>
            <c:v>ES contribution</c:v>
          </c:tx>
          <c:spPr>
            <a:solidFill xmlns:a="http://schemas.openxmlformats.org/drawingml/2006/main">
              <a:srgbClr val="C9973A"/>
            </a:solidFill>
          </c:spPr>
          <c:invertIfNegative val="0"/>
          <c:cat>
            <c:strRef>
              <c:f>'Chart Data'!$C$2:$C$11</c:f>
              <c:strCache>
                <c:ptCount val="10"/>
                <c:pt idx="0">
                  <c:v>TSLA</c:v>
                </c:pt>
                <c:pt idx="1">
                  <c:v>AMZN</c:v>
                </c:pt>
                <c:pt idx="2">
                  <c:v>META</c:v>
                </c:pt>
                <c:pt idx="3">
                  <c:v>GOOGL</c:v>
                </c:pt>
                <c:pt idx="4">
                  <c:v>AAPL</c:v>
                </c:pt>
                <c:pt idx="5">
                  <c:v>NVDA</c:v>
                </c:pt>
                <c:pt idx="6">
                  <c:v>MSFT</c:v>
                </c:pt>
                <c:pt idx="7">
                  <c:v>JPM</c:v>
                </c:pt>
                <c:pt idx="8">
                  <c:v>XOM</c:v>
                </c:pt>
                <c:pt idx="9">
                  <c:v>UNH</c:v>
                </c:pt>
              </c:strCache>
            </c:strRef>
          </c:cat>
          <c:val>
            <c:numRef>
              <c:f>'Chart Data'!$D$2:$D$11</c:f>
              <c:numCache>
                <c:formatCode>0.0\%</c:formatCode>
                <c:ptCount val="10"/>
                <c:pt idx="0">
                  <c:v>19.9216</c:v>
                </c:pt>
                <c:pt idx="1">
                  <c:v>17.3985</c:v>
                </c:pt>
                <c:pt idx="2">
                  <c:v>11.6202</c:v>
                </c:pt>
                <c:pt idx="3">
                  <c:v>9.9012</c:v>
                </c:pt>
                <c:pt idx="4">
                  <c:v>9.5901</c:v>
                </c:pt>
                <c:pt idx="5">
                  <c:v>8.593</c:v>
                </c:pt>
                <c:pt idx="6">
                  <c:v>7.3327</c:v>
                </c:pt>
                <c:pt idx="7">
                  <c:v>7.0678</c:v>
                </c:pt>
                <c:pt idx="8">
                  <c:v>4.816</c:v>
                </c:pt>
                <c:pt idx="9">
                  <c:v>3.7589</c:v>
                </c:pt>
              </c:numCache>
            </c:numRef>
          </c:val>
        </c:ser>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7D0C1"/>
            </a:solidFill>
            <a:prstDash val="solid"/>
          </a:ln>
        </c:spPr>
        <c:txPr>
          <a:bodyPr xmlns:a="http://schemas.openxmlformats.org/drawingml/2006/main" anchorCtr="1"/>
          <a:lstStyle xmlns:a="http://schemas.openxmlformats.org/drawingml/2006/main"/>
          <a:p xmlns:a="http://schemas.openxmlformats.org/drawingml/2006/main">
            <a:pPr>
              <a:defRPr sz="825">
                <a:solidFill>
                  <a:srgbClr val="5E6865"/>
                </a:solidFill>
              </a:defRPr>
            </a:pPr>
          </a:p>
        </c:txPr>
        <c:crossAx val="48672768"/>
      </c:catAx>
      <c:valAx>
        <c:axId val="48672768"/>
        <c:scaling>
          <c:orientation val="minMax"/>
          <c:max val="26"/>
          <c:min val="0"/>
        </c:scaling>
        <c:delete val="0"/>
        <c:axPos val="l"/>
        <c:majorGridlines>
          <c:spPr>
            <a:ln xmlns:a="http://schemas.openxmlformats.org/drawingml/2006/main" w="9525">
              <a:solidFill>
                <a:srgbClr val="E7E1D6"/>
              </a:solidFill>
              <a:prstDash val="solid"/>
            </a:ln>
          </c:spPr>
        </c:majorGridlines>
        <c:numFmt formatCode="0.0\%"/>
        <c:majorTickMark val="none"/>
        <c:minorTickMark val="none"/>
        <c:spPr>
          <a:ln xmlns:a="http://schemas.openxmlformats.org/drawingml/2006/main" w="9525">
            <a:solidFill>
              <a:srgbClr val="D7D0C1"/>
            </a:solidFill>
            <a:prstDash val="solid"/>
          </a:ln>
        </c:spPr>
        <c:txPr>
          <a:bodyPr xmlns:a="http://schemas.openxmlformats.org/drawingml/2006/main" anchorCtr="1"/>
          <a:lstStyle xmlns:a="http://schemas.openxmlformats.org/drawingml/2006/main"/>
          <a:p xmlns:a="http://schemas.openxmlformats.org/drawingml/2006/main">
            <a:pPr>
              <a:defRPr sz="825">
                <a:solidFill>
                  <a:srgbClr val="5E6865"/>
                </a:solidFill>
              </a:defRPr>
            </a:pPr>
          </a:p>
        </c:txPr>
        <c:crossAx val="48650112"/>
        <c:crossBetween val="between"/>
      </c:valAx>
      <c:spPr>
        <a:noFill xmlns:a="http://schemas.openxmlformats.org/drawingml/2006/main"/>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900">
              <a:solidFill>
                <a:srgbClr val="5E6865"/>
              </a:solidFil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VaR before ($000s)</c:v>
          </c:tx>
          <c:spPr>
            <a:solidFill xmlns:a="http://schemas.openxmlformats.org/drawingml/2006/main">
              <a:srgbClr val="B84A3A"/>
            </a:solidFill>
          </c:spPr>
          <c:invertIfNegative val="0"/>
          <c:cat>
            <c:strRef>
              <c:f>'Chart Data'!$A$2:$A$4</c:f>
              <c:strCache>
                <c:ptCount val="3"/>
                <c:pt idx="0">
                  <c:v>SPY</c:v>
                </c:pt>
                <c:pt idx="1">
                  <c:v>TSLA</c:v>
                </c:pt>
                <c:pt idx="2">
                  <c:v>AMZN</c:v>
                </c:pt>
              </c:strCache>
            </c:strRef>
          </c:cat>
          <c:val>
            <c:numRef>
              <c:f>'Chart Data'!$B$2:$B$4</c:f>
              <c:numCache>
                <c:formatCode>$0</c:formatCode>
                <c:ptCount val="3"/>
                <c:pt idx="0">
                  <c:v>307.2432</c:v>
                </c:pt>
                <c:pt idx="1">
                  <c:v>307.2432</c:v>
                </c:pt>
                <c:pt idx="2">
                  <c:v>307.2432</c:v>
                </c:pt>
              </c:numCache>
            </c:numRef>
          </c:val>
        </c:ser>
        <c:ser>
          <c:idx val="1"/>
          <c:order val="1"/>
          <c:tx>
            <c:v>VaR after ($000s)</c:v>
          </c:tx>
          <c:spPr>
            <a:solidFill xmlns:a="http://schemas.openxmlformats.org/drawingml/2006/main">
              <a:srgbClr val="174C4F"/>
            </a:solidFill>
          </c:spPr>
          <c:invertIfNegative val="0"/>
          <c:cat>
            <c:strRef>
              <c:f>'Chart Data'!$C$2:$C$4</c:f>
              <c:strCache>
                <c:ptCount val="3"/>
                <c:pt idx="0">
                  <c:v>SPY</c:v>
                </c:pt>
                <c:pt idx="1">
                  <c:v>TSLA</c:v>
                </c:pt>
                <c:pt idx="2">
                  <c:v>AMZN</c:v>
                </c:pt>
              </c:strCache>
            </c:strRef>
          </c:cat>
          <c:val>
            <c:numRef>
              <c:f>'Chart Data'!$D$2:$D$4</c:f>
              <c:numCache>
                <c:formatCode>$0</c:formatCode>
                <c:ptCount val="3"/>
                <c:pt idx="0">
                  <c:v>125.2136</c:v>
                </c:pt>
                <c:pt idx="1">
                  <c:v>168.2877</c:v>
                </c:pt>
                <c:pt idx="2">
                  <c:v>174.0213</c:v>
                </c:pt>
              </c:numCache>
            </c:numRef>
          </c:val>
        </c:ser>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7D0C1"/>
            </a:solidFill>
            <a:prstDash val="solid"/>
          </a:ln>
        </c:spPr>
        <c:txPr>
          <a:bodyPr xmlns:a="http://schemas.openxmlformats.org/drawingml/2006/main" anchorCtr="1"/>
          <a:lstStyle xmlns:a="http://schemas.openxmlformats.org/drawingml/2006/main"/>
          <a:p xmlns:a="http://schemas.openxmlformats.org/drawingml/2006/main">
            <a:pPr>
              <a:defRPr sz="825">
                <a:solidFill>
                  <a:srgbClr val="5E6865"/>
                </a:solidFill>
              </a:defRPr>
            </a:pPr>
          </a:p>
        </c:txPr>
        <c:crossAx val="48672768"/>
      </c:catAx>
      <c:valAx>
        <c:axId val="48672768"/>
        <c:scaling>
          <c:orientation val="minMax"/>
          <c:max val="350"/>
          <c:min val="0"/>
        </c:scaling>
        <c:delete val="0"/>
        <c:axPos val="l"/>
        <c:majorGridlines>
          <c:spPr>
            <a:ln xmlns:a="http://schemas.openxmlformats.org/drawingml/2006/main" w="9525">
              <a:solidFill>
                <a:srgbClr val="E7E1D6"/>
              </a:solidFill>
              <a:prstDash val="solid"/>
            </a:ln>
          </c:spPr>
        </c:majorGridlines>
        <c:numFmt formatCode="$0"/>
        <c:majorTickMark val="none"/>
        <c:minorTickMark val="none"/>
        <c:spPr>
          <a:ln xmlns:a="http://schemas.openxmlformats.org/drawingml/2006/main" w="9525">
            <a:solidFill>
              <a:srgbClr val="D7D0C1"/>
            </a:solidFill>
            <a:prstDash val="solid"/>
          </a:ln>
        </c:spPr>
        <c:txPr>
          <a:bodyPr xmlns:a="http://schemas.openxmlformats.org/drawingml/2006/main" anchorCtr="1"/>
          <a:lstStyle xmlns:a="http://schemas.openxmlformats.org/drawingml/2006/main"/>
          <a:p xmlns:a="http://schemas.openxmlformats.org/drawingml/2006/main">
            <a:pPr>
              <a:defRPr sz="825">
                <a:solidFill>
                  <a:srgbClr val="5E6865"/>
                </a:solidFill>
              </a:defRPr>
            </a:pPr>
          </a:p>
        </c:txPr>
        <c:crossAx val="48650112"/>
        <c:crossBetween val="between"/>
      </c:valAx>
      <c:spPr>
        <a:noFill xmlns:a="http://schemas.openxmlformats.org/drawingml/2006/main"/>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900">
              <a:solidFill>
                <a:srgbClr val="5E6865"/>
              </a:solidFil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4C4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9652ECB-03B1-47A1-89E1-5E0B2CE2193B}"/>
              </a:ext>
            </a:extLst>
          </p:cNvPr>
          <p:cNvSpPr>
            <a:spLocks xmlns:a="http://schemas.openxmlformats.org/drawingml/2006/main" noGrp="1"/>
          </p:cNvSpPr>
          <p:nvPr/>
        </p:nvSpPr>
        <p:spPr>
          <a:xfrm xmlns:a="http://schemas.openxmlformats.org/drawingml/2006/main">
            <a:off x="0" y="0"/>
            <a:ext cx="266700" cy="6858000"/>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B110D9E-A8BA-4A15-B397-7C4357FC3057}"/>
              </a:ext>
            </a:extLst>
          </p:cNvPr>
          <p:cNvSpPr>
            <a:spLocks xmlns:a="http://schemas.openxmlformats.org/drawingml/2006/main" noGrp="1"/>
          </p:cNvSpPr>
          <p:nvPr/>
        </p:nvSpPr>
        <p:spPr>
          <a:xfrm xmlns:a="http://schemas.openxmlformats.org/drawingml/2006/main">
            <a:off x="800100" y="1238250"/>
            <a:ext cx="8382000" cy="1571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600" b="1">
                <a:solidFill>
                  <a:srgbClr val="FFFEFB"/>
                </a:solidFill>
                <a:latin typeface="Arial"/>
                <a:ea typeface="Arial"/>
                <a:cs typeface="Arial"/>
              </a:defRPr>
            </a:defPPr>
            <a:lvl1pPr>
              <a:defRPr sz="3600" b="1">
                <a:solidFill>
                  <a:srgbClr val="FFFEFB"/>
                </a:solidFill>
                <a:latin typeface="Arial"/>
                <a:ea typeface="Arial"/>
                <a:cs typeface="Arial"/>
              </a:defRPr>
            </a:lvl1pPr>
            <a:lvl2pPr>
              <a:defRPr sz="3600" b="1">
                <a:solidFill>
                  <a:srgbClr val="FFFEFB"/>
                </a:solidFill>
                <a:latin typeface="Arial"/>
                <a:ea typeface="Arial"/>
                <a:cs typeface="Arial"/>
              </a:defRPr>
            </a:lvl2pPr>
            <a:lvl3pPr>
              <a:defRPr sz="3600" b="1">
                <a:solidFill>
                  <a:srgbClr val="FFFEFB"/>
                </a:solidFill>
                <a:latin typeface="Arial"/>
                <a:ea typeface="Arial"/>
                <a:cs typeface="Arial"/>
              </a:defRPr>
            </a:lvl3pPr>
            <a:lvl4pPr>
              <a:defRPr sz="3600" b="1">
                <a:solidFill>
                  <a:srgbClr val="FFFEFB"/>
                </a:solidFill>
                <a:latin typeface="Arial"/>
                <a:ea typeface="Arial"/>
                <a:cs typeface="Arial"/>
              </a:defRPr>
            </a:lvl4pPr>
            <a:lvl5pPr>
              <a:defRPr sz="3600" b="1">
                <a:solidFill>
                  <a:srgbClr val="FFFEFB"/>
                </a:solidFill>
                <a:latin typeface="Arial"/>
                <a:ea typeface="Arial"/>
                <a:cs typeface="Arial"/>
              </a:defRPr>
            </a:lvl5pPr>
            <a:lvl6pPr>
              <a:defRPr sz="3600" b="1">
                <a:solidFill>
                  <a:srgbClr val="FFFEFB"/>
                </a:solidFill>
                <a:latin typeface="Arial"/>
                <a:ea typeface="Arial"/>
                <a:cs typeface="Arial"/>
              </a:defRPr>
            </a:lvl6pPr>
            <a:lvl7pPr>
              <a:defRPr sz="3600" b="1">
                <a:solidFill>
                  <a:srgbClr val="FFFEFB"/>
                </a:solidFill>
                <a:latin typeface="Arial"/>
                <a:ea typeface="Arial"/>
                <a:cs typeface="Arial"/>
              </a:defRPr>
            </a:lvl7pPr>
            <a:lvl8pPr>
              <a:defRPr sz="3600" b="1">
                <a:solidFill>
                  <a:srgbClr val="FFFEFB"/>
                </a:solidFill>
                <a:latin typeface="Arial"/>
                <a:ea typeface="Arial"/>
                <a:cs typeface="Arial"/>
              </a:defRPr>
            </a:lvl8pPr>
            <a:lvl9pPr>
              <a:defRPr sz="3600" b="1">
                <a:solidFill>
                  <a:srgbClr val="FFFEFB"/>
                </a:solidFill>
                <a:latin typeface="Arial"/>
                <a:ea typeface="Arial"/>
                <a:cs typeface="Arial"/>
              </a:defRPr>
            </a:lvl9pPr>
          </a:lstStyle>
          <a:p xmlns:a="http://schemas.openxmlformats.org/drawingml/2006/main">
            <a:pPr>
              <a:defRPr sz="3600" b="1">
                <a:solidFill>
                  <a:srgbClr val="FFFEFB"/>
                </a:solidFill>
                <a:latin typeface="Arial"/>
                <a:ea typeface="Arial"/>
                <a:cs typeface="Arial"/>
              </a:defRPr>
            </a:pPr>
            <a:r>
              <a:rPr sz="3600" b="1">
                <a:solidFill>
                  <a:srgbClr val="FFFEFB"/>
                </a:solidFill>
                <a:latin typeface="Arial"/>
                <a:ea typeface="Arial"/>
                <a:cs typeface="Arial"/>
              </a:rPr>
              <a:t>Advanced Equity</a:t>
            </a:r>
          </a:p>
          <a:p xmlns:a="http://schemas.openxmlformats.org/drawingml/2006/main">
            <a:pPr>
              <a:defRPr sz="3600" b="1">
                <a:solidFill>
                  <a:srgbClr val="FFFEFB"/>
                </a:solidFill>
                <a:latin typeface="Arial"/>
                <a:ea typeface="Arial"/>
                <a:cs typeface="Arial"/>
              </a:defRPr>
            </a:pPr>
            <a:r>
              <a:rPr sz="3600" b="1">
                <a:solidFill>
                  <a:srgbClr val="FFFEFB"/>
                </a:solidFill>
                <a:latin typeface="Arial"/>
                <a:ea typeface="Arial"/>
                <a:cs typeface="Arial"/>
              </a:rPr>
              <a:t>Portfolio Risk Management</a:t>
            </a:r>
          </a:p>
        </p:txBody>
      </p:sp>
      <p:sp>
        <p:nvSpPr>
          <p:cNvPr id="3" name="">
            <a:extLst xmlns:a="http://schemas.openxmlformats.org/drawingml/2006/main">
              <a:ext uri="{FF2B5EF4-FFF2-40B4-BE49-F238E27FC236}">
                <a16:creationId xmlns:a16="http://schemas.microsoft.com/office/drawing/2014/main" id="{E623D9A2-06B2-480B-B5BF-C017DD3EF3F0}"/>
              </a:ext>
            </a:extLst>
          </p:cNvPr>
          <p:cNvSpPr>
            <a:spLocks xmlns:a="http://schemas.openxmlformats.org/drawingml/2006/main" noGrp="1"/>
          </p:cNvSpPr>
          <p:nvPr/>
        </p:nvSpPr>
        <p:spPr>
          <a:xfrm xmlns:a="http://schemas.openxmlformats.org/drawingml/2006/main">
            <a:off x="838200" y="3105150"/>
            <a:ext cx="809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a:solidFill>
                  <a:srgbClr val="DDE9E4"/>
                </a:solidFill>
                <a:latin typeface="Arial"/>
                <a:ea typeface="Arial"/>
                <a:cs typeface="Arial"/>
              </a:defRPr>
            </a:defPPr>
            <a:lvl1pPr>
              <a:defRPr sz="1650">
                <a:solidFill>
                  <a:srgbClr val="DDE9E4"/>
                </a:solidFill>
                <a:latin typeface="Arial"/>
                <a:ea typeface="Arial"/>
                <a:cs typeface="Arial"/>
              </a:defRPr>
            </a:lvl1pPr>
            <a:lvl2pPr>
              <a:defRPr sz="1650">
                <a:solidFill>
                  <a:srgbClr val="DDE9E4"/>
                </a:solidFill>
                <a:latin typeface="Arial"/>
                <a:ea typeface="Arial"/>
                <a:cs typeface="Arial"/>
              </a:defRPr>
            </a:lvl2pPr>
            <a:lvl3pPr>
              <a:defRPr sz="1650">
                <a:solidFill>
                  <a:srgbClr val="DDE9E4"/>
                </a:solidFill>
                <a:latin typeface="Arial"/>
                <a:ea typeface="Arial"/>
                <a:cs typeface="Arial"/>
              </a:defRPr>
            </a:lvl3pPr>
            <a:lvl4pPr>
              <a:defRPr sz="1650">
                <a:solidFill>
                  <a:srgbClr val="DDE9E4"/>
                </a:solidFill>
                <a:latin typeface="Arial"/>
                <a:ea typeface="Arial"/>
                <a:cs typeface="Arial"/>
              </a:defRPr>
            </a:lvl4pPr>
            <a:lvl5pPr>
              <a:defRPr sz="1650">
                <a:solidFill>
                  <a:srgbClr val="DDE9E4"/>
                </a:solidFill>
                <a:latin typeface="Arial"/>
                <a:ea typeface="Arial"/>
                <a:cs typeface="Arial"/>
              </a:defRPr>
            </a:lvl5pPr>
            <a:lvl6pPr>
              <a:defRPr sz="1650">
                <a:solidFill>
                  <a:srgbClr val="DDE9E4"/>
                </a:solidFill>
                <a:latin typeface="Arial"/>
                <a:ea typeface="Arial"/>
                <a:cs typeface="Arial"/>
              </a:defRPr>
            </a:lvl6pPr>
            <a:lvl7pPr>
              <a:defRPr sz="1650">
                <a:solidFill>
                  <a:srgbClr val="DDE9E4"/>
                </a:solidFill>
                <a:latin typeface="Arial"/>
                <a:ea typeface="Arial"/>
                <a:cs typeface="Arial"/>
              </a:defRPr>
            </a:lvl7pPr>
            <a:lvl8pPr>
              <a:defRPr sz="1650">
                <a:solidFill>
                  <a:srgbClr val="DDE9E4"/>
                </a:solidFill>
                <a:latin typeface="Arial"/>
                <a:ea typeface="Arial"/>
                <a:cs typeface="Arial"/>
              </a:defRPr>
            </a:lvl8pPr>
            <a:lvl9pPr>
              <a:defRPr sz="1650">
                <a:solidFill>
                  <a:srgbClr val="DDE9E4"/>
                </a:solidFill>
                <a:latin typeface="Arial"/>
                <a:ea typeface="Arial"/>
                <a:cs typeface="Arial"/>
              </a:defRPr>
            </a:lvl9pPr>
          </a:lstStyle>
          <a:p xmlns:a="http://schemas.openxmlformats.org/drawingml/2006/main">
            <a:pPr>
              <a:defRPr sz="1650">
                <a:solidFill>
                  <a:srgbClr val="DDE9E4"/>
                </a:solidFill>
                <a:latin typeface="Arial"/>
                <a:ea typeface="Arial"/>
                <a:cs typeface="Arial"/>
              </a:defRPr>
            </a:pPr>
            <a:r>
              <a:rPr sz="1650">
                <a:solidFill>
                  <a:srgbClr val="DDE9E4"/>
                </a:solidFill>
                <a:latin typeface="Arial"/>
                <a:ea typeface="Arial"/>
                <a:cs typeface="Arial"/>
              </a:rPr>
              <a:t>A risk-committee view of measurement, validation, stress and action</a:t>
            </a:r>
          </a:p>
        </p:txBody>
      </p:sp>
      <p:sp>
        <p:nvSpPr>
          <p:cNvPr id="4" name="">
            <a:extLst xmlns:a="http://schemas.openxmlformats.org/drawingml/2006/main">
              <a:ext uri="{FF2B5EF4-FFF2-40B4-BE49-F238E27FC236}">
                <a16:creationId xmlns:a16="http://schemas.microsoft.com/office/drawing/2014/main" id="{5EC2C3DC-44AC-4009-B8A4-C341F8C4E40D}"/>
              </a:ext>
            </a:extLst>
          </p:cNvPr>
          <p:cNvSpPr>
            <a:spLocks xmlns:a="http://schemas.openxmlformats.org/drawingml/2006/main" noGrp="1"/>
          </p:cNvSpPr>
          <p:nvPr/>
        </p:nvSpPr>
        <p:spPr>
          <a:xfrm xmlns:a="http://schemas.openxmlformats.org/drawingml/2006/main">
            <a:off x="838200" y="3771900"/>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F1E2BE"/>
                </a:solidFill>
                <a:latin typeface="Arial"/>
                <a:ea typeface="Arial"/>
                <a:cs typeface="Arial"/>
              </a:defRPr>
            </a:defPPr>
            <a:lvl1pPr>
              <a:defRPr sz="1200">
                <a:solidFill>
                  <a:srgbClr val="F1E2BE"/>
                </a:solidFill>
                <a:latin typeface="Arial"/>
                <a:ea typeface="Arial"/>
                <a:cs typeface="Arial"/>
              </a:defRPr>
            </a:lvl1pPr>
            <a:lvl2pPr>
              <a:defRPr sz="1200">
                <a:solidFill>
                  <a:srgbClr val="F1E2BE"/>
                </a:solidFill>
                <a:latin typeface="Arial"/>
                <a:ea typeface="Arial"/>
                <a:cs typeface="Arial"/>
              </a:defRPr>
            </a:lvl2pPr>
            <a:lvl3pPr>
              <a:defRPr sz="1200">
                <a:solidFill>
                  <a:srgbClr val="F1E2BE"/>
                </a:solidFill>
                <a:latin typeface="Arial"/>
                <a:ea typeface="Arial"/>
                <a:cs typeface="Arial"/>
              </a:defRPr>
            </a:lvl3pPr>
            <a:lvl4pPr>
              <a:defRPr sz="1200">
                <a:solidFill>
                  <a:srgbClr val="F1E2BE"/>
                </a:solidFill>
                <a:latin typeface="Arial"/>
                <a:ea typeface="Arial"/>
                <a:cs typeface="Arial"/>
              </a:defRPr>
            </a:lvl4pPr>
            <a:lvl5pPr>
              <a:defRPr sz="1200">
                <a:solidFill>
                  <a:srgbClr val="F1E2BE"/>
                </a:solidFill>
                <a:latin typeface="Arial"/>
                <a:ea typeface="Arial"/>
                <a:cs typeface="Arial"/>
              </a:defRPr>
            </a:lvl5pPr>
            <a:lvl6pPr>
              <a:defRPr sz="1200">
                <a:solidFill>
                  <a:srgbClr val="F1E2BE"/>
                </a:solidFill>
                <a:latin typeface="Arial"/>
                <a:ea typeface="Arial"/>
                <a:cs typeface="Arial"/>
              </a:defRPr>
            </a:lvl6pPr>
            <a:lvl7pPr>
              <a:defRPr sz="1200">
                <a:solidFill>
                  <a:srgbClr val="F1E2BE"/>
                </a:solidFill>
                <a:latin typeface="Arial"/>
                <a:ea typeface="Arial"/>
                <a:cs typeface="Arial"/>
              </a:defRPr>
            </a:lvl7pPr>
            <a:lvl8pPr>
              <a:defRPr sz="1200">
                <a:solidFill>
                  <a:srgbClr val="F1E2BE"/>
                </a:solidFill>
                <a:latin typeface="Arial"/>
                <a:ea typeface="Arial"/>
                <a:cs typeface="Arial"/>
              </a:defRPr>
            </a:lvl8pPr>
            <a:lvl9pPr>
              <a:defRPr sz="1200">
                <a:solidFill>
                  <a:srgbClr val="F1E2BE"/>
                </a:solidFill>
                <a:latin typeface="Arial"/>
                <a:ea typeface="Arial"/>
                <a:cs typeface="Arial"/>
              </a:defRPr>
            </a:lvl9pPr>
          </a:lstStyle>
          <a:p xmlns:a="http://schemas.openxmlformats.org/drawingml/2006/main">
            <a:pPr>
              <a:defRPr sz="1200">
                <a:solidFill>
                  <a:srgbClr val="F1E2BE"/>
                </a:solidFill>
                <a:latin typeface="Arial"/>
                <a:ea typeface="Arial"/>
                <a:cs typeface="Arial"/>
              </a:defRPr>
            </a:pPr>
            <a:r>
              <a:rPr sz="1200">
                <a:solidFill>
                  <a:srgbClr val="F1E2BE"/>
                </a:solidFill>
                <a:latin typeface="Arial"/>
                <a:ea typeface="Arial"/>
                <a:cs typeface="Arial"/>
              </a:rPr>
              <a:t>$10m equal-weight US equity portfolio  |  99% one-day risk  |  Data through 16 October 2026</a:t>
            </a:r>
          </a:p>
        </p:txBody>
      </p:sp>
      <p:sp>
        <p:nvSpPr>
          <p:cNvPr id="5" name="">
            <a:extLst xmlns:a="http://schemas.openxmlformats.org/drawingml/2006/main">
              <a:ext uri="{FF2B5EF4-FFF2-40B4-BE49-F238E27FC236}">
                <a16:creationId xmlns:a16="http://schemas.microsoft.com/office/drawing/2014/main" id="{D58B4418-8F62-4342-A79A-5FCCF538607B}"/>
              </a:ext>
            </a:extLst>
          </p:cNvPr>
          <p:cNvSpPr>
            <a:spLocks xmlns:a="http://schemas.openxmlformats.org/drawingml/2006/main" noGrp="1"/>
          </p:cNvSpPr>
          <p:nvPr/>
        </p:nvSpPr>
        <p:spPr>
          <a:xfrm xmlns:a="http://schemas.openxmlformats.org/drawingml/2006/main">
            <a:off x="838200" y="5048250"/>
            <a:ext cx="10287000" cy="9525"/>
          </a:xfrm>
          <a:prstGeom xmlns:a="http://schemas.openxmlformats.org/drawingml/2006/main" prst="rect">
            <a:avLst/>
          </a:prstGeom>
          <a:solidFill xmlns:a="http://schemas.openxmlformats.org/drawingml/2006/main">
            <a:srgbClr val="52727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E4A629F-E83F-4004-9C3C-789545B2FF26}"/>
              </a:ext>
            </a:extLst>
          </p:cNvPr>
          <p:cNvSpPr>
            <a:spLocks xmlns:a="http://schemas.openxmlformats.org/drawingml/2006/main" noGrp="1"/>
          </p:cNvSpPr>
          <p:nvPr/>
        </p:nvSpPr>
        <p:spPr>
          <a:xfrm xmlns:a="http://schemas.openxmlformats.org/drawingml/2006/main">
            <a:off x="838200" y="530542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1">
                <a:solidFill>
                  <a:srgbClr val="C9973A"/>
                </a:solidFill>
                <a:latin typeface="Arial"/>
                <a:ea typeface="Arial"/>
                <a:cs typeface="Arial"/>
              </a:defRPr>
            </a:defPPr>
            <a:lvl1pPr>
              <a:defRPr sz="1050" b="1">
                <a:solidFill>
                  <a:srgbClr val="C9973A"/>
                </a:solidFill>
                <a:latin typeface="Arial"/>
                <a:ea typeface="Arial"/>
                <a:cs typeface="Arial"/>
              </a:defRPr>
            </a:lvl1pPr>
            <a:lvl2pPr>
              <a:defRPr sz="1050" b="1">
                <a:solidFill>
                  <a:srgbClr val="C9973A"/>
                </a:solidFill>
                <a:latin typeface="Arial"/>
                <a:ea typeface="Arial"/>
                <a:cs typeface="Arial"/>
              </a:defRPr>
            </a:lvl2pPr>
            <a:lvl3pPr>
              <a:defRPr sz="1050" b="1">
                <a:solidFill>
                  <a:srgbClr val="C9973A"/>
                </a:solidFill>
                <a:latin typeface="Arial"/>
                <a:ea typeface="Arial"/>
                <a:cs typeface="Arial"/>
              </a:defRPr>
            </a:lvl3pPr>
            <a:lvl4pPr>
              <a:defRPr sz="1050" b="1">
                <a:solidFill>
                  <a:srgbClr val="C9973A"/>
                </a:solidFill>
                <a:latin typeface="Arial"/>
                <a:ea typeface="Arial"/>
                <a:cs typeface="Arial"/>
              </a:defRPr>
            </a:lvl4pPr>
            <a:lvl5pPr>
              <a:defRPr sz="1050" b="1">
                <a:solidFill>
                  <a:srgbClr val="C9973A"/>
                </a:solidFill>
                <a:latin typeface="Arial"/>
                <a:ea typeface="Arial"/>
                <a:cs typeface="Arial"/>
              </a:defRPr>
            </a:lvl5pPr>
            <a:lvl6pPr>
              <a:defRPr sz="1050" b="1">
                <a:solidFill>
                  <a:srgbClr val="C9973A"/>
                </a:solidFill>
                <a:latin typeface="Arial"/>
                <a:ea typeface="Arial"/>
                <a:cs typeface="Arial"/>
              </a:defRPr>
            </a:lvl6pPr>
            <a:lvl7pPr>
              <a:defRPr sz="1050" b="1">
                <a:solidFill>
                  <a:srgbClr val="C9973A"/>
                </a:solidFill>
                <a:latin typeface="Arial"/>
                <a:ea typeface="Arial"/>
                <a:cs typeface="Arial"/>
              </a:defRPr>
            </a:lvl7pPr>
            <a:lvl8pPr>
              <a:defRPr sz="1050" b="1">
                <a:solidFill>
                  <a:srgbClr val="C9973A"/>
                </a:solidFill>
                <a:latin typeface="Arial"/>
                <a:ea typeface="Arial"/>
                <a:cs typeface="Arial"/>
              </a:defRPr>
            </a:lvl8pPr>
            <a:lvl9pPr>
              <a:defRPr sz="1050" b="1">
                <a:solidFill>
                  <a:srgbClr val="C9973A"/>
                </a:solidFill>
                <a:latin typeface="Arial"/>
                <a:ea typeface="Arial"/>
                <a:cs typeface="Arial"/>
              </a:defRPr>
            </a:lvl9pPr>
          </a:lstStyle>
          <a:p xmlns:a="http://schemas.openxmlformats.org/drawingml/2006/main">
            <a:pPr>
              <a:defRPr sz="1050" b="1">
                <a:solidFill>
                  <a:srgbClr val="C9973A"/>
                </a:solidFill>
                <a:latin typeface="Arial"/>
                <a:ea typeface="Arial"/>
                <a:cs typeface="Arial"/>
              </a:defRPr>
            </a:pPr>
            <a:r>
              <a:rPr sz="1050" b="1">
                <a:solidFill>
                  <a:srgbClr val="C9973A"/>
                </a:solidFill>
                <a:latin typeface="Arial"/>
                <a:ea typeface="Arial"/>
                <a:cs typeface="Arial"/>
              </a:rPr>
              <a:t>Decision focus</a:t>
            </a:r>
          </a:p>
        </p:txBody>
      </p:sp>
      <p:sp>
        <p:nvSpPr>
          <p:cNvPr id="7" name="">
            <a:extLst xmlns:a="http://schemas.openxmlformats.org/drawingml/2006/main">
              <a:ext uri="{FF2B5EF4-FFF2-40B4-BE49-F238E27FC236}">
                <a16:creationId xmlns:a16="http://schemas.microsoft.com/office/drawing/2014/main" id="{76B9962D-6A31-4DC3-B5E0-4F6739525F56}"/>
              </a:ext>
            </a:extLst>
          </p:cNvPr>
          <p:cNvSpPr>
            <a:spLocks xmlns:a="http://schemas.openxmlformats.org/drawingml/2006/main" noGrp="1"/>
          </p:cNvSpPr>
          <p:nvPr/>
        </p:nvSpPr>
        <p:spPr>
          <a:xfrm xmlns:a="http://schemas.openxmlformats.org/drawingml/2006/main">
            <a:off x="838200" y="5638800"/>
            <a:ext cx="1000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a:solidFill>
                  <a:srgbClr val="FFFEFB"/>
                </a:solidFill>
                <a:latin typeface="Arial"/>
                <a:ea typeface="Arial"/>
                <a:cs typeface="Arial"/>
              </a:defRPr>
            </a:defPPr>
            <a:lvl1pPr>
              <a:defRPr sz="1650">
                <a:solidFill>
                  <a:srgbClr val="FFFEFB"/>
                </a:solidFill>
                <a:latin typeface="Arial"/>
                <a:ea typeface="Arial"/>
                <a:cs typeface="Arial"/>
              </a:defRPr>
            </a:lvl1pPr>
            <a:lvl2pPr>
              <a:defRPr sz="1650">
                <a:solidFill>
                  <a:srgbClr val="FFFEFB"/>
                </a:solidFill>
                <a:latin typeface="Arial"/>
                <a:ea typeface="Arial"/>
                <a:cs typeface="Arial"/>
              </a:defRPr>
            </a:lvl2pPr>
            <a:lvl3pPr>
              <a:defRPr sz="1650">
                <a:solidFill>
                  <a:srgbClr val="FFFEFB"/>
                </a:solidFill>
                <a:latin typeface="Arial"/>
                <a:ea typeface="Arial"/>
                <a:cs typeface="Arial"/>
              </a:defRPr>
            </a:lvl3pPr>
            <a:lvl4pPr>
              <a:defRPr sz="1650">
                <a:solidFill>
                  <a:srgbClr val="FFFEFB"/>
                </a:solidFill>
                <a:latin typeface="Arial"/>
                <a:ea typeface="Arial"/>
                <a:cs typeface="Arial"/>
              </a:defRPr>
            </a:lvl4pPr>
            <a:lvl5pPr>
              <a:defRPr sz="1650">
                <a:solidFill>
                  <a:srgbClr val="FFFEFB"/>
                </a:solidFill>
                <a:latin typeface="Arial"/>
                <a:ea typeface="Arial"/>
                <a:cs typeface="Arial"/>
              </a:defRPr>
            </a:lvl5pPr>
            <a:lvl6pPr>
              <a:defRPr sz="1650">
                <a:solidFill>
                  <a:srgbClr val="FFFEFB"/>
                </a:solidFill>
                <a:latin typeface="Arial"/>
                <a:ea typeface="Arial"/>
                <a:cs typeface="Arial"/>
              </a:defRPr>
            </a:lvl6pPr>
            <a:lvl7pPr>
              <a:defRPr sz="1650">
                <a:solidFill>
                  <a:srgbClr val="FFFEFB"/>
                </a:solidFill>
                <a:latin typeface="Arial"/>
                <a:ea typeface="Arial"/>
                <a:cs typeface="Arial"/>
              </a:defRPr>
            </a:lvl7pPr>
            <a:lvl8pPr>
              <a:defRPr sz="1650">
                <a:solidFill>
                  <a:srgbClr val="FFFEFB"/>
                </a:solidFill>
                <a:latin typeface="Arial"/>
                <a:ea typeface="Arial"/>
                <a:cs typeface="Arial"/>
              </a:defRPr>
            </a:lvl8pPr>
            <a:lvl9pPr>
              <a:defRPr sz="1650">
                <a:solidFill>
                  <a:srgbClr val="FFFEFB"/>
                </a:solidFill>
                <a:latin typeface="Arial"/>
                <a:ea typeface="Arial"/>
                <a:cs typeface="Arial"/>
              </a:defRPr>
            </a:lvl9pPr>
          </a:lstStyle>
          <a:p xmlns:a="http://schemas.openxmlformats.org/drawingml/2006/main">
            <a:pPr>
              <a:defRPr sz="1650">
                <a:solidFill>
                  <a:srgbClr val="FFFEFB"/>
                </a:solidFill>
                <a:latin typeface="Arial"/>
                <a:ea typeface="Arial"/>
                <a:cs typeface="Arial"/>
              </a:defRPr>
            </a:pPr>
            <a:r>
              <a:rPr sz="1650">
                <a:solidFill>
                  <a:srgbClr val="FFFEFB"/>
                </a:solidFill>
                <a:latin typeface="Arial"/>
                <a:ea typeface="Arial"/>
                <a:cs typeface="Arial"/>
              </a:rPr>
              <a:t>Which model should govern the portfolio, where are the unacceptable risks, and what should happen next?</a:t>
            </a:r>
          </a:p>
        </p:txBody>
      </p:sp>
    </p:spTree>
    <p:extLst>
      <p:ext uri="{BB962C8B-B14F-4D97-AF65-F5344CB8AC3E}">
        <p14:creationId xmlns:p14="http://schemas.microsoft.com/office/powerpoint/2010/main" val="1939530414"/>
      </p:ext>
    </p:extLst>
  </p:cSld>
</p:sld>
</file>

<file path=ppt/slides/slide2.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DD8424A-AE88-4BEF-93BB-F83996D0D787}"/>
              </a:ext>
            </a:extLst>
          </p:cNvPr>
          <p:cNvSpPr>
            <a:spLocks xmlns:a="http://schemas.openxmlformats.org/drawingml/2006/main" noGrp="1"/>
          </p:cNvSpPr>
          <p:nvPr/>
        </p:nvSpPr>
        <p:spPr>
          <a:xfrm xmlns:a="http://schemas.openxmlformats.org/drawingml/2006/main">
            <a:off x="609600" y="4000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B2928"/>
                </a:solidFill>
                <a:latin typeface="Arial"/>
                <a:ea typeface="Arial"/>
                <a:cs typeface="Arial"/>
              </a:defRPr>
            </a:defPPr>
            <a:lvl1pPr>
              <a:defRPr sz="2550" b="1">
                <a:solidFill>
                  <a:srgbClr val="1B2928"/>
                </a:solidFill>
                <a:latin typeface="Arial"/>
                <a:ea typeface="Arial"/>
                <a:cs typeface="Arial"/>
              </a:defRPr>
            </a:lvl1pPr>
            <a:lvl2pPr>
              <a:defRPr sz="2550" b="1">
                <a:solidFill>
                  <a:srgbClr val="1B2928"/>
                </a:solidFill>
                <a:latin typeface="Arial"/>
                <a:ea typeface="Arial"/>
                <a:cs typeface="Arial"/>
              </a:defRPr>
            </a:lvl2pPr>
            <a:lvl3pPr>
              <a:defRPr sz="2550" b="1">
                <a:solidFill>
                  <a:srgbClr val="1B2928"/>
                </a:solidFill>
                <a:latin typeface="Arial"/>
                <a:ea typeface="Arial"/>
                <a:cs typeface="Arial"/>
              </a:defRPr>
            </a:lvl3pPr>
            <a:lvl4pPr>
              <a:defRPr sz="2550" b="1">
                <a:solidFill>
                  <a:srgbClr val="1B2928"/>
                </a:solidFill>
                <a:latin typeface="Arial"/>
                <a:ea typeface="Arial"/>
                <a:cs typeface="Arial"/>
              </a:defRPr>
            </a:lvl4pPr>
            <a:lvl5pPr>
              <a:defRPr sz="2550" b="1">
                <a:solidFill>
                  <a:srgbClr val="1B2928"/>
                </a:solidFill>
                <a:latin typeface="Arial"/>
                <a:ea typeface="Arial"/>
                <a:cs typeface="Arial"/>
              </a:defRPr>
            </a:lvl5pPr>
            <a:lvl6pPr>
              <a:defRPr sz="2550" b="1">
                <a:solidFill>
                  <a:srgbClr val="1B2928"/>
                </a:solidFill>
                <a:latin typeface="Arial"/>
                <a:ea typeface="Arial"/>
                <a:cs typeface="Arial"/>
              </a:defRPr>
            </a:lvl6pPr>
            <a:lvl7pPr>
              <a:defRPr sz="2550" b="1">
                <a:solidFill>
                  <a:srgbClr val="1B2928"/>
                </a:solidFill>
                <a:latin typeface="Arial"/>
                <a:ea typeface="Arial"/>
                <a:cs typeface="Arial"/>
              </a:defRPr>
            </a:lvl7pPr>
            <a:lvl8pPr>
              <a:defRPr sz="2550" b="1">
                <a:solidFill>
                  <a:srgbClr val="1B2928"/>
                </a:solidFill>
                <a:latin typeface="Arial"/>
                <a:ea typeface="Arial"/>
                <a:cs typeface="Arial"/>
              </a:defRPr>
            </a:lvl8pPr>
            <a:lvl9pPr>
              <a:defRPr sz="2550" b="1">
                <a:solidFill>
                  <a:srgbClr val="1B2928"/>
                </a:solidFill>
                <a:latin typeface="Arial"/>
                <a:ea typeface="Arial"/>
                <a:cs typeface="Arial"/>
              </a:defRPr>
            </a:lvl9pPr>
          </a:lstStyle>
          <a:p xmlns:a="http://schemas.openxmlformats.org/drawingml/2006/main">
            <a:pPr>
              <a:defRPr sz="2550" b="1">
                <a:solidFill>
                  <a:srgbClr val="1B2928"/>
                </a:solidFill>
                <a:latin typeface="Arial"/>
                <a:ea typeface="Arial"/>
                <a:cs typeface="Arial"/>
              </a:defRPr>
            </a:pPr>
            <a:r>
              <a:rPr sz="2550" b="1">
                <a:solidFill>
                  <a:srgbClr val="1B2928"/>
                </a:solidFill>
                <a:latin typeface="Arial"/>
                <a:ea typeface="Arial"/>
                <a:cs typeface="Arial"/>
              </a:rPr>
              <a:t>Executive risk assessment</a:t>
            </a:r>
          </a:p>
        </p:txBody>
      </p:sp>
      <p:sp>
        <p:nvSpPr>
          <p:cNvPr id="2" name="">
            <a:extLst xmlns:a="http://schemas.openxmlformats.org/drawingml/2006/main">
              <a:ext uri="{FF2B5EF4-FFF2-40B4-BE49-F238E27FC236}">
                <a16:creationId xmlns:a16="http://schemas.microsoft.com/office/drawing/2014/main" id="{EEF82BE7-0C4F-4553-BE86-7D8E8208DEB0}"/>
              </a:ext>
            </a:extLst>
          </p:cNvPr>
          <p:cNvSpPr>
            <a:spLocks xmlns:a="http://schemas.openxmlformats.org/drawingml/2006/main" noGrp="1"/>
          </p:cNvSpPr>
          <p:nvPr/>
        </p:nvSpPr>
        <p:spPr>
          <a:xfrm xmlns:a="http://schemas.openxmlformats.org/drawingml/2006/main">
            <a:off x="609600" y="981075"/>
            <a:ext cx="685800" cy="47625"/>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7B831C9-6A1A-4FB3-AF1B-FADE223BC64B}"/>
              </a:ext>
            </a:extLst>
          </p:cNvPr>
          <p:cNvSpPr>
            <a:spLocks xmlns:a="http://schemas.openxmlformats.org/drawingml/2006/main" noGrp="1"/>
          </p:cNvSpPr>
          <p:nvPr/>
        </p:nvSpPr>
        <p:spPr>
          <a:xfrm xmlns:a="http://schemas.openxmlformats.org/drawingml/2006/main">
            <a:off x="1466850" y="866775"/>
            <a:ext cx="962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Conclusion first: ordinary daily risk is controlled; stress and concentration need action</a:t>
            </a:r>
          </a:p>
        </p:txBody>
      </p:sp>
      <p:sp>
        <p:nvSpPr>
          <p:cNvPr id="4" name="">
            <a:extLst xmlns:a="http://schemas.openxmlformats.org/drawingml/2006/main">
              <a:ext uri="{FF2B5EF4-FFF2-40B4-BE49-F238E27FC236}">
                <a16:creationId xmlns:a16="http://schemas.microsoft.com/office/drawing/2014/main" id="{E454A01D-F422-47E6-9C24-80539FCEC6B3}"/>
              </a:ext>
            </a:extLst>
          </p:cNvPr>
          <p:cNvSpPr>
            <a:spLocks xmlns:a="http://schemas.openxmlformats.org/drawingml/2006/main" noGrp="1"/>
          </p:cNvSpPr>
          <p:nvPr/>
        </p:nvSpPr>
        <p:spPr>
          <a:xfrm xmlns:a="http://schemas.openxmlformats.org/drawingml/2006/main">
            <a:off x="609600" y="1485900"/>
            <a:ext cx="3429000" cy="2381250"/>
          </a:xfrm>
          <a:prstGeom xmlns:a="http://schemas.openxmlformats.org/drawingml/2006/main" prst="roundRect">
            <a:avLst>
              <a:gd name="adj" fmla="val 4800"/>
            </a:avLst>
          </a:prstGeom>
          <a:solidFill xmlns:a="http://schemas.openxmlformats.org/drawingml/2006/main">
            <a:srgbClr val="DDE9E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14AEF96-1454-4B10-93E1-D6F9A2BB335A}"/>
              </a:ext>
            </a:extLst>
          </p:cNvPr>
          <p:cNvSpPr>
            <a:spLocks xmlns:a="http://schemas.openxmlformats.org/drawingml/2006/main" noGrp="1"/>
          </p:cNvSpPr>
          <p:nvPr/>
        </p:nvSpPr>
        <p:spPr>
          <a:xfrm xmlns:a="http://schemas.openxmlformats.org/drawingml/2006/main">
            <a:off x="838200" y="17145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174C4F"/>
                </a:solidFill>
                <a:latin typeface="Arial"/>
                <a:ea typeface="Arial"/>
                <a:cs typeface="Arial"/>
              </a:defRPr>
            </a:defPPr>
            <a:lvl1pPr>
              <a:defRPr sz="975" b="1">
                <a:solidFill>
                  <a:srgbClr val="174C4F"/>
                </a:solidFill>
                <a:latin typeface="Arial"/>
                <a:ea typeface="Arial"/>
                <a:cs typeface="Arial"/>
              </a:defRPr>
            </a:lvl1pPr>
            <a:lvl2pPr>
              <a:defRPr sz="975" b="1">
                <a:solidFill>
                  <a:srgbClr val="174C4F"/>
                </a:solidFill>
                <a:latin typeface="Arial"/>
                <a:ea typeface="Arial"/>
                <a:cs typeface="Arial"/>
              </a:defRPr>
            </a:lvl2pPr>
            <a:lvl3pPr>
              <a:defRPr sz="975" b="1">
                <a:solidFill>
                  <a:srgbClr val="174C4F"/>
                </a:solidFill>
                <a:latin typeface="Arial"/>
                <a:ea typeface="Arial"/>
                <a:cs typeface="Arial"/>
              </a:defRPr>
            </a:lvl3pPr>
            <a:lvl4pPr>
              <a:defRPr sz="975" b="1">
                <a:solidFill>
                  <a:srgbClr val="174C4F"/>
                </a:solidFill>
                <a:latin typeface="Arial"/>
                <a:ea typeface="Arial"/>
                <a:cs typeface="Arial"/>
              </a:defRPr>
            </a:lvl4pPr>
            <a:lvl5pPr>
              <a:defRPr sz="975" b="1">
                <a:solidFill>
                  <a:srgbClr val="174C4F"/>
                </a:solidFill>
                <a:latin typeface="Arial"/>
                <a:ea typeface="Arial"/>
                <a:cs typeface="Arial"/>
              </a:defRPr>
            </a:lvl5pPr>
            <a:lvl6pPr>
              <a:defRPr sz="975" b="1">
                <a:solidFill>
                  <a:srgbClr val="174C4F"/>
                </a:solidFill>
                <a:latin typeface="Arial"/>
                <a:ea typeface="Arial"/>
                <a:cs typeface="Arial"/>
              </a:defRPr>
            </a:lvl6pPr>
            <a:lvl7pPr>
              <a:defRPr sz="975" b="1">
                <a:solidFill>
                  <a:srgbClr val="174C4F"/>
                </a:solidFill>
                <a:latin typeface="Arial"/>
                <a:ea typeface="Arial"/>
                <a:cs typeface="Arial"/>
              </a:defRPr>
            </a:lvl7pPr>
            <a:lvl8pPr>
              <a:defRPr sz="975" b="1">
                <a:solidFill>
                  <a:srgbClr val="174C4F"/>
                </a:solidFill>
                <a:latin typeface="Arial"/>
                <a:ea typeface="Arial"/>
                <a:cs typeface="Arial"/>
              </a:defRPr>
            </a:lvl8pPr>
            <a:lvl9pPr>
              <a:defRPr sz="975" b="1">
                <a:solidFill>
                  <a:srgbClr val="174C4F"/>
                </a:solidFill>
                <a:latin typeface="Arial"/>
                <a:ea typeface="Arial"/>
                <a:cs typeface="Arial"/>
              </a:defRPr>
            </a:lvl9pPr>
          </a:lstStyle>
          <a:p xmlns:a="http://schemas.openxmlformats.org/drawingml/2006/main">
            <a:pPr>
              <a:defRPr sz="975" b="1">
                <a:solidFill>
                  <a:srgbClr val="174C4F"/>
                </a:solidFill>
                <a:latin typeface="Arial"/>
                <a:ea typeface="Arial"/>
                <a:cs typeface="Arial"/>
              </a:defRPr>
            </a:pPr>
            <a:r>
              <a:rPr sz="975" b="1">
                <a:solidFill>
                  <a:srgbClr val="174C4F"/>
                </a:solidFill>
                <a:latin typeface="Arial"/>
                <a:ea typeface="Arial"/>
                <a:cs typeface="Arial"/>
              </a:rPr>
              <a:t>CURRENT RISK</a:t>
            </a:r>
          </a:p>
        </p:txBody>
      </p:sp>
      <p:sp>
        <p:nvSpPr>
          <p:cNvPr id="6" name="">
            <a:extLst xmlns:a="http://schemas.openxmlformats.org/drawingml/2006/main">
              <a:ext uri="{FF2B5EF4-FFF2-40B4-BE49-F238E27FC236}">
                <a16:creationId xmlns:a16="http://schemas.microsoft.com/office/drawing/2014/main" id="{96FE4C39-4789-47C2-A85F-0A0D69040AAA}"/>
              </a:ext>
            </a:extLst>
          </p:cNvPr>
          <p:cNvSpPr>
            <a:spLocks xmlns:a="http://schemas.openxmlformats.org/drawingml/2006/main" noGrp="1"/>
          </p:cNvSpPr>
          <p:nvPr/>
        </p:nvSpPr>
        <p:spPr>
          <a:xfrm xmlns:a="http://schemas.openxmlformats.org/drawingml/2006/main">
            <a:off x="838200" y="2133600"/>
            <a:ext cx="2952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174C4F"/>
                </a:solidFill>
                <a:latin typeface="Arial"/>
                <a:ea typeface="Arial"/>
                <a:cs typeface="Arial"/>
              </a:defRPr>
            </a:defPPr>
            <a:lvl1pPr>
              <a:defRPr sz="2850" b="1">
                <a:solidFill>
                  <a:srgbClr val="174C4F"/>
                </a:solidFill>
                <a:latin typeface="Arial"/>
                <a:ea typeface="Arial"/>
                <a:cs typeface="Arial"/>
              </a:defRPr>
            </a:lvl1pPr>
            <a:lvl2pPr>
              <a:defRPr sz="2850" b="1">
                <a:solidFill>
                  <a:srgbClr val="174C4F"/>
                </a:solidFill>
                <a:latin typeface="Arial"/>
                <a:ea typeface="Arial"/>
                <a:cs typeface="Arial"/>
              </a:defRPr>
            </a:lvl2pPr>
            <a:lvl3pPr>
              <a:defRPr sz="2850" b="1">
                <a:solidFill>
                  <a:srgbClr val="174C4F"/>
                </a:solidFill>
                <a:latin typeface="Arial"/>
                <a:ea typeface="Arial"/>
                <a:cs typeface="Arial"/>
              </a:defRPr>
            </a:lvl3pPr>
            <a:lvl4pPr>
              <a:defRPr sz="2850" b="1">
                <a:solidFill>
                  <a:srgbClr val="174C4F"/>
                </a:solidFill>
                <a:latin typeface="Arial"/>
                <a:ea typeface="Arial"/>
                <a:cs typeface="Arial"/>
              </a:defRPr>
            </a:lvl4pPr>
            <a:lvl5pPr>
              <a:defRPr sz="2850" b="1">
                <a:solidFill>
                  <a:srgbClr val="174C4F"/>
                </a:solidFill>
                <a:latin typeface="Arial"/>
                <a:ea typeface="Arial"/>
                <a:cs typeface="Arial"/>
              </a:defRPr>
            </a:lvl5pPr>
            <a:lvl6pPr>
              <a:defRPr sz="2850" b="1">
                <a:solidFill>
                  <a:srgbClr val="174C4F"/>
                </a:solidFill>
                <a:latin typeface="Arial"/>
                <a:ea typeface="Arial"/>
                <a:cs typeface="Arial"/>
              </a:defRPr>
            </a:lvl6pPr>
            <a:lvl7pPr>
              <a:defRPr sz="2850" b="1">
                <a:solidFill>
                  <a:srgbClr val="174C4F"/>
                </a:solidFill>
                <a:latin typeface="Arial"/>
                <a:ea typeface="Arial"/>
                <a:cs typeface="Arial"/>
              </a:defRPr>
            </a:lvl7pPr>
            <a:lvl8pPr>
              <a:defRPr sz="2850" b="1">
                <a:solidFill>
                  <a:srgbClr val="174C4F"/>
                </a:solidFill>
                <a:latin typeface="Arial"/>
                <a:ea typeface="Arial"/>
                <a:cs typeface="Arial"/>
              </a:defRPr>
            </a:lvl8pPr>
            <a:lvl9pPr>
              <a:defRPr sz="2850" b="1">
                <a:solidFill>
                  <a:srgbClr val="174C4F"/>
                </a:solidFill>
                <a:latin typeface="Arial"/>
                <a:ea typeface="Arial"/>
                <a:cs typeface="Arial"/>
              </a:defRPr>
            </a:lvl9pPr>
          </a:lstStyle>
          <a:p xmlns:a="http://schemas.openxmlformats.org/drawingml/2006/main">
            <a:pPr>
              <a:defRPr sz="2850" b="1">
                <a:solidFill>
                  <a:srgbClr val="174C4F"/>
                </a:solidFill>
                <a:latin typeface="Arial"/>
                <a:ea typeface="Arial"/>
                <a:cs typeface="Arial"/>
              </a:defRPr>
            </a:pPr>
            <a:r>
              <a:rPr sz="2850" b="1">
                <a:solidFill>
                  <a:srgbClr val="174C4F"/>
                </a:solidFill>
                <a:latin typeface="Arial"/>
                <a:ea typeface="Arial"/>
                <a:cs typeface="Arial"/>
              </a:rPr>
              <a:t>$296,809</a:t>
            </a:r>
          </a:p>
        </p:txBody>
      </p:sp>
      <p:sp>
        <p:nvSpPr>
          <p:cNvPr id="7" name="">
            <a:extLst xmlns:a="http://schemas.openxmlformats.org/drawingml/2006/main">
              <a:ext uri="{FF2B5EF4-FFF2-40B4-BE49-F238E27FC236}">
                <a16:creationId xmlns:a16="http://schemas.microsoft.com/office/drawing/2014/main" id="{99A7BF06-44CB-4015-BB76-76D6E7D3D3FE}"/>
              </a:ext>
            </a:extLst>
          </p:cNvPr>
          <p:cNvSpPr>
            <a:spLocks xmlns:a="http://schemas.openxmlformats.org/drawingml/2006/main" noGrp="1"/>
          </p:cNvSpPr>
          <p:nvPr/>
        </p:nvSpPr>
        <p:spPr>
          <a:xfrm xmlns:a="http://schemas.openxmlformats.org/drawingml/2006/main">
            <a:off x="838200" y="2857500"/>
            <a:ext cx="2952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a:solidFill>
                  <a:srgbClr val="1B2928"/>
                </a:solidFill>
                <a:latin typeface="Arial"/>
                <a:ea typeface="Arial"/>
                <a:cs typeface="Arial"/>
              </a:defRPr>
            </a:defPPr>
            <a:lvl1pPr>
              <a:defRPr sz="1275">
                <a:solidFill>
                  <a:srgbClr val="1B2928"/>
                </a:solidFill>
                <a:latin typeface="Arial"/>
                <a:ea typeface="Arial"/>
                <a:cs typeface="Arial"/>
              </a:defRPr>
            </a:lvl1pPr>
            <a:lvl2pPr>
              <a:defRPr sz="1275">
                <a:solidFill>
                  <a:srgbClr val="1B2928"/>
                </a:solidFill>
                <a:latin typeface="Arial"/>
                <a:ea typeface="Arial"/>
                <a:cs typeface="Arial"/>
              </a:defRPr>
            </a:lvl2pPr>
            <a:lvl3pPr>
              <a:defRPr sz="1275">
                <a:solidFill>
                  <a:srgbClr val="1B2928"/>
                </a:solidFill>
                <a:latin typeface="Arial"/>
                <a:ea typeface="Arial"/>
                <a:cs typeface="Arial"/>
              </a:defRPr>
            </a:lvl3pPr>
            <a:lvl4pPr>
              <a:defRPr sz="1275">
                <a:solidFill>
                  <a:srgbClr val="1B2928"/>
                </a:solidFill>
                <a:latin typeface="Arial"/>
                <a:ea typeface="Arial"/>
                <a:cs typeface="Arial"/>
              </a:defRPr>
            </a:lvl4pPr>
            <a:lvl5pPr>
              <a:defRPr sz="1275">
                <a:solidFill>
                  <a:srgbClr val="1B2928"/>
                </a:solidFill>
                <a:latin typeface="Arial"/>
                <a:ea typeface="Arial"/>
                <a:cs typeface="Arial"/>
              </a:defRPr>
            </a:lvl5pPr>
            <a:lvl6pPr>
              <a:defRPr sz="1275">
                <a:solidFill>
                  <a:srgbClr val="1B2928"/>
                </a:solidFill>
                <a:latin typeface="Arial"/>
                <a:ea typeface="Arial"/>
                <a:cs typeface="Arial"/>
              </a:defRPr>
            </a:lvl6pPr>
            <a:lvl7pPr>
              <a:defRPr sz="1275">
                <a:solidFill>
                  <a:srgbClr val="1B2928"/>
                </a:solidFill>
                <a:latin typeface="Arial"/>
                <a:ea typeface="Arial"/>
                <a:cs typeface="Arial"/>
              </a:defRPr>
            </a:lvl7pPr>
            <a:lvl8pPr>
              <a:defRPr sz="1275">
                <a:solidFill>
                  <a:srgbClr val="1B2928"/>
                </a:solidFill>
                <a:latin typeface="Arial"/>
                <a:ea typeface="Arial"/>
                <a:cs typeface="Arial"/>
              </a:defRPr>
            </a:lvl8pPr>
            <a:lvl9pPr>
              <a:defRPr sz="1275">
                <a:solidFill>
                  <a:srgbClr val="1B2928"/>
                </a:solidFill>
                <a:latin typeface="Arial"/>
                <a:ea typeface="Arial"/>
                <a:cs typeface="Arial"/>
              </a:defRPr>
            </a:lvl9pPr>
          </a:lstStyle>
          <a:p xmlns:a="http://schemas.openxmlformats.org/drawingml/2006/main">
            <a:pPr>
              <a:defRPr sz="1275">
                <a:solidFill>
                  <a:srgbClr val="1B2928"/>
                </a:solidFill>
                <a:latin typeface="Arial"/>
                <a:ea typeface="Arial"/>
                <a:cs typeface="Arial"/>
              </a:defRPr>
            </a:pPr>
            <a:r>
              <a:rPr sz="1275">
                <a:solidFill>
                  <a:srgbClr val="1B2928"/>
                </a:solidFill>
                <a:latin typeface="Arial"/>
                <a:ea typeface="Arial"/>
                <a:cs typeface="Arial"/>
              </a:rPr>
              <a:t>99% one-day VaR; ES $338,445</a:t>
            </a:r>
          </a:p>
        </p:txBody>
      </p:sp>
      <p:sp>
        <p:nvSpPr>
          <p:cNvPr id="8" name="">
            <a:extLst xmlns:a="http://schemas.openxmlformats.org/drawingml/2006/main">
              <a:ext uri="{FF2B5EF4-FFF2-40B4-BE49-F238E27FC236}">
                <a16:creationId xmlns:a16="http://schemas.microsoft.com/office/drawing/2014/main" id="{8AB5B24D-8E2A-499E-B20F-F4D83CE351D3}"/>
              </a:ext>
            </a:extLst>
          </p:cNvPr>
          <p:cNvSpPr>
            <a:spLocks xmlns:a="http://schemas.openxmlformats.org/drawingml/2006/main" noGrp="1"/>
          </p:cNvSpPr>
          <p:nvPr/>
        </p:nvSpPr>
        <p:spPr>
          <a:xfrm xmlns:a="http://schemas.openxmlformats.org/drawingml/2006/main">
            <a:off x="4343400" y="1485900"/>
            <a:ext cx="3429000" cy="2381250"/>
          </a:xfrm>
          <a:prstGeom xmlns:a="http://schemas.openxmlformats.org/drawingml/2006/main" prst="roundRect">
            <a:avLst>
              <a:gd name="adj" fmla="val 4800"/>
            </a:avLst>
          </a:prstGeom>
          <a:solidFill xmlns:a="http://schemas.openxmlformats.org/drawingml/2006/main">
            <a:srgbClr val="F1E2BE"/>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2C9D9B6-D5B0-4E4F-9350-64B0D44EF278}"/>
              </a:ext>
            </a:extLst>
          </p:cNvPr>
          <p:cNvSpPr>
            <a:spLocks xmlns:a="http://schemas.openxmlformats.org/drawingml/2006/main" noGrp="1"/>
          </p:cNvSpPr>
          <p:nvPr/>
        </p:nvSpPr>
        <p:spPr>
          <a:xfrm xmlns:a="http://schemas.openxmlformats.org/drawingml/2006/main">
            <a:off x="4572000" y="17145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C9973A"/>
                </a:solidFill>
                <a:latin typeface="Arial"/>
                <a:ea typeface="Arial"/>
                <a:cs typeface="Arial"/>
              </a:defRPr>
            </a:defPPr>
            <a:lvl1pPr>
              <a:defRPr sz="975" b="1">
                <a:solidFill>
                  <a:srgbClr val="C9973A"/>
                </a:solidFill>
                <a:latin typeface="Arial"/>
                <a:ea typeface="Arial"/>
                <a:cs typeface="Arial"/>
              </a:defRPr>
            </a:lvl1pPr>
            <a:lvl2pPr>
              <a:defRPr sz="975" b="1">
                <a:solidFill>
                  <a:srgbClr val="C9973A"/>
                </a:solidFill>
                <a:latin typeface="Arial"/>
                <a:ea typeface="Arial"/>
                <a:cs typeface="Arial"/>
              </a:defRPr>
            </a:lvl2pPr>
            <a:lvl3pPr>
              <a:defRPr sz="975" b="1">
                <a:solidFill>
                  <a:srgbClr val="C9973A"/>
                </a:solidFill>
                <a:latin typeface="Arial"/>
                <a:ea typeface="Arial"/>
                <a:cs typeface="Arial"/>
              </a:defRPr>
            </a:lvl3pPr>
            <a:lvl4pPr>
              <a:defRPr sz="975" b="1">
                <a:solidFill>
                  <a:srgbClr val="C9973A"/>
                </a:solidFill>
                <a:latin typeface="Arial"/>
                <a:ea typeface="Arial"/>
                <a:cs typeface="Arial"/>
              </a:defRPr>
            </a:lvl4pPr>
            <a:lvl5pPr>
              <a:defRPr sz="975" b="1">
                <a:solidFill>
                  <a:srgbClr val="C9973A"/>
                </a:solidFill>
                <a:latin typeface="Arial"/>
                <a:ea typeface="Arial"/>
                <a:cs typeface="Arial"/>
              </a:defRPr>
            </a:lvl5pPr>
            <a:lvl6pPr>
              <a:defRPr sz="975" b="1">
                <a:solidFill>
                  <a:srgbClr val="C9973A"/>
                </a:solidFill>
                <a:latin typeface="Arial"/>
                <a:ea typeface="Arial"/>
                <a:cs typeface="Arial"/>
              </a:defRPr>
            </a:lvl6pPr>
            <a:lvl7pPr>
              <a:defRPr sz="975" b="1">
                <a:solidFill>
                  <a:srgbClr val="C9973A"/>
                </a:solidFill>
                <a:latin typeface="Arial"/>
                <a:ea typeface="Arial"/>
                <a:cs typeface="Arial"/>
              </a:defRPr>
            </a:lvl7pPr>
            <a:lvl8pPr>
              <a:defRPr sz="975" b="1">
                <a:solidFill>
                  <a:srgbClr val="C9973A"/>
                </a:solidFill>
                <a:latin typeface="Arial"/>
                <a:ea typeface="Arial"/>
                <a:cs typeface="Arial"/>
              </a:defRPr>
            </a:lvl8pPr>
            <a:lvl9pPr>
              <a:defRPr sz="975" b="1">
                <a:solidFill>
                  <a:srgbClr val="C9973A"/>
                </a:solidFill>
                <a:latin typeface="Arial"/>
                <a:ea typeface="Arial"/>
                <a:cs typeface="Arial"/>
              </a:defRPr>
            </a:lvl9pPr>
          </a:lstStyle>
          <a:p xmlns:a="http://schemas.openxmlformats.org/drawingml/2006/main">
            <a:pPr>
              <a:defRPr sz="975" b="1">
                <a:solidFill>
                  <a:srgbClr val="C9973A"/>
                </a:solidFill>
                <a:latin typeface="Arial"/>
                <a:ea typeface="Arial"/>
                <a:cs typeface="Arial"/>
              </a:defRPr>
            </a:pPr>
            <a:r>
              <a:rPr sz="975" b="1">
                <a:solidFill>
                  <a:srgbClr val="C9973A"/>
                </a:solidFill>
                <a:latin typeface="Arial"/>
                <a:ea typeface="Arial"/>
                <a:cs typeface="Arial"/>
              </a:rPr>
              <a:t>MODEL VALIDATION</a:t>
            </a:r>
          </a:p>
        </p:txBody>
      </p:sp>
      <p:sp>
        <p:nvSpPr>
          <p:cNvPr id="10" name="">
            <a:extLst xmlns:a="http://schemas.openxmlformats.org/drawingml/2006/main">
              <a:ext uri="{FF2B5EF4-FFF2-40B4-BE49-F238E27FC236}">
                <a16:creationId xmlns:a16="http://schemas.microsoft.com/office/drawing/2014/main" id="{93CB8283-F73C-4397-8FE3-B6D1F5BA6B65}"/>
              </a:ext>
            </a:extLst>
          </p:cNvPr>
          <p:cNvSpPr>
            <a:spLocks xmlns:a="http://schemas.openxmlformats.org/drawingml/2006/main" noGrp="1"/>
          </p:cNvSpPr>
          <p:nvPr/>
        </p:nvSpPr>
        <p:spPr>
          <a:xfrm xmlns:a="http://schemas.openxmlformats.org/drawingml/2006/main">
            <a:off x="4572000" y="2133600"/>
            <a:ext cx="2952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C9973A"/>
                </a:solidFill>
                <a:latin typeface="Arial"/>
                <a:ea typeface="Arial"/>
                <a:cs typeface="Arial"/>
              </a:defRPr>
            </a:defPPr>
            <a:lvl1pPr>
              <a:defRPr sz="2850" b="1">
                <a:solidFill>
                  <a:srgbClr val="C9973A"/>
                </a:solidFill>
                <a:latin typeface="Arial"/>
                <a:ea typeface="Arial"/>
                <a:cs typeface="Arial"/>
              </a:defRPr>
            </a:lvl1pPr>
            <a:lvl2pPr>
              <a:defRPr sz="2850" b="1">
                <a:solidFill>
                  <a:srgbClr val="C9973A"/>
                </a:solidFill>
                <a:latin typeface="Arial"/>
                <a:ea typeface="Arial"/>
                <a:cs typeface="Arial"/>
              </a:defRPr>
            </a:lvl2pPr>
            <a:lvl3pPr>
              <a:defRPr sz="2850" b="1">
                <a:solidFill>
                  <a:srgbClr val="C9973A"/>
                </a:solidFill>
                <a:latin typeface="Arial"/>
                <a:ea typeface="Arial"/>
                <a:cs typeface="Arial"/>
              </a:defRPr>
            </a:lvl3pPr>
            <a:lvl4pPr>
              <a:defRPr sz="2850" b="1">
                <a:solidFill>
                  <a:srgbClr val="C9973A"/>
                </a:solidFill>
                <a:latin typeface="Arial"/>
                <a:ea typeface="Arial"/>
                <a:cs typeface="Arial"/>
              </a:defRPr>
            </a:lvl4pPr>
            <a:lvl5pPr>
              <a:defRPr sz="2850" b="1">
                <a:solidFill>
                  <a:srgbClr val="C9973A"/>
                </a:solidFill>
                <a:latin typeface="Arial"/>
                <a:ea typeface="Arial"/>
                <a:cs typeface="Arial"/>
              </a:defRPr>
            </a:lvl5pPr>
            <a:lvl6pPr>
              <a:defRPr sz="2850" b="1">
                <a:solidFill>
                  <a:srgbClr val="C9973A"/>
                </a:solidFill>
                <a:latin typeface="Arial"/>
                <a:ea typeface="Arial"/>
                <a:cs typeface="Arial"/>
              </a:defRPr>
            </a:lvl6pPr>
            <a:lvl7pPr>
              <a:defRPr sz="2850" b="1">
                <a:solidFill>
                  <a:srgbClr val="C9973A"/>
                </a:solidFill>
                <a:latin typeface="Arial"/>
                <a:ea typeface="Arial"/>
                <a:cs typeface="Arial"/>
              </a:defRPr>
            </a:lvl7pPr>
            <a:lvl8pPr>
              <a:defRPr sz="2850" b="1">
                <a:solidFill>
                  <a:srgbClr val="C9973A"/>
                </a:solidFill>
                <a:latin typeface="Arial"/>
                <a:ea typeface="Arial"/>
                <a:cs typeface="Arial"/>
              </a:defRPr>
            </a:lvl8pPr>
            <a:lvl9pPr>
              <a:defRPr sz="2850" b="1">
                <a:solidFill>
                  <a:srgbClr val="C9973A"/>
                </a:solidFill>
                <a:latin typeface="Arial"/>
                <a:ea typeface="Arial"/>
                <a:cs typeface="Arial"/>
              </a:defRPr>
            </a:lvl9pPr>
          </a:lstStyle>
          <a:p xmlns:a="http://schemas.openxmlformats.org/drawingml/2006/main">
            <a:pPr>
              <a:defRPr sz="2850" b="1">
                <a:solidFill>
                  <a:srgbClr val="C9973A"/>
                </a:solidFill>
                <a:latin typeface="Arial"/>
                <a:ea typeface="Arial"/>
                <a:cs typeface="Arial"/>
              </a:defRPr>
            </a:pPr>
            <a:r>
              <a:rPr sz="2850" b="1">
                <a:solidFill>
                  <a:srgbClr val="C9973A"/>
                </a:solidFill>
                <a:latin typeface="Arial"/>
                <a:ea typeface="Arial"/>
                <a:cs typeface="Arial"/>
              </a:rPr>
              <a:t>34 vs 31.1</a:t>
            </a:r>
          </a:p>
        </p:txBody>
      </p:sp>
      <p:sp>
        <p:nvSpPr>
          <p:cNvPr id="11" name="">
            <a:extLst xmlns:a="http://schemas.openxmlformats.org/drawingml/2006/main">
              <a:ext uri="{FF2B5EF4-FFF2-40B4-BE49-F238E27FC236}">
                <a16:creationId xmlns:a16="http://schemas.microsoft.com/office/drawing/2014/main" id="{FAC8493A-1DB2-4FFE-8934-90E0F16E810F}"/>
              </a:ext>
            </a:extLst>
          </p:cNvPr>
          <p:cNvSpPr>
            <a:spLocks xmlns:a="http://schemas.openxmlformats.org/drawingml/2006/main" noGrp="1"/>
          </p:cNvSpPr>
          <p:nvPr/>
        </p:nvSpPr>
        <p:spPr>
          <a:xfrm xmlns:a="http://schemas.openxmlformats.org/drawingml/2006/main">
            <a:off x="4572000" y="2857500"/>
            <a:ext cx="2952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a:solidFill>
                  <a:srgbClr val="1B2928"/>
                </a:solidFill>
                <a:latin typeface="Arial"/>
                <a:ea typeface="Arial"/>
                <a:cs typeface="Arial"/>
              </a:defRPr>
            </a:defPPr>
            <a:lvl1pPr>
              <a:defRPr sz="1275">
                <a:solidFill>
                  <a:srgbClr val="1B2928"/>
                </a:solidFill>
                <a:latin typeface="Arial"/>
                <a:ea typeface="Arial"/>
                <a:cs typeface="Arial"/>
              </a:defRPr>
            </a:lvl1pPr>
            <a:lvl2pPr>
              <a:defRPr sz="1275">
                <a:solidFill>
                  <a:srgbClr val="1B2928"/>
                </a:solidFill>
                <a:latin typeface="Arial"/>
                <a:ea typeface="Arial"/>
                <a:cs typeface="Arial"/>
              </a:defRPr>
            </a:lvl2pPr>
            <a:lvl3pPr>
              <a:defRPr sz="1275">
                <a:solidFill>
                  <a:srgbClr val="1B2928"/>
                </a:solidFill>
                <a:latin typeface="Arial"/>
                <a:ea typeface="Arial"/>
                <a:cs typeface="Arial"/>
              </a:defRPr>
            </a:lvl3pPr>
            <a:lvl4pPr>
              <a:defRPr sz="1275">
                <a:solidFill>
                  <a:srgbClr val="1B2928"/>
                </a:solidFill>
                <a:latin typeface="Arial"/>
                <a:ea typeface="Arial"/>
                <a:cs typeface="Arial"/>
              </a:defRPr>
            </a:lvl4pPr>
            <a:lvl5pPr>
              <a:defRPr sz="1275">
                <a:solidFill>
                  <a:srgbClr val="1B2928"/>
                </a:solidFill>
                <a:latin typeface="Arial"/>
                <a:ea typeface="Arial"/>
                <a:cs typeface="Arial"/>
              </a:defRPr>
            </a:lvl5pPr>
            <a:lvl6pPr>
              <a:defRPr sz="1275">
                <a:solidFill>
                  <a:srgbClr val="1B2928"/>
                </a:solidFill>
                <a:latin typeface="Arial"/>
                <a:ea typeface="Arial"/>
                <a:cs typeface="Arial"/>
              </a:defRPr>
            </a:lvl6pPr>
            <a:lvl7pPr>
              <a:defRPr sz="1275">
                <a:solidFill>
                  <a:srgbClr val="1B2928"/>
                </a:solidFill>
                <a:latin typeface="Arial"/>
                <a:ea typeface="Arial"/>
                <a:cs typeface="Arial"/>
              </a:defRPr>
            </a:lvl7pPr>
            <a:lvl8pPr>
              <a:defRPr sz="1275">
                <a:solidFill>
                  <a:srgbClr val="1B2928"/>
                </a:solidFill>
                <a:latin typeface="Arial"/>
                <a:ea typeface="Arial"/>
                <a:cs typeface="Arial"/>
              </a:defRPr>
            </a:lvl8pPr>
            <a:lvl9pPr>
              <a:defRPr sz="1275">
                <a:solidFill>
                  <a:srgbClr val="1B2928"/>
                </a:solidFill>
                <a:latin typeface="Arial"/>
                <a:ea typeface="Arial"/>
                <a:cs typeface="Arial"/>
              </a:defRPr>
            </a:lvl9pPr>
          </a:lstStyle>
          <a:p xmlns:a="http://schemas.openxmlformats.org/drawingml/2006/main">
            <a:pPr>
              <a:defRPr sz="1275">
                <a:solidFill>
                  <a:srgbClr val="1B2928"/>
                </a:solidFill>
                <a:latin typeface="Arial"/>
                <a:ea typeface="Arial"/>
                <a:cs typeface="Arial"/>
              </a:defRPr>
            </a:pPr>
            <a:r>
              <a:rPr sz="1275">
                <a:solidFill>
                  <a:srgbClr val="1B2928"/>
                </a:solidFill>
                <a:latin typeface="Arial"/>
                <a:ea typeface="Arial"/>
                <a:cs typeface="Arial"/>
              </a:rPr>
              <a:t>GJR-HS exceptions vs expected; all tests pass</a:t>
            </a:r>
          </a:p>
        </p:txBody>
      </p:sp>
      <p:sp>
        <p:nvSpPr>
          <p:cNvPr id="12" name="">
            <a:extLst xmlns:a="http://schemas.openxmlformats.org/drawingml/2006/main">
              <a:ext uri="{FF2B5EF4-FFF2-40B4-BE49-F238E27FC236}">
                <a16:creationId xmlns:a16="http://schemas.microsoft.com/office/drawing/2014/main" id="{6449D6DF-9473-454B-8CF1-BCB19CDB497B}"/>
              </a:ext>
            </a:extLst>
          </p:cNvPr>
          <p:cNvSpPr>
            <a:spLocks xmlns:a="http://schemas.openxmlformats.org/drawingml/2006/main" noGrp="1"/>
          </p:cNvSpPr>
          <p:nvPr/>
        </p:nvSpPr>
        <p:spPr>
          <a:xfrm xmlns:a="http://schemas.openxmlformats.org/drawingml/2006/main">
            <a:off x="8077200" y="1485900"/>
            <a:ext cx="3429000" cy="2381250"/>
          </a:xfrm>
          <a:prstGeom xmlns:a="http://schemas.openxmlformats.org/drawingml/2006/main" prst="roundRect">
            <a:avLst>
              <a:gd name="adj" fmla="val 4800"/>
            </a:avLst>
          </a:prstGeom>
          <a:solidFill xmlns:a="http://schemas.openxmlformats.org/drawingml/2006/main">
            <a:srgbClr val="F3DCD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82FF123-FC28-468D-BE9F-C3C7AADA8A7E}"/>
              </a:ext>
            </a:extLst>
          </p:cNvPr>
          <p:cNvSpPr>
            <a:spLocks xmlns:a="http://schemas.openxmlformats.org/drawingml/2006/main" noGrp="1"/>
          </p:cNvSpPr>
          <p:nvPr/>
        </p:nvSpPr>
        <p:spPr>
          <a:xfrm xmlns:a="http://schemas.openxmlformats.org/drawingml/2006/main">
            <a:off x="8305800" y="17145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B84A3A"/>
                </a:solidFill>
                <a:latin typeface="Arial"/>
                <a:ea typeface="Arial"/>
                <a:cs typeface="Arial"/>
              </a:defRPr>
            </a:defPPr>
            <a:lvl1pPr>
              <a:defRPr sz="975" b="1">
                <a:solidFill>
                  <a:srgbClr val="B84A3A"/>
                </a:solidFill>
                <a:latin typeface="Arial"/>
                <a:ea typeface="Arial"/>
                <a:cs typeface="Arial"/>
              </a:defRPr>
            </a:lvl1pPr>
            <a:lvl2pPr>
              <a:defRPr sz="975" b="1">
                <a:solidFill>
                  <a:srgbClr val="B84A3A"/>
                </a:solidFill>
                <a:latin typeface="Arial"/>
                <a:ea typeface="Arial"/>
                <a:cs typeface="Arial"/>
              </a:defRPr>
            </a:lvl2pPr>
            <a:lvl3pPr>
              <a:defRPr sz="975" b="1">
                <a:solidFill>
                  <a:srgbClr val="B84A3A"/>
                </a:solidFill>
                <a:latin typeface="Arial"/>
                <a:ea typeface="Arial"/>
                <a:cs typeface="Arial"/>
              </a:defRPr>
            </a:lvl3pPr>
            <a:lvl4pPr>
              <a:defRPr sz="975" b="1">
                <a:solidFill>
                  <a:srgbClr val="B84A3A"/>
                </a:solidFill>
                <a:latin typeface="Arial"/>
                <a:ea typeface="Arial"/>
                <a:cs typeface="Arial"/>
              </a:defRPr>
            </a:lvl4pPr>
            <a:lvl5pPr>
              <a:defRPr sz="975" b="1">
                <a:solidFill>
                  <a:srgbClr val="B84A3A"/>
                </a:solidFill>
                <a:latin typeface="Arial"/>
                <a:ea typeface="Arial"/>
                <a:cs typeface="Arial"/>
              </a:defRPr>
            </a:lvl5pPr>
            <a:lvl6pPr>
              <a:defRPr sz="975" b="1">
                <a:solidFill>
                  <a:srgbClr val="B84A3A"/>
                </a:solidFill>
                <a:latin typeface="Arial"/>
                <a:ea typeface="Arial"/>
                <a:cs typeface="Arial"/>
              </a:defRPr>
            </a:lvl6pPr>
            <a:lvl7pPr>
              <a:defRPr sz="975" b="1">
                <a:solidFill>
                  <a:srgbClr val="B84A3A"/>
                </a:solidFill>
                <a:latin typeface="Arial"/>
                <a:ea typeface="Arial"/>
                <a:cs typeface="Arial"/>
              </a:defRPr>
            </a:lvl7pPr>
            <a:lvl8pPr>
              <a:defRPr sz="975" b="1">
                <a:solidFill>
                  <a:srgbClr val="B84A3A"/>
                </a:solidFill>
                <a:latin typeface="Arial"/>
                <a:ea typeface="Arial"/>
                <a:cs typeface="Arial"/>
              </a:defRPr>
            </a:lvl8pPr>
            <a:lvl9pPr>
              <a:defRPr sz="975" b="1">
                <a:solidFill>
                  <a:srgbClr val="B84A3A"/>
                </a:solidFill>
                <a:latin typeface="Arial"/>
                <a:ea typeface="Arial"/>
                <a:cs typeface="Arial"/>
              </a:defRPr>
            </a:lvl9pPr>
          </a:lstStyle>
          <a:p xmlns:a="http://schemas.openxmlformats.org/drawingml/2006/main">
            <a:pPr>
              <a:defRPr sz="975" b="1">
                <a:solidFill>
                  <a:srgbClr val="B84A3A"/>
                </a:solidFill>
                <a:latin typeface="Arial"/>
                <a:ea typeface="Arial"/>
                <a:cs typeface="Arial"/>
              </a:defRPr>
            </a:pPr>
            <a:r>
              <a:rPr sz="975" b="1">
                <a:solidFill>
                  <a:srgbClr val="B84A3A"/>
                </a:solidFill>
                <a:latin typeface="Arial"/>
                <a:ea typeface="Arial"/>
                <a:cs typeface="Arial"/>
              </a:rPr>
              <a:t>TAIL EXPOSURE</a:t>
            </a:r>
          </a:p>
        </p:txBody>
      </p:sp>
      <p:sp>
        <p:nvSpPr>
          <p:cNvPr id="14" name="">
            <a:extLst xmlns:a="http://schemas.openxmlformats.org/drawingml/2006/main">
              <a:ext uri="{FF2B5EF4-FFF2-40B4-BE49-F238E27FC236}">
                <a16:creationId xmlns:a16="http://schemas.microsoft.com/office/drawing/2014/main" id="{CDDB815A-11AF-4132-9A6A-2BE0C62B8385}"/>
              </a:ext>
            </a:extLst>
          </p:cNvPr>
          <p:cNvSpPr>
            <a:spLocks xmlns:a="http://schemas.openxmlformats.org/drawingml/2006/main" noGrp="1"/>
          </p:cNvSpPr>
          <p:nvPr/>
        </p:nvSpPr>
        <p:spPr>
          <a:xfrm xmlns:a="http://schemas.openxmlformats.org/drawingml/2006/main">
            <a:off x="8305800" y="2133600"/>
            <a:ext cx="2952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B84A3A"/>
                </a:solidFill>
                <a:latin typeface="Arial"/>
                <a:ea typeface="Arial"/>
                <a:cs typeface="Arial"/>
              </a:defRPr>
            </a:defPPr>
            <a:lvl1pPr>
              <a:defRPr sz="2850" b="1">
                <a:solidFill>
                  <a:srgbClr val="B84A3A"/>
                </a:solidFill>
                <a:latin typeface="Arial"/>
                <a:ea typeface="Arial"/>
                <a:cs typeface="Arial"/>
              </a:defRPr>
            </a:lvl1pPr>
            <a:lvl2pPr>
              <a:defRPr sz="2850" b="1">
                <a:solidFill>
                  <a:srgbClr val="B84A3A"/>
                </a:solidFill>
                <a:latin typeface="Arial"/>
                <a:ea typeface="Arial"/>
                <a:cs typeface="Arial"/>
              </a:defRPr>
            </a:lvl2pPr>
            <a:lvl3pPr>
              <a:defRPr sz="2850" b="1">
                <a:solidFill>
                  <a:srgbClr val="B84A3A"/>
                </a:solidFill>
                <a:latin typeface="Arial"/>
                <a:ea typeface="Arial"/>
                <a:cs typeface="Arial"/>
              </a:defRPr>
            </a:lvl3pPr>
            <a:lvl4pPr>
              <a:defRPr sz="2850" b="1">
                <a:solidFill>
                  <a:srgbClr val="B84A3A"/>
                </a:solidFill>
                <a:latin typeface="Arial"/>
                <a:ea typeface="Arial"/>
                <a:cs typeface="Arial"/>
              </a:defRPr>
            </a:lvl4pPr>
            <a:lvl5pPr>
              <a:defRPr sz="2850" b="1">
                <a:solidFill>
                  <a:srgbClr val="B84A3A"/>
                </a:solidFill>
                <a:latin typeface="Arial"/>
                <a:ea typeface="Arial"/>
                <a:cs typeface="Arial"/>
              </a:defRPr>
            </a:lvl5pPr>
            <a:lvl6pPr>
              <a:defRPr sz="2850" b="1">
                <a:solidFill>
                  <a:srgbClr val="B84A3A"/>
                </a:solidFill>
                <a:latin typeface="Arial"/>
                <a:ea typeface="Arial"/>
                <a:cs typeface="Arial"/>
              </a:defRPr>
            </a:lvl6pPr>
            <a:lvl7pPr>
              <a:defRPr sz="2850" b="1">
                <a:solidFill>
                  <a:srgbClr val="B84A3A"/>
                </a:solidFill>
                <a:latin typeface="Arial"/>
                <a:ea typeface="Arial"/>
                <a:cs typeface="Arial"/>
              </a:defRPr>
            </a:lvl7pPr>
            <a:lvl8pPr>
              <a:defRPr sz="2850" b="1">
                <a:solidFill>
                  <a:srgbClr val="B84A3A"/>
                </a:solidFill>
                <a:latin typeface="Arial"/>
                <a:ea typeface="Arial"/>
                <a:cs typeface="Arial"/>
              </a:defRPr>
            </a:lvl8pPr>
            <a:lvl9pPr>
              <a:defRPr sz="2850" b="1">
                <a:solidFill>
                  <a:srgbClr val="B84A3A"/>
                </a:solidFill>
                <a:latin typeface="Arial"/>
                <a:ea typeface="Arial"/>
                <a:cs typeface="Arial"/>
              </a:defRPr>
            </a:lvl9pPr>
          </a:lstStyle>
          <a:p xmlns:a="http://schemas.openxmlformats.org/drawingml/2006/main">
            <a:pPr>
              <a:defRPr sz="2850" b="1">
                <a:solidFill>
                  <a:srgbClr val="B84A3A"/>
                </a:solidFill>
                <a:latin typeface="Arial"/>
                <a:ea typeface="Arial"/>
                <a:cs typeface="Arial"/>
              </a:defRPr>
            </a:pPr>
            <a:r>
              <a:rPr sz="2850" b="1">
                <a:solidFill>
                  <a:srgbClr val="B84A3A"/>
                </a:solidFill>
                <a:latin typeface="Arial"/>
                <a:ea typeface="Arial"/>
                <a:cs typeface="Arial"/>
              </a:rPr>
              <a:t>44.1%</a:t>
            </a:r>
          </a:p>
        </p:txBody>
      </p:sp>
      <p:sp>
        <p:nvSpPr>
          <p:cNvPr id="15" name="">
            <a:extLst xmlns:a="http://schemas.openxmlformats.org/drawingml/2006/main">
              <a:ext uri="{FF2B5EF4-FFF2-40B4-BE49-F238E27FC236}">
                <a16:creationId xmlns:a16="http://schemas.microsoft.com/office/drawing/2014/main" id="{6847FFE1-62C4-4856-A16E-F657ED5F238F}"/>
              </a:ext>
            </a:extLst>
          </p:cNvPr>
          <p:cNvSpPr>
            <a:spLocks xmlns:a="http://schemas.openxmlformats.org/drawingml/2006/main" noGrp="1"/>
          </p:cNvSpPr>
          <p:nvPr/>
        </p:nvSpPr>
        <p:spPr>
          <a:xfrm xmlns:a="http://schemas.openxmlformats.org/drawingml/2006/main">
            <a:off x="8305800" y="2857500"/>
            <a:ext cx="2952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a:solidFill>
                  <a:srgbClr val="1B2928"/>
                </a:solidFill>
                <a:latin typeface="Arial"/>
                <a:ea typeface="Arial"/>
                <a:cs typeface="Arial"/>
              </a:defRPr>
            </a:defPPr>
            <a:lvl1pPr>
              <a:defRPr sz="1275">
                <a:solidFill>
                  <a:srgbClr val="1B2928"/>
                </a:solidFill>
                <a:latin typeface="Arial"/>
                <a:ea typeface="Arial"/>
                <a:cs typeface="Arial"/>
              </a:defRPr>
            </a:lvl1pPr>
            <a:lvl2pPr>
              <a:defRPr sz="1275">
                <a:solidFill>
                  <a:srgbClr val="1B2928"/>
                </a:solidFill>
                <a:latin typeface="Arial"/>
                <a:ea typeface="Arial"/>
                <a:cs typeface="Arial"/>
              </a:defRPr>
            </a:lvl2pPr>
            <a:lvl3pPr>
              <a:defRPr sz="1275">
                <a:solidFill>
                  <a:srgbClr val="1B2928"/>
                </a:solidFill>
                <a:latin typeface="Arial"/>
                <a:ea typeface="Arial"/>
                <a:cs typeface="Arial"/>
              </a:defRPr>
            </a:lvl3pPr>
            <a:lvl4pPr>
              <a:defRPr sz="1275">
                <a:solidFill>
                  <a:srgbClr val="1B2928"/>
                </a:solidFill>
                <a:latin typeface="Arial"/>
                <a:ea typeface="Arial"/>
                <a:cs typeface="Arial"/>
              </a:defRPr>
            </a:lvl4pPr>
            <a:lvl5pPr>
              <a:defRPr sz="1275">
                <a:solidFill>
                  <a:srgbClr val="1B2928"/>
                </a:solidFill>
                <a:latin typeface="Arial"/>
                <a:ea typeface="Arial"/>
                <a:cs typeface="Arial"/>
              </a:defRPr>
            </a:lvl5pPr>
            <a:lvl6pPr>
              <a:defRPr sz="1275">
                <a:solidFill>
                  <a:srgbClr val="1B2928"/>
                </a:solidFill>
                <a:latin typeface="Arial"/>
                <a:ea typeface="Arial"/>
                <a:cs typeface="Arial"/>
              </a:defRPr>
            </a:lvl6pPr>
            <a:lvl7pPr>
              <a:defRPr sz="1275">
                <a:solidFill>
                  <a:srgbClr val="1B2928"/>
                </a:solidFill>
                <a:latin typeface="Arial"/>
                <a:ea typeface="Arial"/>
                <a:cs typeface="Arial"/>
              </a:defRPr>
            </a:lvl7pPr>
            <a:lvl8pPr>
              <a:defRPr sz="1275">
                <a:solidFill>
                  <a:srgbClr val="1B2928"/>
                </a:solidFill>
                <a:latin typeface="Arial"/>
                <a:ea typeface="Arial"/>
                <a:cs typeface="Arial"/>
              </a:defRPr>
            </a:lvl8pPr>
            <a:lvl9pPr>
              <a:defRPr sz="1275">
                <a:solidFill>
                  <a:srgbClr val="1B2928"/>
                </a:solidFill>
                <a:latin typeface="Arial"/>
                <a:ea typeface="Arial"/>
                <a:cs typeface="Arial"/>
              </a:defRPr>
            </a:lvl9pPr>
          </a:lstStyle>
          <a:p xmlns:a="http://schemas.openxmlformats.org/drawingml/2006/main">
            <a:pPr>
              <a:defRPr sz="1275">
                <a:solidFill>
                  <a:srgbClr val="1B2928"/>
                </a:solidFill>
                <a:latin typeface="Arial"/>
                <a:ea typeface="Arial"/>
                <a:cs typeface="Arial"/>
              </a:defRPr>
            </a:pPr>
            <a:r>
              <a:rPr sz="1275">
                <a:solidFill>
                  <a:srgbClr val="1B2928"/>
                </a:solidFill>
                <a:latin typeface="Arial"/>
                <a:ea typeface="Arial"/>
                <a:cs typeface="Arial"/>
              </a:rPr>
              <a:t>2008 replay loss; above proposed 40% escalation</a:t>
            </a:r>
          </a:p>
        </p:txBody>
      </p:sp>
      <p:sp>
        <p:nvSpPr>
          <p:cNvPr id="16" name="">
            <a:extLst xmlns:a="http://schemas.openxmlformats.org/drawingml/2006/main">
              <a:ext uri="{FF2B5EF4-FFF2-40B4-BE49-F238E27FC236}">
                <a16:creationId xmlns:a16="http://schemas.microsoft.com/office/drawing/2014/main" id="{18757227-5504-4E0C-8050-E6D82F3F2668}"/>
              </a:ext>
            </a:extLst>
          </p:cNvPr>
          <p:cNvSpPr>
            <a:spLocks xmlns:a="http://schemas.openxmlformats.org/drawingml/2006/main" noGrp="1"/>
          </p:cNvSpPr>
          <p:nvPr/>
        </p:nvSpPr>
        <p:spPr>
          <a:xfrm xmlns:a="http://schemas.openxmlformats.org/drawingml/2006/main">
            <a:off x="1390650" y="4324350"/>
            <a:ext cx="9410700" cy="1352550"/>
          </a:xfrm>
          <a:prstGeom xmlns:a="http://schemas.openxmlformats.org/drawingml/2006/main" prst="roundRect">
            <a:avLst>
              <a:gd name="adj" fmla="val 5634"/>
            </a:avLst>
          </a:prstGeom>
          <a:solidFill xmlns:a="http://schemas.openxmlformats.org/drawingml/2006/main">
            <a:srgbClr val="FFFEF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55453C5-10E7-4EB8-ABBE-CBE599CC687F}"/>
              </a:ext>
            </a:extLst>
          </p:cNvPr>
          <p:cNvSpPr>
            <a:spLocks xmlns:a="http://schemas.openxmlformats.org/drawingml/2006/main" noGrp="1"/>
          </p:cNvSpPr>
          <p:nvPr/>
        </p:nvSpPr>
        <p:spPr>
          <a:xfrm xmlns:a="http://schemas.openxmlformats.org/drawingml/2006/main">
            <a:off x="1390650" y="4324350"/>
            <a:ext cx="66675" cy="1352550"/>
          </a:xfrm>
          <a:prstGeom xmlns:a="http://schemas.openxmlformats.org/drawingml/2006/main" prst="rect">
            <a:avLst/>
          </a:prstGeom>
          <a:solidFill xmlns:a="http://schemas.openxmlformats.org/drawingml/2006/main">
            <a:srgbClr val="174C4F"/>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03FC574-746F-4345-841F-4047AD0146AF}"/>
              </a:ext>
            </a:extLst>
          </p:cNvPr>
          <p:cNvSpPr>
            <a:spLocks xmlns:a="http://schemas.openxmlformats.org/drawingml/2006/main" noGrp="1"/>
          </p:cNvSpPr>
          <p:nvPr/>
        </p:nvSpPr>
        <p:spPr>
          <a:xfrm xmlns:a="http://schemas.openxmlformats.org/drawingml/2006/main">
            <a:off x="1619250" y="4467225"/>
            <a:ext cx="9029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174C4F"/>
                </a:solidFill>
                <a:latin typeface="Arial"/>
                <a:ea typeface="Arial"/>
                <a:cs typeface="Arial"/>
              </a:defRPr>
            </a:defPPr>
            <a:lvl1pPr>
              <a:defRPr sz="1425" b="1">
                <a:solidFill>
                  <a:srgbClr val="174C4F"/>
                </a:solidFill>
                <a:latin typeface="Arial"/>
                <a:ea typeface="Arial"/>
                <a:cs typeface="Arial"/>
              </a:defRPr>
            </a:lvl1pPr>
            <a:lvl2pPr>
              <a:defRPr sz="1425" b="1">
                <a:solidFill>
                  <a:srgbClr val="174C4F"/>
                </a:solidFill>
                <a:latin typeface="Arial"/>
                <a:ea typeface="Arial"/>
                <a:cs typeface="Arial"/>
              </a:defRPr>
            </a:lvl2pPr>
            <a:lvl3pPr>
              <a:defRPr sz="1425" b="1">
                <a:solidFill>
                  <a:srgbClr val="174C4F"/>
                </a:solidFill>
                <a:latin typeface="Arial"/>
                <a:ea typeface="Arial"/>
                <a:cs typeface="Arial"/>
              </a:defRPr>
            </a:lvl3pPr>
            <a:lvl4pPr>
              <a:defRPr sz="1425" b="1">
                <a:solidFill>
                  <a:srgbClr val="174C4F"/>
                </a:solidFill>
                <a:latin typeface="Arial"/>
                <a:ea typeface="Arial"/>
                <a:cs typeface="Arial"/>
              </a:defRPr>
            </a:lvl4pPr>
            <a:lvl5pPr>
              <a:defRPr sz="1425" b="1">
                <a:solidFill>
                  <a:srgbClr val="174C4F"/>
                </a:solidFill>
                <a:latin typeface="Arial"/>
                <a:ea typeface="Arial"/>
                <a:cs typeface="Arial"/>
              </a:defRPr>
            </a:lvl5pPr>
            <a:lvl6pPr>
              <a:defRPr sz="1425" b="1">
                <a:solidFill>
                  <a:srgbClr val="174C4F"/>
                </a:solidFill>
                <a:latin typeface="Arial"/>
                <a:ea typeface="Arial"/>
                <a:cs typeface="Arial"/>
              </a:defRPr>
            </a:lvl6pPr>
            <a:lvl7pPr>
              <a:defRPr sz="1425" b="1">
                <a:solidFill>
                  <a:srgbClr val="174C4F"/>
                </a:solidFill>
                <a:latin typeface="Arial"/>
                <a:ea typeface="Arial"/>
                <a:cs typeface="Arial"/>
              </a:defRPr>
            </a:lvl7pPr>
            <a:lvl8pPr>
              <a:defRPr sz="1425" b="1">
                <a:solidFill>
                  <a:srgbClr val="174C4F"/>
                </a:solidFill>
                <a:latin typeface="Arial"/>
                <a:ea typeface="Arial"/>
                <a:cs typeface="Arial"/>
              </a:defRPr>
            </a:lvl8pPr>
            <a:lvl9pPr>
              <a:defRPr sz="1425" b="1">
                <a:solidFill>
                  <a:srgbClr val="174C4F"/>
                </a:solidFill>
                <a:latin typeface="Arial"/>
                <a:ea typeface="Arial"/>
                <a:cs typeface="Arial"/>
              </a:defRPr>
            </a:lvl9pPr>
          </a:lstStyle>
          <a:p xmlns:a="http://schemas.openxmlformats.org/drawingml/2006/main">
            <a:pPr>
              <a:defRPr sz="1425" b="1">
                <a:solidFill>
                  <a:srgbClr val="174C4F"/>
                </a:solidFill>
                <a:latin typeface="Arial"/>
                <a:ea typeface="Arial"/>
                <a:cs typeface="Arial"/>
              </a:defRPr>
            </a:pPr>
            <a:r>
              <a:rPr sz="1425" b="1">
                <a:solidFill>
                  <a:srgbClr val="174C4F"/>
                </a:solidFill>
                <a:latin typeface="Arial"/>
                <a:ea typeface="Arial"/>
                <a:cs typeface="Arial"/>
              </a:rPr>
              <a:t>Risk decision</a:t>
            </a:r>
          </a:p>
        </p:txBody>
      </p:sp>
      <p:sp>
        <p:nvSpPr>
          <p:cNvPr id="19" name="">
            <a:extLst xmlns:a="http://schemas.openxmlformats.org/drawingml/2006/main">
              <a:ext uri="{FF2B5EF4-FFF2-40B4-BE49-F238E27FC236}">
                <a16:creationId xmlns:a16="http://schemas.microsoft.com/office/drawing/2014/main" id="{A1489D39-5C8D-4A54-916B-DB92E9451365}"/>
              </a:ext>
            </a:extLst>
          </p:cNvPr>
          <p:cNvSpPr>
            <a:spLocks xmlns:a="http://schemas.openxmlformats.org/drawingml/2006/main" noGrp="1"/>
          </p:cNvSpPr>
          <p:nvPr/>
        </p:nvSpPr>
        <p:spPr>
          <a:xfrm xmlns:a="http://schemas.openxmlformats.org/drawingml/2006/main">
            <a:off x="1619250" y="4772025"/>
            <a:ext cx="90297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Adopt GJR-HS as primary; keep EWMA-HS as challenger; decide whether to hedge or reduce exposure until stress loss and single-name tail concentration fit approved appetite.</a:t>
            </a:r>
          </a:p>
        </p:txBody>
      </p:sp>
      <p:sp>
        <p:nvSpPr>
          <p:cNvPr id="20" name="">
            <a:extLst xmlns:a="http://schemas.openxmlformats.org/drawingml/2006/main">
              <a:ext uri="{FF2B5EF4-FFF2-40B4-BE49-F238E27FC236}">
                <a16:creationId xmlns:a16="http://schemas.microsoft.com/office/drawing/2014/main" id="{5BA1F83F-AA3E-453D-B5C9-7E82ED3699B7}"/>
              </a:ext>
            </a:extLst>
          </p:cNvPr>
          <p:cNvSpPr>
            <a:spLocks xmlns:a="http://schemas.openxmlformats.org/drawingml/2006/main" noGrp="1"/>
          </p:cNvSpPr>
          <p:nvPr/>
        </p:nvSpPr>
        <p:spPr>
          <a:xfrm xmlns:a="http://schemas.openxmlformats.org/drawingml/2006/main">
            <a:off x="609600" y="6362700"/>
            <a:ext cx="109728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18C4EB-C367-46EB-AB6E-ACEAD4A09F47}"/>
              </a:ext>
            </a:extLst>
          </p:cNvPr>
          <p:cNvSpPr>
            <a:spLocks xmlns:a="http://schemas.openxmlformats.org/drawingml/2006/main" noGrp="1"/>
          </p:cNvSpPr>
          <p:nvPr/>
        </p:nvSpPr>
        <p:spPr>
          <a:xfrm xmlns:a="http://schemas.openxmlformats.org/drawingml/2006/main">
            <a:off x="609600" y="6429375"/>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75">
                <a:solidFill>
                  <a:srgbClr val="5E6865"/>
                </a:solidFill>
                <a:latin typeface="Arial"/>
                <a:ea typeface="Arial"/>
                <a:cs typeface="Arial"/>
              </a:defRPr>
            </a:defPPr>
            <a:lvl1pPr>
              <a:defRPr sz="675">
                <a:solidFill>
                  <a:srgbClr val="5E6865"/>
                </a:solidFill>
                <a:latin typeface="Arial"/>
                <a:ea typeface="Arial"/>
                <a:cs typeface="Arial"/>
              </a:defRPr>
            </a:lvl1pPr>
            <a:lvl2pPr>
              <a:defRPr sz="675">
                <a:solidFill>
                  <a:srgbClr val="5E6865"/>
                </a:solidFill>
                <a:latin typeface="Arial"/>
                <a:ea typeface="Arial"/>
                <a:cs typeface="Arial"/>
              </a:defRPr>
            </a:lvl2pPr>
            <a:lvl3pPr>
              <a:defRPr sz="675">
                <a:solidFill>
                  <a:srgbClr val="5E6865"/>
                </a:solidFill>
                <a:latin typeface="Arial"/>
                <a:ea typeface="Arial"/>
                <a:cs typeface="Arial"/>
              </a:defRPr>
            </a:lvl3pPr>
            <a:lvl4pPr>
              <a:defRPr sz="675">
                <a:solidFill>
                  <a:srgbClr val="5E6865"/>
                </a:solidFill>
                <a:latin typeface="Arial"/>
                <a:ea typeface="Arial"/>
                <a:cs typeface="Arial"/>
              </a:defRPr>
            </a:lvl4pPr>
            <a:lvl5pPr>
              <a:defRPr sz="675">
                <a:solidFill>
                  <a:srgbClr val="5E6865"/>
                </a:solidFill>
                <a:latin typeface="Arial"/>
                <a:ea typeface="Arial"/>
                <a:cs typeface="Arial"/>
              </a:defRPr>
            </a:lvl5pPr>
            <a:lvl6pPr>
              <a:defRPr sz="675">
                <a:solidFill>
                  <a:srgbClr val="5E6865"/>
                </a:solidFill>
                <a:latin typeface="Arial"/>
                <a:ea typeface="Arial"/>
                <a:cs typeface="Arial"/>
              </a:defRPr>
            </a:lvl6pPr>
            <a:lvl7pPr>
              <a:defRPr sz="675">
                <a:solidFill>
                  <a:srgbClr val="5E6865"/>
                </a:solidFill>
                <a:latin typeface="Arial"/>
                <a:ea typeface="Arial"/>
                <a:cs typeface="Arial"/>
              </a:defRPr>
            </a:lvl7pPr>
            <a:lvl8pPr>
              <a:defRPr sz="675">
                <a:solidFill>
                  <a:srgbClr val="5E6865"/>
                </a:solidFill>
                <a:latin typeface="Arial"/>
                <a:ea typeface="Arial"/>
                <a:cs typeface="Arial"/>
              </a:defRPr>
            </a:lvl8pPr>
            <a:lvl9pPr>
              <a:defRPr sz="675">
                <a:solidFill>
                  <a:srgbClr val="5E6865"/>
                </a:solidFill>
                <a:latin typeface="Arial"/>
                <a:ea typeface="Arial"/>
                <a:cs typeface="Arial"/>
              </a:defRPr>
            </a:lvl9pPr>
          </a:lstStyle>
          <a:p xmlns:a="http://schemas.openxmlformats.org/drawingml/2006/main">
            <a:pPr>
              <a:defRPr sz="675">
                <a:solidFill>
                  <a:srgbClr val="5E6865"/>
                </a:solidFill>
                <a:latin typeface="Arial"/>
                <a:ea typeface="Arial"/>
                <a:cs typeface="Arial"/>
              </a:defRPr>
            </a:pPr>
            <a:r>
              <a:rPr sz="675">
                <a:solidFill>
                  <a:srgbClr val="5E6865"/>
                </a:solidFill>
                <a:latin typeface="Arial"/>
                <a:ea typeface="Arial"/>
                <a:cs typeface="Arial"/>
              </a:rPr>
              <a:t>Source: QFI_V2_report.docx; Advanced Equity Portfolio Risk Management brief; report_assets/results.json and presentation_backtest.json, as of 16 October 2026.</a:t>
            </a:r>
          </a:p>
        </p:txBody>
      </p:sp>
      <p:sp>
        <p:nvSpPr>
          <p:cNvPr id="22" name="">
            <a:extLst xmlns:a="http://schemas.openxmlformats.org/drawingml/2006/main">
              <a:ext uri="{FF2B5EF4-FFF2-40B4-BE49-F238E27FC236}">
                <a16:creationId xmlns:a16="http://schemas.microsoft.com/office/drawing/2014/main" id="{98E828D4-6BFC-49FB-8831-890287957382}"/>
              </a:ext>
            </a:extLst>
          </p:cNvPr>
          <p:cNvSpPr>
            <a:spLocks xmlns:a="http://schemas.openxmlformats.org/drawingml/2006/main" noGrp="1"/>
          </p:cNvSpPr>
          <p:nvPr/>
        </p:nvSpPr>
        <p:spPr>
          <a:xfrm xmlns:a="http://schemas.openxmlformats.org/drawingml/2006/main">
            <a:off x="10839450" y="64008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174C4F"/>
                </a:solidFill>
                <a:latin typeface="Arial"/>
                <a:ea typeface="Arial"/>
                <a:cs typeface="Arial"/>
              </a:defRPr>
            </a:defPPr>
            <a:lvl1pPr algn="r">
              <a:defRPr sz="825" b="1">
                <a:solidFill>
                  <a:srgbClr val="174C4F"/>
                </a:solidFill>
                <a:latin typeface="Arial"/>
                <a:ea typeface="Arial"/>
                <a:cs typeface="Arial"/>
              </a:defRPr>
            </a:lvl1pPr>
            <a:lvl2pPr algn="r">
              <a:defRPr sz="825" b="1">
                <a:solidFill>
                  <a:srgbClr val="174C4F"/>
                </a:solidFill>
                <a:latin typeface="Arial"/>
                <a:ea typeface="Arial"/>
                <a:cs typeface="Arial"/>
              </a:defRPr>
            </a:lvl2pPr>
            <a:lvl3pPr algn="r">
              <a:defRPr sz="825" b="1">
                <a:solidFill>
                  <a:srgbClr val="174C4F"/>
                </a:solidFill>
                <a:latin typeface="Arial"/>
                <a:ea typeface="Arial"/>
                <a:cs typeface="Arial"/>
              </a:defRPr>
            </a:lvl3pPr>
            <a:lvl4pPr algn="r">
              <a:defRPr sz="825" b="1">
                <a:solidFill>
                  <a:srgbClr val="174C4F"/>
                </a:solidFill>
                <a:latin typeface="Arial"/>
                <a:ea typeface="Arial"/>
                <a:cs typeface="Arial"/>
              </a:defRPr>
            </a:lvl4pPr>
            <a:lvl5pPr algn="r">
              <a:defRPr sz="825" b="1">
                <a:solidFill>
                  <a:srgbClr val="174C4F"/>
                </a:solidFill>
                <a:latin typeface="Arial"/>
                <a:ea typeface="Arial"/>
                <a:cs typeface="Arial"/>
              </a:defRPr>
            </a:lvl5pPr>
            <a:lvl6pPr algn="r">
              <a:defRPr sz="825" b="1">
                <a:solidFill>
                  <a:srgbClr val="174C4F"/>
                </a:solidFill>
                <a:latin typeface="Arial"/>
                <a:ea typeface="Arial"/>
                <a:cs typeface="Arial"/>
              </a:defRPr>
            </a:lvl6pPr>
            <a:lvl7pPr algn="r">
              <a:defRPr sz="825" b="1">
                <a:solidFill>
                  <a:srgbClr val="174C4F"/>
                </a:solidFill>
                <a:latin typeface="Arial"/>
                <a:ea typeface="Arial"/>
                <a:cs typeface="Arial"/>
              </a:defRPr>
            </a:lvl7pPr>
            <a:lvl8pPr algn="r">
              <a:defRPr sz="825" b="1">
                <a:solidFill>
                  <a:srgbClr val="174C4F"/>
                </a:solidFill>
                <a:latin typeface="Arial"/>
                <a:ea typeface="Arial"/>
                <a:cs typeface="Arial"/>
              </a:defRPr>
            </a:lvl8pPr>
            <a:lvl9pPr algn="r">
              <a:defRPr sz="825" b="1">
                <a:solidFill>
                  <a:srgbClr val="174C4F"/>
                </a:solidFill>
                <a:latin typeface="Arial"/>
                <a:ea typeface="Arial"/>
                <a:cs typeface="Arial"/>
              </a:defRPr>
            </a:lvl9pPr>
          </a:lstStyle>
          <a:p xmlns:a="http://schemas.openxmlformats.org/drawingml/2006/main">
            <a:pPr algn="r">
              <a:defRPr sz="825" b="1">
                <a:solidFill>
                  <a:srgbClr val="174C4F"/>
                </a:solidFill>
                <a:latin typeface="Arial"/>
                <a:ea typeface="Arial"/>
                <a:cs typeface="Arial"/>
              </a:defRPr>
            </a:pPr>
            <a:r>
              <a:rPr sz="825" b="1">
                <a:solidFill>
                  <a:srgbClr val="174C4F"/>
                </a:solidFill>
                <a:latin typeface="Arial"/>
                <a:ea typeface="Arial"/>
                <a:cs typeface="Arial"/>
              </a:rPr>
              <a:t>02</a:t>
            </a:r>
          </a:p>
        </p:txBody>
      </p:sp>
    </p:spTree>
    <p:extLst>
      <p:ext uri="{BB962C8B-B14F-4D97-AF65-F5344CB8AC3E}">
        <p14:creationId xmlns:p14="http://schemas.microsoft.com/office/powerpoint/2010/main" val="674675924"/>
      </p:ext>
    </p:extLst>
  </p:cSld>
</p:sld>
</file>

<file path=ppt/slides/slide3.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0F27DF4A-B96E-4688-9960-A7BC69DA6A90}"/>
              </a:ext>
            </a:extLst>
          </p:cNvPr>
          <p:cNvSpPr>
            <a:spLocks xmlns:a="http://schemas.openxmlformats.org/drawingml/2006/main" noGrp="1"/>
          </p:cNvSpPr>
          <p:nvPr/>
        </p:nvSpPr>
        <p:spPr>
          <a:xfrm xmlns:a="http://schemas.openxmlformats.org/drawingml/2006/main">
            <a:off x="609600" y="4000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B2928"/>
                </a:solidFill>
                <a:latin typeface="Arial"/>
                <a:ea typeface="Arial"/>
                <a:cs typeface="Arial"/>
              </a:defRPr>
            </a:defPPr>
            <a:lvl1pPr>
              <a:defRPr sz="2550" b="1">
                <a:solidFill>
                  <a:srgbClr val="1B2928"/>
                </a:solidFill>
                <a:latin typeface="Arial"/>
                <a:ea typeface="Arial"/>
                <a:cs typeface="Arial"/>
              </a:defRPr>
            </a:lvl1pPr>
            <a:lvl2pPr>
              <a:defRPr sz="2550" b="1">
                <a:solidFill>
                  <a:srgbClr val="1B2928"/>
                </a:solidFill>
                <a:latin typeface="Arial"/>
                <a:ea typeface="Arial"/>
                <a:cs typeface="Arial"/>
              </a:defRPr>
            </a:lvl2pPr>
            <a:lvl3pPr>
              <a:defRPr sz="2550" b="1">
                <a:solidFill>
                  <a:srgbClr val="1B2928"/>
                </a:solidFill>
                <a:latin typeface="Arial"/>
                <a:ea typeface="Arial"/>
                <a:cs typeface="Arial"/>
              </a:defRPr>
            </a:lvl3pPr>
            <a:lvl4pPr>
              <a:defRPr sz="2550" b="1">
                <a:solidFill>
                  <a:srgbClr val="1B2928"/>
                </a:solidFill>
                <a:latin typeface="Arial"/>
                <a:ea typeface="Arial"/>
                <a:cs typeface="Arial"/>
              </a:defRPr>
            </a:lvl4pPr>
            <a:lvl5pPr>
              <a:defRPr sz="2550" b="1">
                <a:solidFill>
                  <a:srgbClr val="1B2928"/>
                </a:solidFill>
                <a:latin typeface="Arial"/>
                <a:ea typeface="Arial"/>
                <a:cs typeface="Arial"/>
              </a:defRPr>
            </a:lvl5pPr>
            <a:lvl6pPr>
              <a:defRPr sz="2550" b="1">
                <a:solidFill>
                  <a:srgbClr val="1B2928"/>
                </a:solidFill>
                <a:latin typeface="Arial"/>
                <a:ea typeface="Arial"/>
                <a:cs typeface="Arial"/>
              </a:defRPr>
            </a:lvl6pPr>
            <a:lvl7pPr>
              <a:defRPr sz="2550" b="1">
                <a:solidFill>
                  <a:srgbClr val="1B2928"/>
                </a:solidFill>
                <a:latin typeface="Arial"/>
                <a:ea typeface="Arial"/>
                <a:cs typeface="Arial"/>
              </a:defRPr>
            </a:lvl7pPr>
            <a:lvl8pPr>
              <a:defRPr sz="2550" b="1">
                <a:solidFill>
                  <a:srgbClr val="1B2928"/>
                </a:solidFill>
                <a:latin typeface="Arial"/>
                <a:ea typeface="Arial"/>
                <a:cs typeface="Arial"/>
              </a:defRPr>
            </a:lvl8pPr>
            <a:lvl9pPr>
              <a:defRPr sz="2550" b="1">
                <a:solidFill>
                  <a:srgbClr val="1B2928"/>
                </a:solidFill>
                <a:latin typeface="Arial"/>
                <a:ea typeface="Arial"/>
                <a:cs typeface="Arial"/>
              </a:defRPr>
            </a:lvl9pPr>
          </a:lstStyle>
          <a:p xmlns:a="http://schemas.openxmlformats.org/drawingml/2006/main">
            <a:pPr>
              <a:defRPr sz="2550" b="1">
                <a:solidFill>
                  <a:srgbClr val="1B2928"/>
                </a:solidFill>
                <a:latin typeface="Arial"/>
                <a:ea typeface="Arial"/>
                <a:cs typeface="Arial"/>
              </a:defRPr>
            </a:pPr>
            <a:r>
              <a:rPr sz="2550" b="1">
                <a:solidFill>
                  <a:srgbClr val="1B2928"/>
                </a:solidFill>
                <a:latin typeface="Arial"/>
                <a:ea typeface="Arial"/>
                <a:cs typeface="Arial"/>
              </a:rPr>
              <a:t>High returns came with equity-like drawdown and market exposure</a:t>
            </a:r>
          </a:p>
        </p:txBody>
      </p:sp>
      <p:sp>
        <p:nvSpPr>
          <p:cNvPr id="2" name="">
            <a:extLst xmlns:a="http://schemas.openxmlformats.org/drawingml/2006/main">
              <a:ext uri="{FF2B5EF4-FFF2-40B4-BE49-F238E27FC236}">
                <a16:creationId xmlns:a16="http://schemas.microsoft.com/office/drawing/2014/main" id="{B22EA23A-5A53-4E6A-90F2-F4178AB21CCB}"/>
              </a:ext>
            </a:extLst>
          </p:cNvPr>
          <p:cNvSpPr>
            <a:spLocks xmlns:a="http://schemas.openxmlformats.org/drawingml/2006/main" noGrp="1"/>
          </p:cNvSpPr>
          <p:nvPr/>
        </p:nvSpPr>
        <p:spPr>
          <a:xfrm xmlns:a="http://schemas.openxmlformats.org/drawingml/2006/main">
            <a:off x="609600" y="981075"/>
            <a:ext cx="685800" cy="47625"/>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89BD088-24AE-43EA-83E6-F0C612314D0A}"/>
              </a:ext>
            </a:extLst>
          </p:cNvPr>
          <p:cNvSpPr>
            <a:spLocks xmlns:a="http://schemas.openxmlformats.org/drawingml/2006/main" noGrp="1"/>
          </p:cNvSpPr>
          <p:nvPr/>
        </p:nvSpPr>
        <p:spPr>
          <a:xfrm xmlns:a="http://schemas.openxmlformats.org/drawingml/2006/main">
            <a:off x="1466850" y="866775"/>
            <a:ext cx="962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Historical performance was strong, but the portfolio remained exposed to market and crash risk</a:t>
            </a:r>
          </a:p>
        </p:txBody>
      </p:sp>
      <p:sp>
        <p:nvSpPr>
          <p:cNvPr id="4" name="">
            <a:extLst xmlns:a="http://schemas.openxmlformats.org/drawingml/2006/main">
              <a:ext uri="{FF2B5EF4-FFF2-40B4-BE49-F238E27FC236}">
                <a16:creationId xmlns:a16="http://schemas.microsoft.com/office/drawing/2014/main" id="{6FCDF8E9-2824-4905-A4A7-E705E04791CB}"/>
              </a:ext>
            </a:extLst>
          </p:cNvPr>
          <p:cNvSpPr>
            <a:spLocks xmlns:a="http://schemas.openxmlformats.org/drawingml/2006/main" noGrp="1"/>
          </p:cNvSpPr>
          <p:nvPr/>
        </p:nvSpPr>
        <p:spPr>
          <a:xfrm xmlns:a="http://schemas.openxmlformats.org/drawingml/2006/main">
            <a:off x="781050" y="1581150"/>
            <a:ext cx="2266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74C4F"/>
                </a:solidFill>
                <a:latin typeface="Arial"/>
                <a:ea typeface="Arial"/>
                <a:cs typeface="Arial"/>
              </a:defRPr>
            </a:defPPr>
            <a:lvl1pPr>
              <a:defRPr sz="2550" b="1">
                <a:solidFill>
                  <a:srgbClr val="174C4F"/>
                </a:solidFill>
                <a:latin typeface="Arial"/>
                <a:ea typeface="Arial"/>
                <a:cs typeface="Arial"/>
              </a:defRPr>
            </a:lvl1pPr>
            <a:lvl2pPr>
              <a:defRPr sz="2550" b="1">
                <a:solidFill>
                  <a:srgbClr val="174C4F"/>
                </a:solidFill>
                <a:latin typeface="Arial"/>
                <a:ea typeface="Arial"/>
                <a:cs typeface="Arial"/>
              </a:defRPr>
            </a:lvl2pPr>
            <a:lvl3pPr>
              <a:defRPr sz="2550" b="1">
                <a:solidFill>
                  <a:srgbClr val="174C4F"/>
                </a:solidFill>
                <a:latin typeface="Arial"/>
                <a:ea typeface="Arial"/>
                <a:cs typeface="Arial"/>
              </a:defRPr>
            </a:lvl3pPr>
            <a:lvl4pPr>
              <a:defRPr sz="2550" b="1">
                <a:solidFill>
                  <a:srgbClr val="174C4F"/>
                </a:solidFill>
                <a:latin typeface="Arial"/>
                <a:ea typeface="Arial"/>
                <a:cs typeface="Arial"/>
              </a:defRPr>
            </a:lvl4pPr>
            <a:lvl5pPr>
              <a:defRPr sz="2550" b="1">
                <a:solidFill>
                  <a:srgbClr val="174C4F"/>
                </a:solidFill>
                <a:latin typeface="Arial"/>
                <a:ea typeface="Arial"/>
                <a:cs typeface="Arial"/>
              </a:defRPr>
            </a:lvl5pPr>
            <a:lvl6pPr>
              <a:defRPr sz="2550" b="1">
                <a:solidFill>
                  <a:srgbClr val="174C4F"/>
                </a:solidFill>
                <a:latin typeface="Arial"/>
                <a:ea typeface="Arial"/>
                <a:cs typeface="Arial"/>
              </a:defRPr>
            </a:lvl6pPr>
            <a:lvl7pPr>
              <a:defRPr sz="2550" b="1">
                <a:solidFill>
                  <a:srgbClr val="174C4F"/>
                </a:solidFill>
                <a:latin typeface="Arial"/>
                <a:ea typeface="Arial"/>
                <a:cs typeface="Arial"/>
              </a:defRPr>
            </a:lvl7pPr>
            <a:lvl8pPr>
              <a:defRPr sz="2550" b="1">
                <a:solidFill>
                  <a:srgbClr val="174C4F"/>
                </a:solidFill>
                <a:latin typeface="Arial"/>
                <a:ea typeface="Arial"/>
                <a:cs typeface="Arial"/>
              </a:defRPr>
            </a:lvl8pPr>
            <a:lvl9pPr>
              <a:defRPr sz="2550" b="1">
                <a:solidFill>
                  <a:srgbClr val="174C4F"/>
                </a:solidFill>
                <a:latin typeface="Arial"/>
                <a:ea typeface="Arial"/>
                <a:cs typeface="Arial"/>
              </a:defRPr>
            </a:lvl9pPr>
          </a:lstStyle>
          <a:p xmlns:a="http://schemas.openxmlformats.org/drawingml/2006/main">
            <a:pPr>
              <a:defRPr sz="2550" b="1">
                <a:solidFill>
                  <a:srgbClr val="174C4F"/>
                </a:solidFill>
                <a:latin typeface="Arial"/>
                <a:ea typeface="Arial"/>
                <a:cs typeface="Arial"/>
              </a:defRPr>
            </a:pPr>
            <a:r>
              <a:rPr sz="2550" b="1">
                <a:solidFill>
                  <a:srgbClr val="174C4F"/>
                </a:solidFill>
                <a:latin typeface="Arial"/>
                <a:ea typeface="Arial"/>
                <a:cs typeface="Arial"/>
              </a:rPr>
              <a:t>31.6%</a:t>
            </a:r>
          </a:p>
        </p:txBody>
      </p:sp>
      <p:sp>
        <p:nvSpPr>
          <p:cNvPr id="5" name="">
            <a:extLst xmlns:a="http://schemas.openxmlformats.org/drawingml/2006/main">
              <a:ext uri="{FF2B5EF4-FFF2-40B4-BE49-F238E27FC236}">
                <a16:creationId xmlns:a16="http://schemas.microsoft.com/office/drawing/2014/main" id="{434BFC81-12F3-4803-BEDE-2F293E6D3CCA}"/>
              </a:ext>
            </a:extLst>
          </p:cNvPr>
          <p:cNvSpPr>
            <a:spLocks xmlns:a="http://schemas.openxmlformats.org/drawingml/2006/main" noGrp="1"/>
          </p:cNvSpPr>
          <p:nvPr/>
        </p:nvSpPr>
        <p:spPr>
          <a:xfrm xmlns:a="http://schemas.openxmlformats.org/drawingml/2006/main">
            <a:off x="781050" y="2085975"/>
            <a:ext cx="226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Annualized historical return</a:t>
            </a:r>
          </a:p>
        </p:txBody>
      </p:sp>
      <p:sp>
        <p:nvSpPr>
          <p:cNvPr id="6" name="">
            <a:extLst xmlns:a="http://schemas.openxmlformats.org/drawingml/2006/main">
              <a:ext uri="{FF2B5EF4-FFF2-40B4-BE49-F238E27FC236}">
                <a16:creationId xmlns:a16="http://schemas.microsoft.com/office/drawing/2014/main" id="{CDE986D6-8E47-4597-B90B-051C74D36D56}"/>
              </a:ext>
            </a:extLst>
          </p:cNvPr>
          <p:cNvSpPr>
            <a:spLocks xmlns:a="http://schemas.openxmlformats.org/drawingml/2006/main" noGrp="1"/>
          </p:cNvSpPr>
          <p:nvPr/>
        </p:nvSpPr>
        <p:spPr>
          <a:xfrm xmlns:a="http://schemas.openxmlformats.org/drawingml/2006/main">
            <a:off x="3524250" y="1581150"/>
            <a:ext cx="2266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C9973A"/>
                </a:solidFill>
                <a:latin typeface="Arial"/>
                <a:ea typeface="Arial"/>
                <a:cs typeface="Arial"/>
              </a:defRPr>
            </a:defPPr>
            <a:lvl1pPr>
              <a:defRPr sz="2550" b="1">
                <a:solidFill>
                  <a:srgbClr val="C9973A"/>
                </a:solidFill>
                <a:latin typeface="Arial"/>
                <a:ea typeface="Arial"/>
                <a:cs typeface="Arial"/>
              </a:defRPr>
            </a:lvl1pPr>
            <a:lvl2pPr>
              <a:defRPr sz="2550" b="1">
                <a:solidFill>
                  <a:srgbClr val="C9973A"/>
                </a:solidFill>
                <a:latin typeface="Arial"/>
                <a:ea typeface="Arial"/>
                <a:cs typeface="Arial"/>
              </a:defRPr>
            </a:lvl2pPr>
            <a:lvl3pPr>
              <a:defRPr sz="2550" b="1">
                <a:solidFill>
                  <a:srgbClr val="C9973A"/>
                </a:solidFill>
                <a:latin typeface="Arial"/>
                <a:ea typeface="Arial"/>
                <a:cs typeface="Arial"/>
              </a:defRPr>
            </a:lvl3pPr>
            <a:lvl4pPr>
              <a:defRPr sz="2550" b="1">
                <a:solidFill>
                  <a:srgbClr val="C9973A"/>
                </a:solidFill>
                <a:latin typeface="Arial"/>
                <a:ea typeface="Arial"/>
                <a:cs typeface="Arial"/>
              </a:defRPr>
            </a:lvl4pPr>
            <a:lvl5pPr>
              <a:defRPr sz="2550" b="1">
                <a:solidFill>
                  <a:srgbClr val="C9973A"/>
                </a:solidFill>
                <a:latin typeface="Arial"/>
                <a:ea typeface="Arial"/>
                <a:cs typeface="Arial"/>
              </a:defRPr>
            </a:lvl5pPr>
            <a:lvl6pPr>
              <a:defRPr sz="2550" b="1">
                <a:solidFill>
                  <a:srgbClr val="C9973A"/>
                </a:solidFill>
                <a:latin typeface="Arial"/>
                <a:ea typeface="Arial"/>
                <a:cs typeface="Arial"/>
              </a:defRPr>
            </a:lvl6pPr>
            <a:lvl7pPr>
              <a:defRPr sz="2550" b="1">
                <a:solidFill>
                  <a:srgbClr val="C9973A"/>
                </a:solidFill>
                <a:latin typeface="Arial"/>
                <a:ea typeface="Arial"/>
                <a:cs typeface="Arial"/>
              </a:defRPr>
            </a:lvl7pPr>
            <a:lvl8pPr>
              <a:defRPr sz="2550" b="1">
                <a:solidFill>
                  <a:srgbClr val="C9973A"/>
                </a:solidFill>
                <a:latin typeface="Arial"/>
                <a:ea typeface="Arial"/>
                <a:cs typeface="Arial"/>
              </a:defRPr>
            </a:lvl8pPr>
            <a:lvl9pPr>
              <a:defRPr sz="2550" b="1">
                <a:solidFill>
                  <a:srgbClr val="C9973A"/>
                </a:solidFill>
                <a:latin typeface="Arial"/>
                <a:ea typeface="Arial"/>
                <a:cs typeface="Arial"/>
              </a:defRPr>
            </a:lvl9pPr>
          </a:lstStyle>
          <a:p xmlns:a="http://schemas.openxmlformats.org/drawingml/2006/main">
            <a:pPr>
              <a:defRPr sz="2550" b="1">
                <a:solidFill>
                  <a:srgbClr val="C9973A"/>
                </a:solidFill>
                <a:latin typeface="Arial"/>
                <a:ea typeface="Arial"/>
                <a:cs typeface="Arial"/>
              </a:defRPr>
            </a:pPr>
            <a:r>
              <a:rPr sz="2550" b="1">
                <a:solidFill>
                  <a:srgbClr val="C9973A"/>
                </a:solidFill>
                <a:latin typeface="Arial"/>
                <a:ea typeface="Arial"/>
                <a:cs typeface="Arial"/>
              </a:rPr>
              <a:t>21.9%</a:t>
            </a:r>
          </a:p>
        </p:txBody>
      </p:sp>
      <p:sp>
        <p:nvSpPr>
          <p:cNvPr id="7" name="">
            <a:extLst xmlns:a="http://schemas.openxmlformats.org/drawingml/2006/main">
              <a:ext uri="{FF2B5EF4-FFF2-40B4-BE49-F238E27FC236}">
                <a16:creationId xmlns:a16="http://schemas.microsoft.com/office/drawing/2014/main" id="{8A5A1FD7-C988-47C9-99A4-7206C3BE5EE4}"/>
              </a:ext>
            </a:extLst>
          </p:cNvPr>
          <p:cNvSpPr>
            <a:spLocks xmlns:a="http://schemas.openxmlformats.org/drawingml/2006/main" noGrp="1"/>
          </p:cNvSpPr>
          <p:nvPr/>
        </p:nvSpPr>
        <p:spPr>
          <a:xfrm xmlns:a="http://schemas.openxmlformats.org/drawingml/2006/main">
            <a:off x="3524250" y="2085975"/>
            <a:ext cx="226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Annualized volatility</a:t>
            </a:r>
          </a:p>
        </p:txBody>
      </p:sp>
      <p:sp>
        <p:nvSpPr>
          <p:cNvPr id="8" name="">
            <a:extLst xmlns:a="http://schemas.openxmlformats.org/drawingml/2006/main">
              <a:ext uri="{FF2B5EF4-FFF2-40B4-BE49-F238E27FC236}">
                <a16:creationId xmlns:a16="http://schemas.microsoft.com/office/drawing/2014/main" id="{8D7019E6-2286-4614-BAA0-A8A773E5FFBF}"/>
              </a:ext>
            </a:extLst>
          </p:cNvPr>
          <p:cNvSpPr>
            <a:spLocks xmlns:a="http://schemas.openxmlformats.org/drawingml/2006/main" noGrp="1"/>
          </p:cNvSpPr>
          <p:nvPr/>
        </p:nvSpPr>
        <p:spPr>
          <a:xfrm xmlns:a="http://schemas.openxmlformats.org/drawingml/2006/main">
            <a:off x="6267450" y="1581150"/>
            <a:ext cx="2266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B84A3A"/>
                </a:solidFill>
                <a:latin typeface="Arial"/>
                <a:ea typeface="Arial"/>
                <a:cs typeface="Arial"/>
              </a:defRPr>
            </a:defPPr>
            <a:lvl1pPr>
              <a:defRPr sz="2550" b="1">
                <a:solidFill>
                  <a:srgbClr val="B84A3A"/>
                </a:solidFill>
                <a:latin typeface="Arial"/>
                <a:ea typeface="Arial"/>
                <a:cs typeface="Arial"/>
              </a:defRPr>
            </a:lvl1pPr>
            <a:lvl2pPr>
              <a:defRPr sz="2550" b="1">
                <a:solidFill>
                  <a:srgbClr val="B84A3A"/>
                </a:solidFill>
                <a:latin typeface="Arial"/>
                <a:ea typeface="Arial"/>
                <a:cs typeface="Arial"/>
              </a:defRPr>
            </a:lvl2pPr>
            <a:lvl3pPr>
              <a:defRPr sz="2550" b="1">
                <a:solidFill>
                  <a:srgbClr val="B84A3A"/>
                </a:solidFill>
                <a:latin typeface="Arial"/>
                <a:ea typeface="Arial"/>
                <a:cs typeface="Arial"/>
              </a:defRPr>
            </a:lvl3pPr>
            <a:lvl4pPr>
              <a:defRPr sz="2550" b="1">
                <a:solidFill>
                  <a:srgbClr val="B84A3A"/>
                </a:solidFill>
                <a:latin typeface="Arial"/>
                <a:ea typeface="Arial"/>
                <a:cs typeface="Arial"/>
              </a:defRPr>
            </a:lvl4pPr>
            <a:lvl5pPr>
              <a:defRPr sz="2550" b="1">
                <a:solidFill>
                  <a:srgbClr val="B84A3A"/>
                </a:solidFill>
                <a:latin typeface="Arial"/>
                <a:ea typeface="Arial"/>
                <a:cs typeface="Arial"/>
              </a:defRPr>
            </a:lvl5pPr>
            <a:lvl6pPr>
              <a:defRPr sz="2550" b="1">
                <a:solidFill>
                  <a:srgbClr val="B84A3A"/>
                </a:solidFill>
                <a:latin typeface="Arial"/>
                <a:ea typeface="Arial"/>
                <a:cs typeface="Arial"/>
              </a:defRPr>
            </a:lvl6pPr>
            <a:lvl7pPr>
              <a:defRPr sz="2550" b="1">
                <a:solidFill>
                  <a:srgbClr val="B84A3A"/>
                </a:solidFill>
                <a:latin typeface="Arial"/>
                <a:ea typeface="Arial"/>
                <a:cs typeface="Arial"/>
              </a:defRPr>
            </a:lvl7pPr>
            <a:lvl8pPr>
              <a:defRPr sz="2550" b="1">
                <a:solidFill>
                  <a:srgbClr val="B84A3A"/>
                </a:solidFill>
                <a:latin typeface="Arial"/>
                <a:ea typeface="Arial"/>
                <a:cs typeface="Arial"/>
              </a:defRPr>
            </a:lvl8pPr>
            <a:lvl9pPr>
              <a:defRPr sz="2550" b="1">
                <a:solidFill>
                  <a:srgbClr val="B84A3A"/>
                </a:solidFill>
                <a:latin typeface="Arial"/>
                <a:ea typeface="Arial"/>
                <a:cs typeface="Arial"/>
              </a:defRPr>
            </a:lvl9pPr>
          </a:lstStyle>
          <a:p xmlns:a="http://schemas.openxmlformats.org/drawingml/2006/main">
            <a:pPr>
              <a:defRPr sz="2550" b="1">
                <a:solidFill>
                  <a:srgbClr val="B84A3A"/>
                </a:solidFill>
                <a:latin typeface="Arial"/>
                <a:ea typeface="Arial"/>
                <a:cs typeface="Arial"/>
              </a:defRPr>
            </a:pPr>
            <a:r>
              <a:rPr sz="2550" b="1">
                <a:solidFill>
                  <a:srgbClr val="B84A3A"/>
                </a:solidFill>
                <a:latin typeface="Arial"/>
                <a:ea typeface="Arial"/>
                <a:cs typeface="Arial"/>
              </a:rPr>
              <a:t>−34.9%</a:t>
            </a:r>
          </a:p>
        </p:txBody>
      </p:sp>
      <p:sp>
        <p:nvSpPr>
          <p:cNvPr id="9" name="">
            <a:extLst xmlns:a="http://schemas.openxmlformats.org/drawingml/2006/main">
              <a:ext uri="{FF2B5EF4-FFF2-40B4-BE49-F238E27FC236}">
                <a16:creationId xmlns:a16="http://schemas.microsoft.com/office/drawing/2014/main" id="{8DC53A77-3AE8-47D3-B336-90D861BAD09F}"/>
              </a:ext>
            </a:extLst>
          </p:cNvPr>
          <p:cNvSpPr>
            <a:spLocks xmlns:a="http://schemas.openxmlformats.org/drawingml/2006/main" noGrp="1"/>
          </p:cNvSpPr>
          <p:nvPr/>
        </p:nvSpPr>
        <p:spPr>
          <a:xfrm xmlns:a="http://schemas.openxmlformats.org/drawingml/2006/main">
            <a:off x="6267450" y="2085975"/>
            <a:ext cx="226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Maximum drawdown</a:t>
            </a:r>
          </a:p>
        </p:txBody>
      </p:sp>
      <p:sp>
        <p:nvSpPr>
          <p:cNvPr id="10" name="">
            <a:extLst xmlns:a="http://schemas.openxmlformats.org/drawingml/2006/main">
              <a:ext uri="{FF2B5EF4-FFF2-40B4-BE49-F238E27FC236}">
                <a16:creationId xmlns:a16="http://schemas.microsoft.com/office/drawing/2014/main" id="{B0094451-A601-41FD-95E3-934B10AB9C92}"/>
              </a:ext>
            </a:extLst>
          </p:cNvPr>
          <p:cNvSpPr>
            <a:spLocks xmlns:a="http://schemas.openxmlformats.org/drawingml/2006/main" noGrp="1"/>
          </p:cNvSpPr>
          <p:nvPr/>
        </p:nvSpPr>
        <p:spPr>
          <a:xfrm xmlns:a="http://schemas.openxmlformats.org/drawingml/2006/main">
            <a:off x="9010650" y="1581150"/>
            <a:ext cx="2266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B84A3A"/>
                </a:solidFill>
                <a:latin typeface="Arial"/>
                <a:ea typeface="Arial"/>
                <a:cs typeface="Arial"/>
              </a:defRPr>
            </a:defPPr>
            <a:lvl1pPr>
              <a:defRPr sz="2550" b="1">
                <a:solidFill>
                  <a:srgbClr val="B84A3A"/>
                </a:solidFill>
                <a:latin typeface="Arial"/>
                <a:ea typeface="Arial"/>
                <a:cs typeface="Arial"/>
              </a:defRPr>
            </a:lvl1pPr>
            <a:lvl2pPr>
              <a:defRPr sz="2550" b="1">
                <a:solidFill>
                  <a:srgbClr val="B84A3A"/>
                </a:solidFill>
                <a:latin typeface="Arial"/>
                <a:ea typeface="Arial"/>
                <a:cs typeface="Arial"/>
              </a:defRPr>
            </a:lvl2pPr>
            <a:lvl3pPr>
              <a:defRPr sz="2550" b="1">
                <a:solidFill>
                  <a:srgbClr val="B84A3A"/>
                </a:solidFill>
                <a:latin typeface="Arial"/>
                <a:ea typeface="Arial"/>
                <a:cs typeface="Arial"/>
              </a:defRPr>
            </a:lvl3pPr>
            <a:lvl4pPr>
              <a:defRPr sz="2550" b="1">
                <a:solidFill>
                  <a:srgbClr val="B84A3A"/>
                </a:solidFill>
                <a:latin typeface="Arial"/>
                <a:ea typeface="Arial"/>
                <a:cs typeface="Arial"/>
              </a:defRPr>
            </a:lvl4pPr>
            <a:lvl5pPr>
              <a:defRPr sz="2550" b="1">
                <a:solidFill>
                  <a:srgbClr val="B84A3A"/>
                </a:solidFill>
                <a:latin typeface="Arial"/>
                <a:ea typeface="Arial"/>
                <a:cs typeface="Arial"/>
              </a:defRPr>
            </a:lvl5pPr>
            <a:lvl6pPr>
              <a:defRPr sz="2550" b="1">
                <a:solidFill>
                  <a:srgbClr val="B84A3A"/>
                </a:solidFill>
                <a:latin typeface="Arial"/>
                <a:ea typeface="Arial"/>
                <a:cs typeface="Arial"/>
              </a:defRPr>
            </a:lvl6pPr>
            <a:lvl7pPr>
              <a:defRPr sz="2550" b="1">
                <a:solidFill>
                  <a:srgbClr val="B84A3A"/>
                </a:solidFill>
                <a:latin typeface="Arial"/>
                <a:ea typeface="Arial"/>
                <a:cs typeface="Arial"/>
              </a:defRPr>
            </a:lvl7pPr>
            <a:lvl8pPr>
              <a:defRPr sz="2550" b="1">
                <a:solidFill>
                  <a:srgbClr val="B84A3A"/>
                </a:solidFill>
                <a:latin typeface="Arial"/>
                <a:ea typeface="Arial"/>
                <a:cs typeface="Arial"/>
              </a:defRPr>
            </a:lvl8pPr>
            <a:lvl9pPr>
              <a:defRPr sz="2550" b="1">
                <a:solidFill>
                  <a:srgbClr val="B84A3A"/>
                </a:solidFill>
                <a:latin typeface="Arial"/>
                <a:ea typeface="Arial"/>
                <a:cs typeface="Arial"/>
              </a:defRPr>
            </a:lvl9pPr>
          </a:lstStyle>
          <a:p xmlns:a="http://schemas.openxmlformats.org/drawingml/2006/main">
            <a:pPr>
              <a:defRPr sz="2550" b="1">
                <a:solidFill>
                  <a:srgbClr val="B84A3A"/>
                </a:solidFill>
                <a:latin typeface="Arial"/>
                <a:ea typeface="Arial"/>
                <a:cs typeface="Arial"/>
              </a:defRPr>
            </a:pPr>
            <a:r>
              <a:rPr sz="2550" b="1">
                <a:solidFill>
                  <a:srgbClr val="B84A3A"/>
                </a:solidFill>
                <a:latin typeface="Arial"/>
                <a:ea typeface="Arial"/>
                <a:cs typeface="Arial"/>
              </a:rPr>
              <a:t>1.19</a:t>
            </a:r>
          </a:p>
        </p:txBody>
      </p:sp>
      <p:sp>
        <p:nvSpPr>
          <p:cNvPr id="11" name="">
            <a:extLst xmlns:a="http://schemas.openxmlformats.org/drawingml/2006/main">
              <a:ext uri="{FF2B5EF4-FFF2-40B4-BE49-F238E27FC236}">
                <a16:creationId xmlns:a16="http://schemas.microsoft.com/office/drawing/2014/main" id="{BC0F6691-5577-405E-8E32-DF44417C8286}"/>
              </a:ext>
            </a:extLst>
          </p:cNvPr>
          <p:cNvSpPr>
            <a:spLocks xmlns:a="http://schemas.openxmlformats.org/drawingml/2006/main" noGrp="1"/>
          </p:cNvSpPr>
          <p:nvPr/>
        </p:nvSpPr>
        <p:spPr>
          <a:xfrm xmlns:a="http://schemas.openxmlformats.org/drawingml/2006/main">
            <a:off x="9010650" y="2085975"/>
            <a:ext cx="226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Beta versus SPY</a:t>
            </a:r>
          </a:p>
        </p:txBody>
      </p:sp>
      <p:sp>
        <p:nvSpPr>
          <p:cNvPr id="12" name="">
            <a:extLst xmlns:a="http://schemas.openxmlformats.org/drawingml/2006/main">
              <a:ext uri="{FF2B5EF4-FFF2-40B4-BE49-F238E27FC236}">
                <a16:creationId xmlns:a16="http://schemas.microsoft.com/office/drawing/2014/main" id="{98369367-88D8-48A3-9D48-674B6B281DA3}"/>
              </a:ext>
            </a:extLst>
          </p:cNvPr>
          <p:cNvSpPr>
            <a:spLocks xmlns:a="http://schemas.openxmlformats.org/drawingml/2006/main" noGrp="1"/>
          </p:cNvSpPr>
          <p:nvPr/>
        </p:nvSpPr>
        <p:spPr>
          <a:xfrm xmlns:a="http://schemas.openxmlformats.org/drawingml/2006/main">
            <a:off x="609600" y="3143250"/>
            <a:ext cx="3429000" cy="1257300"/>
          </a:xfrm>
          <a:prstGeom xmlns:a="http://schemas.openxmlformats.org/drawingml/2006/main" prst="roundRect">
            <a:avLst>
              <a:gd name="adj" fmla="val 6061"/>
            </a:avLst>
          </a:prstGeom>
          <a:solidFill xmlns:a="http://schemas.openxmlformats.org/drawingml/2006/main">
            <a:srgbClr val="DDE9E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D3F135D-CADB-4FF3-8B51-84874A7446D4}"/>
              </a:ext>
            </a:extLst>
          </p:cNvPr>
          <p:cNvSpPr>
            <a:spLocks xmlns:a="http://schemas.openxmlformats.org/drawingml/2006/main" noGrp="1"/>
          </p:cNvSpPr>
          <p:nvPr/>
        </p:nvSpPr>
        <p:spPr>
          <a:xfrm xmlns:a="http://schemas.openxmlformats.org/drawingml/2006/main">
            <a:off x="609600" y="3143250"/>
            <a:ext cx="66675" cy="1257300"/>
          </a:xfrm>
          <a:prstGeom xmlns:a="http://schemas.openxmlformats.org/drawingml/2006/main" prst="rect">
            <a:avLst/>
          </a:prstGeom>
          <a:solidFill xmlns:a="http://schemas.openxmlformats.org/drawingml/2006/main">
            <a:srgbClr val="174C4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A88248F-72A3-4945-A40C-994CEE57E3B9}"/>
              </a:ext>
            </a:extLst>
          </p:cNvPr>
          <p:cNvSpPr>
            <a:spLocks xmlns:a="http://schemas.openxmlformats.org/drawingml/2006/main" noGrp="1"/>
          </p:cNvSpPr>
          <p:nvPr/>
        </p:nvSpPr>
        <p:spPr>
          <a:xfrm xmlns:a="http://schemas.openxmlformats.org/drawingml/2006/main">
            <a:off x="838200" y="3286125"/>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174C4F"/>
                </a:solidFill>
                <a:latin typeface="Arial"/>
                <a:ea typeface="Arial"/>
                <a:cs typeface="Arial"/>
              </a:defRPr>
            </a:defPPr>
            <a:lvl1pPr>
              <a:defRPr sz="1425" b="1">
                <a:solidFill>
                  <a:srgbClr val="174C4F"/>
                </a:solidFill>
                <a:latin typeface="Arial"/>
                <a:ea typeface="Arial"/>
                <a:cs typeface="Arial"/>
              </a:defRPr>
            </a:lvl1pPr>
            <a:lvl2pPr>
              <a:defRPr sz="1425" b="1">
                <a:solidFill>
                  <a:srgbClr val="174C4F"/>
                </a:solidFill>
                <a:latin typeface="Arial"/>
                <a:ea typeface="Arial"/>
                <a:cs typeface="Arial"/>
              </a:defRPr>
            </a:lvl2pPr>
            <a:lvl3pPr>
              <a:defRPr sz="1425" b="1">
                <a:solidFill>
                  <a:srgbClr val="174C4F"/>
                </a:solidFill>
                <a:latin typeface="Arial"/>
                <a:ea typeface="Arial"/>
                <a:cs typeface="Arial"/>
              </a:defRPr>
            </a:lvl3pPr>
            <a:lvl4pPr>
              <a:defRPr sz="1425" b="1">
                <a:solidFill>
                  <a:srgbClr val="174C4F"/>
                </a:solidFill>
                <a:latin typeface="Arial"/>
                <a:ea typeface="Arial"/>
                <a:cs typeface="Arial"/>
              </a:defRPr>
            </a:lvl4pPr>
            <a:lvl5pPr>
              <a:defRPr sz="1425" b="1">
                <a:solidFill>
                  <a:srgbClr val="174C4F"/>
                </a:solidFill>
                <a:latin typeface="Arial"/>
                <a:ea typeface="Arial"/>
                <a:cs typeface="Arial"/>
              </a:defRPr>
            </a:lvl5pPr>
            <a:lvl6pPr>
              <a:defRPr sz="1425" b="1">
                <a:solidFill>
                  <a:srgbClr val="174C4F"/>
                </a:solidFill>
                <a:latin typeface="Arial"/>
                <a:ea typeface="Arial"/>
                <a:cs typeface="Arial"/>
              </a:defRPr>
            </a:lvl6pPr>
            <a:lvl7pPr>
              <a:defRPr sz="1425" b="1">
                <a:solidFill>
                  <a:srgbClr val="174C4F"/>
                </a:solidFill>
                <a:latin typeface="Arial"/>
                <a:ea typeface="Arial"/>
                <a:cs typeface="Arial"/>
              </a:defRPr>
            </a:lvl7pPr>
            <a:lvl8pPr>
              <a:defRPr sz="1425" b="1">
                <a:solidFill>
                  <a:srgbClr val="174C4F"/>
                </a:solidFill>
                <a:latin typeface="Arial"/>
                <a:ea typeface="Arial"/>
                <a:cs typeface="Arial"/>
              </a:defRPr>
            </a:lvl8pPr>
            <a:lvl9pPr>
              <a:defRPr sz="1425" b="1">
                <a:solidFill>
                  <a:srgbClr val="174C4F"/>
                </a:solidFill>
                <a:latin typeface="Arial"/>
                <a:ea typeface="Arial"/>
                <a:cs typeface="Arial"/>
              </a:defRPr>
            </a:lvl9pPr>
          </a:lstStyle>
          <a:p xmlns:a="http://schemas.openxmlformats.org/drawingml/2006/main">
            <a:pPr>
              <a:defRPr sz="1425" b="1">
                <a:solidFill>
                  <a:srgbClr val="174C4F"/>
                </a:solidFill>
                <a:latin typeface="Arial"/>
                <a:ea typeface="Arial"/>
                <a:cs typeface="Arial"/>
              </a:defRPr>
            </a:pPr>
            <a:r>
              <a:rPr sz="1425" b="1">
                <a:solidFill>
                  <a:srgbClr val="174C4F"/>
                </a:solidFill>
                <a:latin typeface="Arial"/>
                <a:ea typeface="Arial"/>
                <a:cs typeface="Arial"/>
              </a:rPr>
              <a:t>Return quality</a:t>
            </a:r>
          </a:p>
        </p:txBody>
      </p:sp>
      <p:sp>
        <p:nvSpPr>
          <p:cNvPr id="15" name="">
            <a:extLst xmlns:a="http://schemas.openxmlformats.org/drawingml/2006/main">
              <a:ext uri="{FF2B5EF4-FFF2-40B4-BE49-F238E27FC236}">
                <a16:creationId xmlns:a16="http://schemas.microsoft.com/office/drawing/2014/main" id="{120F5A14-F3CB-4EA5-AB99-456D9254F33A}"/>
              </a:ext>
            </a:extLst>
          </p:cNvPr>
          <p:cNvSpPr>
            <a:spLocks xmlns:a="http://schemas.openxmlformats.org/drawingml/2006/main" noGrp="1"/>
          </p:cNvSpPr>
          <p:nvPr/>
        </p:nvSpPr>
        <p:spPr>
          <a:xfrm xmlns:a="http://schemas.openxmlformats.org/drawingml/2006/main">
            <a:off x="838200" y="3590925"/>
            <a:ext cx="304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Historical Sharpe ratio 1.27 and annual return 16.3 percentage points above SPY; these are sample results, not forecasts.</a:t>
            </a:r>
          </a:p>
        </p:txBody>
      </p:sp>
      <p:sp>
        <p:nvSpPr>
          <p:cNvPr id="16" name="">
            <a:extLst xmlns:a="http://schemas.openxmlformats.org/drawingml/2006/main">
              <a:ext uri="{FF2B5EF4-FFF2-40B4-BE49-F238E27FC236}">
                <a16:creationId xmlns:a16="http://schemas.microsoft.com/office/drawing/2014/main" id="{9E691ECB-7C62-447C-A869-E749E83BB3E6}"/>
              </a:ext>
            </a:extLst>
          </p:cNvPr>
          <p:cNvSpPr>
            <a:spLocks xmlns:a="http://schemas.openxmlformats.org/drawingml/2006/main" noGrp="1"/>
          </p:cNvSpPr>
          <p:nvPr/>
        </p:nvSpPr>
        <p:spPr>
          <a:xfrm xmlns:a="http://schemas.openxmlformats.org/drawingml/2006/main">
            <a:off x="4381500" y="3143250"/>
            <a:ext cx="3429000" cy="1257300"/>
          </a:xfrm>
          <a:prstGeom xmlns:a="http://schemas.openxmlformats.org/drawingml/2006/main" prst="roundRect">
            <a:avLst>
              <a:gd name="adj" fmla="val 6061"/>
            </a:avLst>
          </a:prstGeom>
          <a:solidFill xmlns:a="http://schemas.openxmlformats.org/drawingml/2006/main">
            <a:srgbClr val="F1E2B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B60A9B8-6A11-4DBD-980B-B1BC96478437}"/>
              </a:ext>
            </a:extLst>
          </p:cNvPr>
          <p:cNvSpPr>
            <a:spLocks xmlns:a="http://schemas.openxmlformats.org/drawingml/2006/main" noGrp="1"/>
          </p:cNvSpPr>
          <p:nvPr/>
        </p:nvSpPr>
        <p:spPr>
          <a:xfrm xmlns:a="http://schemas.openxmlformats.org/drawingml/2006/main">
            <a:off x="4381500" y="3143250"/>
            <a:ext cx="66675" cy="1257300"/>
          </a:xfrm>
          <a:prstGeom xmlns:a="http://schemas.openxmlformats.org/drawingml/2006/main" prst="rect">
            <a:avLst/>
          </a:prstGeom>
          <a:solidFill xmlns:a="http://schemas.openxmlformats.org/drawingml/2006/main">
            <a:srgbClr val="7A5A1E"/>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AA2EBF6-92F9-45D2-83CA-6E9385AA05A4}"/>
              </a:ext>
            </a:extLst>
          </p:cNvPr>
          <p:cNvSpPr>
            <a:spLocks xmlns:a="http://schemas.openxmlformats.org/drawingml/2006/main" noGrp="1"/>
          </p:cNvSpPr>
          <p:nvPr/>
        </p:nvSpPr>
        <p:spPr>
          <a:xfrm xmlns:a="http://schemas.openxmlformats.org/drawingml/2006/main">
            <a:off x="4610100" y="3286125"/>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7A5A1E"/>
                </a:solidFill>
                <a:latin typeface="Arial"/>
                <a:ea typeface="Arial"/>
                <a:cs typeface="Arial"/>
              </a:defRPr>
            </a:defPPr>
            <a:lvl1pPr>
              <a:defRPr sz="1425" b="1">
                <a:solidFill>
                  <a:srgbClr val="7A5A1E"/>
                </a:solidFill>
                <a:latin typeface="Arial"/>
                <a:ea typeface="Arial"/>
                <a:cs typeface="Arial"/>
              </a:defRPr>
            </a:lvl1pPr>
            <a:lvl2pPr>
              <a:defRPr sz="1425" b="1">
                <a:solidFill>
                  <a:srgbClr val="7A5A1E"/>
                </a:solidFill>
                <a:latin typeface="Arial"/>
                <a:ea typeface="Arial"/>
                <a:cs typeface="Arial"/>
              </a:defRPr>
            </a:lvl2pPr>
            <a:lvl3pPr>
              <a:defRPr sz="1425" b="1">
                <a:solidFill>
                  <a:srgbClr val="7A5A1E"/>
                </a:solidFill>
                <a:latin typeface="Arial"/>
                <a:ea typeface="Arial"/>
                <a:cs typeface="Arial"/>
              </a:defRPr>
            </a:lvl3pPr>
            <a:lvl4pPr>
              <a:defRPr sz="1425" b="1">
                <a:solidFill>
                  <a:srgbClr val="7A5A1E"/>
                </a:solidFill>
                <a:latin typeface="Arial"/>
                <a:ea typeface="Arial"/>
                <a:cs typeface="Arial"/>
              </a:defRPr>
            </a:lvl4pPr>
            <a:lvl5pPr>
              <a:defRPr sz="1425" b="1">
                <a:solidFill>
                  <a:srgbClr val="7A5A1E"/>
                </a:solidFill>
                <a:latin typeface="Arial"/>
                <a:ea typeface="Arial"/>
                <a:cs typeface="Arial"/>
              </a:defRPr>
            </a:lvl5pPr>
            <a:lvl6pPr>
              <a:defRPr sz="1425" b="1">
                <a:solidFill>
                  <a:srgbClr val="7A5A1E"/>
                </a:solidFill>
                <a:latin typeface="Arial"/>
                <a:ea typeface="Arial"/>
                <a:cs typeface="Arial"/>
              </a:defRPr>
            </a:lvl6pPr>
            <a:lvl7pPr>
              <a:defRPr sz="1425" b="1">
                <a:solidFill>
                  <a:srgbClr val="7A5A1E"/>
                </a:solidFill>
                <a:latin typeface="Arial"/>
                <a:ea typeface="Arial"/>
                <a:cs typeface="Arial"/>
              </a:defRPr>
            </a:lvl7pPr>
            <a:lvl8pPr>
              <a:defRPr sz="1425" b="1">
                <a:solidFill>
                  <a:srgbClr val="7A5A1E"/>
                </a:solidFill>
                <a:latin typeface="Arial"/>
                <a:ea typeface="Arial"/>
                <a:cs typeface="Arial"/>
              </a:defRPr>
            </a:lvl8pPr>
            <a:lvl9pPr>
              <a:defRPr sz="1425" b="1">
                <a:solidFill>
                  <a:srgbClr val="7A5A1E"/>
                </a:solidFill>
                <a:latin typeface="Arial"/>
                <a:ea typeface="Arial"/>
                <a:cs typeface="Arial"/>
              </a:defRPr>
            </a:lvl9pPr>
          </a:lstStyle>
          <a:p xmlns:a="http://schemas.openxmlformats.org/drawingml/2006/main">
            <a:pPr>
              <a:defRPr sz="1425" b="1">
                <a:solidFill>
                  <a:srgbClr val="7A5A1E"/>
                </a:solidFill>
                <a:latin typeface="Arial"/>
                <a:ea typeface="Arial"/>
                <a:cs typeface="Arial"/>
              </a:defRPr>
            </a:pPr>
            <a:r>
              <a:rPr sz="1425" b="1">
                <a:solidFill>
                  <a:srgbClr val="7A5A1E"/>
                </a:solidFill>
                <a:latin typeface="Arial"/>
                <a:ea typeface="Arial"/>
                <a:cs typeface="Arial"/>
              </a:rPr>
              <a:t>Market dependence</a:t>
            </a:r>
          </a:p>
        </p:txBody>
      </p:sp>
      <p:sp>
        <p:nvSpPr>
          <p:cNvPr id="19" name="">
            <a:extLst xmlns:a="http://schemas.openxmlformats.org/drawingml/2006/main">
              <a:ext uri="{FF2B5EF4-FFF2-40B4-BE49-F238E27FC236}">
                <a16:creationId xmlns:a16="http://schemas.microsoft.com/office/drawing/2014/main" id="{E32F0388-D3B3-4036-B4B3-B33A2EE587B0}"/>
              </a:ext>
            </a:extLst>
          </p:cNvPr>
          <p:cNvSpPr>
            <a:spLocks xmlns:a="http://schemas.openxmlformats.org/drawingml/2006/main" noGrp="1"/>
          </p:cNvSpPr>
          <p:nvPr/>
        </p:nvSpPr>
        <p:spPr>
          <a:xfrm xmlns:a="http://schemas.openxmlformats.org/drawingml/2006/main">
            <a:off x="4610100" y="3590925"/>
            <a:ext cx="304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Correlation with SPY 0.90. The portfolio behaves like a high-beta equity portfolio, so broad-market shocks remain central.</a:t>
            </a:r>
          </a:p>
        </p:txBody>
      </p:sp>
      <p:sp>
        <p:nvSpPr>
          <p:cNvPr id="20" name="">
            <a:extLst xmlns:a="http://schemas.openxmlformats.org/drawingml/2006/main">
              <a:ext uri="{FF2B5EF4-FFF2-40B4-BE49-F238E27FC236}">
                <a16:creationId xmlns:a16="http://schemas.microsoft.com/office/drawing/2014/main" id="{ACC33B18-5024-4CA9-81DC-2EBA1B4549ED}"/>
              </a:ext>
            </a:extLst>
          </p:cNvPr>
          <p:cNvSpPr>
            <a:spLocks xmlns:a="http://schemas.openxmlformats.org/drawingml/2006/main" noGrp="1"/>
          </p:cNvSpPr>
          <p:nvPr/>
        </p:nvSpPr>
        <p:spPr>
          <a:xfrm xmlns:a="http://schemas.openxmlformats.org/drawingml/2006/main">
            <a:off x="8153400" y="3143250"/>
            <a:ext cx="3429000" cy="1257300"/>
          </a:xfrm>
          <a:prstGeom xmlns:a="http://schemas.openxmlformats.org/drawingml/2006/main" prst="roundRect">
            <a:avLst>
              <a:gd name="adj" fmla="val 6061"/>
            </a:avLst>
          </a:prstGeom>
          <a:solidFill xmlns:a="http://schemas.openxmlformats.org/drawingml/2006/main">
            <a:srgbClr val="F3DCD7"/>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ECE0076-409D-4C73-AD51-137C95F72D94}"/>
              </a:ext>
            </a:extLst>
          </p:cNvPr>
          <p:cNvSpPr>
            <a:spLocks xmlns:a="http://schemas.openxmlformats.org/drawingml/2006/main" noGrp="1"/>
          </p:cNvSpPr>
          <p:nvPr/>
        </p:nvSpPr>
        <p:spPr>
          <a:xfrm xmlns:a="http://schemas.openxmlformats.org/drawingml/2006/main">
            <a:off x="8153400" y="3143250"/>
            <a:ext cx="66675" cy="1257300"/>
          </a:xfrm>
          <a:prstGeom xmlns:a="http://schemas.openxmlformats.org/drawingml/2006/main" prst="rect">
            <a:avLst/>
          </a:prstGeom>
          <a:solidFill xmlns:a="http://schemas.openxmlformats.org/drawingml/2006/main">
            <a:srgbClr val="B84A3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4074D5C-014B-49BD-A0DC-9CC9CB7ACC3D}"/>
              </a:ext>
            </a:extLst>
          </p:cNvPr>
          <p:cNvSpPr>
            <a:spLocks xmlns:a="http://schemas.openxmlformats.org/drawingml/2006/main" noGrp="1"/>
          </p:cNvSpPr>
          <p:nvPr/>
        </p:nvSpPr>
        <p:spPr>
          <a:xfrm xmlns:a="http://schemas.openxmlformats.org/drawingml/2006/main">
            <a:off x="8382000" y="3286125"/>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B84A3A"/>
                </a:solidFill>
                <a:latin typeface="Arial"/>
                <a:ea typeface="Arial"/>
                <a:cs typeface="Arial"/>
              </a:defRPr>
            </a:defPPr>
            <a:lvl1pPr>
              <a:defRPr sz="1425" b="1">
                <a:solidFill>
                  <a:srgbClr val="B84A3A"/>
                </a:solidFill>
                <a:latin typeface="Arial"/>
                <a:ea typeface="Arial"/>
                <a:cs typeface="Arial"/>
              </a:defRPr>
            </a:lvl1pPr>
            <a:lvl2pPr>
              <a:defRPr sz="1425" b="1">
                <a:solidFill>
                  <a:srgbClr val="B84A3A"/>
                </a:solidFill>
                <a:latin typeface="Arial"/>
                <a:ea typeface="Arial"/>
                <a:cs typeface="Arial"/>
              </a:defRPr>
            </a:lvl2pPr>
            <a:lvl3pPr>
              <a:defRPr sz="1425" b="1">
                <a:solidFill>
                  <a:srgbClr val="B84A3A"/>
                </a:solidFill>
                <a:latin typeface="Arial"/>
                <a:ea typeface="Arial"/>
                <a:cs typeface="Arial"/>
              </a:defRPr>
            </a:lvl3pPr>
            <a:lvl4pPr>
              <a:defRPr sz="1425" b="1">
                <a:solidFill>
                  <a:srgbClr val="B84A3A"/>
                </a:solidFill>
                <a:latin typeface="Arial"/>
                <a:ea typeface="Arial"/>
                <a:cs typeface="Arial"/>
              </a:defRPr>
            </a:lvl4pPr>
            <a:lvl5pPr>
              <a:defRPr sz="1425" b="1">
                <a:solidFill>
                  <a:srgbClr val="B84A3A"/>
                </a:solidFill>
                <a:latin typeface="Arial"/>
                <a:ea typeface="Arial"/>
                <a:cs typeface="Arial"/>
              </a:defRPr>
            </a:lvl5pPr>
            <a:lvl6pPr>
              <a:defRPr sz="1425" b="1">
                <a:solidFill>
                  <a:srgbClr val="B84A3A"/>
                </a:solidFill>
                <a:latin typeface="Arial"/>
                <a:ea typeface="Arial"/>
                <a:cs typeface="Arial"/>
              </a:defRPr>
            </a:lvl6pPr>
            <a:lvl7pPr>
              <a:defRPr sz="1425" b="1">
                <a:solidFill>
                  <a:srgbClr val="B84A3A"/>
                </a:solidFill>
                <a:latin typeface="Arial"/>
                <a:ea typeface="Arial"/>
                <a:cs typeface="Arial"/>
              </a:defRPr>
            </a:lvl7pPr>
            <a:lvl8pPr>
              <a:defRPr sz="1425" b="1">
                <a:solidFill>
                  <a:srgbClr val="B84A3A"/>
                </a:solidFill>
                <a:latin typeface="Arial"/>
                <a:ea typeface="Arial"/>
                <a:cs typeface="Arial"/>
              </a:defRPr>
            </a:lvl8pPr>
            <a:lvl9pPr>
              <a:defRPr sz="1425" b="1">
                <a:solidFill>
                  <a:srgbClr val="B84A3A"/>
                </a:solidFill>
                <a:latin typeface="Arial"/>
                <a:ea typeface="Arial"/>
                <a:cs typeface="Arial"/>
              </a:defRPr>
            </a:lvl9pPr>
          </a:lstStyle>
          <a:p xmlns:a="http://schemas.openxmlformats.org/drawingml/2006/main">
            <a:pPr>
              <a:defRPr sz="1425" b="1">
                <a:solidFill>
                  <a:srgbClr val="B84A3A"/>
                </a:solidFill>
                <a:latin typeface="Arial"/>
                <a:ea typeface="Arial"/>
                <a:cs typeface="Arial"/>
              </a:defRPr>
            </a:pPr>
            <a:r>
              <a:rPr sz="1425" b="1">
                <a:solidFill>
                  <a:srgbClr val="B84A3A"/>
                </a:solidFill>
                <a:latin typeface="Arial"/>
                <a:ea typeface="Arial"/>
                <a:cs typeface="Arial"/>
              </a:rPr>
              <a:t>Crash evidence</a:t>
            </a:r>
          </a:p>
        </p:txBody>
      </p:sp>
      <p:sp>
        <p:nvSpPr>
          <p:cNvPr id="23" name="">
            <a:extLst xmlns:a="http://schemas.openxmlformats.org/drawingml/2006/main">
              <a:ext uri="{FF2B5EF4-FFF2-40B4-BE49-F238E27FC236}">
                <a16:creationId xmlns:a16="http://schemas.microsoft.com/office/drawing/2014/main" id="{A537F837-BA2A-4CCE-AD77-7297D9B063F5}"/>
              </a:ext>
            </a:extLst>
          </p:cNvPr>
          <p:cNvSpPr>
            <a:spLocks xmlns:a="http://schemas.openxmlformats.org/drawingml/2006/main" noGrp="1"/>
          </p:cNvSpPr>
          <p:nvPr/>
        </p:nvSpPr>
        <p:spPr>
          <a:xfrm xmlns:a="http://schemas.openxmlformats.org/drawingml/2006/main">
            <a:off x="8382000" y="3590925"/>
            <a:ext cx="304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The worst drawdown ran from 19 Feb to 23 Mar 2020 and reached 34.9%; recovery took 52 trading days.</a:t>
            </a:r>
          </a:p>
        </p:txBody>
      </p:sp>
      <p:sp>
        <p:nvSpPr>
          <p:cNvPr id="24" name="">
            <a:extLst xmlns:a="http://schemas.openxmlformats.org/drawingml/2006/main">
              <a:ext uri="{FF2B5EF4-FFF2-40B4-BE49-F238E27FC236}">
                <a16:creationId xmlns:a16="http://schemas.microsoft.com/office/drawing/2014/main" id="{14AD2DBD-EC8A-4413-BD9D-08C9842BA927}"/>
              </a:ext>
            </a:extLst>
          </p:cNvPr>
          <p:cNvSpPr>
            <a:spLocks xmlns:a="http://schemas.openxmlformats.org/drawingml/2006/main" noGrp="1"/>
          </p:cNvSpPr>
          <p:nvPr/>
        </p:nvSpPr>
        <p:spPr>
          <a:xfrm xmlns:a="http://schemas.openxmlformats.org/drawingml/2006/main">
            <a:off x="1428750" y="5010150"/>
            <a:ext cx="9334500" cy="933450"/>
          </a:xfrm>
          <a:prstGeom xmlns:a="http://schemas.openxmlformats.org/drawingml/2006/main" prst="roundRect">
            <a:avLst>
              <a:gd name="adj" fmla="val 8163"/>
            </a:avLst>
          </a:prstGeom>
          <a:solidFill xmlns:a="http://schemas.openxmlformats.org/drawingml/2006/main">
            <a:srgbClr val="FFFEFB"/>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9B15C7B-989A-4493-BEC1-208FE303F0D8}"/>
              </a:ext>
            </a:extLst>
          </p:cNvPr>
          <p:cNvSpPr>
            <a:spLocks xmlns:a="http://schemas.openxmlformats.org/drawingml/2006/main" noGrp="1"/>
          </p:cNvSpPr>
          <p:nvPr/>
        </p:nvSpPr>
        <p:spPr>
          <a:xfrm xmlns:a="http://schemas.openxmlformats.org/drawingml/2006/main">
            <a:off x="1428750" y="5010150"/>
            <a:ext cx="66675" cy="933450"/>
          </a:xfrm>
          <a:prstGeom xmlns:a="http://schemas.openxmlformats.org/drawingml/2006/main" prst="rect">
            <a:avLst/>
          </a:prstGeom>
          <a:solidFill xmlns:a="http://schemas.openxmlformats.org/drawingml/2006/main">
            <a:srgbClr val="174C4F"/>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6F0AA82-DC88-45AD-9745-0E26A028991E}"/>
              </a:ext>
            </a:extLst>
          </p:cNvPr>
          <p:cNvSpPr>
            <a:spLocks xmlns:a="http://schemas.openxmlformats.org/drawingml/2006/main" noGrp="1"/>
          </p:cNvSpPr>
          <p:nvPr/>
        </p:nvSpPr>
        <p:spPr>
          <a:xfrm xmlns:a="http://schemas.openxmlformats.org/drawingml/2006/main">
            <a:off x="1657350" y="5153025"/>
            <a:ext cx="895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174C4F"/>
                </a:solidFill>
                <a:latin typeface="Arial"/>
                <a:ea typeface="Arial"/>
                <a:cs typeface="Arial"/>
              </a:defRPr>
            </a:defPPr>
            <a:lvl1pPr>
              <a:defRPr sz="1425" b="1">
                <a:solidFill>
                  <a:srgbClr val="174C4F"/>
                </a:solidFill>
                <a:latin typeface="Arial"/>
                <a:ea typeface="Arial"/>
                <a:cs typeface="Arial"/>
              </a:defRPr>
            </a:lvl1pPr>
            <a:lvl2pPr>
              <a:defRPr sz="1425" b="1">
                <a:solidFill>
                  <a:srgbClr val="174C4F"/>
                </a:solidFill>
                <a:latin typeface="Arial"/>
                <a:ea typeface="Arial"/>
                <a:cs typeface="Arial"/>
              </a:defRPr>
            </a:lvl2pPr>
            <a:lvl3pPr>
              <a:defRPr sz="1425" b="1">
                <a:solidFill>
                  <a:srgbClr val="174C4F"/>
                </a:solidFill>
                <a:latin typeface="Arial"/>
                <a:ea typeface="Arial"/>
                <a:cs typeface="Arial"/>
              </a:defRPr>
            </a:lvl3pPr>
            <a:lvl4pPr>
              <a:defRPr sz="1425" b="1">
                <a:solidFill>
                  <a:srgbClr val="174C4F"/>
                </a:solidFill>
                <a:latin typeface="Arial"/>
                <a:ea typeface="Arial"/>
                <a:cs typeface="Arial"/>
              </a:defRPr>
            </a:lvl4pPr>
            <a:lvl5pPr>
              <a:defRPr sz="1425" b="1">
                <a:solidFill>
                  <a:srgbClr val="174C4F"/>
                </a:solidFill>
                <a:latin typeface="Arial"/>
                <a:ea typeface="Arial"/>
                <a:cs typeface="Arial"/>
              </a:defRPr>
            </a:lvl5pPr>
            <a:lvl6pPr>
              <a:defRPr sz="1425" b="1">
                <a:solidFill>
                  <a:srgbClr val="174C4F"/>
                </a:solidFill>
                <a:latin typeface="Arial"/>
                <a:ea typeface="Arial"/>
                <a:cs typeface="Arial"/>
              </a:defRPr>
            </a:lvl6pPr>
            <a:lvl7pPr>
              <a:defRPr sz="1425" b="1">
                <a:solidFill>
                  <a:srgbClr val="174C4F"/>
                </a:solidFill>
                <a:latin typeface="Arial"/>
                <a:ea typeface="Arial"/>
                <a:cs typeface="Arial"/>
              </a:defRPr>
            </a:lvl7pPr>
            <a:lvl8pPr>
              <a:defRPr sz="1425" b="1">
                <a:solidFill>
                  <a:srgbClr val="174C4F"/>
                </a:solidFill>
                <a:latin typeface="Arial"/>
                <a:ea typeface="Arial"/>
                <a:cs typeface="Arial"/>
              </a:defRPr>
            </a:lvl8pPr>
            <a:lvl9pPr>
              <a:defRPr sz="1425" b="1">
                <a:solidFill>
                  <a:srgbClr val="174C4F"/>
                </a:solidFill>
                <a:latin typeface="Arial"/>
                <a:ea typeface="Arial"/>
                <a:cs typeface="Arial"/>
              </a:defRPr>
            </a:lvl9pPr>
          </a:lstStyle>
          <a:p xmlns:a="http://schemas.openxmlformats.org/drawingml/2006/main">
            <a:pPr>
              <a:defRPr sz="1425" b="1">
                <a:solidFill>
                  <a:srgbClr val="174C4F"/>
                </a:solidFill>
                <a:latin typeface="Arial"/>
                <a:ea typeface="Arial"/>
                <a:cs typeface="Arial"/>
              </a:defRPr>
            </a:pPr>
            <a:r>
              <a:rPr sz="1425" b="1">
                <a:solidFill>
                  <a:srgbClr val="174C4F"/>
                </a:solidFill>
                <a:latin typeface="Arial"/>
                <a:ea typeface="Arial"/>
                <a:cs typeface="Arial"/>
              </a:rPr>
              <a:t>Evidence base</a:t>
            </a:r>
          </a:p>
        </p:txBody>
      </p:sp>
      <p:sp>
        <p:nvSpPr>
          <p:cNvPr id="27" name="">
            <a:extLst xmlns:a="http://schemas.openxmlformats.org/drawingml/2006/main">
              <a:ext uri="{FF2B5EF4-FFF2-40B4-BE49-F238E27FC236}">
                <a16:creationId xmlns:a16="http://schemas.microsoft.com/office/drawing/2014/main" id="{0EFE884A-F274-4068-9410-BBC06534E4F6}"/>
              </a:ext>
            </a:extLst>
          </p:cNvPr>
          <p:cNvSpPr>
            <a:spLocks xmlns:a="http://schemas.openxmlformats.org/drawingml/2006/main" noGrp="1"/>
          </p:cNvSpPr>
          <p:nvPr/>
        </p:nvSpPr>
        <p:spPr>
          <a:xfrm xmlns:a="http://schemas.openxmlformats.org/drawingml/2006/main">
            <a:off x="1657350" y="5457825"/>
            <a:ext cx="89535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$10m, ten equal-weight stocks, monthly rebalancing, 3,614 daily observations from 04 June 2012 to 16 October 2026; 6/6 data checks passed.</a:t>
            </a:r>
          </a:p>
        </p:txBody>
      </p:sp>
      <p:sp>
        <p:nvSpPr>
          <p:cNvPr id="28" name="">
            <a:extLst xmlns:a="http://schemas.openxmlformats.org/drawingml/2006/main">
              <a:ext uri="{FF2B5EF4-FFF2-40B4-BE49-F238E27FC236}">
                <a16:creationId xmlns:a16="http://schemas.microsoft.com/office/drawing/2014/main" id="{66062D4D-FF66-447B-8269-F7AB82015298}"/>
              </a:ext>
            </a:extLst>
          </p:cNvPr>
          <p:cNvSpPr>
            <a:spLocks xmlns:a="http://schemas.openxmlformats.org/drawingml/2006/main" noGrp="1"/>
          </p:cNvSpPr>
          <p:nvPr/>
        </p:nvSpPr>
        <p:spPr>
          <a:xfrm xmlns:a="http://schemas.openxmlformats.org/drawingml/2006/main">
            <a:off x="609600" y="6362700"/>
            <a:ext cx="109728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14D2A83-0E47-47E4-A3D7-7C49256FA0D5}"/>
              </a:ext>
            </a:extLst>
          </p:cNvPr>
          <p:cNvSpPr>
            <a:spLocks xmlns:a="http://schemas.openxmlformats.org/drawingml/2006/main" noGrp="1"/>
          </p:cNvSpPr>
          <p:nvPr/>
        </p:nvSpPr>
        <p:spPr>
          <a:xfrm xmlns:a="http://schemas.openxmlformats.org/drawingml/2006/main">
            <a:off x="609600" y="6429375"/>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75">
                <a:solidFill>
                  <a:srgbClr val="5E6865"/>
                </a:solidFill>
                <a:latin typeface="Arial"/>
                <a:ea typeface="Arial"/>
                <a:cs typeface="Arial"/>
              </a:defRPr>
            </a:defPPr>
            <a:lvl1pPr>
              <a:defRPr sz="675">
                <a:solidFill>
                  <a:srgbClr val="5E6865"/>
                </a:solidFill>
                <a:latin typeface="Arial"/>
                <a:ea typeface="Arial"/>
                <a:cs typeface="Arial"/>
              </a:defRPr>
            </a:lvl1pPr>
            <a:lvl2pPr>
              <a:defRPr sz="675">
                <a:solidFill>
                  <a:srgbClr val="5E6865"/>
                </a:solidFill>
                <a:latin typeface="Arial"/>
                <a:ea typeface="Arial"/>
                <a:cs typeface="Arial"/>
              </a:defRPr>
            </a:lvl2pPr>
            <a:lvl3pPr>
              <a:defRPr sz="675">
                <a:solidFill>
                  <a:srgbClr val="5E6865"/>
                </a:solidFill>
                <a:latin typeface="Arial"/>
                <a:ea typeface="Arial"/>
                <a:cs typeface="Arial"/>
              </a:defRPr>
            </a:lvl3pPr>
            <a:lvl4pPr>
              <a:defRPr sz="675">
                <a:solidFill>
                  <a:srgbClr val="5E6865"/>
                </a:solidFill>
                <a:latin typeface="Arial"/>
                <a:ea typeface="Arial"/>
                <a:cs typeface="Arial"/>
              </a:defRPr>
            </a:lvl4pPr>
            <a:lvl5pPr>
              <a:defRPr sz="675">
                <a:solidFill>
                  <a:srgbClr val="5E6865"/>
                </a:solidFill>
                <a:latin typeface="Arial"/>
                <a:ea typeface="Arial"/>
                <a:cs typeface="Arial"/>
              </a:defRPr>
            </a:lvl5pPr>
            <a:lvl6pPr>
              <a:defRPr sz="675">
                <a:solidFill>
                  <a:srgbClr val="5E6865"/>
                </a:solidFill>
                <a:latin typeface="Arial"/>
                <a:ea typeface="Arial"/>
                <a:cs typeface="Arial"/>
              </a:defRPr>
            </a:lvl6pPr>
            <a:lvl7pPr>
              <a:defRPr sz="675">
                <a:solidFill>
                  <a:srgbClr val="5E6865"/>
                </a:solidFill>
                <a:latin typeface="Arial"/>
                <a:ea typeface="Arial"/>
                <a:cs typeface="Arial"/>
              </a:defRPr>
            </a:lvl7pPr>
            <a:lvl8pPr>
              <a:defRPr sz="675">
                <a:solidFill>
                  <a:srgbClr val="5E6865"/>
                </a:solidFill>
                <a:latin typeface="Arial"/>
                <a:ea typeface="Arial"/>
                <a:cs typeface="Arial"/>
              </a:defRPr>
            </a:lvl8pPr>
            <a:lvl9pPr>
              <a:defRPr sz="675">
                <a:solidFill>
                  <a:srgbClr val="5E6865"/>
                </a:solidFill>
                <a:latin typeface="Arial"/>
                <a:ea typeface="Arial"/>
                <a:cs typeface="Arial"/>
              </a:defRPr>
            </a:lvl9pPr>
          </a:lstStyle>
          <a:p xmlns:a="http://schemas.openxmlformats.org/drawingml/2006/main">
            <a:pPr>
              <a:defRPr sz="675">
                <a:solidFill>
                  <a:srgbClr val="5E6865"/>
                </a:solidFill>
                <a:latin typeface="Arial"/>
                <a:ea typeface="Arial"/>
                <a:cs typeface="Arial"/>
              </a:defRPr>
            </a:pPr>
            <a:r>
              <a:rPr sz="675">
                <a:solidFill>
                  <a:srgbClr val="5E6865"/>
                </a:solidFill>
                <a:latin typeface="Arial"/>
                <a:ea typeface="Arial"/>
                <a:cs typeface="Arial"/>
              </a:rPr>
              <a:t>Source: QFI_V2_report.docx; Advanced Equity Portfolio Risk Management brief; report_assets/results.json and presentation_backtest.json, as of 16 October 2026.</a:t>
            </a:r>
          </a:p>
        </p:txBody>
      </p:sp>
      <p:sp>
        <p:nvSpPr>
          <p:cNvPr id="30" name="">
            <a:extLst xmlns:a="http://schemas.openxmlformats.org/drawingml/2006/main">
              <a:ext uri="{FF2B5EF4-FFF2-40B4-BE49-F238E27FC236}">
                <a16:creationId xmlns:a16="http://schemas.microsoft.com/office/drawing/2014/main" id="{586AB8CC-1517-45CE-B297-49F8454F83A4}"/>
              </a:ext>
            </a:extLst>
          </p:cNvPr>
          <p:cNvSpPr>
            <a:spLocks xmlns:a="http://schemas.openxmlformats.org/drawingml/2006/main" noGrp="1"/>
          </p:cNvSpPr>
          <p:nvPr/>
        </p:nvSpPr>
        <p:spPr>
          <a:xfrm xmlns:a="http://schemas.openxmlformats.org/drawingml/2006/main">
            <a:off x="10839450" y="64008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174C4F"/>
                </a:solidFill>
                <a:latin typeface="Arial"/>
                <a:ea typeface="Arial"/>
                <a:cs typeface="Arial"/>
              </a:defRPr>
            </a:defPPr>
            <a:lvl1pPr algn="r">
              <a:defRPr sz="825" b="1">
                <a:solidFill>
                  <a:srgbClr val="174C4F"/>
                </a:solidFill>
                <a:latin typeface="Arial"/>
                <a:ea typeface="Arial"/>
                <a:cs typeface="Arial"/>
              </a:defRPr>
            </a:lvl1pPr>
            <a:lvl2pPr algn="r">
              <a:defRPr sz="825" b="1">
                <a:solidFill>
                  <a:srgbClr val="174C4F"/>
                </a:solidFill>
                <a:latin typeface="Arial"/>
                <a:ea typeface="Arial"/>
                <a:cs typeface="Arial"/>
              </a:defRPr>
            </a:lvl2pPr>
            <a:lvl3pPr algn="r">
              <a:defRPr sz="825" b="1">
                <a:solidFill>
                  <a:srgbClr val="174C4F"/>
                </a:solidFill>
                <a:latin typeface="Arial"/>
                <a:ea typeface="Arial"/>
                <a:cs typeface="Arial"/>
              </a:defRPr>
            </a:lvl3pPr>
            <a:lvl4pPr algn="r">
              <a:defRPr sz="825" b="1">
                <a:solidFill>
                  <a:srgbClr val="174C4F"/>
                </a:solidFill>
                <a:latin typeface="Arial"/>
                <a:ea typeface="Arial"/>
                <a:cs typeface="Arial"/>
              </a:defRPr>
            </a:lvl4pPr>
            <a:lvl5pPr algn="r">
              <a:defRPr sz="825" b="1">
                <a:solidFill>
                  <a:srgbClr val="174C4F"/>
                </a:solidFill>
                <a:latin typeface="Arial"/>
                <a:ea typeface="Arial"/>
                <a:cs typeface="Arial"/>
              </a:defRPr>
            </a:lvl5pPr>
            <a:lvl6pPr algn="r">
              <a:defRPr sz="825" b="1">
                <a:solidFill>
                  <a:srgbClr val="174C4F"/>
                </a:solidFill>
                <a:latin typeface="Arial"/>
                <a:ea typeface="Arial"/>
                <a:cs typeface="Arial"/>
              </a:defRPr>
            </a:lvl6pPr>
            <a:lvl7pPr algn="r">
              <a:defRPr sz="825" b="1">
                <a:solidFill>
                  <a:srgbClr val="174C4F"/>
                </a:solidFill>
                <a:latin typeface="Arial"/>
                <a:ea typeface="Arial"/>
                <a:cs typeface="Arial"/>
              </a:defRPr>
            </a:lvl7pPr>
            <a:lvl8pPr algn="r">
              <a:defRPr sz="825" b="1">
                <a:solidFill>
                  <a:srgbClr val="174C4F"/>
                </a:solidFill>
                <a:latin typeface="Arial"/>
                <a:ea typeface="Arial"/>
                <a:cs typeface="Arial"/>
              </a:defRPr>
            </a:lvl8pPr>
            <a:lvl9pPr algn="r">
              <a:defRPr sz="825" b="1">
                <a:solidFill>
                  <a:srgbClr val="174C4F"/>
                </a:solidFill>
                <a:latin typeface="Arial"/>
                <a:ea typeface="Arial"/>
                <a:cs typeface="Arial"/>
              </a:defRPr>
            </a:lvl9pPr>
          </a:lstStyle>
          <a:p xmlns:a="http://schemas.openxmlformats.org/drawingml/2006/main">
            <a:pPr algn="r">
              <a:defRPr sz="825" b="1">
                <a:solidFill>
                  <a:srgbClr val="174C4F"/>
                </a:solidFill>
                <a:latin typeface="Arial"/>
                <a:ea typeface="Arial"/>
                <a:cs typeface="Arial"/>
              </a:defRPr>
            </a:pPr>
            <a:r>
              <a:rPr sz="825" b="1">
                <a:solidFill>
                  <a:srgbClr val="174C4F"/>
                </a:solidFill>
                <a:latin typeface="Arial"/>
                <a:ea typeface="Arial"/>
                <a:cs typeface="Arial"/>
              </a:rPr>
              <a:t>03</a:t>
            </a:r>
          </a:p>
        </p:txBody>
      </p:sp>
    </p:spTree>
    <p:extLst>
      <p:ext uri="{BB962C8B-B14F-4D97-AF65-F5344CB8AC3E}">
        <p14:creationId xmlns:p14="http://schemas.microsoft.com/office/powerpoint/2010/main" val="753329902"/>
      </p:ext>
    </p:extLst>
  </p:cSld>
</p:sld>
</file>

<file path=ppt/slides/slide4.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DB29FAE-09F8-4910-9224-3BA3467DA9E3}"/>
              </a:ext>
            </a:extLst>
          </p:cNvPr>
          <p:cNvSpPr>
            <a:spLocks xmlns:a="http://schemas.openxmlformats.org/drawingml/2006/main" noGrp="1"/>
          </p:cNvSpPr>
          <p:nvPr/>
        </p:nvSpPr>
        <p:spPr>
          <a:xfrm xmlns:a="http://schemas.openxmlformats.org/drawingml/2006/main">
            <a:off x="609600" y="4000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B2928"/>
                </a:solidFill>
                <a:latin typeface="Arial"/>
                <a:ea typeface="Arial"/>
                <a:cs typeface="Arial"/>
              </a:defRPr>
            </a:defPPr>
            <a:lvl1pPr>
              <a:defRPr sz="2550" b="1">
                <a:solidFill>
                  <a:srgbClr val="1B2928"/>
                </a:solidFill>
                <a:latin typeface="Arial"/>
                <a:ea typeface="Arial"/>
                <a:cs typeface="Arial"/>
              </a:defRPr>
            </a:lvl1pPr>
            <a:lvl2pPr>
              <a:defRPr sz="2550" b="1">
                <a:solidFill>
                  <a:srgbClr val="1B2928"/>
                </a:solidFill>
                <a:latin typeface="Arial"/>
                <a:ea typeface="Arial"/>
                <a:cs typeface="Arial"/>
              </a:defRPr>
            </a:lvl2pPr>
            <a:lvl3pPr>
              <a:defRPr sz="2550" b="1">
                <a:solidFill>
                  <a:srgbClr val="1B2928"/>
                </a:solidFill>
                <a:latin typeface="Arial"/>
                <a:ea typeface="Arial"/>
                <a:cs typeface="Arial"/>
              </a:defRPr>
            </a:lvl3pPr>
            <a:lvl4pPr>
              <a:defRPr sz="2550" b="1">
                <a:solidFill>
                  <a:srgbClr val="1B2928"/>
                </a:solidFill>
                <a:latin typeface="Arial"/>
                <a:ea typeface="Arial"/>
                <a:cs typeface="Arial"/>
              </a:defRPr>
            </a:lvl4pPr>
            <a:lvl5pPr>
              <a:defRPr sz="2550" b="1">
                <a:solidFill>
                  <a:srgbClr val="1B2928"/>
                </a:solidFill>
                <a:latin typeface="Arial"/>
                <a:ea typeface="Arial"/>
                <a:cs typeface="Arial"/>
              </a:defRPr>
            </a:lvl5pPr>
            <a:lvl6pPr>
              <a:defRPr sz="2550" b="1">
                <a:solidFill>
                  <a:srgbClr val="1B2928"/>
                </a:solidFill>
                <a:latin typeface="Arial"/>
                <a:ea typeface="Arial"/>
                <a:cs typeface="Arial"/>
              </a:defRPr>
            </a:lvl6pPr>
            <a:lvl7pPr>
              <a:defRPr sz="2550" b="1">
                <a:solidFill>
                  <a:srgbClr val="1B2928"/>
                </a:solidFill>
                <a:latin typeface="Arial"/>
                <a:ea typeface="Arial"/>
                <a:cs typeface="Arial"/>
              </a:defRPr>
            </a:lvl7pPr>
            <a:lvl8pPr>
              <a:defRPr sz="2550" b="1">
                <a:solidFill>
                  <a:srgbClr val="1B2928"/>
                </a:solidFill>
                <a:latin typeface="Arial"/>
                <a:ea typeface="Arial"/>
                <a:cs typeface="Arial"/>
              </a:defRPr>
            </a:lvl8pPr>
            <a:lvl9pPr>
              <a:defRPr sz="2550" b="1">
                <a:solidFill>
                  <a:srgbClr val="1B2928"/>
                </a:solidFill>
                <a:latin typeface="Arial"/>
                <a:ea typeface="Arial"/>
                <a:cs typeface="Arial"/>
              </a:defRPr>
            </a:lvl9pPr>
          </a:lstStyle>
          <a:p xmlns:a="http://schemas.openxmlformats.org/drawingml/2006/main">
            <a:pPr>
              <a:defRPr sz="2550" b="1">
                <a:solidFill>
                  <a:srgbClr val="1B2928"/>
                </a:solidFill>
                <a:latin typeface="Arial"/>
                <a:ea typeface="Arial"/>
                <a:cs typeface="Arial"/>
              </a:defRPr>
            </a:pPr>
            <a:r>
              <a:rPr sz="2550" b="1">
                <a:solidFill>
                  <a:srgbClr val="1B2928"/>
                </a:solidFill>
                <a:latin typeface="Arial"/>
                <a:ea typeface="Arial"/>
                <a:cs typeface="Arial"/>
              </a:rPr>
              <a:t>Returns are fat-tailed; volatility clusters after shocks</a:t>
            </a:r>
          </a:p>
        </p:txBody>
      </p:sp>
      <p:sp>
        <p:nvSpPr>
          <p:cNvPr id="2" name="">
            <a:extLst xmlns:a="http://schemas.openxmlformats.org/drawingml/2006/main">
              <a:ext uri="{FF2B5EF4-FFF2-40B4-BE49-F238E27FC236}">
                <a16:creationId xmlns:a16="http://schemas.microsoft.com/office/drawing/2014/main" id="{41EABB24-0C06-4330-A324-1404C17E66C4}"/>
              </a:ext>
            </a:extLst>
          </p:cNvPr>
          <p:cNvSpPr>
            <a:spLocks xmlns:a="http://schemas.openxmlformats.org/drawingml/2006/main" noGrp="1"/>
          </p:cNvSpPr>
          <p:nvPr/>
        </p:nvSpPr>
        <p:spPr>
          <a:xfrm xmlns:a="http://schemas.openxmlformats.org/drawingml/2006/main">
            <a:off x="609600" y="981075"/>
            <a:ext cx="685800" cy="47625"/>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76A17AC-0A77-4026-9D73-21667A0C0D49}"/>
              </a:ext>
            </a:extLst>
          </p:cNvPr>
          <p:cNvSpPr>
            <a:spLocks xmlns:a="http://schemas.openxmlformats.org/drawingml/2006/main" noGrp="1"/>
          </p:cNvSpPr>
          <p:nvPr/>
        </p:nvSpPr>
        <p:spPr>
          <a:xfrm xmlns:a="http://schemas.openxmlformats.org/drawingml/2006/main">
            <a:off x="1466850" y="866775"/>
            <a:ext cx="962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Negative shocks produce larger subsequent moves; a stable normal model is not credible</a:t>
            </a:r>
          </a:p>
        </p:txBody>
      </p:sp>
      <p:graphicFrame>
        <p:nvGraphicFramePr>
          <p:cNvPr id="4" name="Chart">
            <a:extLst xmlns:a="http://schemas.openxmlformats.org/drawingml/2006/main">
              <a:ext uri="{FF2B5EF4-FFF2-40B4-BE49-F238E27FC236}">
                <a16:creationId xmlns:a16="http://schemas.microsoft.com/office/drawing/2014/main" id="{DD90B7E5-C192-4579-BE6F-AF3EACBCF0EF}"/>
              </a:ext>
            </a:extLst>
          </p:cNvPr>
          <p:cNvGraphicFramePr/>
          <p:nvPr/>
        </p:nvGraphicFramePr>
        <p:xfrm>
          <a:off xmlns:a="http://schemas.openxmlformats.org/drawingml/2006/main" x="523875" y="1390650"/>
          <a:ext xmlns:a="http://schemas.openxmlformats.org/drawingml/2006/main" cx="7124700" cy="4048125"/>
        </p:xfrm>
        <a:graphic xmlns:a="http://schemas.openxmlformats.org/drawingml/2006/main">
          <a:graphicData uri="http://schemas.openxmlformats.org/drawingml/2006/chart">
            <c:chart xmlns:r="http://schemas.openxmlformats.org/officeDocument/2006/relationships" xmlns:c="http://schemas.openxmlformats.org/drawingml/2006/chart" r:id="R592df15c34064de2"/>
          </a:graphicData>
        </a:graphic>
      </p:graphicFrame>
      <p:sp>
        <p:nvSpPr>
          <p:cNvPr id="5" name="">
            <a:extLst xmlns:a="http://schemas.openxmlformats.org/drawingml/2006/main">
              <a:ext uri="{FF2B5EF4-FFF2-40B4-BE49-F238E27FC236}">
                <a16:creationId xmlns:a16="http://schemas.microsoft.com/office/drawing/2014/main" id="{345CB2A4-A650-44AC-8F7B-F948A4343045}"/>
              </a:ext>
            </a:extLst>
          </p:cNvPr>
          <p:cNvSpPr>
            <a:spLocks xmlns:a="http://schemas.openxmlformats.org/drawingml/2006/main" noGrp="1"/>
          </p:cNvSpPr>
          <p:nvPr/>
        </p:nvSpPr>
        <p:spPr>
          <a:xfrm xmlns:a="http://schemas.openxmlformats.org/drawingml/2006/main">
            <a:off x="685800" y="1200150"/>
            <a:ext cx="3714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5E6865"/>
                </a:solidFill>
                <a:latin typeface="Arial"/>
                <a:ea typeface="Arial"/>
                <a:cs typeface="Arial"/>
              </a:defRPr>
            </a:defPPr>
            <a:lvl1pPr>
              <a:defRPr sz="900" b="1">
                <a:solidFill>
                  <a:srgbClr val="5E6865"/>
                </a:solidFill>
                <a:latin typeface="Arial"/>
                <a:ea typeface="Arial"/>
                <a:cs typeface="Arial"/>
              </a:defRPr>
            </a:lvl1pPr>
            <a:lvl2pPr>
              <a:defRPr sz="900" b="1">
                <a:solidFill>
                  <a:srgbClr val="5E6865"/>
                </a:solidFill>
                <a:latin typeface="Arial"/>
                <a:ea typeface="Arial"/>
                <a:cs typeface="Arial"/>
              </a:defRPr>
            </a:lvl2pPr>
            <a:lvl3pPr>
              <a:defRPr sz="900" b="1">
                <a:solidFill>
                  <a:srgbClr val="5E6865"/>
                </a:solidFill>
                <a:latin typeface="Arial"/>
                <a:ea typeface="Arial"/>
                <a:cs typeface="Arial"/>
              </a:defRPr>
            </a:lvl3pPr>
            <a:lvl4pPr>
              <a:defRPr sz="900" b="1">
                <a:solidFill>
                  <a:srgbClr val="5E6865"/>
                </a:solidFill>
                <a:latin typeface="Arial"/>
                <a:ea typeface="Arial"/>
                <a:cs typeface="Arial"/>
              </a:defRPr>
            </a:lvl4pPr>
            <a:lvl5pPr>
              <a:defRPr sz="900" b="1">
                <a:solidFill>
                  <a:srgbClr val="5E6865"/>
                </a:solidFill>
                <a:latin typeface="Arial"/>
                <a:ea typeface="Arial"/>
                <a:cs typeface="Arial"/>
              </a:defRPr>
            </a:lvl5pPr>
            <a:lvl6pPr>
              <a:defRPr sz="900" b="1">
                <a:solidFill>
                  <a:srgbClr val="5E6865"/>
                </a:solidFill>
                <a:latin typeface="Arial"/>
                <a:ea typeface="Arial"/>
                <a:cs typeface="Arial"/>
              </a:defRPr>
            </a:lvl6pPr>
            <a:lvl7pPr>
              <a:defRPr sz="900" b="1">
                <a:solidFill>
                  <a:srgbClr val="5E6865"/>
                </a:solidFill>
                <a:latin typeface="Arial"/>
                <a:ea typeface="Arial"/>
                <a:cs typeface="Arial"/>
              </a:defRPr>
            </a:lvl7pPr>
            <a:lvl8pPr>
              <a:defRPr sz="900" b="1">
                <a:solidFill>
                  <a:srgbClr val="5E6865"/>
                </a:solidFill>
                <a:latin typeface="Arial"/>
                <a:ea typeface="Arial"/>
                <a:cs typeface="Arial"/>
              </a:defRPr>
            </a:lvl8pPr>
            <a:lvl9pPr>
              <a:defRPr sz="900" b="1">
                <a:solidFill>
                  <a:srgbClr val="5E6865"/>
                </a:solidFill>
                <a:latin typeface="Arial"/>
                <a:ea typeface="Arial"/>
                <a:cs typeface="Arial"/>
              </a:defRPr>
            </a:lvl9pPr>
          </a:lstStyle>
          <a:p xmlns:a="http://schemas.openxmlformats.org/drawingml/2006/main">
            <a:pPr>
              <a:defRPr sz="900" b="1">
                <a:solidFill>
                  <a:srgbClr val="5E6865"/>
                </a:solidFill>
                <a:latin typeface="Arial"/>
                <a:ea typeface="Arial"/>
                <a:cs typeface="Arial"/>
              </a:defRPr>
            </a:pPr>
            <a:r>
              <a:rPr sz="900" b="1">
                <a:solidFill>
                  <a:srgbClr val="5E6865"/>
                </a:solidFill>
                <a:latin typeface="Arial"/>
                <a:ea typeface="Arial"/>
                <a:cs typeface="Arial"/>
              </a:rPr>
              <a:t>Average absolute move over the next five days (%)</a:t>
            </a:r>
          </a:p>
        </p:txBody>
      </p:sp>
      <p:sp>
        <p:nvSpPr>
          <p:cNvPr id="6" name="">
            <a:extLst xmlns:a="http://schemas.openxmlformats.org/drawingml/2006/main">
              <a:ext uri="{FF2B5EF4-FFF2-40B4-BE49-F238E27FC236}">
                <a16:creationId xmlns:a16="http://schemas.microsoft.com/office/drawing/2014/main" id="{8C5F3C11-EA25-4A97-8235-7C044E56CD5C}"/>
              </a:ext>
            </a:extLst>
          </p:cNvPr>
          <p:cNvSpPr>
            <a:spLocks xmlns:a="http://schemas.openxmlformats.org/drawingml/2006/main" noGrp="1"/>
          </p:cNvSpPr>
          <p:nvPr/>
        </p:nvSpPr>
        <p:spPr>
          <a:xfrm xmlns:a="http://schemas.openxmlformats.org/drawingml/2006/main">
            <a:off x="8020050" y="1485900"/>
            <a:ext cx="3352800" cy="1104900"/>
          </a:xfrm>
          <a:prstGeom xmlns:a="http://schemas.openxmlformats.org/drawingml/2006/main" prst="roundRect">
            <a:avLst>
              <a:gd name="adj" fmla="val 6897"/>
            </a:avLst>
          </a:prstGeom>
          <a:solidFill xmlns:a="http://schemas.openxmlformats.org/drawingml/2006/main">
            <a:srgbClr val="F3DCD7"/>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DE2501E-D883-4FCE-9116-891CD701CA16}"/>
              </a:ext>
            </a:extLst>
          </p:cNvPr>
          <p:cNvSpPr>
            <a:spLocks xmlns:a="http://schemas.openxmlformats.org/drawingml/2006/main" noGrp="1"/>
          </p:cNvSpPr>
          <p:nvPr/>
        </p:nvSpPr>
        <p:spPr>
          <a:xfrm xmlns:a="http://schemas.openxmlformats.org/drawingml/2006/main">
            <a:off x="8020050" y="1485900"/>
            <a:ext cx="66675" cy="1104900"/>
          </a:xfrm>
          <a:prstGeom xmlns:a="http://schemas.openxmlformats.org/drawingml/2006/main" prst="rect">
            <a:avLst/>
          </a:prstGeom>
          <a:solidFill xmlns:a="http://schemas.openxmlformats.org/drawingml/2006/main">
            <a:srgbClr val="B84A3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6590815-11B1-4E6D-9CB4-3C2F60B5D1CA}"/>
              </a:ext>
            </a:extLst>
          </p:cNvPr>
          <p:cNvSpPr>
            <a:spLocks xmlns:a="http://schemas.openxmlformats.org/drawingml/2006/main" noGrp="1"/>
          </p:cNvSpPr>
          <p:nvPr/>
        </p:nvSpPr>
        <p:spPr>
          <a:xfrm xmlns:a="http://schemas.openxmlformats.org/drawingml/2006/main">
            <a:off x="8248650" y="1628775"/>
            <a:ext cx="2971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B84A3A"/>
                </a:solidFill>
                <a:latin typeface="Arial"/>
                <a:ea typeface="Arial"/>
                <a:cs typeface="Arial"/>
              </a:defRPr>
            </a:defPPr>
            <a:lvl1pPr>
              <a:defRPr sz="1425" b="1">
                <a:solidFill>
                  <a:srgbClr val="B84A3A"/>
                </a:solidFill>
                <a:latin typeface="Arial"/>
                <a:ea typeface="Arial"/>
                <a:cs typeface="Arial"/>
              </a:defRPr>
            </a:lvl1pPr>
            <a:lvl2pPr>
              <a:defRPr sz="1425" b="1">
                <a:solidFill>
                  <a:srgbClr val="B84A3A"/>
                </a:solidFill>
                <a:latin typeface="Arial"/>
                <a:ea typeface="Arial"/>
                <a:cs typeface="Arial"/>
              </a:defRPr>
            </a:lvl2pPr>
            <a:lvl3pPr>
              <a:defRPr sz="1425" b="1">
                <a:solidFill>
                  <a:srgbClr val="B84A3A"/>
                </a:solidFill>
                <a:latin typeface="Arial"/>
                <a:ea typeface="Arial"/>
                <a:cs typeface="Arial"/>
              </a:defRPr>
            </a:lvl3pPr>
            <a:lvl4pPr>
              <a:defRPr sz="1425" b="1">
                <a:solidFill>
                  <a:srgbClr val="B84A3A"/>
                </a:solidFill>
                <a:latin typeface="Arial"/>
                <a:ea typeface="Arial"/>
                <a:cs typeface="Arial"/>
              </a:defRPr>
            </a:lvl4pPr>
            <a:lvl5pPr>
              <a:defRPr sz="1425" b="1">
                <a:solidFill>
                  <a:srgbClr val="B84A3A"/>
                </a:solidFill>
                <a:latin typeface="Arial"/>
                <a:ea typeface="Arial"/>
                <a:cs typeface="Arial"/>
              </a:defRPr>
            </a:lvl5pPr>
            <a:lvl6pPr>
              <a:defRPr sz="1425" b="1">
                <a:solidFill>
                  <a:srgbClr val="B84A3A"/>
                </a:solidFill>
                <a:latin typeface="Arial"/>
                <a:ea typeface="Arial"/>
                <a:cs typeface="Arial"/>
              </a:defRPr>
            </a:lvl6pPr>
            <a:lvl7pPr>
              <a:defRPr sz="1425" b="1">
                <a:solidFill>
                  <a:srgbClr val="B84A3A"/>
                </a:solidFill>
                <a:latin typeface="Arial"/>
                <a:ea typeface="Arial"/>
                <a:cs typeface="Arial"/>
              </a:defRPr>
            </a:lvl7pPr>
            <a:lvl8pPr>
              <a:defRPr sz="1425" b="1">
                <a:solidFill>
                  <a:srgbClr val="B84A3A"/>
                </a:solidFill>
                <a:latin typeface="Arial"/>
                <a:ea typeface="Arial"/>
                <a:cs typeface="Arial"/>
              </a:defRPr>
            </a:lvl8pPr>
            <a:lvl9pPr>
              <a:defRPr sz="1425" b="1">
                <a:solidFill>
                  <a:srgbClr val="B84A3A"/>
                </a:solidFill>
                <a:latin typeface="Arial"/>
                <a:ea typeface="Arial"/>
                <a:cs typeface="Arial"/>
              </a:defRPr>
            </a:lvl9pPr>
          </a:lstStyle>
          <a:p xmlns:a="http://schemas.openxmlformats.org/drawingml/2006/main">
            <a:pPr>
              <a:defRPr sz="1425" b="1">
                <a:solidFill>
                  <a:srgbClr val="B84A3A"/>
                </a:solidFill>
                <a:latin typeface="Arial"/>
                <a:ea typeface="Arial"/>
                <a:cs typeface="Arial"/>
              </a:defRPr>
            </a:pPr>
            <a:r>
              <a:rPr sz="1425" b="1">
                <a:solidFill>
                  <a:srgbClr val="B84A3A"/>
                </a:solidFill>
                <a:latin typeface="Arial"/>
                <a:ea typeface="Arial"/>
                <a:cs typeface="Arial"/>
              </a:rPr>
              <a:t>Fat downside tail</a:t>
            </a:r>
          </a:p>
        </p:txBody>
      </p:sp>
      <p:sp>
        <p:nvSpPr>
          <p:cNvPr id="9" name="">
            <a:extLst xmlns:a="http://schemas.openxmlformats.org/drawingml/2006/main">
              <a:ext uri="{FF2B5EF4-FFF2-40B4-BE49-F238E27FC236}">
                <a16:creationId xmlns:a16="http://schemas.microsoft.com/office/drawing/2014/main" id="{88831AA7-C907-47E6-8BE5-130D0E31D282}"/>
              </a:ext>
            </a:extLst>
          </p:cNvPr>
          <p:cNvSpPr>
            <a:spLocks xmlns:a="http://schemas.openxmlformats.org/drawingml/2006/main" noGrp="1"/>
          </p:cNvSpPr>
          <p:nvPr/>
        </p:nvSpPr>
        <p:spPr>
          <a:xfrm xmlns:a="http://schemas.openxmlformats.org/drawingml/2006/main">
            <a:off x="8248650" y="1933575"/>
            <a:ext cx="29718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Skew -0.53; kurtosis 12.0. Large losses occur more often than a normal bell curve implies.</a:t>
            </a:r>
          </a:p>
        </p:txBody>
      </p:sp>
      <p:sp>
        <p:nvSpPr>
          <p:cNvPr id="10" name="">
            <a:extLst xmlns:a="http://schemas.openxmlformats.org/drawingml/2006/main">
              <a:ext uri="{FF2B5EF4-FFF2-40B4-BE49-F238E27FC236}">
                <a16:creationId xmlns:a16="http://schemas.microsoft.com/office/drawing/2014/main" id="{5C09960E-F0DC-4BAA-A4D0-C0907E1CE463}"/>
              </a:ext>
            </a:extLst>
          </p:cNvPr>
          <p:cNvSpPr>
            <a:spLocks xmlns:a="http://schemas.openxmlformats.org/drawingml/2006/main" noGrp="1"/>
          </p:cNvSpPr>
          <p:nvPr/>
        </p:nvSpPr>
        <p:spPr>
          <a:xfrm xmlns:a="http://schemas.openxmlformats.org/drawingml/2006/main">
            <a:off x="8020050" y="2952750"/>
            <a:ext cx="3352800" cy="1104900"/>
          </a:xfrm>
          <a:prstGeom xmlns:a="http://schemas.openxmlformats.org/drawingml/2006/main" prst="roundRect">
            <a:avLst>
              <a:gd name="adj" fmla="val 6897"/>
            </a:avLst>
          </a:prstGeom>
          <a:solidFill xmlns:a="http://schemas.openxmlformats.org/drawingml/2006/main">
            <a:srgbClr val="F1E2B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7880688-0C24-4C76-8C60-9199DC517E65}"/>
              </a:ext>
            </a:extLst>
          </p:cNvPr>
          <p:cNvSpPr>
            <a:spLocks xmlns:a="http://schemas.openxmlformats.org/drawingml/2006/main" noGrp="1"/>
          </p:cNvSpPr>
          <p:nvPr/>
        </p:nvSpPr>
        <p:spPr>
          <a:xfrm xmlns:a="http://schemas.openxmlformats.org/drawingml/2006/main">
            <a:off x="8020050" y="2952750"/>
            <a:ext cx="66675" cy="1104900"/>
          </a:xfrm>
          <a:prstGeom xmlns:a="http://schemas.openxmlformats.org/drawingml/2006/main" prst="rect">
            <a:avLst/>
          </a:prstGeom>
          <a:solidFill xmlns:a="http://schemas.openxmlformats.org/drawingml/2006/main">
            <a:srgbClr val="7A5A1E"/>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BF22978-3D98-4D69-BB63-0C11EE346505}"/>
              </a:ext>
            </a:extLst>
          </p:cNvPr>
          <p:cNvSpPr>
            <a:spLocks xmlns:a="http://schemas.openxmlformats.org/drawingml/2006/main" noGrp="1"/>
          </p:cNvSpPr>
          <p:nvPr/>
        </p:nvSpPr>
        <p:spPr>
          <a:xfrm xmlns:a="http://schemas.openxmlformats.org/drawingml/2006/main">
            <a:off x="8248650" y="3095625"/>
            <a:ext cx="2971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7A5A1E"/>
                </a:solidFill>
                <a:latin typeface="Arial"/>
                <a:ea typeface="Arial"/>
                <a:cs typeface="Arial"/>
              </a:defRPr>
            </a:defPPr>
            <a:lvl1pPr>
              <a:defRPr sz="1425" b="1">
                <a:solidFill>
                  <a:srgbClr val="7A5A1E"/>
                </a:solidFill>
                <a:latin typeface="Arial"/>
                <a:ea typeface="Arial"/>
                <a:cs typeface="Arial"/>
              </a:defRPr>
            </a:lvl1pPr>
            <a:lvl2pPr>
              <a:defRPr sz="1425" b="1">
                <a:solidFill>
                  <a:srgbClr val="7A5A1E"/>
                </a:solidFill>
                <a:latin typeface="Arial"/>
                <a:ea typeface="Arial"/>
                <a:cs typeface="Arial"/>
              </a:defRPr>
            </a:lvl2pPr>
            <a:lvl3pPr>
              <a:defRPr sz="1425" b="1">
                <a:solidFill>
                  <a:srgbClr val="7A5A1E"/>
                </a:solidFill>
                <a:latin typeface="Arial"/>
                <a:ea typeface="Arial"/>
                <a:cs typeface="Arial"/>
              </a:defRPr>
            </a:lvl3pPr>
            <a:lvl4pPr>
              <a:defRPr sz="1425" b="1">
                <a:solidFill>
                  <a:srgbClr val="7A5A1E"/>
                </a:solidFill>
                <a:latin typeface="Arial"/>
                <a:ea typeface="Arial"/>
                <a:cs typeface="Arial"/>
              </a:defRPr>
            </a:lvl4pPr>
            <a:lvl5pPr>
              <a:defRPr sz="1425" b="1">
                <a:solidFill>
                  <a:srgbClr val="7A5A1E"/>
                </a:solidFill>
                <a:latin typeface="Arial"/>
                <a:ea typeface="Arial"/>
                <a:cs typeface="Arial"/>
              </a:defRPr>
            </a:lvl5pPr>
            <a:lvl6pPr>
              <a:defRPr sz="1425" b="1">
                <a:solidFill>
                  <a:srgbClr val="7A5A1E"/>
                </a:solidFill>
                <a:latin typeface="Arial"/>
                <a:ea typeface="Arial"/>
                <a:cs typeface="Arial"/>
              </a:defRPr>
            </a:lvl6pPr>
            <a:lvl7pPr>
              <a:defRPr sz="1425" b="1">
                <a:solidFill>
                  <a:srgbClr val="7A5A1E"/>
                </a:solidFill>
                <a:latin typeface="Arial"/>
                <a:ea typeface="Arial"/>
                <a:cs typeface="Arial"/>
              </a:defRPr>
            </a:lvl7pPr>
            <a:lvl8pPr>
              <a:defRPr sz="1425" b="1">
                <a:solidFill>
                  <a:srgbClr val="7A5A1E"/>
                </a:solidFill>
                <a:latin typeface="Arial"/>
                <a:ea typeface="Arial"/>
                <a:cs typeface="Arial"/>
              </a:defRPr>
            </a:lvl8pPr>
            <a:lvl9pPr>
              <a:defRPr sz="1425" b="1">
                <a:solidFill>
                  <a:srgbClr val="7A5A1E"/>
                </a:solidFill>
                <a:latin typeface="Arial"/>
                <a:ea typeface="Arial"/>
                <a:cs typeface="Arial"/>
              </a:defRPr>
            </a:lvl9pPr>
          </a:lstStyle>
          <a:p xmlns:a="http://schemas.openxmlformats.org/drawingml/2006/main">
            <a:pPr>
              <a:defRPr sz="1425" b="1">
                <a:solidFill>
                  <a:srgbClr val="7A5A1E"/>
                </a:solidFill>
                <a:latin typeface="Arial"/>
                <a:ea typeface="Arial"/>
                <a:cs typeface="Arial"/>
              </a:defRPr>
            </a:pPr>
            <a:r>
              <a:rPr sz="1425" b="1">
                <a:solidFill>
                  <a:srgbClr val="7A5A1E"/>
                </a:solidFill>
                <a:latin typeface="Arial"/>
                <a:ea typeface="Arial"/>
                <a:cs typeface="Arial"/>
              </a:rPr>
              <a:t>Asymmetric volatility</a:t>
            </a:r>
          </a:p>
        </p:txBody>
      </p:sp>
      <p:sp>
        <p:nvSpPr>
          <p:cNvPr id="13" name="">
            <a:extLst xmlns:a="http://schemas.openxmlformats.org/drawingml/2006/main">
              <a:ext uri="{FF2B5EF4-FFF2-40B4-BE49-F238E27FC236}">
                <a16:creationId xmlns:a16="http://schemas.microsoft.com/office/drawing/2014/main" id="{57C37C7A-F67B-48ED-B141-9BDD59CC83D9}"/>
              </a:ext>
            </a:extLst>
          </p:cNvPr>
          <p:cNvSpPr>
            <a:spLocks xmlns:a="http://schemas.openxmlformats.org/drawingml/2006/main" noGrp="1"/>
          </p:cNvSpPr>
          <p:nvPr/>
        </p:nvSpPr>
        <p:spPr>
          <a:xfrm xmlns:a="http://schemas.openxmlformats.org/drawingml/2006/main">
            <a:off x="8248650" y="3400425"/>
            <a:ext cx="29718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GJR gamma 0.155: negative shocks raise conditional variance more than positive shocks.</a:t>
            </a:r>
          </a:p>
        </p:txBody>
      </p:sp>
      <p:sp>
        <p:nvSpPr>
          <p:cNvPr id="14" name="">
            <a:extLst xmlns:a="http://schemas.openxmlformats.org/drawingml/2006/main">
              <a:ext uri="{FF2B5EF4-FFF2-40B4-BE49-F238E27FC236}">
                <a16:creationId xmlns:a16="http://schemas.microsoft.com/office/drawing/2014/main" id="{C432E3DA-4894-4F90-B403-C5C8AE03151A}"/>
              </a:ext>
            </a:extLst>
          </p:cNvPr>
          <p:cNvSpPr>
            <a:spLocks xmlns:a="http://schemas.openxmlformats.org/drawingml/2006/main" noGrp="1"/>
          </p:cNvSpPr>
          <p:nvPr/>
        </p:nvSpPr>
        <p:spPr>
          <a:xfrm xmlns:a="http://schemas.openxmlformats.org/drawingml/2006/main">
            <a:off x="8020050" y="4419600"/>
            <a:ext cx="3352800" cy="1104900"/>
          </a:xfrm>
          <a:prstGeom xmlns:a="http://schemas.openxmlformats.org/drawingml/2006/main" prst="roundRect">
            <a:avLst>
              <a:gd name="adj" fmla="val 6897"/>
            </a:avLst>
          </a:prstGeom>
          <a:solidFill xmlns:a="http://schemas.openxmlformats.org/drawingml/2006/main">
            <a:srgbClr val="DDE9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FC7BEF5A-332A-4047-A0A1-5308536F6816}"/>
              </a:ext>
            </a:extLst>
          </p:cNvPr>
          <p:cNvSpPr>
            <a:spLocks xmlns:a="http://schemas.openxmlformats.org/drawingml/2006/main" noGrp="1"/>
          </p:cNvSpPr>
          <p:nvPr/>
        </p:nvSpPr>
        <p:spPr>
          <a:xfrm xmlns:a="http://schemas.openxmlformats.org/drawingml/2006/main">
            <a:off x="8020050" y="4419600"/>
            <a:ext cx="66675" cy="1104900"/>
          </a:xfrm>
          <a:prstGeom xmlns:a="http://schemas.openxmlformats.org/drawingml/2006/main" prst="rect">
            <a:avLst/>
          </a:prstGeom>
          <a:solidFill xmlns:a="http://schemas.openxmlformats.org/drawingml/2006/main">
            <a:srgbClr val="174C4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3249995-F9B7-4E2D-9A02-A7C56BCCF5ED}"/>
              </a:ext>
            </a:extLst>
          </p:cNvPr>
          <p:cNvSpPr>
            <a:spLocks xmlns:a="http://schemas.openxmlformats.org/drawingml/2006/main" noGrp="1"/>
          </p:cNvSpPr>
          <p:nvPr/>
        </p:nvSpPr>
        <p:spPr>
          <a:xfrm xmlns:a="http://schemas.openxmlformats.org/drawingml/2006/main">
            <a:off x="8248650" y="4562475"/>
            <a:ext cx="2971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174C4F"/>
                </a:solidFill>
                <a:latin typeface="Arial"/>
                <a:ea typeface="Arial"/>
                <a:cs typeface="Arial"/>
              </a:defRPr>
            </a:defPPr>
            <a:lvl1pPr>
              <a:defRPr sz="1425" b="1">
                <a:solidFill>
                  <a:srgbClr val="174C4F"/>
                </a:solidFill>
                <a:latin typeface="Arial"/>
                <a:ea typeface="Arial"/>
                <a:cs typeface="Arial"/>
              </a:defRPr>
            </a:lvl1pPr>
            <a:lvl2pPr>
              <a:defRPr sz="1425" b="1">
                <a:solidFill>
                  <a:srgbClr val="174C4F"/>
                </a:solidFill>
                <a:latin typeface="Arial"/>
                <a:ea typeface="Arial"/>
                <a:cs typeface="Arial"/>
              </a:defRPr>
            </a:lvl2pPr>
            <a:lvl3pPr>
              <a:defRPr sz="1425" b="1">
                <a:solidFill>
                  <a:srgbClr val="174C4F"/>
                </a:solidFill>
                <a:latin typeface="Arial"/>
                <a:ea typeface="Arial"/>
                <a:cs typeface="Arial"/>
              </a:defRPr>
            </a:lvl3pPr>
            <a:lvl4pPr>
              <a:defRPr sz="1425" b="1">
                <a:solidFill>
                  <a:srgbClr val="174C4F"/>
                </a:solidFill>
                <a:latin typeface="Arial"/>
                <a:ea typeface="Arial"/>
                <a:cs typeface="Arial"/>
              </a:defRPr>
            </a:lvl4pPr>
            <a:lvl5pPr>
              <a:defRPr sz="1425" b="1">
                <a:solidFill>
                  <a:srgbClr val="174C4F"/>
                </a:solidFill>
                <a:latin typeface="Arial"/>
                <a:ea typeface="Arial"/>
                <a:cs typeface="Arial"/>
              </a:defRPr>
            </a:lvl5pPr>
            <a:lvl6pPr>
              <a:defRPr sz="1425" b="1">
                <a:solidFill>
                  <a:srgbClr val="174C4F"/>
                </a:solidFill>
                <a:latin typeface="Arial"/>
                <a:ea typeface="Arial"/>
                <a:cs typeface="Arial"/>
              </a:defRPr>
            </a:lvl6pPr>
            <a:lvl7pPr>
              <a:defRPr sz="1425" b="1">
                <a:solidFill>
                  <a:srgbClr val="174C4F"/>
                </a:solidFill>
                <a:latin typeface="Arial"/>
                <a:ea typeface="Arial"/>
                <a:cs typeface="Arial"/>
              </a:defRPr>
            </a:lvl7pPr>
            <a:lvl8pPr>
              <a:defRPr sz="1425" b="1">
                <a:solidFill>
                  <a:srgbClr val="174C4F"/>
                </a:solidFill>
                <a:latin typeface="Arial"/>
                <a:ea typeface="Arial"/>
                <a:cs typeface="Arial"/>
              </a:defRPr>
            </a:lvl8pPr>
            <a:lvl9pPr>
              <a:defRPr sz="1425" b="1">
                <a:solidFill>
                  <a:srgbClr val="174C4F"/>
                </a:solidFill>
                <a:latin typeface="Arial"/>
                <a:ea typeface="Arial"/>
                <a:cs typeface="Arial"/>
              </a:defRPr>
            </a:lvl9pPr>
          </a:lstStyle>
          <a:p xmlns:a="http://schemas.openxmlformats.org/drawingml/2006/main">
            <a:pPr>
              <a:defRPr sz="1425" b="1">
                <a:solidFill>
                  <a:srgbClr val="174C4F"/>
                </a:solidFill>
                <a:latin typeface="Arial"/>
                <a:ea typeface="Arial"/>
                <a:cs typeface="Arial"/>
              </a:defRPr>
            </a:pPr>
            <a:r>
              <a:rPr sz="1425" b="1">
                <a:solidFill>
                  <a:srgbClr val="174C4F"/>
                </a:solidFill>
                <a:latin typeface="Arial"/>
                <a:ea typeface="Arial"/>
                <a:cs typeface="Arial"/>
              </a:rPr>
              <a:t>Persistent, not permanent</a:t>
            </a:r>
          </a:p>
        </p:txBody>
      </p:sp>
      <p:sp>
        <p:nvSpPr>
          <p:cNvPr id="17" name="">
            <a:extLst xmlns:a="http://schemas.openxmlformats.org/drawingml/2006/main">
              <a:ext uri="{FF2B5EF4-FFF2-40B4-BE49-F238E27FC236}">
                <a16:creationId xmlns:a16="http://schemas.microsoft.com/office/drawing/2014/main" id="{6AD06147-7CF0-4BE7-B587-0CAF73137D6E}"/>
              </a:ext>
            </a:extLst>
          </p:cNvPr>
          <p:cNvSpPr>
            <a:spLocks xmlns:a="http://schemas.openxmlformats.org/drawingml/2006/main" noGrp="1"/>
          </p:cNvSpPr>
          <p:nvPr/>
        </p:nvSpPr>
        <p:spPr>
          <a:xfrm xmlns:a="http://schemas.openxmlformats.org/drawingml/2006/main">
            <a:off x="8248650" y="4867275"/>
            <a:ext cx="29718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Persistence 0.967; estimated half-life 20.7 trading days.</a:t>
            </a:r>
          </a:p>
        </p:txBody>
      </p:sp>
      <p:sp>
        <p:nvSpPr>
          <p:cNvPr id="18" name="">
            <a:extLst xmlns:a="http://schemas.openxmlformats.org/drawingml/2006/main">
              <a:ext uri="{FF2B5EF4-FFF2-40B4-BE49-F238E27FC236}">
                <a16:creationId xmlns:a16="http://schemas.microsoft.com/office/drawing/2014/main" id="{58348022-5732-4AD8-9064-50B48C45472B}"/>
              </a:ext>
            </a:extLst>
          </p:cNvPr>
          <p:cNvSpPr>
            <a:spLocks xmlns:a="http://schemas.openxmlformats.org/drawingml/2006/main" noGrp="1"/>
          </p:cNvSpPr>
          <p:nvPr/>
        </p:nvSpPr>
        <p:spPr>
          <a:xfrm xmlns:a="http://schemas.openxmlformats.org/drawingml/2006/main">
            <a:off x="609600" y="6362700"/>
            <a:ext cx="109728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2A13EE1-7801-48C9-A94C-E64804811E92}"/>
              </a:ext>
            </a:extLst>
          </p:cNvPr>
          <p:cNvSpPr>
            <a:spLocks xmlns:a="http://schemas.openxmlformats.org/drawingml/2006/main" noGrp="1"/>
          </p:cNvSpPr>
          <p:nvPr/>
        </p:nvSpPr>
        <p:spPr>
          <a:xfrm xmlns:a="http://schemas.openxmlformats.org/drawingml/2006/main">
            <a:off x="609600" y="6429375"/>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75">
                <a:solidFill>
                  <a:srgbClr val="5E6865"/>
                </a:solidFill>
                <a:latin typeface="Arial"/>
                <a:ea typeface="Arial"/>
                <a:cs typeface="Arial"/>
              </a:defRPr>
            </a:defPPr>
            <a:lvl1pPr>
              <a:defRPr sz="675">
                <a:solidFill>
                  <a:srgbClr val="5E6865"/>
                </a:solidFill>
                <a:latin typeface="Arial"/>
                <a:ea typeface="Arial"/>
                <a:cs typeface="Arial"/>
              </a:defRPr>
            </a:lvl1pPr>
            <a:lvl2pPr>
              <a:defRPr sz="675">
                <a:solidFill>
                  <a:srgbClr val="5E6865"/>
                </a:solidFill>
                <a:latin typeface="Arial"/>
                <a:ea typeface="Arial"/>
                <a:cs typeface="Arial"/>
              </a:defRPr>
            </a:lvl2pPr>
            <a:lvl3pPr>
              <a:defRPr sz="675">
                <a:solidFill>
                  <a:srgbClr val="5E6865"/>
                </a:solidFill>
                <a:latin typeface="Arial"/>
                <a:ea typeface="Arial"/>
                <a:cs typeface="Arial"/>
              </a:defRPr>
            </a:lvl3pPr>
            <a:lvl4pPr>
              <a:defRPr sz="675">
                <a:solidFill>
                  <a:srgbClr val="5E6865"/>
                </a:solidFill>
                <a:latin typeface="Arial"/>
                <a:ea typeface="Arial"/>
                <a:cs typeface="Arial"/>
              </a:defRPr>
            </a:lvl4pPr>
            <a:lvl5pPr>
              <a:defRPr sz="675">
                <a:solidFill>
                  <a:srgbClr val="5E6865"/>
                </a:solidFill>
                <a:latin typeface="Arial"/>
                <a:ea typeface="Arial"/>
                <a:cs typeface="Arial"/>
              </a:defRPr>
            </a:lvl5pPr>
            <a:lvl6pPr>
              <a:defRPr sz="675">
                <a:solidFill>
                  <a:srgbClr val="5E6865"/>
                </a:solidFill>
                <a:latin typeface="Arial"/>
                <a:ea typeface="Arial"/>
                <a:cs typeface="Arial"/>
              </a:defRPr>
            </a:lvl6pPr>
            <a:lvl7pPr>
              <a:defRPr sz="675">
                <a:solidFill>
                  <a:srgbClr val="5E6865"/>
                </a:solidFill>
                <a:latin typeface="Arial"/>
                <a:ea typeface="Arial"/>
                <a:cs typeface="Arial"/>
              </a:defRPr>
            </a:lvl7pPr>
            <a:lvl8pPr>
              <a:defRPr sz="675">
                <a:solidFill>
                  <a:srgbClr val="5E6865"/>
                </a:solidFill>
                <a:latin typeface="Arial"/>
                <a:ea typeface="Arial"/>
                <a:cs typeface="Arial"/>
              </a:defRPr>
            </a:lvl8pPr>
            <a:lvl9pPr>
              <a:defRPr sz="675">
                <a:solidFill>
                  <a:srgbClr val="5E6865"/>
                </a:solidFill>
                <a:latin typeface="Arial"/>
                <a:ea typeface="Arial"/>
                <a:cs typeface="Arial"/>
              </a:defRPr>
            </a:lvl9pPr>
          </a:lstStyle>
          <a:p xmlns:a="http://schemas.openxmlformats.org/drawingml/2006/main">
            <a:pPr>
              <a:defRPr sz="675">
                <a:solidFill>
                  <a:srgbClr val="5E6865"/>
                </a:solidFill>
                <a:latin typeface="Arial"/>
                <a:ea typeface="Arial"/>
                <a:cs typeface="Arial"/>
              </a:defRPr>
            </a:pPr>
            <a:r>
              <a:rPr sz="675">
                <a:solidFill>
                  <a:srgbClr val="5E6865"/>
                </a:solidFill>
                <a:latin typeface="Arial"/>
                <a:ea typeface="Arial"/>
                <a:cs typeface="Arial"/>
              </a:rPr>
              <a:t>Source: QFI_V2_report.docx; Advanced Equity Portfolio Risk Management brief; report_assets/results.json and presentation_backtest.json, as of 16 October 2026.</a:t>
            </a:r>
          </a:p>
        </p:txBody>
      </p:sp>
      <p:sp>
        <p:nvSpPr>
          <p:cNvPr id="20" name="">
            <a:extLst xmlns:a="http://schemas.openxmlformats.org/drawingml/2006/main">
              <a:ext uri="{FF2B5EF4-FFF2-40B4-BE49-F238E27FC236}">
                <a16:creationId xmlns:a16="http://schemas.microsoft.com/office/drawing/2014/main" id="{6F391041-4816-4808-ABB9-742B7FDB02A3}"/>
              </a:ext>
            </a:extLst>
          </p:cNvPr>
          <p:cNvSpPr>
            <a:spLocks xmlns:a="http://schemas.openxmlformats.org/drawingml/2006/main" noGrp="1"/>
          </p:cNvSpPr>
          <p:nvPr/>
        </p:nvSpPr>
        <p:spPr>
          <a:xfrm xmlns:a="http://schemas.openxmlformats.org/drawingml/2006/main">
            <a:off x="10839450" y="64008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174C4F"/>
                </a:solidFill>
                <a:latin typeface="Arial"/>
                <a:ea typeface="Arial"/>
                <a:cs typeface="Arial"/>
              </a:defRPr>
            </a:defPPr>
            <a:lvl1pPr algn="r">
              <a:defRPr sz="825" b="1">
                <a:solidFill>
                  <a:srgbClr val="174C4F"/>
                </a:solidFill>
                <a:latin typeface="Arial"/>
                <a:ea typeface="Arial"/>
                <a:cs typeface="Arial"/>
              </a:defRPr>
            </a:lvl1pPr>
            <a:lvl2pPr algn="r">
              <a:defRPr sz="825" b="1">
                <a:solidFill>
                  <a:srgbClr val="174C4F"/>
                </a:solidFill>
                <a:latin typeface="Arial"/>
                <a:ea typeface="Arial"/>
                <a:cs typeface="Arial"/>
              </a:defRPr>
            </a:lvl2pPr>
            <a:lvl3pPr algn="r">
              <a:defRPr sz="825" b="1">
                <a:solidFill>
                  <a:srgbClr val="174C4F"/>
                </a:solidFill>
                <a:latin typeface="Arial"/>
                <a:ea typeface="Arial"/>
                <a:cs typeface="Arial"/>
              </a:defRPr>
            </a:lvl3pPr>
            <a:lvl4pPr algn="r">
              <a:defRPr sz="825" b="1">
                <a:solidFill>
                  <a:srgbClr val="174C4F"/>
                </a:solidFill>
                <a:latin typeface="Arial"/>
                <a:ea typeface="Arial"/>
                <a:cs typeface="Arial"/>
              </a:defRPr>
            </a:lvl4pPr>
            <a:lvl5pPr algn="r">
              <a:defRPr sz="825" b="1">
                <a:solidFill>
                  <a:srgbClr val="174C4F"/>
                </a:solidFill>
                <a:latin typeface="Arial"/>
                <a:ea typeface="Arial"/>
                <a:cs typeface="Arial"/>
              </a:defRPr>
            </a:lvl5pPr>
            <a:lvl6pPr algn="r">
              <a:defRPr sz="825" b="1">
                <a:solidFill>
                  <a:srgbClr val="174C4F"/>
                </a:solidFill>
                <a:latin typeface="Arial"/>
                <a:ea typeface="Arial"/>
                <a:cs typeface="Arial"/>
              </a:defRPr>
            </a:lvl6pPr>
            <a:lvl7pPr algn="r">
              <a:defRPr sz="825" b="1">
                <a:solidFill>
                  <a:srgbClr val="174C4F"/>
                </a:solidFill>
                <a:latin typeface="Arial"/>
                <a:ea typeface="Arial"/>
                <a:cs typeface="Arial"/>
              </a:defRPr>
            </a:lvl7pPr>
            <a:lvl8pPr algn="r">
              <a:defRPr sz="825" b="1">
                <a:solidFill>
                  <a:srgbClr val="174C4F"/>
                </a:solidFill>
                <a:latin typeface="Arial"/>
                <a:ea typeface="Arial"/>
                <a:cs typeface="Arial"/>
              </a:defRPr>
            </a:lvl8pPr>
            <a:lvl9pPr algn="r">
              <a:defRPr sz="825" b="1">
                <a:solidFill>
                  <a:srgbClr val="174C4F"/>
                </a:solidFill>
                <a:latin typeface="Arial"/>
                <a:ea typeface="Arial"/>
                <a:cs typeface="Arial"/>
              </a:defRPr>
            </a:lvl9pPr>
          </a:lstStyle>
          <a:p xmlns:a="http://schemas.openxmlformats.org/drawingml/2006/main">
            <a:pPr algn="r">
              <a:defRPr sz="825" b="1">
                <a:solidFill>
                  <a:srgbClr val="174C4F"/>
                </a:solidFill>
                <a:latin typeface="Arial"/>
                <a:ea typeface="Arial"/>
                <a:cs typeface="Arial"/>
              </a:defRPr>
            </a:pPr>
            <a:r>
              <a:rPr sz="825" b="1">
                <a:solidFill>
                  <a:srgbClr val="174C4F"/>
                </a:solidFill>
                <a:latin typeface="Arial"/>
                <a:ea typeface="Arial"/>
                <a:cs typeface="Arial"/>
              </a:rPr>
              <a:t>04</a:t>
            </a:r>
          </a:p>
        </p:txBody>
      </p:sp>
    </p:spTree>
    <p:extLst>
      <p:ext uri="{BB962C8B-B14F-4D97-AF65-F5344CB8AC3E}">
        <p14:creationId xmlns:p14="http://schemas.microsoft.com/office/powerpoint/2010/main" val="1729986758"/>
      </p:ext>
    </p:extLst>
  </p:cSld>
</p:sld>
</file>

<file path=ppt/slides/slide5.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9D8B524E-2485-44D8-8DB2-ED7A1D882A76}"/>
              </a:ext>
            </a:extLst>
          </p:cNvPr>
          <p:cNvSpPr>
            <a:spLocks xmlns:a="http://schemas.openxmlformats.org/drawingml/2006/main" noGrp="1"/>
          </p:cNvSpPr>
          <p:nvPr/>
        </p:nvSpPr>
        <p:spPr>
          <a:xfrm xmlns:a="http://schemas.openxmlformats.org/drawingml/2006/main">
            <a:off x="609600" y="4000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B2928"/>
                </a:solidFill>
                <a:latin typeface="Arial"/>
                <a:ea typeface="Arial"/>
                <a:cs typeface="Arial"/>
              </a:defRPr>
            </a:defPPr>
            <a:lvl1pPr>
              <a:defRPr sz="2550" b="1">
                <a:solidFill>
                  <a:srgbClr val="1B2928"/>
                </a:solidFill>
                <a:latin typeface="Arial"/>
                <a:ea typeface="Arial"/>
                <a:cs typeface="Arial"/>
              </a:defRPr>
            </a:lvl1pPr>
            <a:lvl2pPr>
              <a:defRPr sz="2550" b="1">
                <a:solidFill>
                  <a:srgbClr val="1B2928"/>
                </a:solidFill>
                <a:latin typeface="Arial"/>
                <a:ea typeface="Arial"/>
                <a:cs typeface="Arial"/>
              </a:defRPr>
            </a:lvl2pPr>
            <a:lvl3pPr>
              <a:defRPr sz="2550" b="1">
                <a:solidFill>
                  <a:srgbClr val="1B2928"/>
                </a:solidFill>
                <a:latin typeface="Arial"/>
                <a:ea typeface="Arial"/>
                <a:cs typeface="Arial"/>
              </a:defRPr>
            </a:lvl3pPr>
            <a:lvl4pPr>
              <a:defRPr sz="2550" b="1">
                <a:solidFill>
                  <a:srgbClr val="1B2928"/>
                </a:solidFill>
                <a:latin typeface="Arial"/>
                <a:ea typeface="Arial"/>
                <a:cs typeface="Arial"/>
              </a:defRPr>
            </a:lvl4pPr>
            <a:lvl5pPr>
              <a:defRPr sz="2550" b="1">
                <a:solidFill>
                  <a:srgbClr val="1B2928"/>
                </a:solidFill>
                <a:latin typeface="Arial"/>
                <a:ea typeface="Arial"/>
                <a:cs typeface="Arial"/>
              </a:defRPr>
            </a:lvl5pPr>
            <a:lvl6pPr>
              <a:defRPr sz="2550" b="1">
                <a:solidFill>
                  <a:srgbClr val="1B2928"/>
                </a:solidFill>
                <a:latin typeface="Arial"/>
                <a:ea typeface="Arial"/>
                <a:cs typeface="Arial"/>
              </a:defRPr>
            </a:lvl6pPr>
            <a:lvl7pPr>
              <a:defRPr sz="2550" b="1">
                <a:solidFill>
                  <a:srgbClr val="1B2928"/>
                </a:solidFill>
                <a:latin typeface="Arial"/>
                <a:ea typeface="Arial"/>
                <a:cs typeface="Arial"/>
              </a:defRPr>
            </a:lvl7pPr>
            <a:lvl8pPr>
              <a:defRPr sz="2550" b="1">
                <a:solidFill>
                  <a:srgbClr val="1B2928"/>
                </a:solidFill>
                <a:latin typeface="Arial"/>
                <a:ea typeface="Arial"/>
                <a:cs typeface="Arial"/>
              </a:defRPr>
            </a:lvl8pPr>
            <a:lvl9pPr>
              <a:defRPr sz="2550" b="1">
                <a:solidFill>
                  <a:srgbClr val="1B2928"/>
                </a:solidFill>
                <a:latin typeface="Arial"/>
                <a:ea typeface="Arial"/>
                <a:cs typeface="Arial"/>
              </a:defRPr>
            </a:lvl9pPr>
          </a:lstStyle>
          <a:p xmlns:a="http://schemas.openxmlformats.org/drawingml/2006/main">
            <a:pPr>
              <a:defRPr sz="2550" b="1">
                <a:solidFill>
                  <a:srgbClr val="1B2928"/>
                </a:solidFill>
                <a:latin typeface="Arial"/>
                <a:ea typeface="Arial"/>
                <a:cs typeface="Arial"/>
              </a:defRPr>
            </a:pPr>
            <a:r>
              <a:rPr sz="2550" b="1">
                <a:solidFill>
                  <a:srgbClr val="1B2928"/>
                </a:solidFill>
                <a:latin typeface="Arial"/>
                <a:ea typeface="Arial"/>
                <a:cs typeface="Arial"/>
              </a:rPr>
              <a:t>GJR-HS earns primary-model status; EWMA-HS is the challenger</a:t>
            </a:r>
          </a:p>
        </p:txBody>
      </p:sp>
      <p:sp>
        <p:nvSpPr>
          <p:cNvPr id="2" name="">
            <a:extLst xmlns:a="http://schemas.openxmlformats.org/drawingml/2006/main">
              <a:ext uri="{FF2B5EF4-FFF2-40B4-BE49-F238E27FC236}">
                <a16:creationId xmlns:a16="http://schemas.microsoft.com/office/drawing/2014/main" id="{6D2715E1-B6F5-4E9D-8118-344F094CFA01}"/>
              </a:ext>
            </a:extLst>
          </p:cNvPr>
          <p:cNvSpPr>
            <a:spLocks xmlns:a="http://schemas.openxmlformats.org/drawingml/2006/main" noGrp="1"/>
          </p:cNvSpPr>
          <p:nvPr/>
        </p:nvSpPr>
        <p:spPr>
          <a:xfrm xmlns:a="http://schemas.openxmlformats.org/drawingml/2006/main">
            <a:off x="609600" y="981075"/>
            <a:ext cx="685800" cy="47625"/>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764D066-1B2B-40A1-8836-99440D89287F}"/>
              </a:ext>
            </a:extLst>
          </p:cNvPr>
          <p:cNvSpPr>
            <a:spLocks xmlns:a="http://schemas.openxmlformats.org/drawingml/2006/main" noGrp="1"/>
          </p:cNvSpPr>
          <p:nvPr/>
        </p:nvSpPr>
        <p:spPr>
          <a:xfrm xmlns:a="http://schemas.openxmlformats.org/drawingml/2006/main">
            <a:off x="1466850" y="866775"/>
            <a:ext cx="962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Selection result first; model mechanics are supporting evidence</a:t>
            </a:r>
          </a:p>
        </p:txBody>
      </p:sp>
      <p:sp>
        <p:nvSpPr>
          <p:cNvPr id="4" name="">
            <a:extLst xmlns:a="http://schemas.openxmlformats.org/drawingml/2006/main">
              <a:ext uri="{FF2B5EF4-FFF2-40B4-BE49-F238E27FC236}">
                <a16:creationId xmlns:a16="http://schemas.microsoft.com/office/drawing/2014/main" id="{752F2D1C-F05F-410B-84C3-3031AE10FB5F}"/>
              </a:ext>
            </a:extLst>
          </p:cNvPr>
          <p:cNvSpPr>
            <a:spLocks xmlns:a="http://schemas.openxmlformats.org/drawingml/2006/main" noGrp="1"/>
          </p:cNvSpPr>
          <p:nvPr/>
        </p:nvSpPr>
        <p:spPr>
          <a:xfrm xmlns:a="http://schemas.openxmlformats.org/drawingml/2006/main">
            <a:off x="666750" y="1409700"/>
            <a:ext cx="1352550" cy="742950"/>
          </a:xfrm>
          <a:prstGeom xmlns:a="http://schemas.openxmlformats.org/drawingml/2006/main" prst="roundRect">
            <a:avLst>
              <a:gd name="adj" fmla="val 10256"/>
            </a:avLst>
          </a:prstGeom>
          <a:solidFill xmlns:a="http://schemas.openxmlformats.org/drawingml/2006/main">
            <a:srgbClr val="5E686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0F362F6-384F-44E2-8E39-2F374F0B74BE}"/>
              </a:ext>
            </a:extLst>
          </p:cNvPr>
          <p:cNvSpPr>
            <a:spLocks xmlns:a="http://schemas.openxmlformats.org/drawingml/2006/main" noGrp="1"/>
          </p:cNvSpPr>
          <p:nvPr/>
        </p:nvSpPr>
        <p:spPr>
          <a:xfrm xmlns:a="http://schemas.openxmlformats.org/drawingml/2006/main">
            <a:off x="704850" y="1628775"/>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75" b="1">
                <a:solidFill>
                  <a:srgbClr val="FFFEFB"/>
                </a:solidFill>
                <a:latin typeface="Arial"/>
                <a:ea typeface="Arial"/>
                <a:cs typeface="Arial"/>
              </a:defRPr>
            </a:defPPr>
            <a:lvl1pPr algn="ctr">
              <a:defRPr sz="1575" b="1">
                <a:solidFill>
                  <a:srgbClr val="FFFEFB"/>
                </a:solidFill>
                <a:latin typeface="Arial"/>
                <a:ea typeface="Arial"/>
                <a:cs typeface="Arial"/>
              </a:defRPr>
            </a:lvl1pPr>
            <a:lvl2pPr algn="ctr">
              <a:defRPr sz="1575" b="1">
                <a:solidFill>
                  <a:srgbClr val="FFFEFB"/>
                </a:solidFill>
                <a:latin typeface="Arial"/>
                <a:ea typeface="Arial"/>
                <a:cs typeface="Arial"/>
              </a:defRPr>
            </a:lvl2pPr>
            <a:lvl3pPr algn="ctr">
              <a:defRPr sz="1575" b="1">
                <a:solidFill>
                  <a:srgbClr val="FFFEFB"/>
                </a:solidFill>
                <a:latin typeface="Arial"/>
                <a:ea typeface="Arial"/>
                <a:cs typeface="Arial"/>
              </a:defRPr>
            </a:lvl3pPr>
            <a:lvl4pPr algn="ctr">
              <a:defRPr sz="1575" b="1">
                <a:solidFill>
                  <a:srgbClr val="FFFEFB"/>
                </a:solidFill>
                <a:latin typeface="Arial"/>
                <a:ea typeface="Arial"/>
                <a:cs typeface="Arial"/>
              </a:defRPr>
            </a:lvl4pPr>
            <a:lvl5pPr algn="ctr">
              <a:defRPr sz="1575" b="1">
                <a:solidFill>
                  <a:srgbClr val="FFFEFB"/>
                </a:solidFill>
                <a:latin typeface="Arial"/>
                <a:ea typeface="Arial"/>
                <a:cs typeface="Arial"/>
              </a:defRPr>
            </a:lvl5pPr>
            <a:lvl6pPr algn="ctr">
              <a:defRPr sz="1575" b="1">
                <a:solidFill>
                  <a:srgbClr val="FFFEFB"/>
                </a:solidFill>
                <a:latin typeface="Arial"/>
                <a:ea typeface="Arial"/>
                <a:cs typeface="Arial"/>
              </a:defRPr>
            </a:lvl6pPr>
            <a:lvl7pPr algn="ctr">
              <a:defRPr sz="1575" b="1">
                <a:solidFill>
                  <a:srgbClr val="FFFEFB"/>
                </a:solidFill>
                <a:latin typeface="Arial"/>
                <a:ea typeface="Arial"/>
                <a:cs typeface="Arial"/>
              </a:defRPr>
            </a:lvl7pPr>
            <a:lvl8pPr algn="ctr">
              <a:defRPr sz="1575" b="1">
                <a:solidFill>
                  <a:srgbClr val="FFFEFB"/>
                </a:solidFill>
                <a:latin typeface="Arial"/>
                <a:ea typeface="Arial"/>
                <a:cs typeface="Arial"/>
              </a:defRPr>
            </a:lvl8pPr>
            <a:lvl9pPr algn="ctr">
              <a:defRPr sz="1575" b="1">
                <a:solidFill>
                  <a:srgbClr val="FFFEFB"/>
                </a:solidFill>
                <a:latin typeface="Arial"/>
                <a:ea typeface="Arial"/>
                <a:cs typeface="Arial"/>
              </a:defRPr>
            </a:lvl9pPr>
          </a:lstStyle>
          <a:p xmlns:a="http://schemas.openxmlformats.org/drawingml/2006/main">
            <a:pPr algn="ctr">
              <a:defRPr sz="1575" b="1">
                <a:solidFill>
                  <a:srgbClr val="FFFEFB"/>
                </a:solidFill>
                <a:latin typeface="Arial"/>
                <a:ea typeface="Arial"/>
                <a:cs typeface="Arial"/>
              </a:defRPr>
            </a:pPr>
            <a:r>
              <a:rPr sz="1575" b="1">
                <a:solidFill>
                  <a:srgbClr val="FFFEFB"/>
                </a:solidFill>
                <a:latin typeface="Arial"/>
                <a:ea typeface="Arial"/>
                <a:cs typeface="Arial"/>
              </a:rPr>
              <a:t>HS</a:t>
            </a:r>
          </a:p>
        </p:txBody>
      </p:sp>
      <p:sp>
        <p:nvSpPr>
          <p:cNvPr id="6" name="">
            <a:extLst xmlns:a="http://schemas.openxmlformats.org/drawingml/2006/main">
              <a:ext uri="{FF2B5EF4-FFF2-40B4-BE49-F238E27FC236}">
                <a16:creationId xmlns:a16="http://schemas.microsoft.com/office/drawing/2014/main" id="{1B3B390D-D42A-435E-80D0-99708061A740}"/>
              </a:ext>
            </a:extLst>
          </p:cNvPr>
          <p:cNvSpPr>
            <a:spLocks xmlns:a="http://schemas.openxmlformats.org/drawingml/2006/main" noGrp="1"/>
          </p:cNvSpPr>
          <p:nvPr/>
        </p:nvSpPr>
        <p:spPr>
          <a:xfrm xmlns:a="http://schemas.openxmlformats.org/drawingml/2006/main">
            <a:off x="2266950" y="142875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B2928"/>
                </a:solidFill>
                <a:latin typeface="Arial"/>
                <a:ea typeface="Arial"/>
                <a:cs typeface="Arial"/>
              </a:defRPr>
            </a:defPPr>
            <a:lvl1pPr>
              <a:defRPr sz="1575" b="1">
                <a:solidFill>
                  <a:srgbClr val="1B2928"/>
                </a:solidFill>
                <a:latin typeface="Arial"/>
                <a:ea typeface="Arial"/>
                <a:cs typeface="Arial"/>
              </a:defRPr>
            </a:lvl1pPr>
            <a:lvl2pPr>
              <a:defRPr sz="1575" b="1">
                <a:solidFill>
                  <a:srgbClr val="1B2928"/>
                </a:solidFill>
                <a:latin typeface="Arial"/>
                <a:ea typeface="Arial"/>
                <a:cs typeface="Arial"/>
              </a:defRPr>
            </a:lvl2pPr>
            <a:lvl3pPr>
              <a:defRPr sz="1575" b="1">
                <a:solidFill>
                  <a:srgbClr val="1B2928"/>
                </a:solidFill>
                <a:latin typeface="Arial"/>
                <a:ea typeface="Arial"/>
                <a:cs typeface="Arial"/>
              </a:defRPr>
            </a:lvl3pPr>
            <a:lvl4pPr>
              <a:defRPr sz="1575" b="1">
                <a:solidFill>
                  <a:srgbClr val="1B2928"/>
                </a:solidFill>
                <a:latin typeface="Arial"/>
                <a:ea typeface="Arial"/>
                <a:cs typeface="Arial"/>
              </a:defRPr>
            </a:lvl4pPr>
            <a:lvl5pPr>
              <a:defRPr sz="1575" b="1">
                <a:solidFill>
                  <a:srgbClr val="1B2928"/>
                </a:solidFill>
                <a:latin typeface="Arial"/>
                <a:ea typeface="Arial"/>
                <a:cs typeface="Arial"/>
              </a:defRPr>
            </a:lvl5pPr>
            <a:lvl6pPr>
              <a:defRPr sz="1575" b="1">
                <a:solidFill>
                  <a:srgbClr val="1B2928"/>
                </a:solidFill>
                <a:latin typeface="Arial"/>
                <a:ea typeface="Arial"/>
                <a:cs typeface="Arial"/>
              </a:defRPr>
            </a:lvl6pPr>
            <a:lvl7pPr>
              <a:defRPr sz="1575" b="1">
                <a:solidFill>
                  <a:srgbClr val="1B2928"/>
                </a:solidFill>
                <a:latin typeface="Arial"/>
                <a:ea typeface="Arial"/>
                <a:cs typeface="Arial"/>
              </a:defRPr>
            </a:lvl7pPr>
            <a:lvl8pPr>
              <a:defRPr sz="1575" b="1">
                <a:solidFill>
                  <a:srgbClr val="1B2928"/>
                </a:solidFill>
                <a:latin typeface="Arial"/>
                <a:ea typeface="Arial"/>
                <a:cs typeface="Arial"/>
              </a:defRPr>
            </a:lvl8pPr>
            <a:lvl9pPr>
              <a:defRPr sz="1575" b="1">
                <a:solidFill>
                  <a:srgbClr val="1B2928"/>
                </a:solidFill>
                <a:latin typeface="Arial"/>
                <a:ea typeface="Arial"/>
                <a:cs typeface="Arial"/>
              </a:defRPr>
            </a:lvl9pPr>
          </a:lstStyle>
          <a:p xmlns:a="http://schemas.openxmlformats.org/drawingml/2006/main">
            <a:pPr>
              <a:defRPr sz="1575" b="1">
                <a:solidFill>
                  <a:srgbClr val="1B2928"/>
                </a:solidFill>
                <a:latin typeface="Arial"/>
                <a:ea typeface="Arial"/>
                <a:cs typeface="Arial"/>
              </a:defRPr>
            </a:pPr>
            <a:r>
              <a:rPr sz="1575" b="1">
                <a:solidFill>
                  <a:srgbClr val="1B2928"/>
                </a:solidFill>
                <a:latin typeface="Arial"/>
                <a:ea typeface="Arial"/>
                <a:cs typeface="Arial"/>
              </a:rPr>
              <a:t>Transparent benchmark</a:t>
            </a:r>
          </a:p>
        </p:txBody>
      </p:sp>
      <p:sp>
        <p:nvSpPr>
          <p:cNvPr id="7" name="">
            <a:extLst xmlns:a="http://schemas.openxmlformats.org/drawingml/2006/main">
              <a:ext uri="{FF2B5EF4-FFF2-40B4-BE49-F238E27FC236}">
                <a16:creationId xmlns:a16="http://schemas.microsoft.com/office/drawing/2014/main" id="{D1DA56EF-4CA8-4FF0-8C25-0D09C144EB8B}"/>
              </a:ext>
            </a:extLst>
          </p:cNvPr>
          <p:cNvSpPr>
            <a:spLocks xmlns:a="http://schemas.openxmlformats.org/drawingml/2006/main" noGrp="1"/>
          </p:cNvSpPr>
          <p:nvPr/>
        </p:nvSpPr>
        <p:spPr>
          <a:xfrm xmlns:a="http://schemas.openxmlformats.org/drawingml/2006/main">
            <a:off x="2266950" y="1781175"/>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Raw last 500 returns</a:t>
            </a:r>
          </a:p>
        </p:txBody>
      </p:sp>
      <p:sp>
        <p:nvSpPr>
          <p:cNvPr id="8" name="">
            <a:extLst xmlns:a="http://schemas.openxmlformats.org/drawingml/2006/main">
              <a:ext uri="{FF2B5EF4-FFF2-40B4-BE49-F238E27FC236}">
                <a16:creationId xmlns:a16="http://schemas.microsoft.com/office/drawing/2014/main" id="{E1E394E4-5A7A-4DAC-90E5-9F02795F1A3E}"/>
              </a:ext>
            </a:extLst>
          </p:cNvPr>
          <p:cNvSpPr>
            <a:spLocks xmlns:a="http://schemas.openxmlformats.org/drawingml/2006/main" noGrp="1"/>
          </p:cNvSpPr>
          <p:nvPr/>
        </p:nvSpPr>
        <p:spPr>
          <a:xfrm xmlns:a="http://schemas.openxmlformats.org/drawingml/2006/main">
            <a:off x="2266950" y="2238375"/>
            <a:ext cx="53340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33EA838-58E1-4579-80D7-B691FB6161C4}"/>
              </a:ext>
            </a:extLst>
          </p:cNvPr>
          <p:cNvSpPr>
            <a:spLocks xmlns:a="http://schemas.openxmlformats.org/drawingml/2006/main" noGrp="1"/>
          </p:cNvSpPr>
          <p:nvPr/>
        </p:nvSpPr>
        <p:spPr>
          <a:xfrm xmlns:a="http://schemas.openxmlformats.org/drawingml/2006/main">
            <a:off x="666750" y="2447925"/>
            <a:ext cx="1352550" cy="742950"/>
          </a:xfrm>
          <a:prstGeom xmlns:a="http://schemas.openxmlformats.org/drawingml/2006/main" prst="roundRect">
            <a:avLst>
              <a:gd name="adj" fmla="val 10256"/>
            </a:avLst>
          </a:prstGeom>
          <a:solidFill xmlns:a="http://schemas.openxmlformats.org/drawingml/2006/main">
            <a:srgbClr val="477F8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C6B216F-7E24-4B32-95B2-5C6E4BFC4FA0}"/>
              </a:ext>
            </a:extLst>
          </p:cNvPr>
          <p:cNvSpPr>
            <a:spLocks xmlns:a="http://schemas.openxmlformats.org/drawingml/2006/main" noGrp="1"/>
          </p:cNvSpPr>
          <p:nvPr/>
        </p:nvSpPr>
        <p:spPr>
          <a:xfrm xmlns:a="http://schemas.openxmlformats.org/drawingml/2006/main">
            <a:off x="704850" y="266700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FFFEFB"/>
                </a:solidFill>
                <a:latin typeface="Arial"/>
                <a:ea typeface="Arial"/>
                <a:cs typeface="Arial"/>
              </a:defRPr>
            </a:defPPr>
            <a:lvl1pPr algn="ctr">
              <a:defRPr sz="1275" b="1">
                <a:solidFill>
                  <a:srgbClr val="FFFEFB"/>
                </a:solidFill>
                <a:latin typeface="Arial"/>
                <a:ea typeface="Arial"/>
                <a:cs typeface="Arial"/>
              </a:defRPr>
            </a:lvl1pPr>
            <a:lvl2pPr algn="ctr">
              <a:defRPr sz="1275" b="1">
                <a:solidFill>
                  <a:srgbClr val="FFFEFB"/>
                </a:solidFill>
                <a:latin typeface="Arial"/>
                <a:ea typeface="Arial"/>
                <a:cs typeface="Arial"/>
              </a:defRPr>
            </a:lvl2pPr>
            <a:lvl3pPr algn="ctr">
              <a:defRPr sz="1275" b="1">
                <a:solidFill>
                  <a:srgbClr val="FFFEFB"/>
                </a:solidFill>
                <a:latin typeface="Arial"/>
                <a:ea typeface="Arial"/>
                <a:cs typeface="Arial"/>
              </a:defRPr>
            </a:lvl3pPr>
            <a:lvl4pPr algn="ctr">
              <a:defRPr sz="1275" b="1">
                <a:solidFill>
                  <a:srgbClr val="FFFEFB"/>
                </a:solidFill>
                <a:latin typeface="Arial"/>
                <a:ea typeface="Arial"/>
                <a:cs typeface="Arial"/>
              </a:defRPr>
            </a:lvl4pPr>
            <a:lvl5pPr algn="ctr">
              <a:defRPr sz="1275" b="1">
                <a:solidFill>
                  <a:srgbClr val="FFFEFB"/>
                </a:solidFill>
                <a:latin typeface="Arial"/>
                <a:ea typeface="Arial"/>
                <a:cs typeface="Arial"/>
              </a:defRPr>
            </a:lvl5pPr>
            <a:lvl6pPr algn="ctr">
              <a:defRPr sz="1275" b="1">
                <a:solidFill>
                  <a:srgbClr val="FFFEFB"/>
                </a:solidFill>
                <a:latin typeface="Arial"/>
                <a:ea typeface="Arial"/>
                <a:cs typeface="Arial"/>
              </a:defRPr>
            </a:lvl6pPr>
            <a:lvl7pPr algn="ctr">
              <a:defRPr sz="1275" b="1">
                <a:solidFill>
                  <a:srgbClr val="FFFEFB"/>
                </a:solidFill>
                <a:latin typeface="Arial"/>
                <a:ea typeface="Arial"/>
                <a:cs typeface="Arial"/>
              </a:defRPr>
            </a:lvl7pPr>
            <a:lvl8pPr algn="ctr">
              <a:defRPr sz="1275" b="1">
                <a:solidFill>
                  <a:srgbClr val="FFFEFB"/>
                </a:solidFill>
                <a:latin typeface="Arial"/>
                <a:ea typeface="Arial"/>
                <a:cs typeface="Arial"/>
              </a:defRPr>
            </a:lvl8pPr>
            <a:lvl9pPr algn="ctr">
              <a:defRPr sz="1275" b="1">
                <a:solidFill>
                  <a:srgbClr val="FFFEFB"/>
                </a:solidFill>
                <a:latin typeface="Arial"/>
                <a:ea typeface="Arial"/>
                <a:cs typeface="Arial"/>
              </a:defRPr>
            </a:lvl9pPr>
          </a:lstStyle>
          <a:p xmlns:a="http://schemas.openxmlformats.org/drawingml/2006/main">
            <a:pPr algn="ctr">
              <a:defRPr sz="1275" b="1">
                <a:solidFill>
                  <a:srgbClr val="FFFEFB"/>
                </a:solidFill>
                <a:latin typeface="Arial"/>
                <a:ea typeface="Arial"/>
                <a:cs typeface="Arial"/>
              </a:defRPr>
            </a:pPr>
            <a:r>
              <a:rPr sz="1275" b="1">
                <a:solidFill>
                  <a:srgbClr val="FFFEFB"/>
                </a:solidFill>
                <a:latin typeface="Arial"/>
                <a:ea typeface="Arial"/>
                <a:cs typeface="Arial"/>
              </a:rPr>
              <a:t>EWMA-HS</a:t>
            </a:r>
          </a:p>
        </p:txBody>
      </p:sp>
      <p:sp>
        <p:nvSpPr>
          <p:cNvPr id="11" name="">
            <a:extLst xmlns:a="http://schemas.openxmlformats.org/drawingml/2006/main">
              <a:ext uri="{FF2B5EF4-FFF2-40B4-BE49-F238E27FC236}">
                <a16:creationId xmlns:a16="http://schemas.microsoft.com/office/drawing/2014/main" id="{B3BD05CC-1BC4-4B31-94FA-8C6AEA692879}"/>
              </a:ext>
            </a:extLst>
          </p:cNvPr>
          <p:cNvSpPr>
            <a:spLocks xmlns:a="http://schemas.openxmlformats.org/drawingml/2006/main" noGrp="1"/>
          </p:cNvSpPr>
          <p:nvPr/>
        </p:nvSpPr>
        <p:spPr>
          <a:xfrm xmlns:a="http://schemas.openxmlformats.org/drawingml/2006/main">
            <a:off x="2266950" y="2466975"/>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B2928"/>
                </a:solidFill>
                <a:latin typeface="Arial"/>
                <a:ea typeface="Arial"/>
                <a:cs typeface="Arial"/>
              </a:defRPr>
            </a:defPPr>
            <a:lvl1pPr>
              <a:defRPr sz="1575" b="1">
                <a:solidFill>
                  <a:srgbClr val="1B2928"/>
                </a:solidFill>
                <a:latin typeface="Arial"/>
                <a:ea typeface="Arial"/>
                <a:cs typeface="Arial"/>
              </a:defRPr>
            </a:lvl1pPr>
            <a:lvl2pPr>
              <a:defRPr sz="1575" b="1">
                <a:solidFill>
                  <a:srgbClr val="1B2928"/>
                </a:solidFill>
                <a:latin typeface="Arial"/>
                <a:ea typeface="Arial"/>
                <a:cs typeface="Arial"/>
              </a:defRPr>
            </a:lvl2pPr>
            <a:lvl3pPr>
              <a:defRPr sz="1575" b="1">
                <a:solidFill>
                  <a:srgbClr val="1B2928"/>
                </a:solidFill>
                <a:latin typeface="Arial"/>
                <a:ea typeface="Arial"/>
                <a:cs typeface="Arial"/>
              </a:defRPr>
            </a:lvl3pPr>
            <a:lvl4pPr>
              <a:defRPr sz="1575" b="1">
                <a:solidFill>
                  <a:srgbClr val="1B2928"/>
                </a:solidFill>
                <a:latin typeface="Arial"/>
                <a:ea typeface="Arial"/>
                <a:cs typeface="Arial"/>
              </a:defRPr>
            </a:lvl4pPr>
            <a:lvl5pPr>
              <a:defRPr sz="1575" b="1">
                <a:solidFill>
                  <a:srgbClr val="1B2928"/>
                </a:solidFill>
                <a:latin typeface="Arial"/>
                <a:ea typeface="Arial"/>
                <a:cs typeface="Arial"/>
              </a:defRPr>
            </a:lvl5pPr>
            <a:lvl6pPr>
              <a:defRPr sz="1575" b="1">
                <a:solidFill>
                  <a:srgbClr val="1B2928"/>
                </a:solidFill>
                <a:latin typeface="Arial"/>
                <a:ea typeface="Arial"/>
                <a:cs typeface="Arial"/>
              </a:defRPr>
            </a:lvl6pPr>
            <a:lvl7pPr>
              <a:defRPr sz="1575" b="1">
                <a:solidFill>
                  <a:srgbClr val="1B2928"/>
                </a:solidFill>
                <a:latin typeface="Arial"/>
                <a:ea typeface="Arial"/>
                <a:cs typeface="Arial"/>
              </a:defRPr>
            </a:lvl7pPr>
            <a:lvl8pPr>
              <a:defRPr sz="1575" b="1">
                <a:solidFill>
                  <a:srgbClr val="1B2928"/>
                </a:solidFill>
                <a:latin typeface="Arial"/>
                <a:ea typeface="Arial"/>
                <a:cs typeface="Arial"/>
              </a:defRPr>
            </a:lvl8pPr>
            <a:lvl9pPr>
              <a:defRPr sz="1575" b="1">
                <a:solidFill>
                  <a:srgbClr val="1B2928"/>
                </a:solidFill>
                <a:latin typeface="Arial"/>
                <a:ea typeface="Arial"/>
                <a:cs typeface="Arial"/>
              </a:defRPr>
            </a:lvl9pPr>
          </a:lstStyle>
          <a:p xmlns:a="http://schemas.openxmlformats.org/drawingml/2006/main">
            <a:pPr>
              <a:defRPr sz="1575" b="1">
                <a:solidFill>
                  <a:srgbClr val="1B2928"/>
                </a:solidFill>
                <a:latin typeface="Arial"/>
                <a:ea typeface="Arial"/>
                <a:cs typeface="Arial"/>
              </a:defRPr>
            </a:pPr>
            <a:r>
              <a:rPr sz="1575" b="1">
                <a:solidFill>
                  <a:srgbClr val="1B2928"/>
                </a:solidFill>
                <a:latin typeface="Arial"/>
                <a:ea typeface="Arial"/>
                <a:cs typeface="Arial"/>
              </a:rPr>
              <a:t>Responsive challenger</a:t>
            </a:r>
          </a:p>
        </p:txBody>
      </p:sp>
      <p:sp>
        <p:nvSpPr>
          <p:cNvPr id="12" name="">
            <a:extLst xmlns:a="http://schemas.openxmlformats.org/drawingml/2006/main">
              <a:ext uri="{FF2B5EF4-FFF2-40B4-BE49-F238E27FC236}">
                <a16:creationId xmlns:a16="http://schemas.microsoft.com/office/drawing/2014/main" id="{91EE665D-E709-4E90-9439-39E69ADDD53A}"/>
              </a:ext>
            </a:extLst>
          </p:cNvPr>
          <p:cNvSpPr>
            <a:spLocks xmlns:a="http://schemas.openxmlformats.org/drawingml/2006/main" noGrp="1"/>
          </p:cNvSpPr>
          <p:nvPr/>
        </p:nvSpPr>
        <p:spPr>
          <a:xfrm xmlns:a="http://schemas.openxmlformats.org/drawingml/2006/main">
            <a:off x="2266950" y="28194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Recent shocks get more weight; λ = 0.94</a:t>
            </a:r>
          </a:p>
        </p:txBody>
      </p:sp>
      <p:sp>
        <p:nvSpPr>
          <p:cNvPr id="13" name="">
            <a:extLst xmlns:a="http://schemas.openxmlformats.org/drawingml/2006/main">
              <a:ext uri="{FF2B5EF4-FFF2-40B4-BE49-F238E27FC236}">
                <a16:creationId xmlns:a16="http://schemas.microsoft.com/office/drawing/2014/main" id="{69853813-0E29-4074-8E5C-3984FC41536E}"/>
              </a:ext>
            </a:extLst>
          </p:cNvPr>
          <p:cNvSpPr>
            <a:spLocks xmlns:a="http://schemas.openxmlformats.org/drawingml/2006/main" noGrp="1"/>
          </p:cNvSpPr>
          <p:nvPr/>
        </p:nvSpPr>
        <p:spPr>
          <a:xfrm xmlns:a="http://schemas.openxmlformats.org/drawingml/2006/main">
            <a:off x="2266950" y="3276600"/>
            <a:ext cx="53340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D2B9F4E-5817-43D9-AFA9-4417534E74C7}"/>
              </a:ext>
            </a:extLst>
          </p:cNvPr>
          <p:cNvSpPr>
            <a:spLocks xmlns:a="http://schemas.openxmlformats.org/drawingml/2006/main" noGrp="1"/>
          </p:cNvSpPr>
          <p:nvPr/>
        </p:nvSpPr>
        <p:spPr>
          <a:xfrm xmlns:a="http://schemas.openxmlformats.org/drawingml/2006/main">
            <a:off x="666750" y="3486150"/>
            <a:ext cx="1352550" cy="742950"/>
          </a:xfrm>
          <a:prstGeom xmlns:a="http://schemas.openxmlformats.org/drawingml/2006/main" prst="roundRect">
            <a:avLst>
              <a:gd name="adj" fmla="val 10256"/>
            </a:avLst>
          </a:prstGeom>
          <a:solidFill xmlns:a="http://schemas.openxmlformats.org/drawingml/2006/main">
            <a:srgbClr val="2E6A6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B25098B1-96E6-41FA-9785-1F017B036AE1}"/>
              </a:ext>
            </a:extLst>
          </p:cNvPr>
          <p:cNvSpPr>
            <a:spLocks xmlns:a="http://schemas.openxmlformats.org/drawingml/2006/main" noGrp="1"/>
          </p:cNvSpPr>
          <p:nvPr/>
        </p:nvSpPr>
        <p:spPr>
          <a:xfrm xmlns:a="http://schemas.openxmlformats.org/drawingml/2006/main">
            <a:off x="704850" y="3705225"/>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FFFEFB"/>
                </a:solidFill>
                <a:latin typeface="Arial"/>
                <a:ea typeface="Arial"/>
                <a:cs typeface="Arial"/>
              </a:defRPr>
            </a:defPPr>
            <a:lvl1pPr algn="ctr">
              <a:defRPr sz="1275" b="1">
                <a:solidFill>
                  <a:srgbClr val="FFFEFB"/>
                </a:solidFill>
                <a:latin typeface="Arial"/>
                <a:ea typeface="Arial"/>
                <a:cs typeface="Arial"/>
              </a:defRPr>
            </a:lvl1pPr>
            <a:lvl2pPr algn="ctr">
              <a:defRPr sz="1275" b="1">
                <a:solidFill>
                  <a:srgbClr val="FFFEFB"/>
                </a:solidFill>
                <a:latin typeface="Arial"/>
                <a:ea typeface="Arial"/>
                <a:cs typeface="Arial"/>
              </a:defRPr>
            </a:lvl2pPr>
            <a:lvl3pPr algn="ctr">
              <a:defRPr sz="1275" b="1">
                <a:solidFill>
                  <a:srgbClr val="FFFEFB"/>
                </a:solidFill>
                <a:latin typeface="Arial"/>
                <a:ea typeface="Arial"/>
                <a:cs typeface="Arial"/>
              </a:defRPr>
            </a:lvl3pPr>
            <a:lvl4pPr algn="ctr">
              <a:defRPr sz="1275" b="1">
                <a:solidFill>
                  <a:srgbClr val="FFFEFB"/>
                </a:solidFill>
                <a:latin typeface="Arial"/>
                <a:ea typeface="Arial"/>
                <a:cs typeface="Arial"/>
              </a:defRPr>
            </a:lvl4pPr>
            <a:lvl5pPr algn="ctr">
              <a:defRPr sz="1275" b="1">
                <a:solidFill>
                  <a:srgbClr val="FFFEFB"/>
                </a:solidFill>
                <a:latin typeface="Arial"/>
                <a:ea typeface="Arial"/>
                <a:cs typeface="Arial"/>
              </a:defRPr>
            </a:lvl5pPr>
            <a:lvl6pPr algn="ctr">
              <a:defRPr sz="1275" b="1">
                <a:solidFill>
                  <a:srgbClr val="FFFEFB"/>
                </a:solidFill>
                <a:latin typeface="Arial"/>
                <a:ea typeface="Arial"/>
                <a:cs typeface="Arial"/>
              </a:defRPr>
            </a:lvl6pPr>
            <a:lvl7pPr algn="ctr">
              <a:defRPr sz="1275" b="1">
                <a:solidFill>
                  <a:srgbClr val="FFFEFB"/>
                </a:solidFill>
                <a:latin typeface="Arial"/>
                <a:ea typeface="Arial"/>
                <a:cs typeface="Arial"/>
              </a:defRPr>
            </a:lvl7pPr>
            <a:lvl8pPr algn="ctr">
              <a:defRPr sz="1275" b="1">
                <a:solidFill>
                  <a:srgbClr val="FFFEFB"/>
                </a:solidFill>
                <a:latin typeface="Arial"/>
                <a:ea typeface="Arial"/>
                <a:cs typeface="Arial"/>
              </a:defRPr>
            </a:lvl8pPr>
            <a:lvl9pPr algn="ctr">
              <a:defRPr sz="1275" b="1">
                <a:solidFill>
                  <a:srgbClr val="FFFEFB"/>
                </a:solidFill>
                <a:latin typeface="Arial"/>
                <a:ea typeface="Arial"/>
                <a:cs typeface="Arial"/>
              </a:defRPr>
            </a:lvl9pPr>
          </a:lstStyle>
          <a:p xmlns:a="http://schemas.openxmlformats.org/drawingml/2006/main">
            <a:pPr algn="ctr">
              <a:defRPr sz="1275" b="1">
                <a:solidFill>
                  <a:srgbClr val="FFFEFB"/>
                </a:solidFill>
                <a:latin typeface="Arial"/>
                <a:ea typeface="Arial"/>
                <a:cs typeface="Arial"/>
              </a:defRPr>
            </a:pPr>
            <a:r>
              <a:rPr sz="1275" b="1">
                <a:solidFill>
                  <a:srgbClr val="FFFEFB"/>
                </a:solidFill>
                <a:latin typeface="Arial"/>
                <a:ea typeface="Arial"/>
                <a:cs typeface="Arial"/>
              </a:rPr>
              <a:t>GARCH-HS</a:t>
            </a:r>
          </a:p>
        </p:txBody>
      </p:sp>
      <p:sp>
        <p:nvSpPr>
          <p:cNvPr id="16" name="">
            <a:extLst xmlns:a="http://schemas.openxmlformats.org/drawingml/2006/main">
              <a:ext uri="{FF2B5EF4-FFF2-40B4-BE49-F238E27FC236}">
                <a16:creationId xmlns:a16="http://schemas.microsoft.com/office/drawing/2014/main" id="{689144E3-9300-41E2-96EE-671E66E03A1A}"/>
              </a:ext>
            </a:extLst>
          </p:cNvPr>
          <p:cNvSpPr>
            <a:spLocks xmlns:a="http://schemas.openxmlformats.org/drawingml/2006/main" noGrp="1"/>
          </p:cNvSpPr>
          <p:nvPr/>
        </p:nvSpPr>
        <p:spPr>
          <a:xfrm xmlns:a="http://schemas.openxmlformats.org/drawingml/2006/main">
            <a:off x="2266950" y="350520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B2928"/>
                </a:solidFill>
                <a:latin typeface="Arial"/>
                <a:ea typeface="Arial"/>
                <a:cs typeface="Arial"/>
              </a:defRPr>
            </a:defPPr>
            <a:lvl1pPr>
              <a:defRPr sz="1575" b="1">
                <a:solidFill>
                  <a:srgbClr val="1B2928"/>
                </a:solidFill>
                <a:latin typeface="Arial"/>
                <a:ea typeface="Arial"/>
                <a:cs typeface="Arial"/>
              </a:defRPr>
            </a:lvl1pPr>
            <a:lvl2pPr>
              <a:defRPr sz="1575" b="1">
                <a:solidFill>
                  <a:srgbClr val="1B2928"/>
                </a:solidFill>
                <a:latin typeface="Arial"/>
                <a:ea typeface="Arial"/>
                <a:cs typeface="Arial"/>
              </a:defRPr>
            </a:lvl2pPr>
            <a:lvl3pPr>
              <a:defRPr sz="1575" b="1">
                <a:solidFill>
                  <a:srgbClr val="1B2928"/>
                </a:solidFill>
                <a:latin typeface="Arial"/>
                <a:ea typeface="Arial"/>
                <a:cs typeface="Arial"/>
              </a:defRPr>
            </a:lvl3pPr>
            <a:lvl4pPr>
              <a:defRPr sz="1575" b="1">
                <a:solidFill>
                  <a:srgbClr val="1B2928"/>
                </a:solidFill>
                <a:latin typeface="Arial"/>
                <a:ea typeface="Arial"/>
                <a:cs typeface="Arial"/>
              </a:defRPr>
            </a:lvl4pPr>
            <a:lvl5pPr>
              <a:defRPr sz="1575" b="1">
                <a:solidFill>
                  <a:srgbClr val="1B2928"/>
                </a:solidFill>
                <a:latin typeface="Arial"/>
                <a:ea typeface="Arial"/>
                <a:cs typeface="Arial"/>
              </a:defRPr>
            </a:lvl5pPr>
            <a:lvl6pPr>
              <a:defRPr sz="1575" b="1">
                <a:solidFill>
                  <a:srgbClr val="1B2928"/>
                </a:solidFill>
                <a:latin typeface="Arial"/>
                <a:ea typeface="Arial"/>
                <a:cs typeface="Arial"/>
              </a:defRPr>
            </a:lvl6pPr>
            <a:lvl7pPr>
              <a:defRPr sz="1575" b="1">
                <a:solidFill>
                  <a:srgbClr val="1B2928"/>
                </a:solidFill>
                <a:latin typeface="Arial"/>
                <a:ea typeface="Arial"/>
                <a:cs typeface="Arial"/>
              </a:defRPr>
            </a:lvl7pPr>
            <a:lvl8pPr>
              <a:defRPr sz="1575" b="1">
                <a:solidFill>
                  <a:srgbClr val="1B2928"/>
                </a:solidFill>
                <a:latin typeface="Arial"/>
                <a:ea typeface="Arial"/>
                <a:cs typeface="Arial"/>
              </a:defRPr>
            </a:lvl8pPr>
            <a:lvl9pPr>
              <a:defRPr sz="1575" b="1">
                <a:solidFill>
                  <a:srgbClr val="1B2928"/>
                </a:solidFill>
                <a:latin typeface="Arial"/>
                <a:ea typeface="Arial"/>
                <a:cs typeface="Arial"/>
              </a:defRPr>
            </a:lvl9pPr>
          </a:lstStyle>
          <a:p xmlns:a="http://schemas.openxmlformats.org/drawingml/2006/main">
            <a:pPr>
              <a:defRPr sz="1575" b="1">
                <a:solidFill>
                  <a:srgbClr val="1B2928"/>
                </a:solidFill>
                <a:latin typeface="Arial"/>
                <a:ea typeface="Arial"/>
                <a:cs typeface="Arial"/>
              </a:defRPr>
            </a:pPr>
            <a:r>
              <a:rPr sz="1575" b="1">
                <a:solidFill>
                  <a:srgbClr val="1B2928"/>
                </a:solidFill>
                <a:latin typeface="Arial"/>
                <a:ea typeface="Arial"/>
                <a:cs typeface="Arial"/>
              </a:rPr>
              <a:t>Symmetric filtered model</a:t>
            </a:r>
          </a:p>
        </p:txBody>
      </p:sp>
      <p:sp>
        <p:nvSpPr>
          <p:cNvPr id="17" name="">
            <a:extLst xmlns:a="http://schemas.openxmlformats.org/drawingml/2006/main">
              <a:ext uri="{FF2B5EF4-FFF2-40B4-BE49-F238E27FC236}">
                <a16:creationId xmlns:a16="http://schemas.microsoft.com/office/drawing/2014/main" id="{18D7FF56-58F1-432C-B43D-88F9410A1C5B}"/>
              </a:ext>
            </a:extLst>
          </p:cNvPr>
          <p:cNvSpPr>
            <a:spLocks xmlns:a="http://schemas.openxmlformats.org/drawingml/2006/main" noGrp="1"/>
          </p:cNvSpPr>
          <p:nvPr/>
        </p:nvSpPr>
        <p:spPr>
          <a:xfrm xmlns:a="http://schemas.openxmlformats.org/drawingml/2006/main">
            <a:off x="2266950" y="3857625"/>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Volatility clusters and mean-reverts</a:t>
            </a:r>
          </a:p>
        </p:txBody>
      </p:sp>
      <p:sp>
        <p:nvSpPr>
          <p:cNvPr id="18" name="">
            <a:extLst xmlns:a="http://schemas.openxmlformats.org/drawingml/2006/main">
              <a:ext uri="{FF2B5EF4-FFF2-40B4-BE49-F238E27FC236}">
                <a16:creationId xmlns:a16="http://schemas.microsoft.com/office/drawing/2014/main" id="{2436A7B9-8DF2-4FCD-8F41-F657E16B5724}"/>
              </a:ext>
            </a:extLst>
          </p:cNvPr>
          <p:cNvSpPr>
            <a:spLocks xmlns:a="http://schemas.openxmlformats.org/drawingml/2006/main" noGrp="1"/>
          </p:cNvSpPr>
          <p:nvPr/>
        </p:nvSpPr>
        <p:spPr>
          <a:xfrm xmlns:a="http://schemas.openxmlformats.org/drawingml/2006/main">
            <a:off x="2266950" y="4314825"/>
            <a:ext cx="53340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A7B35BF-8F83-458D-8AA9-5B18E016EF1F}"/>
              </a:ext>
            </a:extLst>
          </p:cNvPr>
          <p:cNvSpPr>
            <a:spLocks xmlns:a="http://schemas.openxmlformats.org/drawingml/2006/main" noGrp="1"/>
          </p:cNvSpPr>
          <p:nvPr/>
        </p:nvSpPr>
        <p:spPr>
          <a:xfrm xmlns:a="http://schemas.openxmlformats.org/drawingml/2006/main">
            <a:off x="666750" y="4524375"/>
            <a:ext cx="1352550" cy="742950"/>
          </a:xfrm>
          <a:prstGeom xmlns:a="http://schemas.openxmlformats.org/drawingml/2006/main" prst="roundRect">
            <a:avLst>
              <a:gd name="adj" fmla="val 10256"/>
            </a:avLst>
          </a:prstGeom>
          <a:solidFill xmlns:a="http://schemas.openxmlformats.org/drawingml/2006/main">
            <a:srgbClr val="B84A3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7EB83EE-A9B9-4E86-9D68-5334A74A04DD}"/>
              </a:ext>
            </a:extLst>
          </p:cNvPr>
          <p:cNvSpPr>
            <a:spLocks xmlns:a="http://schemas.openxmlformats.org/drawingml/2006/main" noGrp="1"/>
          </p:cNvSpPr>
          <p:nvPr/>
        </p:nvSpPr>
        <p:spPr>
          <a:xfrm xmlns:a="http://schemas.openxmlformats.org/drawingml/2006/main">
            <a:off x="704850" y="47434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75" b="1">
                <a:solidFill>
                  <a:srgbClr val="FFFEFB"/>
                </a:solidFill>
                <a:latin typeface="Arial"/>
                <a:ea typeface="Arial"/>
                <a:cs typeface="Arial"/>
              </a:defRPr>
            </a:defPPr>
            <a:lvl1pPr algn="ctr">
              <a:defRPr sz="1575" b="1">
                <a:solidFill>
                  <a:srgbClr val="FFFEFB"/>
                </a:solidFill>
                <a:latin typeface="Arial"/>
                <a:ea typeface="Arial"/>
                <a:cs typeface="Arial"/>
              </a:defRPr>
            </a:lvl1pPr>
            <a:lvl2pPr algn="ctr">
              <a:defRPr sz="1575" b="1">
                <a:solidFill>
                  <a:srgbClr val="FFFEFB"/>
                </a:solidFill>
                <a:latin typeface="Arial"/>
                <a:ea typeface="Arial"/>
                <a:cs typeface="Arial"/>
              </a:defRPr>
            </a:lvl2pPr>
            <a:lvl3pPr algn="ctr">
              <a:defRPr sz="1575" b="1">
                <a:solidFill>
                  <a:srgbClr val="FFFEFB"/>
                </a:solidFill>
                <a:latin typeface="Arial"/>
                <a:ea typeface="Arial"/>
                <a:cs typeface="Arial"/>
              </a:defRPr>
            </a:lvl3pPr>
            <a:lvl4pPr algn="ctr">
              <a:defRPr sz="1575" b="1">
                <a:solidFill>
                  <a:srgbClr val="FFFEFB"/>
                </a:solidFill>
                <a:latin typeface="Arial"/>
                <a:ea typeface="Arial"/>
                <a:cs typeface="Arial"/>
              </a:defRPr>
            </a:lvl4pPr>
            <a:lvl5pPr algn="ctr">
              <a:defRPr sz="1575" b="1">
                <a:solidFill>
                  <a:srgbClr val="FFFEFB"/>
                </a:solidFill>
                <a:latin typeface="Arial"/>
                <a:ea typeface="Arial"/>
                <a:cs typeface="Arial"/>
              </a:defRPr>
            </a:lvl5pPr>
            <a:lvl6pPr algn="ctr">
              <a:defRPr sz="1575" b="1">
                <a:solidFill>
                  <a:srgbClr val="FFFEFB"/>
                </a:solidFill>
                <a:latin typeface="Arial"/>
                <a:ea typeface="Arial"/>
                <a:cs typeface="Arial"/>
              </a:defRPr>
            </a:lvl6pPr>
            <a:lvl7pPr algn="ctr">
              <a:defRPr sz="1575" b="1">
                <a:solidFill>
                  <a:srgbClr val="FFFEFB"/>
                </a:solidFill>
                <a:latin typeface="Arial"/>
                <a:ea typeface="Arial"/>
                <a:cs typeface="Arial"/>
              </a:defRPr>
            </a:lvl7pPr>
            <a:lvl8pPr algn="ctr">
              <a:defRPr sz="1575" b="1">
                <a:solidFill>
                  <a:srgbClr val="FFFEFB"/>
                </a:solidFill>
                <a:latin typeface="Arial"/>
                <a:ea typeface="Arial"/>
                <a:cs typeface="Arial"/>
              </a:defRPr>
            </a:lvl8pPr>
            <a:lvl9pPr algn="ctr">
              <a:defRPr sz="1575" b="1">
                <a:solidFill>
                  <a:srgbClr val="FFFEFB"/>
                </a:solidFill>
                <a:latin typeface="Arial"/>
                <a:ea typeface="Arial"/>
                <a:cs typeface="Arial"/>
              </a:defRPr>
            </a:lvl9pPr>
          </a:lstStyle>
          <a:p xmlns:a="http://schemas.openxmlformats.org/drawingml/2006/main">
            <a:pPr algn="ctr">
              <a:defRPr sz="1575" b="1">
                <a:solidFill>
                  <a:srgbClr val="FFFEFB"/>
                </a:solidFill>
                <a:latin typeface="Arial"/>
                <a:ea typeface="Arial"/>
                <a:cs typeface="Arial"/>
              </a:defRPr>
            </a:pPr>
            <a:r>
              <a:rPr sz="1575" b="1">
                <a:solidFill>
                  <a:srgbClr val="FFFEFB"/>
                </a:solidFill>
                <a:latin typeface="Arial"/>
                <a:ea typeface="Arial"/>
                <a:cs typeface="Arial"/>
              </a:rPr>
              <a:t>GJR-HS</a:t>
            </a:r>
          </a:p>
        </p:txBody>
      </p:sp>
      <p:sp>
        <p:nvSpPr>
          <p:cNvPr id="21" name="">
            <a:extLst xmlns:a="http://schemas.openxmlformats.org/drawingml/2006/main">
              <a:ext uri="{FF2B5EF4-FFF2-40B4-BE49-F238E27FC236}">
                <a16:creationId xmlns:a16="http://schemas.microsoft.com/office/drawing/2014/main" id="{3DD9173A-94A0-4ECE-B676-19F2F307D2CB}"/>
              </a:ext>
            </a:extLst>
          </p:cNvPr>
          <p:cNvSpPr>
            <a:spLocks xmlns:a="http://schemas.openxmlformats.org/drawingml/2006/main" noGrp="1"/>
          </p:cNvSpPr>
          <p:nvPr/>
        </p:nvSpPr>
        <p:spPr>
          <a:xfrm xmlns:a="http://schemas.openxmlformats.org/drawingml/2006/main">
            <a:off x="2266950" y="4543425"/>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1">
                <a:solidFill>
                  <a:srgbClr val="1B2928"/>
                </a:solidFill>
                <a:latin typeface="Arial"/>
                <a:ea typeface="Arial"/>
                <a:cs typeface="Arial"/>
              </a:defRPr>
            </a:defPPr>
            <a:lvl1pPr>
              <a:defRPr sz="1575" b="1">
                <a:solidFill>
                  <a:srgbClr val="1B2928"/>
                </a:solidFill>
                <a:latin typeface="Arial"/>
                <a:ea typeface="Arial"/>
                <a:cs typeface="Arial"/>
              </a:defRPr>
            </a:lvl1pPr>
            <a:lvl2pPr>
              <a:defRPr sz="1575" b="1">
                <a:solidFill>
                  <a:srgbClr val="1B2928"/>
                </a:solidFill>
                <a:latin typeface="Arial"/>
                <a:ea typeface="Arial"/>
                <a:cs typeface="Arial"/>
              </a:defRPr>
            </a:lvl2pPr>
            <a:lvl3pPr>
              <a:defRPr sz="1575" b="1">
                <a:solidFill>
                  <a:srgbClr val="1B2928"/>
                </a:solidFill>
                <a:latin typeface="Arial"/>
                <a:ea typeface="Arial"/>
                <a:cs typeface="Arial"/>
              </a:defRPr>
            </a:lvl3pPr>
            <a:lvl4pPr>
              <a:defRPr sz="1575" b="1">
                <a:solidFill>
                  <a:srgbClr val="1B2928"/>
                </a:solidFill>
                <a:latin typeface="Arial"/>
                <a:ea typeface="Arial"/>
                <a:cs typeface="Arial"/>
              </a:defRPr>
            </a:lvl4pPr>
            <a:lvl5pPr>
              <a:defRPr sz="1575" b="1">
                <a:solidFill>
                  <a:srgbClr val="1B2928"/>
                </a:solidFill>
                <a:latin typeface="Arial"/>
                <a:ea typeface="Arial"/>
                <a:cs typeface="Arial"/>
              </a:defRPr>
            </a:lvl5pPr>
            <a:lvl6pPr>
              <a:defRPr sz="1575" b="1">
                <a:solidFill>
                  <a:srgbClr val="1B2928"/>
                </a:solidFill>
                <a:latin typeface="Arial"/>
                <a:ea typeface="Arial"/>
                <a:cs typeface="Arial"/>
              </a:defRPr>
            </a:lvl6pPr>
            <a:lvl7pPr>
              <a:defRPr sz="1575" b="1">
                <a:solidFill>
                  <a:srgbClr val="1B2928"/>
                </a:solidFill>
                <a:latin typeface="Arial"/>
                <a:ea typeface="Arial"/>
                <a:cs typeface="Arial"/>
              </a:defRPr>
            </a:lvl7pPr>
            <a:lvl8pPr>
              <a:defRPr sz="1575" b="1">
                <a:solidFill>
                  <a:srgbClr val="1B2928"/>
                </a:solidFill>
                <a:latin typeface="Arial"/>
                <a:ea typeface="Arial"/>
                <a:cs typeface="Arial"/>
              </a:defRPr>
            </a:lvl8pPr>
            <a:lvl9pPr>
              <a:defRPr sz="1575" b="1">
                <a:solidFill>
                  <a:srgbClr val="1B2928"/>
                </a:solidFill>
                <a:latin typeface="Arial"/>
                <a:ea typeface="Arial"/>
                <a:cs typeface="Arial"/>
              </a:defRPr>
            </a:lvl9pPr>
          </a:lstStyle>
          <a:p xmlns:a="http://schemas.openxmlformats.org/drawingml/2006/main">
            <a:pPr>
              <a:defRPr sz="1575" b="1">
                <a:solidFill>
                  <a:srgbClr val="1B2928"/>
                </a:solidFill>
                <a:latin typeface="Arial"/>
                <a:ea typeface="Arial"/>
                <a:cs typeface="Arial"/>
              </a:defRPr>
            </a:pPr>
            <a:r>
              <a:rPr sz="1575" b="1">
                <a:solidFill>
                  <a:srgbClr val="1B2928"/>
                </a:solidFill>
                <a:latin typeface="Arial"/>
                <a:ea typeface="Arial"/>
                <a:cs typeface="Arial"/>
              </a:rPr>
              <a:t>Primary candidate</a:t>
            </a:r>
          </a:p>
        </p:txBody>
      </p:sp>
      <p:sp>
        <p:nvSpPr>
          <p:cNvPr id="22" name="">
            <a:extLst xmlns:a="http://schemas.openxmlformats.org/drawingml/2006/main">
              <a:ext uri="{FF2B5EF4-FFF2-40B4-BE49-F238E27FC236}">
                <a16:creationId xmlns:a16="http://schemas.microsoft.com/office/drawing/2014/main" id="{8A685C58-5C6B-4395-8075-D1FD7FFB908D}"/>
              </a:ext>
            </a:extLst>
          </p:cNvPr>
          <p:cNvSpPr>
            <a:spLocks xmlns:a="http://schemas.openxmlformats.org/drawingml/2006/main" noGrp="1"/>
          </p:cNvSpPr>
          <p:nvPr/>
        </p:nvSpPr>
        <p:spPr>
          <a:xfrm xmlns:a="http://schemas.openxmlformats.org/drawingml/2006/main">
            <a:off x="2266950" y="48958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Bad news raises risk more than good news</a:t>
            </a:r>
          </a:p>
        </p:txBody>
      </p:sp>
      <p:sp>
        <p:nvSpPr>
          <p:cNvPr id="23" name="">
            <a:extLst xmlns:a="http://schemas.openxmlformats.org/drawingml/2006/main">
              <a:ext uri="{FF2B5EF4-FFF2-40B4-BE49-F238E27FC236}">
                <a16:creationId xmlns:a16="http://schemas.microsoft.com/office/drawing/2014/main" id="{A75C9B0F-25B4-4C69-8FFD-B656DA45A3EC}"/>
              </a:ext>
            </a:extLst>
          </p:cNvPr>
          <p:cNvSpPr>
            <a:spLocks xmlns:a="http://schemas.openxmlformats.org/drawingml/2006/main" noGrp="1"/>
          </p:cNvSpPr>
          <p:nvPr/>
        </p:nvSpPr>
        <p:spPr>
          <a:xfrm xmlns:a="http://schemas.openxmlformats.org/drawingml/2006/main">
            <a:off x="2266950" y="5353050"/>
            <a:ext cx="53340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B254677-33C1-44AA-970A-ECA987C031FC}"/>
              </a:ext>
            </a:extLst>
          </p:cNvPr>
          <p:cNvSpPr>
            <a:spLocks xmlns:a="http://schemas.openxmlformats.org/drawingml/2006/main" noGrp="1"/>
          </p:cNvSpPr>
          <p:nvPr/>
        </p:nvSpPr>
        <p:spPr>
          <a:xfrm xmlns:a="http://schemas.openxmlformats.org/drawingml/2006/main">
            <a:off x="8058150" y="1619250"/>
            <a:ext cx="3314700" cy="1257300"/>
          </a:xfrm>
          <a:prstGeom xmlns:a="http://schemas.openxmlformats.org/drawingml/2006/main" prst="roundRect">
            <a:avLst>
              <a:gd name="adj" fmla="val 6061"/>
            </a:avLst>
          </a:prstGeom>
          <a:solidFill xmlns:a="http://schemas.openxmlformats.org/drawingml/2006/main">
            <a:srgbClr val="DDE9E4"/>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53A684D-A294-4940-8667-CFCC8F0DF217}"/>
              </a:ext>
            </a:extLst>
          </p:cNvPr>
          <p:cNvSpPr>
            <a:spLocks xmlns:a="http://schemas.openxmlformats.org/drawingml/2006/main" noGrp="1"/>
          </p:cNvSpPr>
          <p:nvPr/>
        </p:nvSpPr>
        <p:spPr>
          <a:xfrm xmlns:a="http://schemas.openxmlformats.org/drawingml/2006/main">
            <a:off x="8058150" y="1619250"/>
            <a:ext cx="66675" cy="1257300"/>
          </a:xfrm>
          <a:prstGeom xmlns:a="http://schemas.openxmlformats.org/drawingml/2006/main" prst="rect">
            <a:avLst/>
          </a:prstGeom>
          <a:solidFill xmlns:a="http://schemas.openxmlformats.org/drawingml/2006/main">
            <a:srgbClr val="174C4F"/>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3085C6B-CD7A-49A2-9313-25A095F86CAB}"/>
              </a:ext>
            </a:extLst>
          </p:cNvPr>
          <p:cNvSpPr>
            <a:spLocks xmlns:a="http://schemas.openxmlformats.org/drawingml/2006/main" noGrp="1"/>
          </p:cNvSpPr>
          <p:nvPr/>
        </p:nvSpPr>
        <p:spPr>
          <a:xfrm xmlns:a="http://schemas.openxmlformats.org/drawingml/2006/main">
            <a:off x="8286750" y="1762125"/>
            <a:ext cx="293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174C4F"/>
                </a:solidFill>
                <a:latin typeface="Arial"/>
                <a:ea typeface="Arial"/>
                <a:cs typeface="Arial"/>
              </a:defRPr>
            </a:defPPr>
            <a:lvl1pPr>
              <a:defRPr sz="1425" b="1">
                <a:solidFill>
                  <a:srgbClr val="174C4F"/>
                </a:solidFill>
                <a:latin typeface="Arial"/>
                <a:ea typeface="Arial"/>
                <a:cs typeface="Arial"/>
              </a:defRPr>
            </a:lvl1pPr>
            <a:lvl2pPr>
              <a:defRPr sz="1425" b="1">
                <a:solidFill>
                  <a:srgbClr val="174C4F"/>
                </a:solidFill>
                <a:latin typeface="Arial"/>
                <a:ea typeface="Arial"/>
                <a:cs typeface="Arial"/>
              </a:defRPr>
            </a:lvl2pPr>
            <a:lvl3pPr>
              <a:defRPr sz="1425" b="1">
                <a:solidFill>
                  <a:srgbClr val="174C4F"/>
                </a:solidFill>
                <a:latin typeface="Arial"/>
                <a:ea typeface="Arial"/>
                <a:cs typeface="Arial"/>
              </a:defRPr>
            </a:lvl3pPr>
            <a:lvl4pPr>
              <a:defRPr sz="1425" b="1">
                <a:solidFill>
                  <a:srgbClr val="174C4F"/>
                </a:solidFill>
                <a:latin typeface="Arial"/>
                <a:ea typeface="Arial"/>
                <a:cs typeface="Arial"/>
              </a:defRPr>
            </a:lvl4pPr>
            <a:lvl5pPr>
              <a:defRPr sz="1425" b="1">
                <a:solidFill>
                  <a:srgbClr val="174C4F"/>
                </a:solidFill>
                <a:latin typeface="Arial"/>
                <a:ea typeface="Arial"/>
                <a:cs typeface="Arial"/>
              </a:defRPr>
            </a:lvl5pPr>
            <a:lvl6pPr>
              <a:defRPr sz="1425" b="1">
                <a:solidFill>
                  <a:srgbClr val="174C4F"/>
                </a:solidFill>
                <a:latin typeface="Arial"/>
                <a:ea typeface="Arial"/>
                <a:cs typeface="Arial"/>
              </a:defRPr>
            </a:lvl6pPr>
            <a:lvl7pPr>
              <a:defRPr sz="1425" b="1">
                <a:solidFill>
                  <a:srgbClr val="174C4F"/>
                </a:solidFill>
                <a:latin typeface="Arial"/>
                <a:ea typeface="Arial"/>
                <a:cs typeface="Arial"/>
              </a:defRPr>
            </a:lvl7pPr>
            <a:lvl8pPr>
              <a:defRPr sz="1425" b="1">
                <a:solidFill>
                  <a:srgbClr val="174C4F"/>
                </a:solidFill>
                <a:latin typeface="Arial"/>
                <a:ea typeface="Arial"/>
                <a:cs typeface="Arial"/>
              </a:defRPr>
            </a:lvl8pPr>
            <a:lvl9pPr>
              <a:defRPr sz="1425" b="1">
                <a:solidFill>
                  <a:srgbClr val="174C4F"/>
                </a:solidFill>
                <a:latin typeface="Arial"/>
                <a:ea typeface="Arial"/>
                <a:cs typeface="Arial"/>
              </a:defRPr>
            </a:lvl9pPr>
          </a:lstStyle>
          <a:p xmlns:a="http://schemas.openxmlformats.org/drawingml/2006/main">
            <a:pPr>
              <a:defRPr sz="1425" b="1">
                <a:solidFill>
                  <a:srgbClr val="174C4F"/>
                </a:solidFill>
                <a:latin typeface="Arial"/>
                <a:ea typeface="Arial"/>
                <a:cs typeface="Arial"/>
              </a:defRPr>
            </a:pPr>
            <a:r>
              <a:rPr sz="1425" b="1">
                <a:solidFill>
                  <a:srgbClr val="174C4F"/>
                </a:solidFill>
                <a:latin typeface="Arial"/>
                <a:ea typeface="Arial"/>
                <a:cs typeface="Arial"/>
              </a:rPr>
              <a:t>Primary</a:t>
            </a:r>
          </a:p>
        </p:txBody>
      </p:sp>
      <p:sp>
        <p:nvSpPr>
          <p:cNvPr id="27" name="">
            <a:extLst xmlns:a="http://schemas.openxmlformats.org/drawingml/2006/main">
              <a:ext uri="{FF2B5EF4-FFF2-40B4-BE49-F238E27FC236}">
                <a16:creationId xmlns:a16="http://schemas.microsoft.com/office/drawing/2014/main" id="{7542B549-76C6-45F5-A473-99AEBE5AB72E}"/>
              </a:ext>
            </a:extLst>
          </p:cNvPr>
          <p:cNvSpPr>
            <a:spLocks xmlns:a="http://schemas.openxmlformats.org/drawingml/2006/main" noGrp="1"/>
          </p:cNvSpPr>
          <p:nvPr/>
        </p:nvSpPr>
        <p:spPr>
          <a:xfrm xmlns:a="http://schemas.openxmlformats.org/drawingml/2006/main">
            <a:off x="8286750" y="2066925"/>
            <a:ext cx="29337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Official daily monitoring and limits: GJR-HS, because it is the only model that passes the full 99% test suite.</a:t>
            </a:r>
          </a:p>
        </p:txBody>
      </p:sp>
      <p:sp>
        <p:nvSpPr>
          <p:cNvPr id="28" name="">
            <a:extLst xmlns:a="http://schemas.openxmlformats.org/drawingml/2006/main">
              <a:ext uri="{FF2B5EF4-FFF2-40B4-BE49-F238E27FC236}">
                <a16:creationId xmlns:a16="http://schemas.microsoft.com/office/drawing/2014/main" id="{FC41641A-24BF-482C-AEED-71DC61C61506}"/>
              </a:ext>
            </a:extLst>
          </p:cNvPr>
          <p:cNvSpPr>
            <a:spLocks xmlns:a="http://schemas.openxmlformats.org/drawingml/2006/main" noGrp="1"/>
          </p:cNvSpPr>
          <p:nvPr/>
        </p:nvSpPr>
        <p:spPr>
          <a:xfrm xmlns:a="http://schemas.openxmlformats.org/drawingml/2006/main">
            <a:off x="8058150" y="3105150"/>
            <a:ext cx="3314700" cy="1257300"/>
          </a:xfrm>
          <a:prstGeom xmlns:a="http://schemas.openxmlformats.org/drawingml/2006/main" prst="roundRect">
            <a:avLst>
              <a:gd name="adj" fmla="val 6061"/>
            </a:avLst>
          </a:prstGeom>
          <a:solidFill xmlns:a="http://schemas.openxmlformats.org/drawingml/2006/main">
            <a:srgbClr val="F1E2BE"/>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AEF813C2-4628-4A7D-A21C-9C6F7605918A}"/>
              </a:ext>
            </a:extLst>
          </p:cNvPr>
          <p:cNvSpPr>
            <a:spLocks xmlns:a="http://schemas.openxmlformats.org/drawingml/2006/main" noGrp="1"/>
          </p:cNvSpPr>
          <p:nvPr/>
        </p:nvSpPr>
        <p:spPr>
          <a:xfrm xmlns:a="http://schemas.openxmlformats.org/drawingml/2006/main">
            <a:off x="8058150" y="3105150"/>
            <a:ext cx="66675" cy="1257300"/>
          </a:xfrm>
          <a:prstGeom xmlns:a="http://schemas.openxmlformats.org/drawingml/2006/main" prst="rect">
            <a:avLst/>
          </a:prstGeom>
          <a:solidFill xmlns:a="http://schemas.openxmlformats.org/drawingml/2006/main">
            <a:srgbClr val="7A5A1E"/>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2FEB64B7-B86C-4BA1-9A4D-096A91B563FA}"/>
              </a:ext>
            </a:extLst>
          </p:cNvPr>
          <p:cNvSpPr>
            <a:spLocks xmlns:a="http://schemas.openxmlformats.org/drawingml/2006/main" noGrp="1"/>
          </p:cNvSpPr>
          <p:nvPr/>
        </p:nvSpPr>
        <p:spPr>
          <a:xfrm xmlns:a="http://schemas.openxmlformats.org/drawingml/2006/main">
            <a:off x="8286750" y="3248025"/>
            <a:ext cx="293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7A5A1E"/>
                </a:solidFill>
                <a:latin typeface="Arial"/>
                <a:ea typeface="Arial"/>
                <a:cs typeface="Arial"/>
              </a:defRPr>
            </a:defPPr>
            <a:lvl1pPr>
              <a:defRPr sz="1425" b="1">
                <a:solidFill>
                  <a:srgbClr val="7A5A1E"/>
                </a:solidFill>
                <a:latin typeface="Arial"/>
                <a:ea typeface="Arial"/>
                <a:cs typeface="Arial"/>
              </a:defRPr>
            </a:lvl1pPr>
            <a:lvl2pPr>
              <a:defRPr sz="1425" b="1">
                <a:solidFill>
                  <a:srgbClr val="7A5A1E"/>
                </a:solidFill>
                <a:latin typeface="Arial"/>
                <a:ea typeface="Arial"/>
                <a:cs typeface="Arial"/>
              </a:defRPr>
            </a:lvl2pPr>
            <a:lvl3pPr>
              <a:defRPr sz="1425" b="1">
                <a:solidFill>
                  <a:srgbClr val="7A5A1E"/>
                </a:solidFill>
                <a:latin typeface="Arial"/>
                <a:ea typeface="Arial"/>
                <a:cs typeface="Arial"/>
              </a:defRPr>
            </a:lvl3pPr>
            <a:lvl4pPr>
              <a:defRPr sz="1425" b="1">
                <a:solidFill>
                  <a:srgbClr val="7A5A1E"/>
                </a:solidFill>
                <a:latin typeface="Arial"/>
                <a:ea typeface="Arial"/>
                <a:cs typeface="Arial"/>
              </a:defRPr>
            </a:lvl4pPr>
            <a:lvl5pPr>
              <a:defRPr sz="1425" b="1">
                <a:solidFill>
                  <a:srgbClr val="7A5A1E"/>
                </a:solidFill>
                <a:latin typeface="Arial"/>
                <a:ea typeface="Arial"/>
                <a:cs typeface="Arial"/>
              </a:defRPr>
            </a:lvl5pPr>
            <a:lvl6pPr>
              <a:defRPr sz="1425" b="1">
                <a:solidFill>
                  <a:srgbClr val="7A5A1E"/>
                </a:solidFill>
                <a:latin typeface="Arial"/>
                <a:ea typeface="Arial"/>
                <a:cs typeface="Arial"/>
              </a:defRPr>
            </a:lvl6pPr>
            <a:lvl7pPr>
              <a:defRPr sz="1425" b="1">
                <a:solidFill>
                  <a:srgbClr val="7A5A1E"/>
                </a:solidFill>
                <a:latin typeface="Arial"/>
                <a:ea typeface="Arial"/>
                <a:cs typeface="Arial"/>
              </a:defRPr>
            </a:lvl7pPr>
            <a:lvl8pPr>
              <a:defRPr sz="1425" b="1">
                <a:solidFill>
                  <a:srgbClr val="7A5A1E"/>
                </a:solidFill>
                <a:latin typeface="Arial"/>
                <a:ea typeface="Arial"/>
                <a:cs typeface="Arial"/>
              </a:defRPr>
            </a:lvl8pPr>
            <a:lvl9pPr>
              <a:defRPr sz="1425" b="1">
                <a:solidFill>
                  <a:srgbClr val="7A5A1E"/>
                </a:solidFill>
                <a:latin typeface="Arial"/>
                <a:ea typeface="Arial"/>
                <a:cs typeface="Arial"/>
              </a:defRPr>
            </a:lvl9pPr>
          </a:lstStyle>
          <a:p xmlns:a="http://schemas.openxmlformats.org/drawingml/2006/main">
            <a:pPr>
              <a:defRPr sz="1425" b="1">
                <a:solidFill>
                  <a:srgbClr val="7A5A1E"/>
                </a:solidFill>
                <a:latin typeface="Arial"/>
                <a:ea typeface="Arial"/>
                <a:cs typeface="Arial"/>
              </a:defRPr>
            </a:pPr>
            <a:r>
              <a:rPr sz="1425" b="1">
                <a:solidFill>
                  <a:srgbClr val="7A5A1E"/>
                </a:solidFill>
                <a:latin typeface="Arial"/>
                <a:ea typeface="Arial"/>
                <a:cs typeface="Arial"/>
              </a:rPr>
              <a:t>Challenger</a:t>
            </a:r>
          </a:p>
        </p:txBody>
      </p:sp>
      <p:sp>
        <p:nvSpPr>
          <p:cNvPr id="31" name="">
            <a:extLst xmlns:a="http://schemas.openxmlformats.org/drawingml/2006/main">
              <a:ext uri="{FF2B5EF4-FFF2-40B4-BE49-F238E27FC236}">
                <a16:creationId xmlns:a16="http://schemas.microsoft.com/office/drawing/2014/main" id="{68329DBB-4307-45A2-AAD6-4EFF728EB1B5}"/>
              </a:ext>
            </a:extLst>
          </p:cNvPr>
          <p:cNvSpPr>
            <a:spLocks xmlns:a="http://schemas.openxmlformats.org/drawingml/2006/main" noGrp="1"/>
          </p:cNvSpPr>
          <p:nvPr/>
        </p:nvSpPr>
        <p:spPr>
          <a:xfrm xmlns:a="http://schemas.openxmlformats.org/drawingml/2006/main">
            <a:off x="8286750" y="3552825"/>
            <a:ext cx="29337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EWMA-HS reacts quickly and provides an independent warning when the primary model looks too calm.</a:t>
            </a:r>
          </a:p>
        </p:txBody>
      </p:sp>
      <p:sp>
        <p:nvSpPr>
          <p:cNvPr id="32" name="">
            <a:extLst xmlns:a="http://schemas.openxmlformats.org/drawingml/2006/main">
              <a:ext uri="{FF2B5EF4-FFF2-40B4-BE49-F238E27FC236}">
                <a16:creationId xmlns:a16="http://schemas.microsoft.com/office/drawing/2014/main" id="{16C81CDB-9FD0-41C2-9F59-52A6E03EAA6F}"/>
              </a:ext>
            </a:extLst>
          </p:cNvPr>
          <p:cNvSpPr>
            <a:spLocks xmlns:a="http://schemas.openxmlformats.org/drawingml/2006/main" noGrp="1"/>
          </p:cNvSpPr>
          <p:nvPr/>
        </p:nvSpPr>
        <p:spPr>
          <a:xfrm xmlns:a="http://schemas.openxmlformats.org/drawingml/2006/main">
            <a:off x="8058150" y="4591050"/>
            <a:ext cx="3314700" cy="1257300"/>
          </a:xfrm>
          <a:prstGeom xmlns:a="http://schemas.openxmlformats.org/drawingml/2006/main" prst="roundRect">
            <a:avLst>
              <a:gd name="adj" fmla="val 6061"/>
            </a:avLst>
          </a:prstGeom>
          <a:solidFill xmlns:a="http://schemas.openxmlformats.org/drawingml/2006/main">
            <a:srgbClr val="FFFEFB"/>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57C611EB-C9F7-4569-937E-F521536EE8F3}"/>
              </a:ext>
            </a:extLst>
          </p:cNvPr>
          <p:cNvSpPr>
            <a:spLocks xmlns:a="http://schemas.openxmlformats.org/drawingml/2006/main" noGrp="1"/>
          </p:cNvSpPr>
          <p:nvPr/>
        </p:nvSpPr>
        <p:spPr>
          <a:xfrm xmlns:a="http://schemas.openxmlformats.org/drawingml/2006/main">
            <a:off x="8058150" y="4591050"/>
            <a:ext cx="66675" cy="1257300"/>
          </a:xfrm>
          <a:prstGeom xmlns:a="http://schemas.openxmlformats.org/drawingml/2006/main" prst="rect">
            <a:avLst/>
          </a:prstGeom>
          <a:solidFill xmlns:a="http://schemas.openxmlformats.org/drawingml/2006/main">
            <a:srgbClr val="5E686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0A4D1044-DF3D-488E-9774-10B002B0339D}"/>
              </a:ext>
            </a:extLst>
          </p:cNvPr>
          <p:cNvSpPr>
            <a:spLocks xmlns:a="http://schemas.openxmlformats.org/drawingml/2006/main" noGrp="1"/>
          </p:cNvSpPr>
          <p:nvPr/>
        </p:nvSpPr>
        <p:spPr>
          <a:xfrm xmlns:a="http://schemas.openxmlformats.org/drawingml/2006/main">
            <a:off x="8286750" y="4733925"/>
            <a:ext cx="293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5E6865"/>
                </a:solidFill>
                <a:latin typeface="Arial"/>
                <a:ea typeface="Arial"/>
                <a:cs typeface="Arial"/>
              </a:defRPr>
            </a:defPPr>
            <a:lvl1pPr>
              <a:defRPr sz="1425" b="1">
                <a:solidFill>
                  <a:srgbClr val="5E6865"/>
                </a:solidFill>
                <a:latin typeface="Arial"/>
                <a:ea typeface="Arial"/>
                <a:cs typeface="Arial"/>
              </a:defRPr>
            </a:lvl1pPr>
            <a:lvl2pPr>
              <a:defRPr sz="1425" b="1">
                <a:solidFill>
                  <a:srgbClr val="5E6865"/>
                </a:solidFill>
                <a:latin typeface="Arial"/>
                <a:ea typeface="Arial"/>
                <a:cs typeface="Arial"/>
              </a:defRPr>
            </a:lvl2pPr>
            <a:lvl3pPr>
              <a:defRPr sz="1425" b="1">
                <a:solidFill>
                  <a:srgbClr val="5E6865"/>
                </a:solidFill>
                <a:latin typeface="Arial"/>
                <a:ea typeface="Arial"/>
                <a:cs typeface="Arial"/>
              </a:defRPr>
            </a:lvl3pPr>
            <a:lvl4pPr>
              <a:defRPr sz="1425" b="1">
                <a:solidFill>
                  <a:srgbClr val="5E6865"/>
                </a:solidFill>
                <a:latin typeface="Arial"/>
                <a:ea typeface="Arial"/>
                <a:cs typeface="Arial"/>
              </a:defRPr>
            </a:lvl4pPr>
            <a:lvl5pPr>
              <a:defRPr sz="1425" b="1">
                <a:solidFill>
                  <a:srgbClr val="5E6865"/>
                </a:solidFill>
                <a:latin typeface="Arial"/>
                <a:ea typeface="Arial"/>
                <a:cs typeface="Arial"/>
              </a:defRPr>
            </a:lvl5pPr>
            <a:lvl6pPr>
              <a:defRPr sz="1425" b="1">
                <a:solidFill>
                  <a:srgbClr val="5E6865"/>
                </a:solidFill>
                <a:latin typeface="Arial"/>
                <a:ea typeface="Arial"/>
                <a:cs typeface="Arial"/>
              </a:defRPr>
            </a:lvl6pPr>
            <a:lvl7pPr>
              <a:defRPr sz="1425" b="1">
                <a:solidFill>
                  <a:srgbClr val="5E6865"/>
                </a:solidFill>
                <a:latin typeface="Arial"/>
                <a:ea typeface="Arial"/>
                <a:cs typeface="Arial"/>
              </a:defRPr>
            </a:lvl7pPr>
            <a:lvl8pPr>
              <a:defRPr sz="1425" b="1">
                <a:solidFill>
                  <a:srgbClr val="5E6865"/>
                </a:solidFill>
                <a:latin typeface="Arial"/>
                <a:ea typeface="Arial"/>
                <a:cs typeface="Arial"/>
              </a:defRPr>
            </a:lvl8pPr>
            <a:lvl9pPr>
              <a:defRPr sz="1425" b="1">
                <a:solidFill>
                  <a:srgbClr val="5E6865"/>
                </a:solidFill>
                <a:latin typeface="Arial"/>
                <a:ea typeface="Arial"/>
                <a:cs typeface="Arial"/>
              </a:defRPr>
            </a:lvl9pPr>
          </a:lstStyle>
          <a:p xmlns:a="http://schemas.openxmlformats.org/drawingml/2006/main">
            <a:pPr>
              <a:defRPr sz="1425" b="1">
                <a:solidFill>
                  <a:srgbClr val="5E6865"/>
                </a:solidFill>
                <a:latin typeface="Arial"/>
                <a:ea typeface="Arial"/>
                <a:cs typeface="Arial"/>
              </a:defRPr>
            </a:pPr>
            <a:r>
              <a:rPr sz="1425" b="1">
                <a:solidFill>
                  <a:srgbClr val="5E6865"/>
                </a:solidFill>
                <a:latin typeface="Arial"/>
                <a:ea typeface="Arial"/>
                <a:cs typeface="Arial"/>
              </a:rPr>
              <a:t>Benchmark</a:t>
            </a:r>
          </a:p>
        </p:txBody>
      </p:sp>
      <p:sp>
        <p:nvSpPr>
          <p:cNvPr id="35" name="">
            <a:extLst xmlns:a="http://schemas.openxmlformats.org/drawingml/2006/main">
              <a:ext uri="{FF2B5EF4-FFF2-40B4-BE49-F238E27FC236}">
                <a16:creationId xmlns:a16="http://schemas.microsoft.com/office/drawing/2014/main" id="{7B3F2CC6-3E53-4634-9351-2FBE9AB65034}"/>
              </a:ext>
            </a:extLst>
          </p:cNvPr>
          <p:cNvSpPr>
            <a:spLocks xmlns:a="http://schemas.openxmlformats.org/drawingml/2006/main" noGrp="1"/>
          </p:cNvSpPr>
          <p:nvPr/>
        </p:nvSpPr>
        <p:spPr>
          <a:xfrm xmlns:a="http://schemas.openxmlformats.org/drawingml/2006/main">
            <a:off x="8286750" y="5038725"/>
            <a:ext cx="29337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Plain HS remains useful because its logic is easy to inspect and explain, even when it is not the best official model.</a:t>
            </a:r>
          </a:p>
        </p:txBody>
      </p:sp>
      <p:sp>
        <p:nvSpPr>
          <p:cNvPr id="36" name="">
            <a:extLst xmlns:a="http://schemas.openxmlformats.org/drawingml/2006/main">
              <a:ext uri="{FF2B5EF4-FFF2-40B4-BE49-F238E27FC236}">
                <a16:creationId xmlns:a16="http://schemas.microsoft.com/office/drawing/2014/main" id="{2BB0F4C5-45D1-41F1-8D43-5D38DC1FB7D8}"/>
              </a:ext>
            </a:extLst>
          </p:cNvPr>
          <p:cNvSpPr>
            <a:spLocks xmlns:a="http://schemas.openxmlformats.org/drawingml/2006/main" noGrp="1"/>
          </p:cNvSpPr>
          <p:nvPr/>
        </p:nvSpPr>
        <p:spPr>
          <a:xfrm xmlns:a="http://schemas.openxmlformats.org/drawingml/2006/main">
            <a:off x="609600" y="6362700"/>
            <a:ext cx="109728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0CA24A33-43C1-4433-A5E8-D8DF5DC88AE4}"/>
              </a:ext>
            </a:extLst>
          </p:cNvPr>
          <p:cNvSpPr>
            <a:spLocks xmlns:a="http://schemas.openxmlformats.org/drawingml/2006/main" noGrp="1"/>
          </p:cNvSpPr>
          <p:nvPr/>
        </p:nvSpPr>
        <p:spPr>
          <a:xfrm xmlns:a="http://schemas.openxmlformats.org/drawingml/2006/main">
            <a:off x="609600" y="6429375"/>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75">
                <a:solidFill>
                  <a:srgbClr val="5E6865"/>
                </a:solidFill>
                <a:latin typeface="Arial"/>
                <a:ea typeface="Arial"/>
                <a:cs typeface="Arial"/>
              </a:defRPr>
            </a:defPPr>
            <a:lvl1pPr>
              <a:defRPr sz="675">
                <a:solidFill>
                  <a:srgbClr val="5E6865"/>
                </a:solidFill>
                <a:latin typeface="Arial"/>
                <a:ea typeface="Arial"/>
                <a:cs typeface="Arial"/>
              </a:defRPr>
            </a:lvl1pPr>
            <a:lvl2pPr>
              <a:defRPr sz="675">
                <a:solidFill>
                  <a:srgbClr val="5E6865"/>
                </a:solidFill>
                <a:latin typeface="Arial"/>
                <a:ea typeface="Arial"/>
                <a:cs typeface="Arial"/>
              </a:defRPr>
            </a:lvl2pPr>
            <a:lvl3pPr>
              <a:defRPr sz="675">
                <a:solidFill>
                  <a:srgbClr val="5E6865"/>
                </a:solidFill>
                <a:latin typeface="Arial"/>
                <a:ea typeface="Arial"/>
                <a:cs typeface="Arial"/>
              </a:defRPr>
            </a:lvl3pPr>
            <a:lvl4pPr>
              <a:defRPr sz="675">
                <a:solidFill>
                  <a:srgbClr val="5E6865"/>
                </a:solidFill>
                <a:latin typeface="Arial"/>
                <a:ea typeface="Arial"/>
                <a:cs typeface="Arial"/>
              </a:defRPr>
            </a:lvl4pPr>
            <a:lvl5pPr>
              <a:defRPr sz="675">
                <a:solidFill>
                  <a:srgbClr val="5E6865"/>
                </a:solidFill>
                <a:latin typeface="Arial"/>
                <a:ea typeface="Arial"/>
                <a:cs typeface="Arial"/>
              </a:defRPr>
            </a:lvl5pPr>
            <a:lvl6pPr>
              <a:defRPr sz="675">
                <a:solidFill>
                  <a:srgbClr val="5E6865"/>
                </a:solidFill>
                <a:latin typeface="Arial"/>
                <a:ea typeface="Arial"/>
                <a:cs typeface="Arial"/>
              </a:defRPr>
            </a:lvl6pPr>
            <a:lvl7pPr>
              <a:defRPr sz="675">
                <a:solidFill>
                  <a:srgbClr val="5E6865"/>
                </a:solidFill>
                <a:latin typeface="Arial"/>
                <a:ea typeface="Arial"/>
                <a:cs typeface="Arial"/>
              </a:defRPr>
            </a:lvl7pPr>
            <a:lvl8pPr>
              <a:defRPr sz="675">
                <a:solidFill>
                  <a:srgbClr val="5E6865"/>
                </a:solidFill>
                <a:latin typeface="Arial"/>
                <a:ea typeface="Arial"/>
                <a:cs typeface="Arial"/>
              </a:defRPr>
            </a:lvl8pPr>
            <a:lvl9pPr>
              <a:defRPr sz="675">
                <a:solidFill>
                  <a:srgbClr val="5E6865"/>
                </a:solidFill>
                <a:latin typeface="Arial"/>
                <a:ea typeface="Arial"/>
                <a:cs typeface="Arial"/>
              </a:defRPr>
            </a:lvl9pPr>
          </a:lstStyle>
          <a:p xmlns:a="http://schemas.openxmlformats.org/drawingml/2006/main">
            <a:pPr>
              <a:defRPr sz="675">
                <a:solidFill>
                  <a:srgbClr val="5E6865"/>
                </a:solidFill>
                <a:latin typeface="Arial"/>
                <a:ea typeface="Arial"/>
                <a:cs typeface="Arial"/>
              </a:defRPr>
            </a:pPr>
            <a:r>
              <a:rPr sz="675">
                <a:solidFill>
                  <a:srgbClr val="5E6865"/>
                </a:solidFill>
                <a:latin typeface="Arial"/>
                <a:ea typeface="Arial"/>
                <a:cs typeface="Arial"/>
              </a:rPr>
              <a:t>Source: QFI_V2_report.docx; Advanced Equity Portfolio Risk Management brief; report_assets/results.json and presentation_backtest.json, as of 16 October 2026.</a:t>
            </a:r>
          </a:p>
        </p:txBody>
      </p:sp>
      <p:sp>
        <p:nvSpPr>
          <p:cNvPr id="38" name="">
            <a:extLst xmlns:a="http://schemas.openxmlformats.org/drawingml/2006/main">
              <a:ext uri="{FF2B5EF4-FFF2-40B4-BE49-F238E27FC236}">
                <a16:creationId xmlns:a16="http://schemas.microsoft.com/office/drawing/2014/main" id="{7D85F0D7-F292-4E30-A70B-BA338B66758A}"/>
              </a:ext>
            </a:extLst>
          </p:cNvPr>
          <p:cNvSpPr>
            <a:spLocks xmlns:a="http://schemas.openxmlformats.org/drawingml/2006/main" noGrp="1"/>
          </p:cNvSpPr>
          <p:nvPr/>
        </p:nvSpPr>
        <p:spPr>
          <a:xfrm xmlns:a="http://schemas.openxmlformats.org/drawingml/2006/main">
            <a:off x="10839450" y="64008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174C4F"/>
                </a:solidFill>
                <a:latin typeface="Arial"/>
                <a:ea typeface="Arial"/>
                <a:cs typeface="Arial"/>
              </a:defRPr>
            </a:defPPr>
            <a:lvl1pPr algn="r">
              <a:defRPr sz="825" b="1">
                <a:solidFill>
                  <a:srgbClr val="174C4F"/>
                </a:solidFill>
                <a:latin typeface="Arial"/>
                <a:ea typeface="Arial"/>
                <a:cs typeface="Arial"/>
              </a:defRPr>
            </a:lvl1pPr>
            <a:lvl2pPr algn="r">
              <a:defRPr sz="825" b="1">
                <a:solidFill>
                  <a:srgbClr val="174C4F"/>
                </a:solidFill>
                <a:latin typeface="Arial"/>
                <a:ea typeface="Arial"/>
                <a:cs typeface="Arial"/>
              </a:defRPr>
            </a:lvl2pPr>
            <a:lvl3pPr algn="r">
              <a:defRPr sz="825" b="1">
                <a:solidFill>
                  <a:srgbClr val="174C4F"/>
                </a:solidFill>
                <a:latin typeface="Arial"/>
                <a:ea typeface="Arial"/>
                <a:cs typeface="Arial"/>
              </a:defRPr>
            </a:lvl3pPr>
            <a:lvl4pPr algn="r">
              <a:defRPr sz="825" b="1">
                <a:solidFill>
                  <a:srgbClr val="174C4F"/>
                </a:solidFill>
                <a:latin typeface="Arial"/>
                <a:ea typeface="Arial"/>
                <a:cs typeface="Arial"/>
              </a:defRPr>
            </a:lvl4pPr>
            <a:lvl5pPr algn="r">
              <a:defRPr sz="825" b="1">
                <a:solidFill>
                  <a:srgbClr val="174C4F"/>
                </a:solidFill>
                <a:latin typeface="Arial"/>
                <a:ea typeface="Arial"/>
                <a:cs typeface="Arial"/>
              </a:defRPr>
            </a:lvl5pPr>
            <a:lvl6pPr algn="r">
              <a:defRPr sz="825" b="1">
                <a:solidFill>
                  <a:srgbClr val="174C4F"/>
                </a:solidFill>
                <a:latin typeface="Arial"/>
                <a:ea typeface="Arial"/>
                <a:cs typeface="Arial"/>
              </a:defRPr>
            </a:lvl6pPr>
            <a:lvl7pPr algn="r">
              <a:defRPr sz="825" b="1">
                <a:solidFill>
                  <a:srgbClr val="174C4F"/>
                </a:solidFill>
                <a:latin typeface="Arial"/>
                <a:ea typeface="Arial"/>
                <a:cs typeface="Arial"/>
              </a:defRPr>
            </a:lvl7pPr>
            <a:lvl8pPr algn="r">
              <a:defRPr sz="825" b="1">
                <a:solidFill>
                  <a:srgbClr val="174C4F"/>
                </a:solidFill>
                <a:latin typeface="Arial"/>
                <a:ea typeface="Arial"/>
                <a:cs typeface="Arial"/>
              </a:defRPr>
            </a:lvl8pPr>
            <a:lvl9pPr algn="r">
              <a:defRPr sz="825" b="1">
                <a:solidFill>
                  <a:srgbClr val="174C4F"/>
                </a:solidFill>
                <a:latin typeface="Arial"/>
                <a:ea typeface="Arial"/>
                <a:cs typeface="Arial"/>
              </a:defRPr>
            </a:lvl9pPr>
          </a:lstStyle>
          <a:p xmlns:a="http://schemas.openxmlformats.org/drawingml/2006/main">
            <a:pPr algn="r">
              <a:defRPr sz="825" b="1">
                <a:solidFill>
                  <a:srgbClr val="174C4F"/>
                </a:solidFill>
                <a:latin typeface="Arial"/>
                <a:ea typeface="Arial"/>
                <a:cs typeface="Arial"/>
              </a:defRPr>
            </a:pPr>
            <a:r>
              <a:rPr sz="825" b="1">
                <a:solidFill>
                  <a:srgbClr val="174C4F"/>
                </a:solidFill>
                <a:latin typeface="Arial"/>
                <a:ea typeface="Arial"/>
                <a:cs typeface="Arial"/>
              </a:rPr>
              <a:t>05</a:t>
            </a:r>
          </a:p>
        </p:txBody>
      </p:sp>
    </p:spTree>
    <p:extLst>
      <p:ext uri="{BB962C8B-B14F-4D97-AF65-F5344CB8AC3E}">
        <p14:creationId xmlns:p14="http://schemas.microsoft.com/office/powerpoint/2010/main" val="1741974871"/>
      </p:ext>
    </p:extLst>
  </p:cSld>
</p:sld>
</file>

<file path=ppt/slides/slide6.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5279EAC-6233-48A2-90E1-E1A35595461D}"/>
              </a:ext>
            </a:extLst>
          </p:cNvPr>
          <p:cNvSpPr>
            <a:spLocks xmlns:a="http://schemas.openxmlformats.org/drawingml/2006/main" noGrp="1"/>
          </p:cNvSpPr>
          <p:nvPr/>
        </p:nvSpPr>
        <p:spPr>
          <a:xfrm xmlns:a="http://schemas.openxmlformats.org/drawingml/2006/main">
            <a:off x="609600" y="4000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B2928"/>
                </a:solidFill>
                <a:latin typeface="Arial"/>
                <a:ea typeface="Arial"/>
                <a:cs typeface="Arial"/>
              </a:defRPr>
            </a:defPPr>
            <a:lvl1pPr>
              <a:defRPr sz="2550" b="1">
                <a:solidFill>
                  <a:srgbClr val="1B2928"/>
                </a:solidFill>
                <a:latin typeface="Arial"/>
                <a:ea typeface="Arial"/>
                <a:cs typeface="Arial"/>
              </a:defRPr>
            </a:lvl1pPr>
            <a:lvl2pPr>
              <a:defRPr sz="2550" b="1">
                <a:solidFill>
                  <a:srgbClr val="1B2928"/>
                </a:solidFill>
                <a:latin typeface="Arial"/>
                <a:ea typeface="Arial"/>
                <a:cs typeface="Arial"/>
              </a:defRPr>
            </a:lvl2pPr>
            <a:lvl3pPr>
              <a:defRPr sz="2550" b="1">
                <a:solidFill>
                  <a:srgbClr val="1B2928"/>
                </a:solidFill>
                <a:latin typeface="Arial"/>
                <a:ea typeface="Arial"/>
                <a:cs typeface="Arial"/>
              </a:defRPr>
            </a:lvl3pPr>
            <a:lvl4pPr>
              <a:defRPr sz="2550" b="1">
                <a:solidFill>
                  <a:srgbClr val="1B2928"/>
                </a:solidFill>
                <a:latin typeface="Arial"/>
                <a:ea typeface="Arial"/>
                <a:cs typeface="Arial"/>
              </a:defRPr>
            </a:lvl4pPr>
            <a:lvl5pPr>
              <a:defRPr sz="2550" b="1">
                <a:solidFill>
                  <a:srgbClr val="1B2928"/>
                </a:solidFill>
                <a:latin typeface="Arial"/>
                <a:ea typeface="Arial"/>
                <a:cs typeface="Arial"/>
              </a:defRPr>
            </a:lvl5pPr>
            <a:lvl6pPr>
              <a:defRPr sz="2550" b="1">
                <a:solidFill>
                  <a:srgbClr val="1B2928"/>
                </a:solidFill>
                <a:latin typeface="Arial"/>
                <a:ea typeface="Arial"/>
                <a:cs typeface="Arial"/>
              </a:defRPr>
            </a:lvl6pPr>
            <a:lvl7pPr>
              <a:defRPr sz="2550" b="1">
                <a:solidFill>
                  <a:srgbClr val="1B2928"/>
                </a:solidFill>
                <a:latin typeface="Arial"/>
                <a:ea typeface="Arial"/>
                <a:cs typeface="Arial"/>
              </a:defRPr>
            </a:lvl7pPr>
            <a:lvl8pPr>
              <a:defRPr sz="2550" b="1">
                <a:solidFill>
                  <a:srgbClr val="1B2928"/>
                </a:solidFill>
                <a:latin typeface="Arial"/>
                <a:ea typeface="Arial"/>
                <a:cs typeface="Arial"/>
              </a:defRPr>
            </a:lvl8pPr>
            <a:lvl9pPr>
              <a:defRPr sz="2550" b="1">
                <a:solidFill>
                  <a:srgbClr val="1B2928"/>
                </a:solidFill>
                <a:latin typeface="Arial"/>
                <a:ea typeface="Arial"/>
                <a:cs typeface="Arial"/>
              </a:defRPr>
            </a:lvl9pPr>
          </a:lstStyle>
          <a:p xmlns:a="http://schemas.openxmlformats.org/drawingml/2006/main">
            <a:pPr>
              <a:defRPr sz="2550" b="1">
                <a:solidFill>
                  <a:srgbClr val="1B2928"/>
                </a:solidFill>
                <a:latin typeface="Arial"/>
                <a:ea typeface="Arial"/>
                <a:cs typeface="Arial"/>
              </a:defRPr>
            </a:pPr>
            <a:r>
              <a:rPr sz="2550" b="1">
                <a:solidFill>
                  <a:srgbClr val="1B2928"/>
                </a:solidFill>
                <a:latin typeface="Arial"/>
                <a:ea typeface="Arial"/>
                <a:cs typeface="Arial"/>
              </a:rPr>
              <a:t>Current one-day VaR and Expected Shortfall</a:t>
            </a:r>
          </a:p>
        </p:txBody>
      </p:sp>
      <p:sp>
        <p:nvSpPr>
          <p:cNvPr id="2" name="">
            <a:extLst xmlns:a="http://schemas.openxmlformats.org/drawingml/2006/main">
              <a:ext uri="{FF2B5EF4-FFF2-40B4-BE49-F238E27FC236}">
                <a16:creationId xmlns:a16="http://schemas.microsoft.com/office/drawing/2014/main" id="{0F96D819-6187-4E5C-8E40-41A101C80A6C}"/>
              </a:ext>
            </a:extLst>
          </p:cNvPr>
          <p:cNvSpPr>
            <a:spLocks xmlns:a="http://schemas.openxmlformats.org/drawingml/2006/main" noGrp="1"/>
          </p:cNvSpPr>
          <p:nvPr/>
        </p:nvSpPr>
        <p:spPr>
          <a:xfrm xmlns:a="http://schemas.openxmlformats.org/drawingml/2006/main">
            <a:off x="609600" y="981075"/>
            <a:ext cx="685800" cy="47625"/>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EE57ACF-0720-4707-AC08-B4163E220384}"/>
              </a:ext>
            </a:extLst>
          </p:cNvPr>
          <p:cNvSpPr>
            <a:spLocks xmlns:a="http://schemas.openxmlformats.org/drawingml/2006/main" noGrp="1"/>
          </p:cNvSpPr>
          <p:nvPr/>
        </p:nvSpPr>
        <p:spPr>
          <a:xfrm xmlns:a="http://schemas.openxmlformats.org/drawingml/2006/main">
            <a:off x="1466850" y="866775"/>
            <a:ext cx="962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99% confidence; model choice changes both the threshold and the average tail loss</a:t>
            </a:r>
          </a:p>
        </p:txBody>
      </p:sp>
      <p:graphicFrame>
        <p:nvGraphicFramePr>
          <p:cNvPr id="4" name="Chart">
            <a:extLst xmlns:a="http://schemas.openxmlformats.org/drawingml/2006/main">
              <a:ext uri="{FF2B5EF4-FFF2-40B4-BE49-F238E27FC236}">
                <a16:creationId xmlns:a16="http://schemas.microsoft.com/office/drawing/2014/main" id="{BA7E5F84-CFCF-46B6-AB5F-59A319AE77DD}"/>
              </a:ext>
            </a:extLst>
          </p:cNvPr>
          <p:cNvGraphicFramePr/>
          <p:nvPr/>
        </p:nvGraphicFramePr>
        <p:xfrm>
          <a:off xmlns:a="http://schemas.openxmlformats.org/drawingml/2006/main" x="514350" y="1390650"/>
          <a:ext xmlns:a="http://schemas.openxmlformats.org/drawingml/2006/main" cx="7715250" cy="4095750"/>
        </p:xfrm>
        <a:graphic xmlns:a="http://schemas.openxmlformats.org/drawingml/2006/main">
          <a:graphicData uri="http://schemas.openxmlformats.org/drawingml/2006/chart">
            <c:chart xmlns:r="http://schemas.openxmlformats.org/officeDocument/2006/relationships" xmlns:c="http://schemas.openxmlformats.org/drawingml/2006/chart" r:id="Rbcce46b865654995"/>
          </a:graphicData>
        </a:graphic>
      </p:graphicFrame>
      <p:sp>
        <p:nvSpPr>
          <p:cNvPr id="5" name="">
            <a:extLst xmlns:a="http://schemas.openxmlformats.org/drawingml/2006/main">
              <a:ext uri="{FF2B5EF4-FFF2-40B4-BE49-F238E27FC236}">
                <a16:creationId xmlns:a16="http://schemas.microsoft.com/office/drawing/2014/main" id="{CA525AF3-B1EA-45BA-8DC3-4EAD90B934E3}"/>
              </a:ext>
            </a:extLst>
          </p:cNvPr>
          <p:cNvSpPr>
            <a:spLocks xmlns:a="http://schemas.openxmlformats.org/drawingml/2006/main" noGrp="1"/>
          </p:cNvSpPr>
          <p:nvPr/>
        </p:nvSpPr>
        <p:spPr>
          <a:xfrm xmlns:a="http://schemas.openxmlformats.org/drawingml/2006/main">
            <a:off x="8667750" y="1771650"/>
            <a:ext cx="2571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74C4F"/>
                </a:solidFill>
                <a:latin typeface="Arial"/>
                <a:ea typeface="Arial"/>
                <a:cs typeface="Arial"/>
              </a:defRPr>
            </a:defPPr>
            <a:lvl1pPr>
              <a:defRPr sz="2550" b="1">
                <a:solidFill>
                  <a:srgbClr val="174C4F"/>
                </a:solidFill>
                <a:latin typeface="Arial"/>
                <a:ea typeface="Arial"/>
                <a:cs typeface="Arial"/>
              </a:defRPr>
            </a:lvl1pPr>
            <a:lvl2pPr>
              <a:defRPr sz="2550" b="1">
                <a:solidFill>
                  <a:srgbClr val="174C4F"/>
                </a:solidFill>
                <a:latin typeface="Arial"/>
                <a:ea typeface="Arial"/>
                <a:cs typeface="Arial"/>
              </a:defRPr>
            </a:lvl2pPr>
            <a:lvl3pPr>
              <a:defRPr sz="2550" b="1">
                <a:solidFill>
                  <a:srgbClr val="174C4F"/>
                </a:solidFill>
                <a:latin typeface="Arial"/>
                <a:ea typeface="Arial"/>
                <a:cs typeface="Arial"/>
              </a:defRPr>
            </a:lvl3pPr>
            <a:lvl4pPr>
              <a:defRPr sz="2550" b="1">
                <a:solidFill>
                  <a:srgbClr val="174C4F"/>
                </a:solidFill>
                <a:latin typeface="Arial"/>
                <a:ea typeface="Arial"/>
                <a:cs typeface="Arial"/>
              </a:defRPr>
            </a:lvl4pPr>
            <a:lvl5pPr>
              <a:defRPr sz="2550" b="1">
                <a:solidFill>
                  <a:srgbClr val="174C4F"/>
                </a:solidFill>
                <a:latin typeface="Arial"/>
                <a:ea typeface="Arial"/>
                <a:cs typeface="Arial"/>
              </a:defRPr>
            </a:lvl5pPr>
            <a:lvl6pPr>
              <a:defRPr sz="2550" b="1">
                <a:solidFill>
                  <a:srgbClr val="174C4F"/>
                </a:solidFill>
                <a:latin typeface="Arial"/>
                <a:ea typeface="Arial"/>
                <a:cs typeface="Arial"/>
              </a:defRPr>
            </a:lvl6pPr>
            <a:lvl7pPr>
              <a:defRPr sz="2550" b="1">
                <a:solidFill>
                  <a:srgbClr val="174C4F"/>
                </a:solidFill>
                <a:latin typeface="Arial"/>
                <a:ea typeface="Arial"/>
                <a:cs typeface="Arial"/>
              </a:defRPr>
            </a:lvl7pPr>
            <a:lvl8pPr>
              <a:defRPr sz="2550" b="1">
                <a:solidFill>
                  <a:srgbClr val="174C4F"/>
                </a:solidFill>
                <a:latin typeface="Arial"/>
                <a:ea typeface="Arial"/>
                <a:cs typeface="Arial"/>
              </a:defRPr>
            </a:lvl8pPr>
            <a:lvl9pPr>
              <a:defRPr sz="2550" b="1">
                <a:solidFill>
                  <a:srgbClr val="174C4F"/>
                </a:solidFill>
                <a:latin typeface="Arial"/>
                <a:ea typeface="Arial"/>
                <a:cs typeface="Arial"/>
              </a:defRPr>
            </a:lvl9pPr>
          </a:lstStyle>
          <a:p xmlns:a="http://schemas.openxmlformats.org/drawingml/2006/main">
            <a:pPr>
              <a:defRPr sz="2550" b="1">
                <a:solidFill>
                  <a:srgbClr val="174C4F"/>
                </a:solidFill>
                <a:latin typeface="Arial"/>
                <a:ea typeface="Arial"/>
                <a:cs typeface="Arial"/>
              </a:defRPr>
            </a:pPr>
            <a:r>
              <a:rPr sz="2550" b="1">
                <a:solidFill>
                  <a:srgbClr val="174C4F"/>
                </a:solidFill>
                <a:latin typeface="Arial"/>
                <a:ea typeface="Arial"/>
                <a:cs typeface="Arial"/>
              </a:rPr>
              <a:t>$297k</a:t>
            </a:r>
          </a:p>
        </p:txBody>
      </p:sp>
      <p:sp>
        <p:nvSpPr>
          <p:cNvPr id="6" name="">
            <a:extLst xmlns:a="http://schemas.openxmlformats.org/drawingml/2006/main">
              <a:ext uri="{FF2B5EF4-FFF2-40B4-BE49-F238E27FC236}">
                <a16:creationId xmlns:a16="http://schemas.microsoft.com/office/drawing/2014/main" id="{34C95F72-1A85-4ABC-A691-54336229642C}"/>
              </a:ext>
            </a:extLst>
          </p:cNvPr>
          <p:cNvSpPr>
            <a:spLocks xmlns:a="http://schemas.openxmlformats.org/drawingml/2006/main" noGrp="1"/>
          </p:cNvSpPr>
          <p:nvPr/>
        </p:nvSpPr>
        <p:spPr>
          <a:xfrm xmlns:a="http://schemas.openxmlformats.org/drawingml/2006/main">
            <a:off x="8667750" y="2276475"/>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GJR-HS 99% one-day VaR</a:t>
            </a:r>
          </a:p>
        </p:txBody>
      </p:sp>
      <p:sp>
        <p:nvSpPr>
          <p:cNvPr id="7" name="">
            <a:extLst xmlns:a="http://schemas.openxmlformats.org/drawingml/2006/main">
              <a:ext uri="{FF2B5EF4-FFF2-40B4-BE49-F238E27FC236}">
                <a16:creationId xmlns:a16="http://schemas.microsoft.com/office/drawing/2014/main" id="{AED81F86-6C63-4450-B989-5AC6986721CD}"/>
              </a:ext>
            </a:extLst>
          </p:cNvPr>
          <p:cNvSpPr>
            <a:spLocks xmlns:a="http://schemas.openxmlformats.org/drawingml/2006/main" noGrp="1"/>
          </p:cNvSpPr>
          <p:nvPr/>
        </p:nvSpPr>
        <p:spPr>
          <a:xfrm xmlns:a="http://schemas.openxmlformats.org/drawingml/2006/main">
            <a:off x="8667750" y="3000375"/>
            <a:ext cx="2571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C9973A"/>
                </a:solidFill>
                <a:latin typeface="Arial"/>
                <a:ea typeface="Arial"/>
                <a:cs typeface="Arial"/>
              </a:defRPr>
            </a:defPPr>
            <a:lvl1pPr>
              <a:defRPr sz="2550" b="1">
                <a:solidFill>
                  <a:srgbClr val="C9973A"/>
                </a:solidFill>
                <a:latin typeface="Arial"/>
                <a:ea typeface="Arial"/>
                <a:cs typeface="Arial"/>
              </a:defRPr>
            </a:lvl1pPr>
            <a:lvl2pPr>
              <a:defRPr sz="2550" b="1">
                <a:solidFill>
                  <a:srgbClr val="C9973A"/>
                </a:solidFill>
                <a:latin typeface="Arial"/>
                <a:ea typeface="Arial"/>
                <a:cs typeface="Arial"/>
              </a:defRPr>
            </a:lvl2pPr>
            <a:lvl3pPr>
              <a:defRPr sz="2550" b="1">
                <a:solidFill>
                  <a:srgbClr val="C9973A"/>
                </a:solidFill>
                <a:latin typeface="Arial"/>
                <a:ea typeface="Arial"/>
                <a:cs typeface="Arial"/>
              </a:defRPr>
            </a:lvl3pPr>
            <a:lvl4pPr>
              <a:defRPr sz="2550" b="1">
                <a:solidFill>
                  <a:srgbClr val="C9973A"/>
                </a:solidFill>
                <a:latin typeface="Arial"/>
                <a:ea typeface="Arial"/>
                <a:cs typeface="Arial"/>
              </a:defRPr>
            </a:lvl4pPr>
            <a:lvl5pPr>
              <a:defRPr sz="2550" b="1">
                <a:solidFill>
                  <a:srgbClr val="C9973A"/>
                </a:solidFill>
                <a:latin typeface="Arial"/>
                <a:ea typeface="Arial"/>
                <a:cs typeface="Arial"/>
              </a:defRPr>
            </a:lvl5pPr>
            <a:lvl6pPr>
              <a:defRPr sz="2550" b="1">
                <a:solidFill>
                  <a:srgbClr val="C9973A"/>
                </a:solidFill>
                <a:latin typeface="Arial"/>
                <a:ea typeface="Arial"/>
                <a:cs typeface="Arial"/>
              </a:defRPr>
            </a:lvl6pPr>
            <a:lvl7pPr>
              <a:defRPr sz="2550" b="1">
                <a:solidFill>
                  <a:srgbClr val="C9973A"/>
                </a:solidFill>
                <a:latin typeface="Arial"/>
                <a:ea typeface="Arial"/>
                <a:cs typeface="Arial"/>
              </a:defRPr>
            </a:lvl7pPr>
            <a:lvl8pPr>
              <a:defRPr sz="2550" b="1">
                <a:solidFill>
                  <a:srgbClr val="C9973A"/>
                </a:solidFill>
                <a:latin typeface="Arial"/>
                <a:ea typeface="Arial"/>
                <a:cs typeface="Arial"/>
              </a:defRPr>
            </a:lvl8pPr>
            <a:lvl9pPr>
              <a:defRPr sz="2550" b="1">
                <a:solidFill>
                  <a:srgbClr val="C9973A"/>
                </a:solidFill>
                <a:latin typeface="Arial"/>
                <a:ea typeface="Arial"/>
                <a:cs typeface="Arial"/>
              </a:defRPr>
            </a:lvl9pPr>
          </a:lstStyle>
          <a:p xmlns:a="http://schemas.openxmlformats.org/drawingml/2006/main">
            <a:pPr>
              <a:defRPr sz="2550" b="1">
                <a:solidFill>
                  <a:srgbClr val="C9973A"/>
                </a:solidFill>
                <a:latin typeface="Arial"/>
                <a:ea typeface="Arial"/>
                <a:cs typeface="Arial"/>
              </a:defRPr>
            </a:pPr>
            <a:r>
              <a:rPr sz="2550" b="1">
                <a:solidFill>
                  <a:srgbClr val="C9973A"/>
                </a:solidFill>
                <a:latin typeface="Arial"/>
                <a:ea typeface="Arial"/>
                <a:cs typeface="Arial"/>
              </a:rPr>
              <a:t>$338k</a:t>
            </a:r>
          </a:p>
        </p:txBody>
      </p:sp>
      <p:sp>
        <p:nvSpPr>
          <p:cNvPr id="8" name="">
            <a:extLst xmlns:a="http://schemas.openxmlformats.org/drawingml/2006/main">
              <a:ext uri="{FF2B5EF4-FFF2-40B4-BE49-F238E27FC236}">
                <a16:creationId xmlns:a16="http://schemas.microsoft.com/office/drawing/2014/main" id="{49C2C576-093F-4E59-B7B5-7C01EE4E9FC2}"/>
              </a:ext>
            </a:extLst>
          </p:cNvPr>
          <p:cNvSpPr>
            <a:spLocks xmlns:a="http://schemas.openxmlformats.org/drawingml/2006/main" noGrp="1"/>
          </p:cNvSpPr>
          <p:nvPr/>
        </p:nvSpPr>
        <p:spPr>
          <a:xfrm xmlns:a="http://schemas.openxmlformats.org/drawingml/2006/main">
            <a:off x="8667750" y="3505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GJR-HS 99% one-day ES</a:t>
            </a:r>
          </a:p>
        </p:txBody>
      </p:sp>
      <p:sp>
        <p:nvSpPr>
          <p:cNvPr id="9" name="">
            <a:extLst xmlns:a="http://schemas.openxmlformats.org/drawingml/2006/main">
              <a:ext uri="{FF2B5EF4-FFF2-40B4-BE49-F238E27FC236}">
                <a16:creationId xmlns:a16="http://schemas.microsoft.com/office/drawing/2014/main" id="{24B5DE40-3CF4-4055-A7A8-CBE8AEA03C9B}"/>
              </a:ext>
            </a:extLst>
          </p:cNvPr>
          <p:cNvSpPr>
            <a:spLocks xmlns:a="http://schemas.openxmlformats.org/drawingml/2006/main" noGrp="1"/>
          </p:cNvSpPr>
          <p:nvPr/>
        </p:nvSpPr>
        <p:spPr>
          <a:xfrm xmlns:a="http://schemas.openxmlformats.org/drawingml/2006/main">
            <a:off x="8496300" y="4400550"/>
            <a:ext cx="2895600" cy="1352550"/>
          </a:xfrm>
          <a:prstGeom xmlns:a="http://schemas.openxmlformats.org/drawingml/2006/main" prst="roundRect">
            <a:avLst>
              <a:gd name="adj" fmla="val 5634"/>
            </a:avLst>
          </a:prstGeom>
          <a:solidFill xmlns:a="http://schemas.openxmlformats.org/drawingml/2006/main">
            <a:srgbClr val="F3DCD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B66B9FD-3CE2-4CBC-BBB2-4F19F6E56D98}"/>
              </a:ext>
            </a:extLst>
          </p:cNvPr>
          <p:cNvSpPr>
            <a:spLocks xmlns:a="http://schemas.openxmlformats.org/drawingml/2006/main" noGrp="1"/>
          </p:cNvSpPr>
          <p:nvPr/>
        </p:nvSpPr>
        <p:spPr>
          <a:xfrm xmlns:a="http://schemas.openxmlformats.org/drawingml/2006/main">
            <a:off x="8496300" y="4400550"/>
            <a:ext cx="66675" cy="1352550"/>
          </a:xfrm>
          <a:prstGeom xmlns:a="http://schemas.openxmlformats.org/drawingml/2006/main" prst="rect">
            <a:avLst/>
          </a:prstGeom>
          <a:solidFill xmlns:a="http://schemas.openxmlformats.org/drawingml/2006/main">
            <a:srgbClr val="B84A3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DFAAD15-9C56-41F6-9145-D5BF3EDA8522}"/>
              </a:ext>
            </a:extLst>
          </p:cNvPr>
          <p:cNvSpPr>
            <a:spLocks xmlns:a="http://schemas.openxmlformats.org/drawingml/2006/main" noGrp="1"/>
          </p:cNvSpPr>
          <p:nvPr/>
        </p:nvSpPr>
        <p:spPr>
          <a:xfrm xmlns:a="http://schemas.openxmlformats.org/drawingml/2006/main">
            <a:off x="8724900" y="4543425"/>
            <a:ext cx="2514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B84A3A"/>
                </a:solidFill>
                <a:latin typeface="Arial"/>
                <a:ea typeface="Arial"/>
                <a:cs typeface="Arial"/>
              </a:defRPr>
            </a:defPPr>
            <a:lvl1pPr>
              <a:defRPr sz="1425" b="1">
                <a:solidFill>
                  <a:srgbClr val="B84A3A"/>
                </a:solidFill>
                <a:latin typeface="Arial"/>
                <a:ea typeface="Arial"/>
                <a:cs typeface="Arial"/>
              </a:defRPr>
            </a:lvl1pPr>
            <a:lvl2pPr>
              <a:defRPr sz="1425" b="1">
                <a:solidFill>
                  <a:srgbClr val="B84A3A"/>
                </a:solidFill>
                <a:latin typeface="Arial"/>
                <a:ea typeface="Arial"/>
                <a:cs typeface="Arial"/>
              </a:defRPr>
            </a:lvl2pPr>
            <a:lvl3pPr>
              <a:defRPr sz="1425" b="1">
                <a:solidFill>
                  <a:srgbClr val="B84A3A"/>
                </a:solidFill>
                <a:latin typeface="Arial"/>
                <a:ea typeface="Arial"/>
                <a:cs typeface="Arial"/>
              </a:defRPr>
            </a:lvl3pPr>
            <a:lvl4pPr>
              <a:defRPr sz="1425" b="1">
                <a:solidFill>
                  <a:srgbClr val="B84A3A"/>
                </a:solidFill>
                <a:latin typeface="Arial"/>
                <a:ea typeface="Arial"/>
                <a:cs typeface="Arial"/>
              </a:defRPr>
            </a:lvl4pPr>
            <a:lvl5pPr>
              <a:defRPr sz="1425" b="1">
                <a:solidFill>
                  <a:srgbClr val="B84A3A"/>
                </a:solidFill>
                <a:latin typeface="Arial"/>
                <a:ea typeface="Arial"/>
                <a:cs typeface="Arial"/>
              </a:defRPr>
            </a:lvl5pPr>
            <a:lvl6pPr>
              <a:defRPr sz="1425" b="1">
                <a:solidFill>
                  <a:srgbClr val="B84A3A"/>
                </a:solidFill>
                <a:latin typeface="Arial"/>
                <a:ea typeface="Arial"/>
                <a:cs typeface="Arial"/>
              </a:defRPr>
            </a:lvl6pPr>
            <a:lvl7pPr>
              <a:defRPr sz="1425" b="1">
                <a:solidFill>
                  <a:srgbClr val="B84A3A"/>
                </a:solidFill>
                <a:latin typeface="Arial"/>
                <a:ea typeface="Arial"/>
                <a:cs typeface="Arial"/>
              </a:defRPr>
            </a:lvl7pPr>
            <a:lvl8pPr>
              <a:defRPr sz="1425" b="1">
                <a:solidFill>
                  <a:srgbClr val="B84A3A"/>
                </a:solidFill>
                <a:latin typeface="Arial"/>
                <a:ea typeface="Arial"/>
                <a:cs typeface="Arial"/>
              </a:defRPr>
            </a:lvl8pPr>
            <a:lvl9pPr>
              <a:defRPr sz="1425" b="1">
                <a:solidFill>
                  <a:srgbClr val="B84A3A"/>
                </a:solidFill>
                <a:latin typeface="Arial"/>
                <a:ea typeface="Arial"/>
                <a:cs typeface="Arial"/>
              </a:defRPr>
            </a:lvl9pPr>
          </a:lstStyle>
          <a:p xmlns:a="http://schemas.openxmlformats.org/drawingml/2006/main">
            <a:pPr>
              <a:defRPr sz="1425" b="1">
                <a:solidFill>
                  <a:srgbClr val="B84A3A"/>
                </a:solidFill>
                <a:latin typeface="Arial"/>
                <a:ea typeface="Arial"/>
                <a:cs typeface="Arial"/>
              </a:defRPr>
            </a:pPr>
            <a:r>
              <a:rPr sz="1425" b="1">
                <a:solidFill>
                  <a:srgbClr val="B84A3A"/>
                </a:solidFill>
                <a:latin typeface="Arial"/>
                <a:ea typeface="Arial"/>
                <a:cs typeface="Arial"/>
              </a:rPr>
              <a:t>Read this correctly</a:t>
            </a:r>
          </a:p>
        </p:txBody>
      </p:sp>
      <p:sp>
        <p:nvSpPr>
          <p:cNvPr id="12" name="">
            <a:extLst xmlns:a="http://schemas.openxmlformats.org/drawingml/2006/main">
              <a:ext uri="{FF2B5EF4-FFF2-40B4-BE49-F238E27FC236}">
                <a16:creationId xmlns:a16="http://schemas.microsoft.com/office/drawing/2014/main" id="{8D6DA9A9-4776-48C8-87A8-BF3C8C169C51}"/>
              </a:ext>
            </a:extLst>
          </p:cNvPr>
          <p:cNvSpPr>
            <a:spLocks xmlns:a="http://schemas.openxmlformats.org/drawingml/2006/main" noGrp="1"/>
          </p:cNvSpPr>
          <p:nvPr/>
        </p:nvSpPr>
        <p:spPr>
          <a:xfrm xmlns:a="http://schemas.openxmlformats.org/drawingml/2006/main">
            <a:off x="8724900" y="4848225"/>
            <a:ext cx="25146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VaR is not a maximum. About 1 day in 100 is expected to be worse; ES estimates the average loss on those worse days.</a:t>
            </a:r>
          </a:p>
        </p:txBody>
      </p:sp>
      <p:sp>
        <p:nvSpPr>
          <p:cNvPr id="13" name="">
            <a:extLst xmlns:a="http://schemas.openxmlformats.org/drawingml/2006/main">
              <a:ext uri="{FF2B5EF4-FFF2-40B4-BE49-F238E27FC236}">
                <a16:creationId xmlns:a16="http://schemas.microsoft.com/office/drawing/2014/main" id="{6D30446C-D1EC-4A3F-ABD6-96FC426EB2F5}"/>
              </a:ext>
            </a:extLst>
          </p:cNvPr>
          <p:cNvSpPr>
            <a:spLocks xmlns:a="http://schemas.openxmlformats.org/drawingml/2006/main" noGrp="1"/>
          </p:cNvSpPr>
          <p:nvPr/>
        </p:nvSpPr>
        <p:spPr>
          <a:xfrm xmlns:a="http://schemas.openxmlformats.org/drawingml/2006/main">
            <a:off x="609600" y="6362700"/>
            <a:ext cx="109728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43CE7C6-7640-43AA-B9C6-BE85BDAD1E2C}"/>
              </a:ext>
            </a:extLst>
          </p:cNvPr>
          <p:cNvSpPr>
            <a:spLocks xmlns:a="http://schemas.openxmlformats.org/drawingml/2006/main" noGrp="1"/>
          </p:cNvSpPr>
          <p:nvPr/>
        </p:nvSpPr>
        <p:spPr>
          <a:xfrm xmlns:a="http://schemas.openxmlformats.org/drawingml/2006/main">
            <a:off x="609600" y="6429375"/>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75">
                <a:solidFill>
                  <a:srgbClr val="5E6865"/>
                </a:solidFill>
                <a:latin typeface="Arial"/>
                <a:ea typeface="Arial"/>
                <a:cs typeface="Arial"/>
              </a:defRPr>
            </a:defPPr>
            <a:lvl1pPr>
              <a:defRPr sz="675">
                <a:solidFill>
                  <a:srgbClr val="5E6865"/>
                </a:solidFill>
                <a:latin typeface="Arial"/>
                <a:ea typeface="Arial"/>
                <a:cs typeface="Arial"/>
              </a:defRPr>
            </a:lvl1pPr>
            <a:lvl2pPr>
              <a:defRPr sz="675">
                <a:solidFill>
                  <a:srgbClr val="5E6865"/>
                </a:solidFill>
                <a:latin typeface="Arial"/>
                <a:ea typeface="Arial"/>
                <a:cs typeface="Arial"/>
              </a:defRPr>
            </a:lvl2pPr>
            <a:lvl3pPr>
              <a:defRPr sz="675">
                <a:solidFill>
                  <a:srgbClr val="5E6865"/>
                </a:solidFill>
                <a:latin typeface="Arial"/>
                <a:ea typeface="Arial"/>
                <a:cs typeface="Arial"/>
              </a:defRPr>
            </a:lvl3pPr>
            <a:lvl4pPr>
              <a:defRPr sz="675">
                <a:solidFill>
                  <a:srgbClr val="5E6865"/>
                </a:solidFill>
                <a:latin typeface="Arial"/>
                <a:ea typeface="Arial"/>
                <a:cs typeface="Arial"/>
              </a:defRPr>
            </a:lvl4pPr>
            <a:lvl5pPr>
              <a:defRPr sz="675">
                <a:solidFill>
                  <a:srgbClr val="5E6865"/>
                </a:solidFill>
                <a:latin typeface="Arial"/>
                <a:ea typeface="Arial"/>
                <a:cs typeface="Arial"/>
              </a:defRPr>
            </a:lvl5pPr>
            <a:lvl6pPr>
              <a:defRPr sz="675">
                <a:solidFill>
                  <a:srgbClr val="5E6865"/>
                </a:solidFill>
                <a:latin typeface="Arial"/>
                <a:ea typeface="Arial"/>
                <a:cs typeface="Arial"/>
              </a:defRPr>
            </a:lvl6pPr>
            <a:lvl7pPr>
              <a:defRPr sz="675">
                <a:solidFill>
                  <a:srgbClr val="5E6865"/>
                </a:solidFill>
                <a:latin typeface="Arial"/>
                <a:ea typeface="Arial"/>
                <a:cs typeface="Arial"/>
              </a:defRPr>
            </a:lvl7pPr>
            <a:lvl8pPr>
              <a:defRPr sz="675">
                <a:solidFill>
                  <a:srgbClr val="5E6865"/>
                </a:solidFill>
                <a:latin typeface="Arial"/>
                <a:ea typeface="Arial"/>
                <a:cs typeface="Arial"/>
              </a:defRPr>
            </a:lvl8pPr>
            <a:lvl9pPr>
              <a:defRPr sz="675">
                <a:solidFill>
                  <a:srgbClr val="5E6865"/>
                </a:solidFill>
                <a:latin typeface="Arial"/>
                <a:ea typeface="Arial"/>
                <a:cs typeface="Arial"/>
              </a:defRPr>
            </a:lvl9pPr>
          </a:lstStyle>
          <a:p xmlns:a="http://schemas.openxmlformats.org/drawingml/2006/main">
            <a:pPr>
              <a:defRPr sz="675">
                <a:solidFill>
                  <a:srgbClr val="5E6865"/>
                </a:solidFill>
                <a:latin typeface="Arial"/>
                <a:ea typeface="Arial"/>
                <a:cs typeface="Arial"/>
              </a:defRPr>
            </a:pPr>
            <a:r>
              <a:rPr sz="675">
                <a:solidFill>
                  <a:srgbClr val="5E6865"/>
                </a:solidFill>
                <a:latin typeface="Arial"/>
                <a:ea typeface="Arial"/>
                <a:cs typeface="Arial"/>
              </a:rPr>
              <a:t>Source: QFI_V2_report.docx; Advanced Equity Portfolio Risk Management brief; report_assets/results.json and presentation_backtest.json, as of 16 October 2026.</a:t>
            </a:r>
          </a:p>
        </p:txBody>
      </p:sp>
      <p:sp>
        <p:nvSpPr>
          <p:cNvPr id="15" name="">
            <a:extLst xmlns:a="http://schemas.openxmlformats.org/drawingml/2006/main">
              <a:ext uri="{FF2B5EF4-FFF2-40B4-BE49-F238E27FC236}">
                <a16:creationId xmlns:a16="http://schemas.microsoft.com/office/drawing/2014/main" id="{2BC87925-BFD0-4407-BBDD-A92567961960}"/>
              </a:ext>
            </a:extLst>
          </p:cNvPr>
          <p:cNvSpPr>
            <a:spLocks xmlns:a="http://schemas.openxmlformats.org/drawingml/2006/main" noGrp="1"/>
          </p:cNvSpPr>
          <p:nvPr/>
        </p:nvSpPr>
        <p:spPr>
          <a:xfrm xmlns:a="http://schemas.openxmlformats.org/drawingml/2006/main">
            <a:off x="10839450" y="64008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174C4F"/>
                </a:solidFill>
                <a:latin typeface="Arial"/>
                <a:ea typeface="Arial"/>
                <a:cs typeface="Arial"/>
              </a:defRPr>
            </a:defPPr>
            <a:lvl1pPr algn="r">
              <a:defRPr sz="825" b="1">
                <a:solidFill>
                  <a:srgbClr val="174C4F"/>
                </a:solidFill>
                <a:latin typeface="Arial"/>
                <a:ea typeface="Arial"/>
                <a:cs typeface="Arial"/>
              </a:defRPr>
            </a:lvl1pPr>
            <a:lvl2pPr algn="r">
              <a:defRPr sz="825" b="1">
                <a:solidFill>
                  <a:srgbClr val="174C4F"/>
                </a:solidFill>
                <a:latin typeface="Arial"/>
                <a:ea typeface="Arial"/>
                <a:cs typeface="Arial"/>
              </a:defRPr>
            </a:lvl2pPr>
            <a:lvl3pPr algn="r">
              <a:defRPr sz="825" b="1">
                <a:solidFill>
                  <a:srgbClr val="174C4F"/>
                </a:solidFill>
                <a:latin typeface="Arial"/>
                <a:ea typeface="Arial"/>
                <a:cs typeface="Arial"/>
              </a:defRPr>
            </a:lvl3pPr>
            <a:lvl4pPr algn="r">
              <a:defRPr sz="825" b="1">
                <a:solidFill>
                  <a:srgbClr val="174C4F"/>
                </a:solidFill>
                <a:latin typeface="Arial"/>
                <a:ea typeface="Arial"/>
                <a:cs typeface="Arial"/>
              </a:defRPr>
            </a:lvl4pPr>
            <a:lvl5pPr algn="r">
              <a:defRPr sz="825" b="1">
                <a:solidFill>
                  <a:srgbClr val="174C4F"/>
                </a:solidFill>
                <a:latin typeface="Arial"/>
                <a:ea typeface="Arial"/>
                <a:cs typeface="Arial"/>
              </a:defRPr>
            </a:lvl5pPr>
            <a:lvl6pPr algn="r">
              <a:defRPr sz="825" b="1">
                <a:solidFill>
                  <a:srgbClr val="174C4F"/>
                </a:solidFill>
                <a:latin typeface="Arial"/>
                <a:ea typeface="Arial"/>
                <a:cs typeface="Arial"/>
              </a:defRPr>
            </a:lvl6pPr>
            <a:lvl7pPr algn="r">
              <a:defRPr sz="825" b="1">
                <a:solidFill>
                  <a:srgbClr val="174C4F"/>
                </a:solidFill>
                <a:latin typeface="Arial"/>
                <a:ea typeface="Arial"/>
                <a:cs typeface="Arial"/>
              </a:defRPr>
            </a:lvl7pPr>
            <a:lvl8pPr algn="r">
              <a:defRPr sz="825" b="1">
                <a:solidFill>
                  <a:srgbClr val="174C4F"/>
                </a:solidFill>
                <a:latin typeface="Arial"/>
                <a:ea typeface="Arial"/>
                <a:cs typeface="Arial"/>
              </a:defRPr>
            </a:lvl8pPr>
            <a:lvl9pPr algn="r">
              <a:defRPr sz="825" b="1">
                <a:solidFill>
                  <a:srgbClr val="174C4F"/>
                </a:solidFill>
                <a:latin typeface="Arial"/>
                <a:ea typeface="Arial"/>
                <a:cs typeface="Arial"/>
              </a:defRPr>
            </a:lvl9pPr>
          </a:lstStyle>
          <a:p xmlns:a="http://schemas.openxmlformats.org/drawingml/2006/main">
            <a:pPr algn="r">
              <a:defRPr sz="825" b="1">
                <a:solidFill>
                  <a:srgbClr val="174C4F"/>
                </a:solidFill>
                <a:latin typeface="Arial"/>
                <a:ea typeface="Arial"/>
                <a:cs typeface="Arial"/>
              </a:defRPr>
            </a:pPr>
            <a:r>
              <a:rPr sz="825" b="1">
                <a:solidFill>
                  <a:srgbClr val="174C4F"/>
                </a:solidFill>
                <a:latin typeface="Arial"/>
                <a:ea typeface="Arial"/>
                <a:cs typeface="Arial"/>
              </a:rPr>
              <a:t>06</a:t>
            </a:r>
          </a:p>
        </p:txBody>
      </p:sp>
    </p:spTree>
    <p:extLst>
      <p:ext uri="{BB962C8B-B14F-4D97-AF65-F5344CB8AC3E}">
        <p14:creationId xmlns:p14="http://schemas.microsoft.com/office/powerpoint/2010/main" val="2030153458"/>
      </p:ext>
    </p:extLst>
  </p:cSld>
</p:sld>
</file>

<file path=ppt/slides/slide7.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05050DC-6DF3-428D-BB51-64E8C83C41FA}"/>
              </a:ext>
            </a:extLst>
          </p:cNvPr>
          <p:cNvSpPr>
            <a:spLocks xmlns:a="http://schemas.openxmlformats.org/drawingml/2006/main" noGrp="1"/>
          </p:cNvSpPr>
          <p:nvPr/>
        </p:nvSpPr>
        <p:spPr>
          <a:xfrm xmlns:a="http://schemas.openxmlformats.org/drawingml/2006/main">
            <a:off x="609600" y="4000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B2928"/>
                </a:solidFill>
                <a:latin typeface="Arial"/>
                <a:ea typeface="Arial"/>
                <a:cs typeface="Arial"/>
              </a:defRPr>
            </a:defPPr>
            <a:lvl1pPr>
              <a:defRPr sz="2550" b="1">
                <a:solidFill>
                  <a:srgbClr val="1B2928"/>
                </a:solidFill>
                <a:latin typeface="Arial"/>
                <a:ea typeface="Arial"/>
                <a:cs typeface="Arial"/>
              </a:defRPr>
            </a:lvl1pPr>
            <a:lvl2pPr>
              <a:defRPr sz="2550" b="1">
                <a:solidFill>
                  <a:srgbClr val="1B2928"/>
                </a:solidFill>
                <a:latin typeface="Arial"/>
                <a:ea typeface="Arial"/>
                <a:cs typeface="Arial"/>
              </a:defRPr>
            </a:lvl2pPr>
            <a:lvl3pPr>
              <a:defRPr sz="2550" b="1">
                <a:solidFill>
                  <a:srgbClr val="1B2928"/>
                </a:solidFill>
                <a:latin typeface="Arial"/>
                <a:ea typeface="Arial"/>
                <a:cs typeface="Arial"/>
              </a:defRPr>
            </a:lvl3pPr>
            <a:lvl4pPr>
              <a:defRPr sz="2550" b="1">
                <a:solidFill>
                  <a:srgbClr val="1B2928"/>
                </a:solidFill>
                <a:latin typeface="Arial"/>
                <a:ea typeface="Arial"/>
                <a:cs typeface="Arial"/>
              </a:defRPr>
            </a:lvl4pPr>
            <a:lvl5pPr>
              <a:defRPr sz="2550" b="1">
                <a:solidFill>
                  <a:srgbClr val="1B2928"/>
                </a:solidFill>
                <a:latin typeface="Arial"/>
                <a:ea typeface="Arial"/>
                <a:cs typeface="Arial"/>
              </a:defRPr>
            </a:lvl5pPr>
            <a:lvl6pPr>
              <a:defRPr sz="2550" b="1">
                <a:solidFill>
                  <a:srgbClr val="1B2928"/>
                </a:solidFill>
                <a:latin typeface="Arial"/>
                <a:ea typeface="Arial"/>
                <a:cs typeface="Arial"/>
              </a:defRPr>
            </a:lvl6pPr>
            <a:lvl7pPr>
              <a:defRPr sz="2550" b="1">
                <a:solidFill>
                  <a:srgbClr val="1B2928"/>
                </a:solidFill>
                <a:latin typeface="Arial"/>
                <a:ea typeface="Arial"/>
                <a:cs typeface="Arial"/>
              </a:defRPr>
            </a:lvl7pPr>
            <a:lvl8pPr>
              <a:defRPr sz="2550" b="1">
                <a:solidFill>
                  <a:srgbClr val="1B2928"/>
                </a:solidFill>
                <a:latin typeface="Arial"/>
                <a:ea typeface="Arial"/>
                <a:cs typeface="Arial"/>
              </a:defRPr>
            </a:lvl8pPr>
            <a:lvl9pPr>
              <a:defRPr sz="2550" b="1">
                <a:solidFill>
                  <a:srgbClr val="1B2928"/>
                </a:solidFill>
                <a:latin typeface="Arial"/>
                <a:ea typeface="Arial"/>
                <a:cs typeface="Arial"/>
              </a:defRPr>
            </a:lvl9pPr>
          </a:lstStyle>
          <a:p xmlns:a="http://schemas.openxmlformats.org/drawingml/2006/main">
            <a:pPr>
              <a:defRPr sz="2550" b="1">
                <a:solidFill>
                  <a:srgbClr val="1B2928"/>
                </a:solidFill>
                <a:latin typeface="Arial"/>
                <a:ea typeface="Arial"/>
                <a:cs typeface="Arial"/>
              </a:defRPr>
            </a:pPr>
            <a:r>
              <a:rPr sz="2550" b="1">
                <a:solidFill>
                  <a:srgbClr val="1B2928"/>
                </a:solidFill>
                <a:latin typeface="Arial"/>
                <a:ea typeface="Arial"/>
                <a:cs typeface="Arial"/>
              </a:rPr>
              <a:t>Parameter choice is a material source of model risk</a:t>
            </a:r>
          </a:p>
        </p:txBody>
      </p:sp>
      <p:sp>
        <p:nvSpPr>
          <p:cNvPr id="2" name="">
            <a:extLst xmlns:a="http://schemas.openxmlformats.org/drawingml/2006/main">
              <a:ext uri="{FF2B5EF4-FFF2-40B4-BE49-F238E27FC236}">
                <a16:creationId xmlns:a16="http://schemas.microsoft.com/office/drawing/2014/main" id="{E814E243-2355-40C9-8D5F-A1FABE003D35}"/>
              </a:ext>
            </a:extLst>
          </p:cNvPr>
          <p:cNvSpPr>
            <a:spLocks xmlns:a="http://schemas.openxmlformats.org/drawingml/2006/main" noGrp="1"/>
          </p:cNvSpPr>
          <p:nvPr/>
        </p:nvSpPr>
        <p:spPr>
          <a:xfrm xmlns:a="http://schemas.openxmlformats.org/drawingml/2006/main">
            <a:off x="609600" y="981075"/>
            <a:ext cx="685800" cy="47625"/>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4D7EC29-0005-44C6-B7D0-DBF1F38C839D}"/>
              </a:ext>
            </a:extLst>
          </p:cNvPr>
          <p:cNvSpPr>
            <a:spLocks xmlns:a="http://schemas.openxmlformats.org/drawingml/2006/main" noGrp="1"/>
          </p:cNvSpPr>
          <p:nvPr/>
        </p:nvSpPr>
        <p:spPr>
          <a:xfrm xmlns:a="http://schemas.openxmlformats.org/drawingml/2006/main">
            <a:off x="1466850" y="866775"/>
            <a:ext cx="962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GJR-HS VaR changes materially with confidence and history window</a:t>
            </a:r>
          </a:p>
        </p:txBody>
      </p:sp>
      <p:graphicFrame>
        <p:nvGraphicFramePr>
          <p:cNvPr id="4" name="">
            <a:extLst xmlns:a="http://schemas.openxmlformats.org/drawingml/2006/main">
              <a:ext uri="{FF2B5EF4-FFF2-40B4-BE49-F238E27FC236}">
                <a16:creationId xmlns:a16="http://schemas.microsoft.com/office/drawing/2014/main" id="{F5B6B4C3-C948-4680-9E24-710345213FB9}"/>
              </a:ext>
            </a:extLst>
          </p:cNvPr>
          <p:cNvGraphicFramePr/>
          <p:nvPr/>
        </p:nvGraphicFramePr>
        <p:xfrm>
          <a:off xmlns:a="http://schemas.openxmlformats.org/drawingml/2006/main" x="800100" y="1676400"/>
          <a:ext xmlns:a="http://schemas.openxmlformats.org/drawingml/2006/main" cx="7486650" cy="2952750"/>
        </p:xfrm>
        <a:graphic xmlns:a="http://schemas.openxmlformats.org/drawingml/2006/main">
          <a:graphicData uri="http://schemas.openxmlformats.org/drawingml/2006/table">
            <a:tbl>
              <a:tblPr firstRow="1" bandRow="1"/>
              <a:tblGrid>
                <a:gridCol w="2201956"/>
                <a:gridCol w="1761565"/>
                <a:gridCol w="1761565"/>
                <a:gridCol w="1761565"/>
              </a:tblGrid>
              <a:tr h="738188">
                <a:tc>
                  <a:txBody>
                    <a:bodyPr/>
                    <a:lstStyle/>
                    <a:p>
                      <a:r>
                        <a:rPr sz="1125" b="1">
                          <a:solidFill>
                            <a:srgbClr val="FFFEFB"/>
                          </a:solidFill>
                          <a:latin typeface="Arial"/>
                          <a:ea typeface="Arial"/>
                          <a:cs typeface="Arial"/>
                        </a:rPr>
                        <a:t>Confidence</a:t>
                      </a:r>
                    </a:p>
                  </a:txBody>
                  <a:tcPr marL="76200" marR="76200" marT="66675" marB="66675">
                    <a:lnL w="9525">
                      <a:solidFill>
                        <a:srgbClr val="D7D0C1"/>
                      </a:solidFill>
                      <a:prstDash val="solid"/>
                    </a:lnL>
                    <a:lnR w="9525">
                      <a:solidFill>
                        <a:srgbClr val="D7D0C1"/>
                      </a:solidFill>
                      <a:prstDash val="solid"/>
                    </a:lnR>
                    <a:lnT w="9525">
                      <a:solidFill>
                        <a:srgbClr val="D7D0C1"/>
                      </a:solidFill>
                      <a:prstDash val="solid"/>
                    </a:lnT>
                    <a:lnB w="9525">
                      <a:solidFill>
                        <a:srgbClr val="D7D0C1"/>
                      </a:solidFill>
                      <a:prstDash val="solid"/>
                    </a:lnB>
                    <a:solidFill>
                      <a:srgbClr val="174C4F"/>
                    </a:solidFill>
                  </a:tcPr>
                </a:tc>
                <a:tc>
                  <a:txBody>
                    <a:bodyPr/>
                    <a:lstStyle/>
                    <a:p>
                      <a:r>
                        <a:rPr sz="1125" b="1">
                          <a:solidFill>
                            <a:srgbClr val="FFFEFB"/>
                          </a:solidFill>
                          <a:latin typeface="Arial"/>
                          <a:ea typeface="Arial"/>
                          <a:cs typeface="Arial"/>
                        </a:rPr>
                        <a:t>250 days</a:t>
                      </a:r>
                    </a:p>
                  </a:txBody>
                  <a:tcPr marL="76200" marR="76200" marT="66675" marB="66675">
                    <a:lnR w="9525">
                      <a:solidFill>
                        <a:srgbClr val="D7D0C1"/>
                      </a:solidFill>
                      <a:prstDash val="solid"/>
                    </a:lnR>
                    <a:lnT w="9525">
                      <a:solidFill>
                        <a:srgbClr val="D7D0C1"/>
                      </a:solidFill>
                      <a:prstDash val="solid"/>
                    </a:lnT>
                    <a:lnB w="9525">
                      <a:solidFill>
                        <a:srgbClr val="D7D0C1"/>
                      </a:solidFill>
                      <a:prstDash val="solid"/>
                    </a:lnB>
                    <a:solidFill>
                      <a:srgbClr val="174C4F"/>
                    </a:solidFill>
                  </a:tcPr>
                </a:tc>
                <a:tc>
                  <a:txBody>
                    <a:bodyPr/>
                    <a:lstStyle/>
                    <a:p>
                      <a:r>
                        <a:rPr sz="1125" b="1">
                          <a:solidFill>
                            <a:srgbClr val="FFFEFB"/>
                          </a:solidFill>
                          <a:latin typeface="Arial"/>
                          <a:ea typeface="Arial"/>
                          <a:cs typeface="Arial"/>
                        </a:rPr>
                        <a:t>500 days</a:t>
                      </a:r>
                    </a:p>
                  </a:txBody>
                  <a:tcPr marL="76200" marR="76200" marT="66675" marB="66675">
                    <a:lnR w="9525">
                      <a:solidFill>
                        <a:srgbClr val="D7D0C1"/>
                      </a:solidFill>
                      <a:prstDash val="solid"/>
                    </a:lnR>
                    <a:lnT w="9525">
                      <a:solidFill>
                        <a:srgbClr val="D7D0C1"/>
                      </a:solidFill>
                      <a:prstDash val="solid"/>
                    </a:lnT>
                    <a:lnB w="9525">
                      <a:solidFill>
                        <a:srgbClr val="D7D0C1"/>
                      </a:solidFill>
                      <a:prstDash val="solid"/>
                    </a:lnB>
                    <a:solidFill>
                      <a:srgbClr val="174C4F"/>
                    </a:solidFill>
                  </a:tcPr>
                </a:tc>
                <a:tc>
                  <a:txBody>
                    <a:bodyPr/>
                    <a:lstStyle/>
                    <a:p>
                      <a:r>
                        <a:rPr sz="1125" b="1">
                          <a:solidFill>
                            <a:srgbClr val="FFFEFB"/>
                          </a:solidFill>
                          <a:latin typeface="Arial"/>
                          <a:ea typeface="Arial"/>
                          <a:cs typeface="Arial"/>
                        </a:rPr>
                        <a:t>750 days</a:t>
                      </a:r>
                    </a:p>
                  </a:txBody>
                  <a:tcPr marL="76200" marR="76200" marT="66675" marB="66675">
                    <a:lnR w="9525">
                      <a:solidFill>
                        <a:srgbClr val="D7D0C1"/>
                      </a:solidFill>
                      <a:prstDash val="solid"/>
                    </a:lnR>
                    <a:lnT w="9525">
                      <a:solidFill>
                        <a:srgbClr val="D7D0C1"/>
                      </a:solidFill>
                      <a:prstDash val="solid"/>
                    </a:lnT>
                    <a:lnB w="9525">
                      <a:solidFill>
                        <a:srgbClr val="D7D0C1"/>
                      </a:solidFill>
                      <a:prstDash val="solid"/>
                    </a:lnB>
                    <a:solidFill>
                      <a:srgbClr val="174C4F"/>
                    </a:solidFill>
                  </a:tcPr>
                </a:tc>
              </a:tr>
              <a:tr h="738188">
                <a:tc>
                  <a:txBody>
                    <a:bodyPr/>
                    <a:lstStyle/>
                    <a:p>
                      <a:r>
                        <a:rPr sz="1275">
                          <a:solidFill>
                            <a:srgbClr val="1B2928"/>
                          </a:solidFill>
                          <a:latin typeface="Arial"/>
                          <a:ea typeface="Arial"/>
                          <a:cs typeface="Arial"/>
                        </a:rPr>
                        <a:t>95.0%</a:t>
                      </a:r>
                    </a:p>
                  </a:txBody>
                  <a:tcPr marL="76200" marR="76200" marT="66675" marB="66675">
                    <a:lnL w="9525">
                      <a:solidFill>
                        <a:srgbClr val="D7D0C1"/>
                      </a:solidFill>
                      <a:prstDash val="solid"/>
                    </a:lnL>
                    <a:lnR w="9525">
                      <a:solidFill>
                        <a:srgbClr val="D7D0C1"/>
                      </a:solidFill>
                      <a:prstDash val="solid"/>
                    </a:lnR>
                    <a:lnB w="9525">
                      <a:solidFill>
                        <a:srgbClr val="D7D0C1"/>
                      </a:solidFill>
                      <a:prstDash val="solid"/>
                    </a:lnB>
                    <a:solidFill>
                      <a:srgbClr val="FFFEFB"/>
                    </a:solidFill>
                  </a:tcPr>
                </a:tc>
                <a:tc>
                  <a:txBody>
                    <a:bodyPr/>
                    <a:lstStyle/>
                    <a:p>
                      <a:r>
                        <a:rPr sz="1275">
                          <a:solidFill>
                            <a:srgbClr val="1B2928"/>
                          </a:solidFill>
                          <a:latin typeface="Arial"/>
                          <a:ea typeface="Arial"/>
                          <a:cs typeface="Arial"/>
                        </a:rPr>
                        <a:t>1.34%</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275">
                          <a:solidFill>
                            <a:srgbClr val="1B2928"/>
                          </a:solidFill>
                          <a:latin typeface="Arial"/>
                          <a:ea typeface="Arial"/>
                          <a:cs typeface="Arial"/>
                        </a:rPr>
                        <a:t>1.46%</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275">
                          <a:solidFill>
                            <a:srgbClr val="1B2928"/>
                          </a:solidFill>
                          <a:latin typeface="Arial"/>
                          <a:ea typeface="Arial"/>
                          <a:cs typeface="Arial"/>
                        </a:rPr>
                        <a:t>1.38%</a:t>
                      </a:r>
                    </a:p>
                  </a:txBody>
                  <a:tcPr marL="76200" marR="76200" marT="66675" marB="66675">
                    <a:lnR w="9525">
                      <a:solidFill>
                        <a:srgbClr val="D7D0C1"/>
                      </a:solidFill>
                      <a:prstDash val="solid"/>
                    </a:lnR>
                    <a:lnB w="9525">
                      <a:solidFill>
                        <a:srgbClr val="D7D0C1"/>
                      </a:solidFill>
                      <a:prstDash val="solid"/>
                    </a:lnB>
                    <a:solidFill>
                      <a:srgbClr val="FFFEFB"/>
                    </a:solidFill>
                  </a:tcPr>
                </a:tc>
              </a:tr>
              <a:tr h="738188">
                <a:tc>
                  <a:txBody>
                    <a:bodyPr/>
                    <a:lstStyle/>
                    <a:p>
                      <a:r>
                        <a:rPr sz="1275">
                          <a:solidFill>
                            <a:srgbClr val="1B2928"/>
                          </a:solidFill>
                          <a:latin typeface="Arial"/>
                          <a:ea typeface="Arial"/>
                          <a:cs typeface="Arial"/>
                        </a:rPr>
                        <a:t>99.0%</a:t>
                      </a:r>
                    </a:p>
                  </a:txBody>
                  <a:tcPr marL="76200" marR="76200" marT="66675" marB="66675">
                    <a:lnL w="9525">
                      <a:solidFill>
                        <a:srgbClr val="D7D0C1"/>
                      </a:solidFill>
                      <a:prstDash val="solid"/>
                    </a:lnL>
                    <a:lnR w="9525">
                      <a:solidFill>
                        <a:srgbClr val="D7D0C1"/>
                      </a:solidFill>
                      <a:prstDash val="solid"/>
                    </a:lnR>
                    <a:lnB w="9525">
                      <a:solidFill>
                        <a:srgbClr val="D7D0C1"/>
                      </a:solidFill>
                      <a:prstDash val="solid"/>
                    </a:lnB>
                    <a:solidFill>
                      <a:srgbClr val="FFFEFB"/>
                    </a:solidFill>
                  </a:tcPr>
                </a:tc>
                <a:tc>
                  <a:txBody>
                    <a:bodyPr/>
                    <a:lstStyle/>
                    <a:p>
                      <a:r>
                        <a:rPr sz="1275">
                          <a:solidFill>
                            <a:srgbClr val="1B2928"/>
                          </a:solidFill>
                          <a:latin typeface="Arial"/>
                          <a:ea typeface="Arial"/>
                          <a:cs typeface="Arial"/>
                        </a:rPr>
                        <a:t>2.30%</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350" b="1">
                          <a:solidFill>
                            <a:srgbClr val="6F4E12"/>
                          </a:solidFill>
                          <a:latin typeface="Arial"/>
                          <a:ea typeface="Arial"/>
                          <a:cs typeface="Arial"/>
                        </a:rPr>
                        <a:t>2.97%</a:t>
                      </a:r>
                    </a:p>
                  </a:txBody>
                  <a:tcPr marL="76200" marR="76200" marT="66675" marB="66675">
                    <a:lnR w="9525">
                      <a:solidFill>
                        <a:srgbClr val="D7D0C1"/>
                      </a:solidFill>
                      <a:prstDash val="solid"/>
                    </a:lnR>
                    <a:lnB w="9525">
                      <a:solidFill>
                        <a:srgbClr val="D7D0C1"/>
                      </a:solidFill>
                      <a:prstDash val="solid"/>
                    </a:lnB>
                    <a:solidFill>
                      <a:srgbClr val="F1E2BE"/>
                    </a:solidFill>
                  </a:tcPr>
                </a:tc>
                <a:tc>
                  <a:txBody>
                    <a:bodyPr/>
                    <a:lstStyle/>
                    <a:p>
                      <a:r>
                        <a:rPr sz="1275">
                          <a:solidFill>
                            <a:srgbClr val="1B2928"/>
                          </a:solidFill>
                          <a:latin typeface="Arial"/>
                          <a:ea typeface="Arial"/>
                          <a:cs typeface="Arial"/>
                        </a:rPr>
                        <a:t>2.74%</a:t>
                      </a:r>
                    </a:p>
                  </a:txBody>
                  <a:tcPr marL="76200" marR="76200" marT="66675" marB="66675">
                    <a:lnR w="9525">
                      <a:solidFill>
                        <a:srgbClr val="D7D0C1"/>
                      </a:solidFill>
                      <a:prstDash val="solid"/>
                    </a:lnR>
                    <a:lnB w="9525">
                      <a:solidFill>
                        <a:srgbClr val="D7D0C1"/>
                      </a:solidFill>
                      <a:prstDash val="solid"/>
                    </a:lnB>
                    <a:solidFill>
                      <a:srgbClr val="FFFEFB"/>
                    </a:solidFill>
                  </a:tcPr>
                </a:tc>
              </a:tr>
              <a:tr h="738188">
                <a:tc>
                  <a:txBody>
                    <a:bodyPr/>
                    <a:lstStyle/>
                    <a:p>
                      <a:r>
                        <a:rPr sz="1275">
                          <a:solidFill>
                            <a:srgbClr val="1B2928"/>
                          </a:solidFill>
                          <a:latin typeface="Arial"/>
                          <a:ea typeface="Arial"/>
                          <a:cs typeface="Arial"/>
                        </a:rPr>
                        <a:t>99.5%</a:t>
                      </a:r>
                    </a:p>
                  </a:txBody>
                  <a:tcPr marL="76200" marR="76200" marT="66675" marB="66675">
                    <a:lnL w="9525">
                      <a:solidFill>
                        <a:srgbClr val="D7D0C1"/>
                      </a:solidFill>
                      <a:prstDash val="solid"/>
                    </a:lnL>
                    <a:lnR w="9525">
                      <a:solidFill>
                        <a:srgbClr val="D7D0C1"/>
                      </a:solidFill>
                      <a:prstDash val="solid"/>
                    </a:lnR>
                    <a:lnB w="9525">
                      <a:solidFill>
                        <a:srgbClr val="D7D0C1"/>
                      </a:solidFill>
                      <a:prstDash val="solid"/>
                    </a:lnB>
                    <a:solidFill>
                      <a:srgbClr val="FFFEFB"/>
                    </a:solidFill>
                  </a:tcPr>
                </a:tc>
                <a:tc>
                  <a:txBody>
                    <a:bodyPr/>
                    <a:lstStyle/>
                    <a:p>
                      <a:r>
                        <a:rPr sz="1275">
                          <a:solidFill>
                            <a:srgbClr val="1B2928"/>
                          </a:solidFill>
                          <a:latin typeface="Arial"/>
                          <a:ea typeface="Arial"/>
                          <a:cs typeface="Arial"/>
                        </a:rPr>
                        <a:t>2.74%</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275">
                          <a:solidFill>
                            <a:srgbClr val="1B2928"/>
                          </a:solidFill>
                          <a:latin typeface="Arial"/>
                          <a:ea typeface="Arial"/>
                          <a:cs typeface="Arial"/>
                        </a:rPr>
                        <a:t>3.34%</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275">
                          <a:solidFill>
                            <a:srgbClr val="1B2928"/>
                          </a:solidFill>
                          <a:latin typeface="Arial"/>
                          <a:ea typeface="Arial"/>
                          <a:cs typeface="Arial"/>
                        </a:rPr>
                        <a:t>3.23%</a:t>
                      </a:r>
                    </a:p>
                  </a:txBody>
                  <a:tcPr marL="76200" marR="76200" marT="66675" marB="66675">
                    <a:lnR w="9525">
                      <a:solidFill>
                        <a:srgbClr val="D7D0C1"/>
                      </a:solidFill>
                      <a:prstDash val="solid"/>
                    </a:lnR>
                    <a:lnB w="9525">
                      <a:solidFill>
                        <a:srgbClr val="D7D0C1"/>
                      </a:solidFill>
                      <a:prstDash val="solid"/>
                    </a:lnB>
                    <a:solidFill>
                      <a:srgbClr val="FFFEFB"/>
                    </a:solidFill>
                  </a:tcPr>
                </a:tc>
              </a:tr>
            </a:tbl>
          </a:graphicData>
        </a:graphic>
      </p:graphicFrame>
      <p:sp>
        <p:nvSpPr>
          <p:cNvPr id="5" name="">
            <a:extLst xmlns:a="http://schemas.openxmlformats.org/drawingml/2006/main">
              <a:ext uri="{FF2B5EF4-FFF2-40B4-BE49-F238E27FC236}">
                <a16:creationId xmlns:a16="http://schemas.microsoft.com/office/drawing/2014/main" id="{16B2E67E-F84D-466F-9F21-B5EE7849F024}"/>
              </a:ext>
            </a:extLst>
          </p:cNvPr>
          <p:cNvSpPr>
            <a:spLocks xmlns:a="http://schemas.openxmlformats.org/drawingml/2006/main" noGrp="1"/>
          </p:cNvSpPr>
          <p:nvPr/>
        </p:nvSpPr>
        <p:spPr>
          <a:xfrm xmlns:a="http://schemas.openxmlformats.org/drawingml/2006/main">
            <a:off x="8763000" y="175260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C9973A"/>
                </a:solidFill>
                <a:latin typeface="Arial"/>
                <a:ea typeface="Arial"/>
                <a:cs typeface="Arial"/>
              </a:defRPr>
            </a:defPPr>
            <a:lvl1pPr>
              <a:defRPr sz="2550" b="1">
                <a:solidFill>
                  <a:srgbClr val="C9973A"/>
                </a:solidFill>
                <a:latin typeface="Arial"/>
                <a:ea typeface="Arial"/>
                <a:cs typeface="Arial"/>
              </a:defRPr>
            </a:lvl1pPr>
            <a:lvl2pPr>
              <a:defRPr sz="2550" b="1">
                <a:solidFill>
                  <a:srgbClr val="C9973A"/>
                </a:solidFill>
                <a:latin typeface="Arial"/>
                <a:ea typeface="Arial"/>
                <a:cs typeface="Arial"/>
              </a:defRPr>
            </a:lvl2pPr>
            <a:lvl3pPr>
              <a:defRPr sz="2550" b="1">
                <a:solidFill>
                  <a:srgbClr val="C9973A"/>
                </a:solidFill>
                <a:latin typeface="Arial"/>
                <a:ea typeface="Arial"/>
                <a:cs typeface="Arial"/>
              </a:defRPr>
            </a:lvl3pPr>
            <a:lvl4pPr>
              <a:defRPr sz="2550" b="1">
                <a:solidFill>
                  <a:srgbClr val="C9973A"/>
                </a:solidFill>
                <a:latin typeface="Arial"/>
                <a:ea typeface="Arial"/>
                <a:cs typeface="Arial"/>
              </a:defRPr>
            </a:lvl4pPr>
            <a:lvl5pPr>
              <a:defRPr sz="2550" b="1">
                <a:solidFill>
                  <a:srgbClr val="C9973A"/>
                </a:solidFill>
                <a:latin typeface="Arial"/>
                <a:ea typeface="Arial"/>
                <a:cs typeface="Arial"/>
              </a:defRPr>
            </a:lvl5pPr>
            <a:lvl6pPr>
              <a:defRPr sz="2550" b="1">
                <a:solidFill>
                  <a:srgbClr val="C9973A"/>
                </a:solidFill>
                <a:latin typeface="Arial"/>
                <a:ea typeface="Arial"/>
                <a:cs typeface="Arial"/>
              </a:defRPr>
            </a:lvl6pPr>
            <a:lvl7pPr>
              <a:defRPr sz="2550" b="1">
                <a:solidFill>
                  <a:srgbClr val="C9973A"/>
                </a:solidFill>
                <a:latin typeface="Arial"/>
                <a:ea typeface="Arial"/>
                <a:cs typeface="Arial"/>
              </a:defRPr>
            </a:lvl7pPr>
            <a:lvl8pPr>
              <a:defRPr sz="2550" b="1">
                <a:solidFill>
                  <a:srgbClr val="C9973A"/>
                </a:solidFill>
                <a:latin typeface="Arial"/>
                <a:ea typeface="Arial"/>
                <a:cs typeface="Arial"/>
              </a:defRPr>
            </a:lvl8pPr>
            <a:lvl9pPr>
              <a:defRPr sz="2550" b="1">
                <a:solidFill>
                  <a:srgbClr val="C9973A"/>
                </a:solidFill>
                <a:latin typeface="Arial"/>
                <a:ea typeface="Arial"/>
                <a:cs typeface="Arial"/>
              </a:defRPr>
            </a:lvl9pPr>
          </a:lstStyle>
          <a:p xmlns:a="http://schemas.openxmlformats.org/drawingml/2006/main">
            <a:pPr>
              <a:defRPr sz="2550" b="1">
                <a:solidFill>
                  <a:srgbClr val="C9973A"/>
                </a:solidFill>
                <a:latin typeface="Arial"/>
                <a:ea typeface="Arial"/>
                <a:cs typeface="Arial"/>
              </a:defRPr>
            </a:pPr>
            <a:r>
              <a:rPr sz="2550" b="1">
                <a:solidFill>
                  <a:srgbClr val="C9973A"/>
                </a:solidFill>
                <a:latin typeface="Arial"/>
                <a:ea typeface="Arial"/>
                <a:cs typeface="Arial"/>
              </a:rPr>
              <a:t>2.97%</a:t>
            </a:r>
          </a:p>
        </p:txBody>
      </p:sp>
      <p:sp>
        <p:nvSpPr>
          <p:cNvPr id="6" name="">
            <a:extLst xmlns:a="http://schemas.openxmlformats.org/drawingml/2006/main">
              <a:ext uri="{FF2B5EF4-FFF2-40B4-BE49-F238E27FC236}">
                <a16:creationId xmlns:a16="http://schemas.microsoft.com/office/drawing/2014/main" id="{BD28B998-C07E-41D8-B69A-926FD36F3D78}"/>
              </a:ext>
            </a:extLst>
          </p:cNvPr>
          <p:cNvSpPr>
            <a:spLocks xmlns:a="http://schemas.openxmlformats.org/drawingml/2006/main" noGrp="1"/>
          </p:cNvSpPr>
          <p:nvPr/>
        </p:nvSpPr>
        <p:spPr>
          <a:xfrm xmlns:a="http://schemas.openxmlformats.org/drawingml/2006/main">
            <a:off x="8763000" y="2257425"/>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Base: 99%, 500 days</a:t>
            </a:r>
          </a:p>
        </p:txBody>
      </p:sp>
      <p:sp>
        <p:nvSpPr>
          <p:cNvPr id="7" name="">
            <a:extLst xmlns:a="http://schemas.openxmlformats.org/drawingml/2006/main">
              <a:ext uri="{FF2B5EF4-FFF2-40B4-BE49-F238E27FC236}">
                <a16:creationId xmlns:a16="http://schemas.microsoft.com/office/drawing/2014/main" id="{908965B9-E644-43F0-BB0B-FCAB7541DED9}"/>
              </a:ext>
            </a:extLst>
          </p:cNvPr>
          <p:cNvSpPr>
            <a:spLocks xmlns:a="http://schemas.openxmlformats.org/drawingml/2006/main" noGrp="1"/>
          </p:cNvSpPr>
          <p:nvPr/>
        </p:nvSpPr>
        <p:spPr>
          <a:xfrm xmlns:a="http://schemas.openxmlformats.org/drawingml/2006/main">
            <a:off x="8763000" y="300990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B84A3A"/>
                </a:solidFill>
                <a:latin typeface="Arial"/>
                <a:ea typeface="Arial"/>
                <a:cs typeface="Arial"/>
              </a:defRPr>
            </a:defPPr>
            <a:lvl1pPr>
              <a:defRPr sz="2550" b="1">
                <a:solidFill>
                  <a:srgbClr val="B84A3A"/>
                </a:solidFill>
                <a:latin typeface="Arial"/>
                <a:ea typeface="Arial"/>
                <a:cs typeface="Arial"/>
              </a:defRPr>
            </a:lvl1pPr>
            <a:lvl2pPr>
              <a:defRPr sz="2550" b="1">
                <a:solidFill>
                  <a:srgbClr val="B84A3A"/>
                </a:solidFill>
                <a:latin typeface="Arial"/>
                <a:ea typeface="Arial"/>
                <a:cs typeface="Arial"/>
              </a:defRPr>
            </a:lvl2pPr>
            <a:lvl3pPr>
              <a:defRPr sz="2550" b="1">
                <a:solidFill>
                  <a:srgbClr val="B84A3A"/>
                </a:solidFill>
                <a:latin typeface="Arial"/>
                <a:ea typeface="Arial"/>
                <a:cs typeface="Arial"/>
              </a:defRPr>
            </a:lvl3pPr>
            <a:lvl4pPr>
              <a:defRPr sz="2550" b="1">
                <a:solidFill>
                  <a:srgbClr val="B84A3A"/>
                </a:solidFill>
                <a:latin typeface="Arial"/>
                <a:ea typeface="Arial"/>
                <a:cs typeface="Arial"/>
              </a:defRPr>
            </a:lvl4pPr>
            <a:lvl5pPr>
              <a:defRPr sz="2550" b="1">
                <a:solidFill>
                  <a:srgbClr val="B84A3A"/>
                </a:solidFill>
                <a:latin typeface="Arial"/>
                <a:ea typeface="Arial"/>
                <a:cs typeface="Arial"/>
              </a:defRPr>
            </a:lvl5pPr>
            <a:lvl6pPr>
              <a:defRPr sz="2550" b="1">
                <a:solidFill>
                  <a:srgbClr val="B84A3A"/>
                </a:solidFill>
                <a:latin typeface="Arial"/>
                <a:ea typeface="Arial"/>
                <a:cs typeface="Arial"/>
              </a:defRPr>
            </a:lvl6pPr>
            <a:lvl7pPr>
              <a:defRPr sz="2550" b="1">
                <a:solidFill>
                  <a:srgbClr val="B84A3A"/>
                </a:solidFill>
                <a:latin typeface="Arial"/>
                <a:ea typeface="Arial"/>
                <a:cs typeface="Arial"/>
              </a:defRPr>
            </a:lvl7pPr>
            <a:lvl8pPr>
              <a:defRPr sz="2550" b="1">
                <a:solidFill>
                  <a:srgbClr val="B84A3A"/>
                </a:solidFill>
                <a:latin typeface="Arial"/>
                <a:ea typeface="Arial"/>
                <a:cs typeface="Arial"/>
              </a:defRPr>
            </a:lvl8pPr>
            <a:lvl9pPr>
              <a:defRPr sz="2550" b="1">
                <a:solidFill>
                  <a:srgbClr val="B84A3A"/>
                </a:solidFill>
                <a:latin typeface="Arial"/>
                <a:ea typeface="Arial"/>
                <a:cs typeface="Arial"/>
              </a:defRPr>
            </a:lvl9pPr>
          </a:lstStyle>
          <a:p xmlns:a="http://schemas.openxmlformats.org/drawingml/2006/main">
            <a:pPr>
              <a:defRPr sz="2550" b="1">
                <a:solidFill>
                  <a:srgbClr val="B84A3A"/>
                </a:solidFill>
                <a:latin typeface="Arial"/>
                <a:ea typeface="Arial"/>
                <a:cs typeface="Arial"/>
              </a:defRPr>
            </a:pPr>
            <a:r>
              <a:rPr sz="2550" b="1">
                <a:solidFill>
                  <a:srgbClr val="B84A3A"/>
                </a:solidFill>
                <a:latin typeface="Arial"/>
                <a:ea typeface="Arial"/>
                <a:cs typeface="Arial"/>
              </a:rPr>
              <a:t>1.34–3.34%</a:t>
            </a:r>
          </a:p>
        </p:txBody>
      </p:sp>
      <p:sp>
        <p:nvSpPr>
          <p:cNvPr id="8" name="">
            <a:extLst xmlns:a="http://schemas.openxmlformats.org/drawingml/2006/main">
              <a:ext uri="{FF2B5EF4-FFF2-40B4-BE49-F238E27FC236}">
                <a16:creationId xmlns:a16="http://schemas.microsoft.com/office/drawing/2014/main" id="{E300D4C1-6553-4828-879B-15E3E16A9D54}"/>
              </a:ext>
            </a:extLst>
          </p:cNvPr>
          <p:cNvSpPr>
            <a:spLocks xmlns:a="http://schemas.openxmlformats.org/drawingml/2006/main" noGrp="1"/>
          </p:cNvSpPr>
          <p:nvPr/>
        </p:nvSpPr>
        <p:spPr>
          <a:xfrm xmlns:a="http://schemas.openxmlformats.org/drawingml/2006/main">
            <a:off x="8763000" y="3514725"/>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Range across all choices</a:t>
            </a:r>
          </a:p>
        </p:txBody>
      </p:sp>
      <p:sp>
        <p:nvSpPr>
          <p:cNvPr id="9" name="">
            <a:extLst xmlns:a="http://schemas.openxmlformats.org/drawingml/2006/main">
              <a:ext uri="{FF2B5EF4-FFF2-40B4-BE49-F238E27FC236}">
                <a16:creationId xmlns:a16="http://schemas.microsoft.com/office/drawing/2014/main" id="{ECA13351-F9C8-454B-805E-D10F687FAAEB}"/>
              </a:ext>
            </a:extLst>
          </p:cNvPr>
          <p:cNvSpPr>
            <a:spLocks xmlns:a="http://schemas.openxmlformats.org/drawingml/2006/main" noGrp="1"/>
          </p:cNvSpPr>
          <p:nvPr/>
        </p:nvSpPr>
        <p:spPr>
          <a:xfrm xmlns:a="http://schemas.openxmlformats.org/drawingml/2006/main">
            <a:off x="8572500" y="4419600"/>
            <a:ext cx="2800350" cy="1314450"/>
          </a:xfrm>
          <a:prstGeom xmlns:a="http://schemas.openxmlformats.org/drawingml/2006/main" prst="roundRect">
            <a:avLst>
              <a:gd name="adj" fmla="val 5797"/>
            </a:avLst>
          </a:prstGeom>
          <a:solidFill xmlns:a="http://schemas.openxmlformats.org/drawingml/2006/main">
            <a:srgbClr val="DDE9E4"/>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097B0F5-190B-4371-9461-7D8626B0C39C}"/>
              </a:ext>
            </a:extLst>
          </p:cNvPr>
          <p:cNvSpPr>
            <a:spLocks xmlns:a="http://schemas.openxmlformats.org/drawingml/2006/main" noGrp="1"/>
          </p:cNvSpPr>
          <p:nvPr/>
        </p:nvSpPr>
        <p:spPr>
          <a:xfrm xmlns:a="http://schemas.openxmlformats.org/drawingml/2006/main">
            <a:off x="8572500" y="4419600"/>
            <a:ext cx="66675" cy="1314450"/>
          </a:xfrm>
          <a:prstGeom xmlns:a="http://schemas.openxmlformats.org/drawingml/2006/main" prst="rect">
            <a:avLst/>
          </a:prstGeom>
          <a:solidFill xmlns:a="http://schemas.openxmlformats.org/drawingml/2006/main">
            <a:srgbClr val="174C4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0D1C864-2845-4703-B12F-A8A4F58E0DCC}"/>
              </a:ext>
            </a:extLst>
          </p:cNvPr>
          <p:cNvSpPr>
            <a:spLocks xmlns:a="http://schemas.openxmlformats.org/drawingml/2006/main" noGrp="1"/>
          </p:cNvSpPr>
          <p:nvPr/>
        </p:nvSpPr>
        <p:spPr>
          <a:xfrm xmlns:a="http://schemas.openxmlformats.org/drawingml/2006/main">
            <a:off x="8801100" y="4562475"/>
            <a:ext cx="2419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174C4F"/>
                </a:solidFill>
                <a:latin typeface="Arial"/>
                <a:ea typeface="Arial"/>
                <a:cs typeface="Arial"/>
              </a:defRPr>
            </a:defPPr>
            <a:lvl1pPr>
              <a:defRPr sz="1425" b="1">
                <a:solidFill>
                  <a:srgbClr val="174C4F"/>
                </a:solidFill>
                <a:latin typeface="Arial"/>
                <a:ea typeface="Arial"/>
                <a:cs typeface="Arial"/>
              </a:defRPr>
            </a:lvl1pPr>
            <a:lvl2pPr>
              <a:defRPr sz="1425" b="1">
                <a:solidFill>
                  <a:srgbClr val="174C4F"/>
                </a:solidFill>
                <a:latin typeface="Arial"/>
                <a:ea typeface="Arial"/>
                <a:cs typeface="Arial"/>
              </a:defRPr>
            </a:lvl2pPr>
            <a:lvl3pPr>
              <a:defRPr sz="1425" b="1">
                <a:solidFill>
                  <a:srgbClr val="174C4F"/>
                </a:solidFill>
                <a:latin typeface="Arial"/>
                <a:ea typeface="Arial"/>
                <a:cs typeface="Arial"/>
              </a:defRPr>
            </a:lvl3pPr>
            <a:lvl4pPr>
              <a:defRPr sz="1425" b="1">
                <a:solidFill>
                  <a:srgbClr val="174C4F"/>
                </a:solidFill>
                <a:latin typeface="Arial"/>
                <a:ea typeface="Arial"/>
                <a:cs typeface="Arial"/>
              </a:defRPr>
            </a:lvl4pPr>
            <a:lvl5pPr>
              <a:defRPr sz="1425" b="1">
                <a:solidFill>
                  <a:srgbClr val="174C4F"/>
                </a:solidFill>
                <a:latin typeface="Arial"/>
                <a:ea typeface="Arial"/>
                <a:cs typeface="Arial"/>
              </a:defRPr>
            </a:lvl5pPr>
            <a:lvl6pPr>
              <a:defRPr sz="1425" b="1">
                <a:solidFill>
                  <a:srgbClr val="174C4F"/>
                </a:solidFill>
                <a:latin typeface="Arial"/>
                <a:ea typeface="Arial"/>
                <a:cs typeface="Arial"/>
              </a:defRPr>
            </a:lvl6pPr>
            <a:lvl7pPr>
              <a:defRPr sz="1425" b="1">
                <a:solidFill>
                  <a:srgbClr val="174C4F"/>
                </a:solidFill>
                <a:latin typeface="Arial"/>
                <a:ea typeface="Arial"/>
                <a:cs typeface="Arial"/>
              </a:defRPr>
            </a:lvl7pPr>
            <a:lvl8pPr>
              <a:defRPr sz="1425" b="1">
                <a:solidFill>
                  <a:srgbClr val="174C4F"/>
                </a:solidFill>
                <a:latin typeface="Arial"/>
                <a:ea typeface="Arial"/>
                <a:cs typeface="Arial"/>
              </a:defRPr>
            </a:lvl8pPr>
            <a:lvl9pPr>
              <a:defRPr sz="1425" b="1">
                <a:solidFill>
                  <a:srgbClr val="174C4F"/>
                </a:solidFill>
                <a:latin typeface="Arial"/>
                <a:ea typeface="Arial"/>
                <a:cs typeface="Arial"/>
              </a:defRPr>
            </a:lvl9pPr>
          </a:lstStyle>
          <a:p xmlns:a="http://schemas.openxmlformats.org/drawingml/2006/main">
            <a:pPr>
              <a:defRPr sz="1425" b="1">
                <a:solidFill>
                  <a:srgbClr val="174C4F"/>
                </a:solidFill>
                <a:latin typeface="Arial"/>
                <a:ea typeface="Arial"/>
                <a:cs typeface="Arial"/>
              </a:defRPr>
            </a:pPr>
            <a:r>
              <a:rPr sz="1425" b="1">
                <a:solidFill>
                  <a:srgbClr val="174C4F"/>
                </a:solidFill>
                <a:latin typeface="Arial"/>
                <a:ea typeface="Arial"/>
                <a:cs typeface="Arial"/>
              </a:rPr>
              <a:t>Policy wording</a:t>
            </a:r>
          </a:p>
        </p:txBody>
      </p:sp>
      <p:sp>
        <p:nvSpPr>
          <p:cNvPr id="12" name="">
            <a:extLst xmlns:a="http://schemas.openxmlformats.org/drawingml/2006/main">
              <a:ext uri="{FF2B5EF4-FFF2-40B4-BE49-F238E27FC236}">
                <a16:creationId xmlns:a16="http://schemas.microsoft.com/office/drawing/2014/main" id="{C52CF7AA-476E-422B-A1F1-7D55C26D7E7E}"/>
              </a:ext>
            </a:extLst>
          </p:cNvPr>
          <p:cNvSpPr>
            <a:spLocks xmlns:a="http://schemas.openxmlformats.org/drawingml/2006/main" noGrp="1"/>
          </p:cNvSpPr>
          <p:nvPr/>
        </p:nvSpPr>
        <p:spPr>
          <a:xfrm xmlns:a="http://schemas.openxmlformats.org/drawingml/2006/main">
            <a:off x="8801100" y="4867275"/>
            <a:ext cx="241935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A limit must name the model, confidence level, horizon and window. “VaR” alone is not a complete specification.</a:t>
            </a:r>
          </a:p>
        </p:txBody>
      </p:sp>
      <p:sp>
        <p:nvSpPr>
          <p:cNvPr id="13" name="">
            <a:extLst xmlns:a="http://schemas.openxmlformats.org/drawingml/2006/main">
              <a:ext uri="{FF2B5EF4-FFF2-40B4-BE49-F238E27FC236}">
                <a16:creationId xmlns:a16="http://schemas.microsoft.com/office/drawing/2014/main" id="{F792A33A-303B-464D-83F7-7B1E3649688C}"/>
              </a:ext>
            </a:extLst>
          </p:cNvPr>
          <p:cNvSpPr>
            <a:spLocks xmlns:a="http://schemas.openxmlformats.org/drawingml/2006/main" noGrp="1"/>
          </p:cNvSpPr>
          <p:nvPr/>
        </p:nvSpPr>
        <p:spPr>
          <a:xfrm xmlns:a="http://schemas.openxmlformats.org/drawingml/2006/main">
            <a:off x="609600" y="6362700"/>
            <a:ext cx="109728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3E6E54-CDC2-447B-BCB2-C79D3380D42B}"/>
              </a:ext>
            </a:extLst>
          </p:cNvPr>
          <p:cNvSpPr>
            <a:spLocks xmlns:a="http://schemas.openxmlformats.org/drawingml/2006/main" noGrp="1"/>
          </p:cNvSpPr>
          <p:nvPr/>
        </p:nvSpPr>
        <p:spPr>
          <a:xfrm xmlns:a="http://schemas.openxmlformats.org/drawingml/2006/main">
            <a:off x="609600" y="6429375"/>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75">
                <a:solidFill>
                  <a:srgbClr val="5E6865"/>
                </a:solidFill>
                <a:latin typeface="Arial"/>
                <a:ea typeface="Arial"/>
                <a:cs typeface="Arial"/>
              </a:defRPr>
            </a:defPPr>
            <a:lvl1pPr>
              <a:defRPr sz="675">
                <a:solidFill>
                  <a:srgbClr val="5E6865"/>
                </a:solidFill>
                <a:latin typeface="Arial"/>
                <a:ea typeface="Arial"/>
                <a:cs typeface="Arial"/>
              </a:defRPr>
            </a:lvl1pPr>
            <a:lvl2pPr>
              <a:defRPr sz="675">
                <a:solidFill>
                  <a:srgbClr val="5E6865"/>
                </a:solidFill>
                <a:latin typeface="Arial"/>
                <a:ea typeface="Arial"/>
                <a:cs typeface="Arial"/>
              </a:defRPr>
            </a:lvl2pPr>
            <a:lvl3pPr>
              <a:defRPr sz="675">
                <a:solidFill>
                  <a:srgbClr val="5E6865"/>
                </a:solidFill>
                <a:latin typeface="Arial"/>
                <a:ea typeface="Arial"/>
                <a:cs typeface="Arial"/>
              </a:defRPr>
            </a:lvl3pPr>
            <a:lvl4pPr>
              <a:defRPr sz="675">
                <a:solidFill>
                  <a:srgbClr val="5E6865"/>
                </a:solidFill>
                <a:latin typeface="Arial"/>
                <a:ea typeface="Arial"/>
                <a:cs typeface="Arial"/>
              </a:defRPr>
            </a:lvl4pPr>
            <a:lvl5pPr>
              <a:defRPr sz="675">
                <a:solidFill>
                  <a:srgbClr val="5E6865"/>
                </a:solidFill>
                <a:latin typeface="Arial"/>
                <a:ea typeface="Arial"/>
                <a:cs typeface="Arial"/>
              </a:defRPr>
            </a:lvl5pPr>
            <a:lvl6pPr>
              <a:defRPr sz="675">
                <a:solidFill>
                  <a:srgbClr val="5E6865"/>
                </a:solidFill>
                <a:latin typeface="Arial"/>
                <a:ea typeface="Arial"/>
                <a:cs typeface="Arial"/>
              </a:defRPr>
            </a:lvl6pPr>
            <a:lvl7pPr>
              <a:defRPr sz="675">
                <a:solidFill>
                  <a:srgbClr val="5E6865"/>
                </a:solidFill>
                <a:latin typeface="Arial"/>
                <a:ea typeface="Arial"/>
                <a:cs typeface="Arial"/>
              </a:defRPr>
            </a:lvl7pPr>
            <a:lvl8pPr>
              <a:defRPr sz="675">
                <a:solidFill>
                  <a:srgbClr val="5E6865"/>
                </a:solidFill>
                <a:latin typeface="Arial"/>
                <a:ea typeface="Arial"/>
                <a:cs typeface="Arial"/>
              </a:defRPr>
            </a:lvl8pPr>
            <a:lvl9pPr>
              <a:defRPr sz="675">
                <a:solidFill>
                  <a:srgbClr val="5E6865"/>
                </a:solidFill>
                <a:latin typeface="Arial"/>
                <a:ea typeface="Arial"/>
                <a:cs typeface="Arial"/>
              </a:defRPr>
            </a:lvl9pPr>
          </a:lstStyle>
          <a:p xmlns:a="http://schemas.openxmlformats.org/drawingml/2006/main">
            <a:pPr>
              <a:defRPr sz="675">
                <a:solidFill>
                  <a:srgbClr val="5E6865"/>
                </a:solidFill>
                <a:latin typeface="Arial"/>
                <a:ea typeface="Arial"/>
                <a:cs typeface="Arial"/>
              </a:defRPr>
            </a:pPr>
            <a:r>
              <a:rPr sz="675">
                <a:solidFill>
                  <a:srgbClr val="5E6865"/>
                </a:solidFill>
                <a:latin typeface="Arial"/>
                <a:ea typeface="Arial"/>
                <a:cs typeface="Arial"/>
              </a:rPr>
              <a:t>Source: QFI_V2_report.docx; Advanced Equity Portfolio Risk Management brief; report_assets/results.json and presentation_backtest.json, as of 16 October 2026.</a:t>
            </a:r>
          </a:p>
        </p:txBody>
      </p:sp>
      <p:sp>
        <p:nvSpPr>
          <p:cNvPr id="15" name="">
            <a:extLst xmlns:a="http://schemas.openxmlformats.org/drawingml/2006/main">
              <a:ext uri="{FF2B5EF4-FFF2-40B4-BE49-F238E27FC236}">
                <a16:creationId xmlns:a16="http://schemas.microsoft.com/office/drawing/2014/main" id="{E360B728-4C0A-46D2-8DA5-A776A65CB909}"/>
              </a:ext>
            </a:extLst>
          </p:cNvPr>
          <p:cNvSpPr>
            <a:spLocks xmlns:a="http://schemas.openxmlformats.org/drawingml/2006/main" noGrp="1"/>
          </p:cNvSpPr>
          <p:nvPr/>
        </p:nvSpPr>
        <p:spPr>
          <a:xfrm xmlns:a="http://schemas.openxmlformats.org/drawingml/2006/main">
            <a:off x="10839450" y="64008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174C4F"/>
                </a:solidFill>
                <a:latin typeface="Arial"/>
                <a:ea typeface="Arial"/>
                <a:cs typeface="Arial"/>
              </a:defRPr>
            </a:defPPr>
            <a:lvl1pPr algn="r">
              <a:defRPr sz="825" b="1">
                <a:solidFill>
                  <a:srgbClr val="174C4F"/>
                </a:solidFill>
                <a:latin typeface="Arial"/>
                <a:ea typeface="Arial"/>
                <a:cs typeface="Arial"/>
              </a:defRPr>
            </a:lvl1pPr>
            <a:lvl2pPr algn="r">
              <a:defRPr sz="825" b="1">
                <a:solidFill>
                  <a:srgbClr val="174C4F"/>
                </a:solidFill>
                <a:latin typeface="Arial"/>
                <a:ea typeface="Arial"/>
                <a:cs typeface="Arial"/>
              </a:defRPr>
            </a:lvl2pPr>
            <a:lvl3pPr algn="r">
              <a:defRPr sz="825" b="1">
                <a:solidFill>
                  <a:srgbClr val="174C4F"/>
                </a:solidFill>
                <a:latin typeface="Arial"/>
                <a:ea typeface="Arial"/>
                <a:cs typeface="Arial"/>
              </a:defRPr>
            </a:lvl3pPr>
            <a:lvl4pPr algn="r">
              <a:defRPr sz="825" b="1">
                <a:solidFill>
                  <a:srgbClr val="174C4F"/>
                </a:solidFill>
                <a:latin typeface="Arial"/>
                <a:ea typeface="Arial"/>
                <a:cs typeface="Arial"/>
              </a:defRPr>
            </a:lvl4pPr>
            <a:lvl5pPr algn="r">
              <a:defRPr sz="825" b="1">
                <a:solidFill>
                  <a:srgbClr val="174C4F"/>
                </a:solidFill>
                <a:latin typeface="Arial"/>
                <a:ea typeface="Arial"/>
                <a:cs typeface="Arial"/>
              </a:defRPr>
            </a:lvl5pPr>
            <a:lvl6pPr algn="r">
              <a:defRPr sz="825" b="1">
                <a:solidFill>
                  <a:srgbClr val="174C4F"/>
                </a:solidFill>
                <a:latin typeface="Arial"/>
                <a:ea typeface="Arial"/>
                <a:cs typeface="Arial"/>
              </a:defRPr>
            </a:lvl6pPr>
            <a:lvl7pPr algn="r">
              <a:defRPr sz="825" b="1">
                <a:solidFill>
                  <a:srgbClr val="174C4F"/>
                </a:solidFill>
                <a:latin typeface="Arial"/>
                <a:ea typeface="Arial"/>
                <a:cs typeface="Arial"/>
              </a:defRPr>
            </a:lvl7pPr>
            <a:lvl8pPr algn="r">
              <a:defRPr sz="825" b="1">
                <a:solidFill>
                  <a:srgbClr val="174C4F"/>
                </a:solidFill>
                <a:latin typeface="Arial"/>
                <a:ea typeface="Arial"/>
                <a:cs typeface="Arial"/>
              </a:defRPr>
            </a:lvl8pPr>
            <a:lvl9pPr algn="r">
              <a:defRPr sz="825" b="1">
                <a:solidFill>
                  <a:srgbClr val="174C4F"/>
                </a:solidFill>
                <a:latin typeface="Arial"/>
                <a:ea typeface="Arial"/>
                <a:cs typeface="Arial"/>
              </a:defRPr>
            </a:lvl9pPr>
          </a:lstStyle>
          <a:p xmlns:a="http://schemas.openxmlformats.org/drawingml/2006/main">
            <a:pPr algn="r">
              <a:defRPr sz="825" b="1">
                <a:solidFill>
                  <a:srgbClr val="174C4F"/>
                </a:solidFill>
                <a:latin typeface="Arial"/>
                <a:ea typeface="Arial"/>
                <a:cs typeface="Arial"/>
              </a:defRPr>
            </a:pPr>
            <a:r>
              <a:rPr sz="825" b="1">
                <a:solidFill>
                  <a:srgbClr val="174C4F"/>
                </a:solidFill>
                <a:latin typeface="Arial"/>
                <a:ea typeface="Arial"/>
                <a:cs typeface="Arial"/>
              </a:rPr>
              <a:t>07</a:t>
            </a:r>
          </a:p>
        </p:txBody>
      </p:sp>
    </p:spTree>
    <p:extLst>
      <p:ext uri="{BB962C8B-B14F-4D97-AF65-F5344CB8AC3E}">
        <p14:creationId xmlns:p14="http://schemas.microsoft.com/office/powerpoint/2010/main" val="829629278"/>
      </p:ext>
    </p:extLst>
  </p:cSld>
</p:sld>
</file>

<file path=ppt/slides/slide8.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234BEF9-D117-4B38-A684-C0526FC8FEBA}"/>
              </a:ext>
            </a:extLst>
          </p:cNvPr>
          <p:cNvSpPr>
            <a:spLocks xmlns:a="http://schemas.openxmlformats.org/drawingml/2006/main" noGrp="1"/>
          </p:cNvSpPr>
          <p:nvPr/>
        </p:nvSpPr>
        <p:spPr>
          <a:xfrm xmlns:a="http://schemas.openxmlformats.org/drawingml/2006/main">
            <a:off x="609600" y="4000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B2928"/>
                </a:solidFill>
                <a:latin typeface="Arial"/>
                <a:ea typeface="Arial"/>
                <a:cs typeface="Arial"/>
              </a:defRPr>
            </a:defPPr>
            <a:lvl1pPr>
              <a:defRPr sz="2550" b="1">
                <a:solidFill>
                  <a:srgbClr val="1B2928"/>
                </a:solidFill>
                <a:latin typeface="Arial"/>
                <a:ea typeface="Arial"/>
                <a:cs typeface="Arial"/>
              </a:defRPr>
            </a:lvl1pPr>
            <a:lvl2pPr>
              <a:defRPr sz="2550" b="1">
                <a:solidFill>
                  <a:srgbClr val="1B2928"/>
                </a:solidFill>
                <a:latin typeface="Arial"/>
                <a:ea typeface="Arial"/>
                <a:cs typeface="Arial"/>
              </a:defRPr>
            </a:lvl2pPr>
            <a:lvl3pPr>
              <a:defRPr sz="2550" b="1">
                <a:solidFill>
                  <a:srgbClr val="1B2928"/>
                </a:solidFill>
                <a:latin typeface="Arial"/>
                <a:ea typeface="Arial"/>
                <a:cs typeface="Arial"/>
              </a:defRPr>
            </a:lvl3pPr>
            <a:lvl4pPr>
              <a:defRPr sz="2550" b="1">
                <a:solidFill>
                  <a:srgbClr val="1B2928"/>
                </a:solidFill>
                <a:latin typeface="Arial"/>
                <a:ea typeface="Arial"/>
                <a:cs typeface="Arial"/>
              </a:defRPr>
            </a:lvl4pPr>
            <a:lvl5pPr>
              <a:defRPr sz="2550" b="1">
                <a:solidFill>
                  <a:srgbClr val="1B2928"/>
                </a:solidFill>
                <a:latin typeface="Arial"/>
                <a:ea typeface="Arial"/>
                <a:cs typeface="Arial"/>
              </a:defRPr>
            </a:lvl5pPr>
            <a:lvl6pPr>
              <a:defRPr sz="2550" b="1">
                <a:solidFill>
                  <a:srgbClr val="1B2928"/>
                </a:solidFill>
                <a:latin typeface="Arial"/>
                <a:ea typeface="Arial"/>
                <a:cs typeface="Arial"/>
              </a:defRPr>
            </a:lvl6pPr>
            <a:lvl7pPr>
              <a:defRPr sz="2550" b="1">
                <a:solidFill>
                  <a:srgbClr val="1B2928"/>
                </a:solidFill>
                <a:latin typeface="Arial"/>
                <a:ea typeface="Arial"/>
                <a:cs typeface="Arial"/>
              </a:defRPr>
            </a:lvl7pPr>
            <a:lvl8pPr>
              <a:defRPr sz="2550" b="1">
                <a:solidFill>
                  <a:srgbClr val="1B2928"/>
                </a:solidFill>
                <a:latin typeface="Arial"/>
                <a:ea typeface="Arial"/>
                <a:cs typeface="Arial"/>
              </a:defRPr>
            </a:lvl8pPr>
            <a:lvl9pPr>
              <a:defRPr sz="2550" b="1">
                <a:solidFill>
                  <a:srgbClr val="1B2928"/>
                </a:solidFill>
                <a:latin typeface="Arial"/>
                <a:ea typeface="Arial"/>
                <a:cs typeface="Arial"/>
              </a:defRPr>
            </a:lvl9pPr>
          </a:lstStyle>
          <a:p xmlns:a="http://schemas.openxmlformats.org/drawingml/2006/main">
            <a:pPr>
              <a:defRPr sz="2550" b="1">
                <a:solidFill>
                  <a:srgbClr val="1B2928"/>
                </a:solidFill>
                <a:latin typeface="Arial"/>
                <a:ea typeface="Arial"/>
                <a:cs typeface="Arial"/>
              </a:defRPr>
            </a:pPr>
            <a:r>
              <a:rPr sz="2550" b="1">
                <a:solidFill>
                  <a:srgbClr val="1B2928"/>
                </a:solidFill>
                <a:latin typeface="Arial"/>
                <a:ea typeface="Arial"/>
                <a:cs typeface="Arial"/>
              </a:rPr>
              <a:t>The VaR forecast adapts, but exceptional losses still break through</a:t>
            </a:r>
          </a:p>
        </p:txBody>
      </p:sp>
      <p:sp>
        <p:nvSpPr>
          <p:cNvPr id="2" name="">
            <a:extLst xmlns:a="http://schemas.openxmlformats.org/drawingml/2006/main">
              <a:ext uri="{FF2B5EF4-FFF2-40B4-BE49-F238E27FC236}">
                <a16:creationId xmlns:a16="http://schemas.microsoft.com/office/drawing/2014/main" id="{4A68071D-C28B-458C-A83B-3BECA3F829CC}"/>
              </a:ext>
            </a:extLst>
          </p:cNvPr>
          <p:cNvSpPr>
            <a:spLocks xmlns:a="http://schemas.openxmlformats.org/drawingml/2006/main" noGrp="1"/>
          </p:cNvSpPr>
          <p:nvPr/>
        </p:nvSpPr>
        <p:spPr>
          <a:xfrm xmlns:a="http://schemas.openxmlformats.org/drawingml/2006/main">
            <a:off x="609600" y="981075"/>
            <a:ext cx="685800" cy="47625"/>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7FC29FB-3572-40F9-98CD-A4F4F214B45B}"/>
              </a:ext>
            </a:extLst>
          </p:cNvPr>
          <p:cNvSpPr>
            <a:spLocks xmlns:a="http://schemas.openxmlformats.org/drawingml/2006/main" noGrp="1"/>
          </p:cNvSpPr>
          <p:nvPr/>
        </p:nvSpPr>
        <p:spPr>
          <a:xfrm xmlns:a="http://schemas.openxmlformats.org/drawingml/2006/main">
            <a:off x="1466850" y="866775"/>
            <a:ext cx="962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Recent 750 trading days shown; formal tests use the full 3,114-day backtest</a:t>
            </a:r>
          </a:p>
        </p:txBody>
      </p:sp>
      <p:graphicFrame>
        <p:nvGraphicFramePr>
          <p:cNvPr id="4" name="Chart">
            <a:extLst xmlns:a="http://schemas.openxmlformats.org/drawingml/2006/main">
              <a:ext uri="{FF2B5EF4-FFF2-40B4-BE49-F238E27FC236}">
                <a16:creationId xmlns:a16="http://schemas.microsoft.com/office/drawing/2014/main" id="{179063F2-CBB6-411F-BF59-FC5494010258}"/>
              </a:ext>
            </a:extLst>
          </p:cNvPr>
          <p:cNvGraphicFramePr/>
          <p:nvPr/>
        </p:nvGraphicFramePr>
        <p:xfrm>
          <a:off xmlns:a="http://schemas.openxmlformats.org/drawingml/2006/main" x="552450" y="1352550"/>
          <a:ext xmlns:a="http://schemas.openxmlformats.org/drawingml/2006/main" cx="10991850" cy="4000500"/>
        </p:xfrm>
        <a:graphic xmlns:a="http://schemas.openxmlformats.org/drawingml/2006/main">
          <a:graphicData uri="http://schemas.openxmlformats.org/drawingml/2006/chart">
            <c:chart xmlns:r="http://schemas.openxmlformats.org/officeDocument/2006/relationships" xmlns:c="http://schemas.openxmlformats.org/drawingml/2006/chart" r:id="R9e99b8af4e2d477e"/>
          </a:graphicData>
        </a:graphic>
      </p:graphicFrame>
      <p:sp>
        <p:nvSpPr>
          <p:cNvPr id="5" name="">
            <a:extLst xmlns:a="http://schemas.openxmlformats.org/drawingml/2006/main">
              <a:ext uri="{FF2B5EF4-FFF2-40B4-BE49-F238E27FC236}">
                <a16:creationId xmlns:a16="http://schemas.microsoft.com/office/drawing/2014/main" id="{DA69D3B7-1011-42C3-9B08-68BA519A6AA0}"/>
              </a:ext>
            </a:extLst>
          </p:cNvPr>
          <p:cNvSpPr>
            <a:spLocks xmlns:a="http://schemas.openxmlformats.org/drawingml/2006/main" noGrp="1"/>
          </p:cNvSpPr>
          <p:nvPr/>
        </p:nvSpPr>
        <p:spPr>
          <a:xfrm xmlns:a="http://schemas.openxmlformats.org/drawingml/2006/main">
            <a:off x="2067217" y="3543163"/>
            <a:ext cx="76200" cy="76200"/>
          </a:xfrm>
          <a:prstGeom xmlns:a="http://schemas.openxmlformats.org/drawingml/2006/main" prst="ellipse">
            <a:avLst/>
          </a:prstGeom>
          <a:solidFill xmlns:a="http://schemas.openxmlformats.org/drawingml/2006/main">
            <a:srgbClr val="B84A3A"/>
          </a:solidFill>
          <a:ln xmlns:a="http://schemas.openxmlformats.org/drawingml/2006/main" w="9525">
            <a:solidFill>
              <a:srgbClr val="FFFEFB"/>
            </a:solidFill>
            <a:prstDash val="solid"/>
          </a:ln>
        </p:spPr>
      </p:sp>
      <p:sp>
        <p:nvSpPr>
          <p:cNvPr id="6" name="">
            <a:extLst xmlns:a="http://schemas.openxmlformats.org/drawingml/2006/main">
              <a:ext uri="{FF2B5EF4-FFF2-40B4-BE49-F238E27FC236}">
                <a16:creationId xmlns:a16="http://schemas.microsoft.com/office/drawing/2014/main" id="{2C6E440E-688C-4D5E-AD2E-EA704C3F8BC2}"/>
              </a:ext>
            </a:extLst>
          </p:cNvPr>
          <p:cNvSpPr>
            <a:spLocks xmlns:a="http://schemas.openxmlformats.org/drawingml/2006/main" noGrp="1"/>
          </p:cNvSpPr>
          <p:nvPr/>
        </p:nvSpPr>
        <p:spPr>
          <a:xfrm xmlns:a="http://schemas.openxmlformats.org/drawingml/2006/main">
            <a:off x="3535263" y="3693687"/>
            <a:ext cx="76200" cy="76200"/>
          </a:xfrm>
          <a:prstGeom xmlns:a="http://schemas.openxmlformats.org/drawingml/2006/main" prst="ellipse">
            <a:avLst/>
          </a:prstGeom>
          <a:solidFill xmlns:a="http://schemas.openxmlformats.org/drawingml/2006/main">
            <a:srgbClr val="B84A3A"/>
          </a:solidFill>
          <a:ln xmlns:a="http://schemas.openxmlformats.org/drawingml/2006/main" w="9525">
            <a:solidFill>
              <a:srgbClr val="FFFEFB"/>
            </a:solidFill>
            <a:prstDash val="solid"/>
          </a:ln>
        </p:spPr>
      </p:sp>
      <p:sp>
        <p:nvSpPr>
          <p:cNvPr id="7" name="">
            <a:extLst xmlns:a="http://schemas.openxmlformats.org/drawingml/2006/main">
              <a:ext uri="{FF2B5EF4-FFF2-40B4-BE49-F238E27FC236}">
                <a16:creationId xmlns:a16="http://schemas.microsoft.com/office/drawing/2014/main" id="{E3BD3D05-3DBA-4BB9-BEFC-4E9DC9979054}"/>
              </a:ext>
            </a:extLst>
          </p:cNvPr>
          <p:cNvSpPr>
            <a:spLocks xmlns:a="http://schemas.openxmlformats.org/drawingml/2006/main" noGrp="1"/>
          </p:cNvSpPr>
          <p:nvPr/>
        </p:nvSpPr>
        <p:spPr>
          <a:xfrm xmlns:a="http://schemas.openxmlformats.org/drawingml/2006/main">
            <a:off x="3654294" y="3981220"/>
            <a:ext cx="76200" cy="76200"/>
          </a:xfrm>
          <a:prstGeom xmlns:a="http://schemas.openxmlformats.org/drawingml/2006/main" prst="ellipse">
            <a:avLst/>
          </a:prstGeom>
          <a:solidFill xmlns:a="http://schemas.openxmlformats.org/drawingml/2006/main">
            <a:srgbClr val="B84A3A"/>
          </a:solidFill>
          <a:ln xmlns:a="http://schemas.openxmlformats.org/drawingml/2006/main" w="9525">
            <a:solidFill>
              <a:srgbClr val="FFFEFB"/>
            </a:solidFill>
            <a:prstDash val="solid"/>
          </a:ln>
        </p:spPr>
      </p:sp>
      <p:sp>
        <p:nvSpPr>
          <p:cNvPr id="8" name="">
            <a:extLst xmlns:a="http://schemas.openxmlformats.org/drawingml/2006/main">
              <a:ext uri="{FF2B5EF4-FFF2-40B4-BE49-F238E27FC236}">
                <a16:creationId xmlns:a16="http://schemas.microsoft.com/office/drawing/2014/main" id="{B983E61D-E024-45A7-B5D1-A40B0F7FA6CB}"/>
              </a:ext>
            </a:extLst>
          </p:cNvPr>
          <p:cNvSpPr>
            <a:spLocks xmlns:a="http://schemas.openxmlformats.org/drawingml/2006/main" noGrp="1"/>
          </p:cNvSpPr>
          <p:nvPr/>
        </p:nvSpPr>
        <p:spPr>
          <a:xfrm xmlns:a="http://schemas.openxmlformats.org/drawingml/2006/main">
            <a:off x="4580088" y="3621075"/>
            <a:ext cx="76200" cy="76200"/>
          </a:xfrm>
          <a:prstGeom xmlns:a="http://schemas.openxmlformats.org/drawingml/2006/main" prst="ellipse">
            <a:avLst/>
          </a:prstGeom>
          <a:solidFill xmlns:a="http://schemas.openxmlformats.org/drawingml/2006/main">
            <a:srgbClr val="B84A3A"/>
          </a:solidFill>
          <a:ln xmlns:a="http://schemas.openxmlformats.org/drawingml/2006/main" w="9525">
            <a:solidFill>
              <a:srgbClr val="FFFEFB"/>
            </a:solidFill>
            <a:prstDash val="solid"/>
          </a:ln>
        </p:spPr>
      </p:sp>
      <p:sp>
        <p:nvSpPr>
          <p:cNvPr id="9" name="">
            <a:extLst xmlns:a="http://schemas.openxmlformats.org/drawingml/2006/main">
              <a:ext uri="{FF2B5EF4-FFF2-40B4-BE49-F238E27FC236}">
                <a16:creationId xmlns:a16="http://schemas.microsoft.com/office/drawing/2014/main" id="{9DFF9B93-8D90-488B-A3D8-F39DC61FA2A9}"/>
              </a:ext>
            </a:extLst>
          </p:cNvPr>
          <p:cNvSpPr>
            <a:spLocks xmlns:a="http://schemas.openxmlformats.org/drawingml/2006/main" noGrp="1"/>
          </p:cNvSpPr>
          <p:nvPr/>
        </p:nvSpPr>
        <p:spPr>
          <a:xfrm xmlns:a="http://schemas.openxmlformats.org/drawingml/2006/main">
            <a:off x="5016534" y="3802160"/>
            <a:ext cx="76200" cy="76200"/>
          </a:xfrm>
          <a:prstGeom xmlns:a="http://schemas.openxmlformats.org/drawingml/2006/main" prst="ellipse">
            <a:avLst/>
          </a:prstGeom>
          <a:solidFill xmlns:a="http://schemas.openxmlformats.org/drawingml/2006/main">
            <a:srgbClr val="B84A3A"/>
          </a:solidFill>
          <a:ln xmlns:a="http://schemas.openxmlformats.org/drawingml/2006/main" w="9525">
            <a:solidFill>
              <a:srgbClr val="FFFEFB"/>
            </a:solidFill>
            <a:prstDash val="solid"/>
          </a:ln>
        </p:spPr>
      </p:sp>
      <p:sp>
        <p:nvSpPr>
          <p:cNvPr id="10" name="">
            <a:extLst xmlns:a="http://schemas.openxmlformats.org/drawingml/2006/main">
              <a:ext uri="{FF2B5EF4-FFF2-40B4-BE49-F238E27FC236}">
                <a16:creationId xmlns:a16="http://schemas.microsoft.com/office/drawing/2014/main" id="{FF84AE9E-2A66-4B2C-B8B4-F92671D5E4BA}"/>
              </a:ext>
            </a:extLst>
          </p:cNvPr>
          <p:cNvSpPr>
            <a:spLocks xmlns:a="http://schemas.openxmlformats.org/drawingml/2006/main" noGrp="1"/>
          </p:cNvSpPr>
          <p:nvPr/>
        </p:nvSpPr>
        <p:spPr>
          <a:xfrm xmlns:a="http://schemas.openxmlformats.org/drawingml/2006/main">
            <a:off x="5955554" y="4438131"/>
            <a:ext cx="76200" cy="76200"/>
          </a:xfrm>
          <a:prstGeom xmlns:a="http://schemas.openxmlformats.org/drawingml/2006/main" prst="ellipse">
            <a:avLst/>
          </a:prstGeom>
          <a:solidFill xmlns:a="http://schemas.openxmlformats.org/drawingml/2006/main">
            <a:srgbClr val="B84A3A"/>
          </a:solidFill>
          <a:ln xmlns:a="http://schemas.openxmlformats.org/drawingml/2006/main" w="9525">
            <a:solidFill>
              <a:srgbClr val="FFFEFB"/>
            </a:solidFill>
            <a:prstDash val="solid"/>
          </a:ln>
        </p:spPr>
      </p:sp>
      <p:sp>
        <p:nvSpPr>
          <p:cNvPr id="11" name="">
            <a:extLst xmlns:a="http://schemas.openxmlformats.org/drawingml/2006/main">
              <a:ext uri="{FF2B5EF4-FFF2-40B4-BE49-F238E27FC236}">
                <a16:creationId xmlns:a16="http://schemas.microsoft.com/office/drawing/2014/main" id="{664D2952-22FC-47D4-A9E9-764E3BD183FD}"/>
              </a:ext>
            </a:extLst>
          </p:cNvPr>
          <p:cNvSpPr>
            <a:spLocks xmlns:a="http://schemas.openxmlformats.org/drawingml/2006/main" noGrp="1"/>
          </p:cNvSpPr>
          <p:nvPr/>
        </p:nvSpPr>
        <p:spPr>
          <a:xfrm xmlns:a="http://schemas.openxmlformats.org/drawingml/2006/main">
            <a:off x="7040056" y="3729669"/>
            <a:ext cx="76200" cy="76200"/>
          </a:xfrm>
          <a:prstGeom xmlns:a="http://schemas.openxmlformats.org/drawingml/2006/main" prst="ellipse">
            <a:avLst/>
          </a:prstGeom>
          <a:solidFill xmlns:a="http://schemas.openxmlformats.org/drawingml/2006/main">
            <a:srgbClr val="B84A3A"/>
          </a:solidFill>
          <a:ln xmlns:a="http://schemas.openxmlformats.org/drawingml/2006/main" w="9525">
            <a:solidFill>
              <a:srgbClr val="FFFEFB"/>
            </a:solidFill>
            <a:prstDash val="solid"/>
          </a:ln>
        </p:spPr>
      </p:sp>
      <p:sp>
        <p:nvSpPr>
          <p:cNvPr id="12" name="">
            <a:extLst xmlns:a="http://schemas.openxmlformats.org/drawingml/2006/main">
              <a:ext uri="{FF2B5EF4-FFF2-40B4-BE49-F238E27FC236}">
                <a16:creationId xmlns:a16="http://schemas.microsoft.com/office/drawing/2014/main" id="{132DEDC2-1EBC-4B97-A94E-71DF5CC136BF}"/>
              </a:ext>
            </a:extLst>
          </p:cNvPr>
          <p:cNvSpPr>
            <a:spLocks xmlns:a="http://schemas.openxmlformats.org/drawingml/2006/main" noGrp="1"/>
          </p:cNvSpPr>
          <p:nvPr/>
        </p:nvSpPr>
        <p:spPr>
          <a:xfrm xmlns:a="http://schemas.openxmlformats.org/drawingml/2006/main">
            <a:off x="7688112" y="3829520"/>
            <a:ext cx="76200" cy="76200"/>
          </a:xfrm>
          <a:prstGeom xmlns:a="http://schemas.openxmlformats.org/drawingml/2006/main" prst="ellipse">
            <a:avLst/>
          </a:prstGeom>
          <a:solidFill xmlns:a="http://schemas.openxmlformats.org/drawingml/2006/main">
            <a:srgbClr val="B84A3A"/>
          </a:solidFill>
          <a:ln xmlns:a="http://schemas.openxmlformats.org/drawingml/2006/main" w="9525">
            <a:solidFill>
              <a:srgbClr val="FFFEFB"/>
            </a:solidFill>
            <a:prstDash val="solid"/>
          </a:ln>
        </p:spPr>
      </p:sp>
      <p:sp>
        <p:nvSpPr>
          <p:cNvPr id="13" name="">
            <a:extLst xmlns:a="http://schemas.openxmlformats.org/drawingml/2006/main">
              <a:ext uri="{FF2B5EF4-FFF2-40B4-BE49-F238E27FC236}">
                <a16:creationId xmlns:a16="http://schemas.microsoft.com/office/drawing/2014/main" id="{1AAF9082-5044-420C-B1C6-C1703420AB7E}"/>
              </a:ext>
            </a:extLst>
          </p:cNvPr>
          <p:cNvSpPr>
            <a:spLocks xmlns:a="http://schemas.openxmlformats.org/drawingml/2006/main" noGrp="1"/>
          </p:cNvSpPr>
          <p:nvPr/>
        </p:nvSpPr>
        <p:spPr>
          <a:xfrm xmlns:a="http://schemas.openxmlformats.org/drawingml/2006/main">
            <a:off x="10267111" y="3777546"/>
            <a:ext cx="76200" cy="76200"/>
          </a:xfrm>
          <a:prstGeom xmlns:a="http://schemas.openxmlformats.org/drawingml/2006/main" prst="ellipse">
            <a:avLst/>
          </a:prstGeom>
          <a:solidFill xmlns:a="http://schemas.openxmlformats.org/drawingml/2006/main">
            <a:srgbClr val="B84A3A"/>
          </a:solidFill>
          <a:ln xmlns:a="http://schemas.openxmlformats.org/drawingml/2006/main" w="9525">
            <a:solidFill>
              <a:srgbClr val="FFFEFB"/>
            </a:solidFill>
            <a:prstDash val="solid"/>
          </a:ln>
        </p:spPr>
      </p:sp>
      <p:sp>
        <p:nvSpPr>
          <p:cNvPr id="14" name="">
            <a:extLst xmlns:a="http://schemas.openxmlformats.org/drawingml/2006/main">
              <a:ext uri="{FF2B5EF4-FFF2-40B4-BE49-F238E27FC236}">
                <a16:creationId xmlns:a16="http://schemas.microsoft.com/office/drawing/2014/main" id="{2CDDFFCB-44CE-4529-8E26-A5E704866B2A}"/>
              </a:ext>
            </a:extLst>
          </p:cNvPr>
          <p:cNvSpPr>
            <a:spLocks xmlns:a="http://schemas.openxmlformats.org/drawingml/2006/main" noGrp="1"/>
          </p:cNvSpPr>
          <p:nvPr/>
        </p:nvSpPr>
        <p:spPr>
          <a:xfrm xmlns:a="http://schemas.openxmlformats.org/drawingml/2006/main">
            <a:off x="704850" y="1162050"/>
            <a:ext cx="3714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5E6865"/>
                </a:solidFill>
                <a:latin typeface="Arial"/>
                <a:ea typeface="Arial"/>
                <a:cs typeface="Arial"/>
              </a:defRPr>
            </a:defPPr>
            <a:lvl1pPr>
              <a:defRPr sz="900" b="1">
                <a:solidFill>
                  <a:srgbClr val="5E6865"/>
                </a:solidFill>
                <a:latin typeface="Arial"/>
                <a:ea typeface="Arial"/>
                <a:cs typeface="Arial"/>
              </a:defRPr>
            </a:lvl1pPr>
            <a:lvl2pPr>
              <a:defRPr sz="900" b="1">
                <a:solidFill>
                  <a:srgbClr val="5E6865"/>
                </a:solidFill>
                <a:latin typeface="Arial"/>
                <a:ea typeface="Arial"/>
                <a:cs typeface="Arial"/>
              </a:defRPr>
            </a:lvl2pPr>
            <a:lvl3pPr>
              <a:defRPr sz="900" b="1">
                <a:solidFill>
                  <a:srgbClr val="5E6865"/>
                </a:solidFill>
                <a:latin typeface="Arial"/>
                <a:ea typeface="Arial"/>
                <a:cs typeface="Arial"/>
              </a:defRPr>
            </a:lvl3pPr>
            <a:lvl4pPr>
              <a:defRPr sz="900" b="1">
                <a:solidFill>
                  <a:srgbClr val="5E6865"/>
                </a:solidFill>
                <a:latin typeface="Arial"/>
                <a:ea typeface="Arial"/>
                <a:cs typeface="Arial"/>
              </a:defRPr>
            </a:lvl4pPr>
            <a:lvl5pPr>
              <a:defRPr sz="900" b="1">
                <a:solidFill>
                  <a:srgbClr val="5E6865"/>
                </a:solidFill>
                <a:latin typeface="Arial"/>
                <a:ea typeface="Arial"/>
                <a:cs typeface="Arial"/>
              </a:defRPr>
            </a:lvl5pPr>
            <a:lvl6pPr>
              <a:defRPr sz="900" b="1">
                <a:solidFill>
                  <a:srgbClr val="5E6865"/>
                </a:solidFill>
                <a:latin typeface="Arial"/>
                <a:ea typeface="Arial"/>
                <a:cs typeface="Arial"/>
              </a:defRPr>
            </a:lvl6pPr>
            <a:lvl7pPr>
              <a:defRPr sz="900" b="1">
                <a:solidFill>
                  <a:srgbClr val="5E6865"/>
                </a:solidFill>
                <a:latin typeface="Arial"/>
                <a:ea typeface="Arial"/>
                <a:cs typeface="Arial"/>
              </a:defRPr>
            </a:lvl7pPr>
            <a:lvl8pPr>
              <a:defRPr sz="900" b="1">
                <a:solidFill>
                  <a:srgbClr val="5E6865"/>
                </a:solidFill>
                <a:latin typeface="Arial"/>
                <a:ea typeface="Arial"/>
                <a:cs typeface="Arial"/>
              </a:defRPr>
            </a:lvl8pPr>
            <a:lvl9pPr>
              <a:defRPr sz="900" b="1">
                <a:solidFill>
                  <a:srgbClr val="5E6865"/>
                </a:solidFill>
                <a:latin typeface="Arial"/>
                <a:ea typeface="Arial"/>
                <a:cs typeface="Arial"/>
              </a:defRPr>
            </a:lvl9pPr>
          </a:lstStyle>
          <a:p xmlns:a="http://schemas.openxmlformats.org/drawingml/2006/main">
            <a:pPr>
              <a:defRPr sz="900" b="1">
                <a:solidFill>
                  <a:srgbClr val="5E6865"/>
                </a:solidFill>
                <a:latin typeface="Arial"/>
                <a:ea typeface="Arial"/>
                <a:cs typeface="Arial"/>
              </a:defRPr>
            </a:pPr>
            <a:r>
              <a:rPr sz="900" b="1">
                <a:solidFill>
                  <a:srgbClr val="5E6865"/>
                </a:solidFill>
                <a:latin typeface="Arial"/>
                <a:ea typeface="Arial"/>
                <a:cs typeface="Arial"/>
              </a:rPr>
              <a:t>Profit / loss and negative VaR boundary ($000s)</a:t>
            </a:r>
          </a:p>
        </p:txBody>
      </p:sp>
      <p:sp>
        <p:nvSpPr>
          <p:cNvPr id="15" name="">
            <a:extLst xmlns:a="http://schemas.openxmlformats.org/drawingml/2006/main">
              <a:ext uri="{FF2B5EF4-FFF2-40B4-BE49-F238E27FC236}">
                <a16:creationId xmlns:a16="http://schemas.microsoft.com/office/drawing/2014/main" id="{0DC0DBCA-477C-44FD-A666-BF6971E4BAC4}"/>
              </a:ext>
            </a:extLst>
          </p:cNvPr>
          <p:cNvSpPr>
            <a:spLocks xmlns:a="http://schemas.openxmlformats.org/drawingml/2006/main" noGrp="1"/>
          </p:cNvSpPr>
          <p:nvPr/>
        </p:nvSpPr>
        <p:spPr>
          <a:xfrm xmlns:a="http://schemas.openxmlformats.org/drawingml/2006/main">
            <a:off x="9677400" y="11620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900" b="1">
                <a:solidFill>
                  <a:srgbClr val="B84A3A"/>
                </a:solidFill>
                <a:latin typeface="Arial"/>
                <a:ea typeface="Arial"/>
                <a:cs typeface="Arial"/>
              </a:defRPr>
            </a:defPPr>
            <a:lvl1pPr algn="r">
              <a:defRPr sz="900" b="1">
                <a:solidFill>
                  <a:srgbClr val="B84A3A"/>
                </a:solidFill>
                <a:latin typeface="Arial"/>
                <a:ea typeface="Arial"/>
                <a:cs typeface="Arial"/>
              </a:defRPr>
            </a:lvl1pPr>
            <a:lvl2pPr algn="r">
              <a:defRPr sz="900" b="1">
                <a:solidFill>
                  <a:srgbClr val="B84A3A"/>
                </a:solidFill>
                <a:latin typeface="Arial"/>
                <a:ea typeface="Arial"/>
                <a:cs typeface="Arial"/>
              </a:defRPr>
            </a:lvl2pPr>
            <a:lvl3pPr algn="r">
              <a:defRPr sz="900" b="1">
                <a:solidFill>
                  <a:srgbClr val="B84A3A"/>
                </a:solidFill>
                <a:latin typeface="Arial"/>
                <a:ea typeface="Arial"/>
                <a:cs typeface="Arial"/>
              </a:defRPr>
            </a:lvl3pPr>
            <a:lvl4pPr algn="r">
              <a:defRPr sz="900" b="1">
                <a:solidFill>
                  <a:srgbClr val="B84A3A"/>
                </a:solidFill>
                <a:latin typeface="Arial"/>
                <a:ea typeface="Arial"/>
                <a:cs typeface="Arial"/>
              </a:defRPr>
            </a:lvl4pPr>
            <a:lvl5pPr algn="r">
              <a:defRPr sz="900" b="1">
                <a:solidFill>
                  <a:srgbClr val="B84A3A"/>
                </a:solidFill>
                <a:latin typeface="Arial"/>
                <a:ea typeface="Arial"/>
                <a:cs typeface="Arial"/>
              </a:defRPr>
            </a:lvl5pPr>
            <a:lvl6pPr algn="r">
              <a:defRPr sz="900" b="1">
                <a:solidFill>
                  <a:srgbClr val="B84A3A"/>
                </a:solidFill>
                <a:latin typeface="Arial"/>
                <a:ea typeface="Arial"/>
                <a:cs typeface="Arial"/>
              </a:defRPr>
            </a:lvl6pPr>
            <a:lvl7pPr algn="r">
              <a:defRPr sz="900" b="1">
                <a:solidFill>
                  <a:srgbClr val="B84A3A"/>
                </a:solidFill>
                <a:latin typeface="Arial"/>
                <a:ea typeface="Arial"/>
                <a:cs typeface="Arial"/>
              </a:defRPr>
            </a:lvl7pPr>
            <a:lvl8pPr algn="r">
              <a:defRPr sz="900" b="1">
                <a:solidFill>
                  <a:srgbClr val="B84A3A"/>
                </a:solidFill>
                <a:latin typeface="Arial"/>
                <a:ea typeface="Arial"/>
                <a:cs typeface="Arial"/>
              </a:defRPr>
            </a:lvl8pPr>
            <a:lvl9pPr algn="r">
              <a:defRPr sz="900" b="1">
                <a:solidFill>
                  <a:srgbClr val="B84A3A"/>
                </a:solidFill>
                <a:latin typeface="Arial"/>
                <a:ea typeface="Arial"/>
                <a:cs typeface="Arial"/>
              </a:defRPr>
            </a:lvl9pPr>
          </a:lstStyle>
          <a:p xmlns:a="http://schemas.openxmlformats.org/drawingml/2006/main">
            <a:pPr algn="r">
              <a:defRPr sz="900" b="1">
                <a:solidFill>
                  <a:srgbClr val="B84A3A"/>
                </a:solidFill>
                <a:latin typeface="Arial"/>
                <a:ea typeface="Arial"/>
                <a:cs typeface="Arial"/>
              </a:defRPr>
            </a:pPr>
            <a:r>
              <a:rPr sz="900" b="1">
                <a:solidFill>
                  <a:srgbClr val="B84A3A"/>
                </a:solidFill>
                <a:latin typeface="Arial"/>
                <a:ea typeface="Arial"/>
                <a:cs typeface="Arial"/>
              </a:rPr>
              <a:t>● VaR breach</a:t>
            </a:r>
          </a:p>
        </p:txBody>
      </p:sp>
      <p:sp>
        <p:nvSpPr>
          <p:cNvPr id="16" name="">
            <a:extLst xmlns:a="http://schemas.openxmlformats.org/drawingml/2006/main">
              <a:ext uri="{FF2B5EF4-FFF2-40B4-BE49-F238E27FC236}">
                <a16:creationId xmlns:a16="http://schemas.microsoft.com/office/drawing/2014/main" id="{05D42277-863B-4496-8923-D35916583D1A}"/>
              </a:ext>
            </a:extLst>
          </p:cNvPr>
          <p:cNvSpPr>
            <a:spLocks xmlns:a="http://schemas.openxmlformats.org/drawingml/2006/main" noGrp="1"/>
          </p:cNvSpPr>
          <p:nvPr/>
        </p:nvSpPr>
        <p:spPr>
          <a:xfrm xmlns:a="http://schemas.openxmlformats.org/drawingml/2006/main">
            <a:off x="1952625" y="5476875"/>
            <a:ext cx="8286750" cy="628650"/>
          </a:xfrm>
          <a:prstGeom xmlns:a="http://schemas.openxmlformats.org/drawingml/2006/main" prst="roundRect">
            <a:avLst>
              <a:gd name="adj" fmla="val 12121"/>
            </a:avLst>
          </a:prstGeom>
          <a:solidFill xmlns:a="http://schemas.openxmlformats.org/drawingml/2006/main">
            <a:srgbClr val="FFFEF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C2229B7-5471-42E7-B307-FFD2CA60E021}"/>
              </a:ext>
            </a:extLst>
          </p:cNvPr>
          <p:cNvSpPr>
            <a:spLocks xmlns:a="http://schemas.openxmlformats.org/drawingml/2006/main" noGrp="1"/>
          </p:cNvSpPr>
          <p:nvPr/>
        </p:nvSpPr>
        <p:spPr>
          <a:xfrm xmlns:a="http://schemas.openxmlformats.org/drawingml/2006/main">
            <a:off x="1952625" y="5476875"/>
            <a:ext cx="66675" cy="628650"/>
          </a:xfrm>
          <a:prstGeom xmlns:a="http://schemas.openxmlformats.org/drawingml/2006/main" prst="rect">
            <a:avLst/>
          </a:prstGeom>
          <a:solidFill xmlns:a="http://schemas.openxmlformats.org/drawingml/2006/main">
            <a:srgbClr val="B84A3A"/>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2AFFA45-0E36-442A-8B4F-3617868AA81C}"/>
              </a:ext>
            </a:extLst>
          </p:cNvPr>
          <p:cNvSpPr>
            <a:spLocks xmlns:a="http://schemas.openxmlformats.org/drawingml/2006/main" noGrp="1"/>
          </p:cNvSpPr>
          <p:nvPr/>
        </p:nvSpPr>
        <p:spPr>
          <a:xfrm xmlns:a="http://schemas.openxmlformats.org/drawingml/2006/main">
            <a:off x="2181225" y="5619750"/>
            <a:ext cx="790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B84A3A"/>
                </a:solidFill>
                <a:latin typeface="Arial"/>
                <a:ea typeface="Arial"/>
                <a:cs typeface="Arial"/>
              </a:defRPr>
            </a:defPPr>
            <a:lvl1pPr>
              <a:defRPr sz="1425" b="1">
                <a:solidFill>
                  <a:srgbClr val="B84A3A"/>
                </a:solidFill>
                <a:latin typeface="Arial"/>
                <a:ea typeface="Arial"/>
                <a:cs typeface="Arial"/>
              </a:defRPr>
            </a:lvl1pPr>
            <a:lvl2pPr>
              <a:defRPr sz="1425" b="1">
                <a:solidFill>
                  <a:srgbClr val="B84A3A"/>
                </a:solidFill>
                <a:latin typeface="Arial"/>
                <a:ea typeface="Arial"/>
                <a:cs typeface="Arial"/>
              </a:defRPr>
            </a:lvl2pPr>
            <a:lvl3pPr>
              <a:defRPr sz="1425" b="1">
                <a:solidFill>
                  <a:srgbClr val="B84A3A"/>
                </a:solidFill>
                <a:latin typeface="Arial"/>
                <a:ea typeface="Arial"/>
                <a:cs typeface="Arial"/>
              </a:defRPr>
            </a:lvl3pPr>
            <a:lvl4pPr>
              <a:defRPr sz="1425" b="1">
                <a:solidFill>
                  <a:srgbClr val="B84A3A"/>
                </a:solidFill>
                <a:latin typeface="Arial"/>
                <a:ea typeface="Arial"/>
                <a:cs typeface="Arial"/>
              </a:defRPr>
            </a:lvl4pPr>
            <a:lvl5pPr>
              <a:defRPr sz="1425" b="1">
                <a:solidFill>
                  <a:srgbClr val="B84A3A"/>
                </a:solidFill>
                <a:latin typeface="Arial"/>
                <a:ea typeface="Arial"/>
                <a:cs typeface="Arial"/>
              </a:defRPr>
            </a:lvl5pPr>
            <a:lvl6pPr>
              <a:defRPr sz="1425" b="1">
                <a:solidFill>
                  <a:srgbClr val="B84A3A"/>
                </a:solidFill>
                <a:latin typeface="Arial"/>
                <a:ea typeface="Arial"/>
                <a:cs typeface="Arial"/>
              </a:defRPr>
            </a:lvl6pPr>
            <a:lvl7pPr>
              <a:defRPr sz="1425" b="1">
                <a:solidFill>
                  <a:srgbClr val="B84A3A"/>
                </a:solidFill>
                <a:latin typeface="Arial"/>
                <a:ea typeface="Arial"/>
                <a:cs typeface="Arial"/>
              </a:defRPr>
            </a:lvl7pPr>
            <a:lvl8pPr>
              <a:defRPr sz="1425" b="1">
                <a:solidFill>
                  <a:srgbClr val="B84A3A"/>
                </a:solidFill>
                <a:latin typeface="Arial"/>
                <a:ea typeface="Arial"/>
                <a:cs typeface="Arial"/>
              </a:defRPr>
            </a:lvl8pPr>
            <a:lvl9pPr>
              <a:defRPr sz="1425" b="1">
                <a:solidFill>
                  <a:srgbClr val="B84A3A"/>
                </a:solidFill>
                <a:latin typeface="Arial"/>
                <a:ea typeface="Arial"/>
                <a:cs typeface="Arial"/>
              </a:defRPr>
            </a:lvl9pPr>
          </a:lstStyle>
          <a:p xmlns:a="http://schemas.openxmlformats.org/drawingml/2006/main">
            <a:pPr>
              <a:defRPr sz="1425" b="1">
                <a:solidFill>
                  <a:srgbClr val="B84A3A"/>
                </a:solidFill>
                <a:latin typeface="Arial"/>
                <a:ea typeface="Arial"/>
                <a:cs typeface="Arial"/>
              </a:defRPr>
            </a:pPr>
            <a:r>
              <a:rPr sz="1425" b="1">
                <a:solidFill>
                  <a:srgbClr val="B84A3A"/>
                </a:solidFill>
                <a:latin typeface="Arial"/>
                <a:ea typeface="Arial"/>
                <a:cs typeface="Arial"/>
              </a:rPr>
              <a:t>Interpretation</a:t>
            </a:r>
          </a:p>
        </p:txBody>
      </p:sp>
      <p:sp>
        <p:nvSpPr>
          <p:cNvPr id="19" name="">
            <a:extLst xmlns:a="http://schemas.openxmlformats.org/drawingml/2006/main">
              <a:ext uri="{FF2B5EF4-FFF2-40B4-BE49-F238E27FC236}">
                <a16:creationId xmlns:a16="http://schemas.microsoft.com/office/drawing/2014/main" id="{4BEDF43C-DB77-4F83-99CC-793757E91A76}"/>
              </a:ext>
            </a:extLst>
          </p:cNvPr>
          <p:cNvSpPr>
            <a:spLocks xmlns:a="http://schemas.openxmlformats.org/drawingml/2006/main" noGrp="1"/>
          </p:cNvSpPr>
          <p:nvPr/>
        </p:nvSpPr>
        <p:spPr>
          <a:xfrm xmlns:a="http://schemas.openxmlformats.org/drawingml/2006/main">
            <a:off x="2181225" y="5924550"/>
            <a:ext cx="7905750" cy="85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Red dots are expected occasionally at 99%. The model fails validation when the count is implausible or the breaches cluster.</a:t>
            </a:r>
          </a:p>
        </p:txBody>
      </p:sp>
      <p:sp>
        <p:nvSpPr>
          <p:cNvPr id="20" name="">
            <a:extLst xmlns:a="http://schemas.openxmlformats.org/drawingml/2006/main">
              <a:ext uri="{FF2B5EF4-FFF2-40B4-BE49-F238E27FC236}">
                <a16:creationId xmlns:a16="http://schemas.microsoft.com/office/drawing/2014/main" id="{0AEE4FD7-6F4E-4638-9983-BDF8BB2A64A9}"/>
              </a:ext>
            </a:extLst>
          </p:cNvPr>
          <p:cNvSpPr>
            <a:spLocks xmlns:a="http://schemas.openxmlformats.org/drawingml/2006/main" noGrp="1"/>
          </p:cNvSpPr>
          <p:nvPr/>
        </p:nvSpPr>
        <p:spPr>
          <a:xfrm xmlns:a="http://schemas.openxmlformats.org/drawingml/2006/main">
            <a:off x="609600" y="6362700"/>
            <a:ext cx="109728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36E77E0-3E21-465D-A61D-10A426CED637}"/>
              </a:ext>
            </a:extLst>
          </p:cNvPr>
          <p:cNvSpPr>
            <a:spLocks xmlns:a="http://schemas.openxmlformats.org/drawingml/2006/main" noGrp="1"/>
          </p:cNvSpPr>
          <p:nvPr/>
        </p:nvSpPr>
        <p:spPr>
          <a:xfrm xmlns:a="http://schemas.openxmlformats.org/drawingml/2006/main">
            <a:off x="609600" y="6429375"/>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75">
                <a:solidFill>
                  <a:srgbClr val="5E6865"/>
                </a:solidFill>
                <a:latin typeface="Arial"/>
                <a:ea typeface="Arial"/>
                <a:cs typeface="Arial"/>
              </a:defRPr>
            </a:defPPr>
            <a:lvl1pPr>
              <a:defRPr sz="675">
                <a:solidFill>
                  <a:srgbClr val="5E6865"/>
                </a:solidFill>
                <a:latin typeface="Arial"/>
                <a:ea typeface="Arial"/>
                <a:cs typeface="Arial"/>
              </a:defRPr>
            </a:lvl1pPr>
            <a:lvl2pPr>
              <a:defRPr sz="675">
                <a:solidFill>
                  <a:srgbClr val="5E6865"/>
                </a:solidFill>
                <a:latin typeface="Arial"/>
                <a:ea typeface="Arial"/>
                <a:cs typeface="Arial"/>
              </a:defRPr>
            </a:lvl2pPr>
            <a:lvl3pPr>
              <a:defRPr sz="675">
                <a:solidFill>
                  <a:srgbClr val="5E6865"/>
                </a:solidFill>
                <a:latin typeface="Arial"/>
                <a:ea typeface="Arial"/>
                <a:cs typeface="Arial"/>
              </a:defRPr>
            </a:lvl3pPr>
            <a:lvl4pPr>
              <a:defRPr sz="675">
                <a:solidFill>
                  <a:srgbClr val="5E6865"/>
                </a:solidFill>
                <a:latin typeface="Arial"/>
                <a:ea typeface="Arial"/>
                <a:cs typeface="Arial"/>
              </a:defRPr>
            </a:lvl4pPr>
            <a:lvl5pPr>
              <a:defRPr sz="675">
                <a:solidFill>
                  <a:srgbClr val="5E6865"/>
                </a:solidFill>
                <a:latin typeface="Arial"/>
                <a:ea typeface="Arial"/>
                <a:cs typeface="Arial"/>
              </a:defRPr>
            </a:lvl5pPr>
            <a:lvl6pPr>
              <a:defRPr sz="675">
                <a:solidFill>
                  <a:srgbClr val="5E6865"/>
                </a:solidFill>
                <a:latin typeface="Arial"/>
                <a:ea typeface="Arial"/>
                <a:cs typeface="Arial"/>
              </a:defRPr>
            </a:lvl6pPr>
            <a:lvl7pPr>
              <a:defRPr sz="675">
                <a:solidFill>
                  <a:srgbClr val="5E6865"/>
                </a:solidFill>
                <a:latin typeface="Arial"/>
                <a:ea typeface="Arial"/>
                <a:cs typeface="Arial"/>
              </a:defRPr>
            </a:lvl7pPr>
            <a:lvl8pPr>
              <a:defRPr sz="675">
                <a:solidFill>
                  <a:srgbClr val="5E6865"/>
                </a:solidFill>
                <a:latin typeface="Arial"/>
                <a:ea typeface="Arial"/>
                <a:cs typeface="Arial"/>
              </a:defRPr>
            </a:lvl8pPr>
            <a:lvl9pPr>
              <a:defRPr sz="675">
                <a:solidFill>
                  <a:srgbClr val="5E6865"/>
                </a:solidFill>
                <a:latin typeface="Arial"/>
                <a:ea typeface="Arial"/>
                <a:cs typeface="Arial"/>
              </a:defRPr>
            </a:lvl9pPr>
          </a:lstStyle>
          <a:p xmlns:a="http://schemas.openxmlformats.org/drawingml/2006/main">
            <a:pPr>
              <a:defRPr sz="675">
                <a:solidFill>
                  <a:srgbClr val="5E6865"/>
                </a:solidFill>
                <a:latin typeface="Arial"/>
                <a:ea typeface="Arial"/>
                <a:cs typeface="Arial"/>
              </a:defRPr>
            </a:pPr>
            <a:r>
              <a:rPr sz="675">
                <a:solidFill>
                  <a:srgbClr val="5E6865"/>
                </a:solidFill>
                <a:latin typeface="Arial"/>
                <a:ea typeface="Arial"/>
                <a:cs typeface="Arial"/>
              </a:rPr>
              <a:t>Source: QFI_V2_report.docx; Advanced Equity Portfolio Risk Management brief; report_assets/results.json and presentation_backtest.json, as of 16 October 2026.</a:t>
            </a:r>
          </a:p>
        </p:txBody>
      </p:sp>
      <p:sp>
        <p:nvSpPr>
          <p:cNvPr id="22" name="">
            <a:extLst xmlns:a="http://schemas.openxmlformats.org/drawingml/2006/main">
              <a:ext uri="{FF2B5EF4-FFF2-40B4-BE49-F238E27FC236}">
                <a16:creationId xmlns:a16="http://schemas.microsoft.com/office/drawing/2014/main" id="{E7CEDC79-37C4-4AD4-A9A1-395A8A92C026}"/>
              </a:ext>
            </a:extLst>
          </p:cNvPr>
          <p:cNvSpPr>
            <a:spLocks xmlns:a="http://schemas.openxmlformats.org/drawingml/2006/main" noGrp="1"/>
          </p:cNvSpPr>
          <p:nvPr/>
        </p:nvSpPr>
        <p:spPr>
          <a:xfrm xmlns:a="http://schemas.openxmlformats.org/drawingml/2006/main">
            <a:off x="10839450" y="64008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174C4F"/>
                </a:solidFill>
                <a:latin typeface="Arial"/>
                <a:ea typeface="Arial"/>
                <a:cs typeface="Arial"/>
              </a:defRPr>
            </a:defPPr>
            <a:lvl1pPr algn="r">
              <a:defRPr sz="825" b="1">
                <a:solidFill>
                  <a:srgbClr val="174C4F"/>
                </a:solidFill>
                <a:latin typeface="Arial"/>
                <a:ea typeface="Arial"/>
                <a:cs typeface="Arial"/>
              </a:defRPr>
            </a:lvl1pPr>
            <a:lvl2pPr algn="r">
              <a:defRPr sz="825" b="1">
                <a:solidFill>
                  <a:srgbClr val="174C4F"/>
                </a:solidFill>
                <a:latin typeface="Arial"/>
                <a:ea typeface="Arial"/>
                <a:cs typeface="Arial"/>
              </a:defRPr>
            </a:lvl2pPr>
            <a:lvl3pPr algn="r">
              <a:defRPr sz="825" b="1">
                <a:solidFill>
                  <a:srgbClr val="174C4F"/>
                </a:solidFill>
                <a:latin typeface="Arial"/>
                <a:ea typeface="Arial"/>
                <a:cs typeface="Arial"/>
              </a:defRPr>
            </a:lvl3pPr>
            <a:lvl4pPr algn="r">
              <a:defRPr sz="825" b="1">
                <a:solidFill>
                  <a:srgbClr val="174C4F"/>
                </a:solidFill>
                <a:latin typeface="Arial"/>
                <a:ea typeface="Arial"/>
                <a:cs typeface="Arial"/>
              </a:defRPr>
            </a:lvl4pPr>
            <a:lvl5pPr algn="r">
              <a:defRPr sz="825" b="1">
                <a:solidFill>
                  <a:srgbClr val="174C4F"/>
                </a:solidFill>
                <a:latin typeface="Arial"/>
                <a:ea typeface="Arial"/>
                <a:cs typeface="Arial"/>
              </a:defRPr>
            </a:lvl5pPr>
            <a:lvl6pPr algn="r">
              <a:defRPr sz="825" b="1">
                <a:solidFill>
                  <a:srgbClr val="174C4F"/>
                </a:solidFill>
                <a:latin typeface="Arial"/>
                <a:ea typeface="Arial"/>
                <a:cs typeface="Arial"/>
              </a:defRPr>
            </a:lvl6pPr>
            <a:lvl7pPr algn="r">
              <a:defRPr sz="825" b="1">
                <a:solidFill>
                  <a:srgbClr val="174C4F"/>
                </a:solidFill>
                <a:latin typeface="Arial"/>
                <a:ea typeface="Arial"/>
                <a:cs typeface="Arial"/>
              </a:defRPr>
            </a:lvl7pPr>
            <a:lvl8pPr algn="r">
              <a:defRPr sz="825" b="1">
                <a:solidFill>
                  <a:srgbClr val="174C4F"/>
                </a:solidFill>
                <a:latin typeface="Arial"/>
                <a:ea typeface="Arial"/>
                <a:cs typeface="Arial"/>
              </a:defRPr>
            </a:lvl8pPr>
            <a:lvl9pPr algn="r">
              <a:defRPr sz="825" b="1">
                <a:solidFill>
                  <a:srgbClr val="174C4F"/>
                </a:solidFill>
                <a:latin typeface="Arial"/>
                <a:ea typeface="Arial"/>
                <a:cs typeface="Arial"/>
              </a:defRPr>
            </a:lvl9pPr>
          </a:lstStyle>
          <a:p xmlns:a="http://schemas.openxmlformats.org/drawingml/2006/main">
            <a:pPr algn="r">
              <a:defRPr sz="825" b="1">
                <a:solidFill>
                  <a:srgbClr val="174C4F"/>
                </a:solidFill>
                <a:latin typeface="Arial"/>
                <a:ea typeface="Arial"/>
                <a:cs typeface="Arial"/>
              </a:defRPr>
            </a:pPr>
            <a:r>
              <a:rPr sz="825" b="1">
                <a:solidFill>
                  <a:srgbClr val="174C4F"/>
                </a:solidFill>
                <a:latin typeface="Arial"/>
                <a:ea typeface="Arial"/>
                <a:cs typeface="Arial"/>
              </a:rPr>
              <a:t>08</a:t>
            </a:r>
          </a:p>
        </p:txBody>
      </p:sp>
    </p:spTree>
    <p:extLst>
      <p:ext uri="{BB962C8B-B14F-4D97-AF65-F5344CB8AC3E}">
        <p14:creationId xmlns:p14="http://schemas.microsoft.com/office/powerpoint/2010/main" val="1132373781"/>
      </p:ext>
    </p:extLst>
  </p:cSld>
</p:sld>
</file>

<file path=ppt/slides/slide9.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41E665F-9A3D-4C8F-8BFE-D627BA477A46}"/>
              </a:ext>
            </a:extLst>
          </p:cNvPr>
          <p:cNvSpPr>
            <a:spLocks xmlns:a="http://schemas.openxmlformats.org/drawingml/2006/main" noGrp="1"/>
          </p:cNvSpPr>
          <p:nvPr/>
        </p:nvSpPr>
        <p:spPr>
          <a:xfrm xmlns:a="http://schemas.openxmlformats.org/drawingml/2006/main">
            <a:off x="609600" y="4000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B2928"/>
                </a:solidFill>
                <a:latin typeface="Arial"/>
                <a:ea typeface="Arial"/>
                <a:cs typeface="Arial"/>
              </a:defRPr>
            </a:defPPr>
            <a:lvl1pPr>
              <a:defRPr sz="2550" b="1">
                <a:solidFill>
                  <a:srgbClr val="1B2928"/>
                </a:solidFill>
                <a:latin typeface="Arial"/>
                <a:ea typeface="Arial"/>
                <a:cs typeface="Arial"/>
              </a:defRPr>
            </a:lvl1pPr>
            <a:lvl2pPr>
              <a:defRPr sz="2550" b="1">
                <a:solidFill>
                  <a:srgbClr val="1B2928"/>
                </a:solidFill>
                <a:latin typeface="Arial"/>
                <a:ea typeface="Arial"/>
                <a:cs typeface="Arial"/>
              </a:defRPr>
            </a:lvl2pPr>
            <a:lvl3pPr>
              <a:defRPr sz="2550" b="1">
                <a:solidFill>
                  <a:srgbClr val="1B2928"/>
                </a:solidFill>
                <a:latin typeface="Arial"/>
                <a:ea typeface="Arial"/>
                <a:cs typeface="Arial"/>
              </a:defRPr>
            </a:lvl3pPr>
            <a:lvl4pPr>
              <a:defRPr sz="2550" b="1">
                <a:solidFill>
                  <a:srgbClr val="1B2928"/>
                </a:solidFill>
                <a:latin typeface="Arial"/>
                <a:ea typeface="Arial"/>
                <a:cs typeface="Arial"/>
              </a:defRPr>
            </a:lvl4pPr>
            <a:lvl5pPr>
              <a:defRPr sz="2550" b="1">
                <a:solidFill>
                  <a:srgbClr val="1B2928"/>
                </a:solidFill>
                <a:latin typeface="Arial"/>
                <a:ea typeface="Arial"/>
                <a:cs typeface="Arial"/>
              </a:defRPr>
            </a:lvl5pPr>
            <a:lvl6pPr>
              <a:defRPr sz="2550" b="1">
                <a:solidFill>
                  <a:srgbClr val="1B2928"/>
                </a:solidFill>
                <a:latin typeface="Arial"/>
                <a:ea typeface="Arial"/>
                <a:cs typeface="Arial"/>
              </a:defRPr>
            </a:lvl6pPr>
            <a:lvl7pPr>
              <a:defRPr sz="2550" b="1">
                <a:solidFill>
                  <a:srgbClr val="1B2928"/>
                </a:solidFill>
                <a:latin typeface="Arial"/>
                <a:ea typeface="Arial"/>
                <a:cs typeface="Arial"/>
              </a:defRPr>
            </a:lvl7pPr>
            <a:lvl8pPr>
              <a:defRPr sz="2550" b="1">
                <a:solidFill>
                  <a:srgbClr val="1B2928"/>
                </a:solidFill>
                <a:latin typeface="Arial"/>
                <a:ea typeface="Arial"/>
                <a:cs typeface="Arial"/>
              </a:defRPr>
            </a:lvl8pPr>
            <a:lvl9pPr>
              <a:defRPr sz="2550" b="1">
                <a:solidFill>
                  <a:srgbClr val="1B2928"/>
                </a:solidFill>
                <a:latin typeface="Arial"/>
                <a:ea typeface="Arial"/>
                <a:cs typeface="Arial"/>
              </a:defRPr>
            </a:lvl9pPr>
          </a:lstStyle>
          <a:p xmlns:a="http://schemas.openxmlformats.org/drawingml/2006/main">
            <a:pPr>
              <a:defRPr sz="2550" b="1">
                <a:solidFill>
                  <a:srgbClr val="1B2928"/>
                </a:solidFill>
                <a:latin typeface="Arial"/>
                <a:ea typeface="Arial"/>
                <a:cs typeface="Arial"/>
              </a:defRPr>
            </a:pPr>
            <a:r>
              <a:rPr sz="2550" b="1">
                <a:solidFill>
                  <a:srgbClr val="1B2928"/>
                </a:solidFill>
                <a:latin typeface="Arial"/>
                <a:ea typeface="Arial"/>
                <a:cs typeface="Arial"/>
              </a:rPr>
              <a:t>GJR-HS is the only model that passes all 99% tests</a:t>
            </a:r>
          </a:p>
        </p:txBody>
      </p:sp>
      <p:sp>
        <p:nvSpPr>
          <p:cNvPr id="2" name="">
            <a:extLst xmlns:a="http://schemas.openxmlformats.org/drawingml/2006/main">
              <a:ext uri="{FF2B5EF4-FFF2-40B4-BE49-F238E27FC236}">
                <a16:creationId xmlns:a16="http://schemas.microsoft.com/office/drawing/2014/main" id="{59DFB344-2B8C-4675-AC94-2816FD2DD22A}"/>
              </a:ext>
            </a:extLst>
          </p:cNvPr>
          <p:cNvSpPr>
            <a:spLocks xmlns:a="http://schemas.openxmlformats.org/drawingml/2006/main" noGrp="1"/>
          </p:cNvSpPr>
          <p:nvPr/>
        </p:nvSpPr>
        <p:spPr>
          <a:xfrm xmlns:a="http://schemas.openxmlformats.org/drawingml/2006/main">
            <a:off x="609600" y="981075"/>
            <a:ext cx="685800" cy="47625"/>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8A4F5E0-E38D-48BE-AC86-6AB0AAD55FEA}"/>
              </a:ext>
            </a:extLst>
          </p:cNvPr>
          <p:cNvSpPr>
            <a:spLocks xmlns:a="http://schemas.openxmlformats.org/drawingml/2006/main" noGrp="1"/>
          </p:cNvSpPr>
          <p:nvPr/>
        </p:nvSpPr>
        <p:spPr>
          <a:xfrm xmlns:a="http://schemas.openxmlformats.org/drawingml/2006/main">
            <a:off x="1466850" y="866775"/>
            <a:ext cx="962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Exception counts are close to expectation; independence separates the models</a:t>
            </a:r>
          </a:p>
        </p:txBody>
      </p:sp>
      <p:graphicFrame>
        <p:nvGraphicFramePr>
          <p:cNvPr id="4" name="Chart">
            <a:extLst xmlns:a="http://schemas.openxmlformats.org/drawingml/2006/main">
              <a:ext uri="{FF2B5EF4-FFF2-40B4-BE49-F238E27FC236}">
                <a16:creationId xmlns:a16="http://schemas.microsoft.com/office/drawing/2014/main" id="{ED758DD5-D1D9-45C6-BB26-A6995071C073}"/>
              </a:ext>
            </a:extLst>
          </p:cNvPr>
          <p:cNvGraphicFramePr/>
          <p:nvPr/>
        </p:nvGraphicFramePr>
        <p:xfrm>
          <a:off xmlns:a="http://schemas.openxmlformats.org/drawingml/2006/main" x="514350" y="1447800"/>
          <a:ext xmlns:a="http://schemas.openxmlformats.org/drawingml/2006/main" cx="7429500" cy="3714750"/>
        </p:xfrm>
        <a:graphic xmlns:a="http://schemas.openxmlformats.org/drawingml/2006/main">
          <a:graphicData uri="http://schemas.openxmlformats.org/drawingml/2006/chart">
            <c:chart xmlns:r="http://schemas.openxmlformats.org/officeDocument/2006/relationships" xmlns:c="http://schemas.openxmlformats.org/drawingml/2006/chart" r:id="R04e8002fc2eb4125"/>
          </a:graphicData>
        </a:graphic>
      </p:graphicFrame>
      <p:sp>
        <p:nvSpPr>
          <p:cNvPr id="5" name="">
            <a:extLst xmlns:a="http://schemas.openxmlformats.org/drawingml/2006/main">
              <a:ext uri="{FF2B5EF4-FFF2-40B4-BE49-F238E27FC236}">
                <a16:creationId xmlns:a16="http://schemas.microsoft.com/office/drawing/2014/main" id="{C8330B1A-474A-4DBF-B9E6-8D53DB4CCE56}"/>
              </a:ext>
            </a:extLst>
          </p:cNvPr>
          <p:cNvSpPr>
            <a:spLocks xmlns:a="http://schemas.openxmlformats.org/drawingml/2006/main" noGrp="1"/>
          </p:cNvSpPr>
          <p:nvPr/>
        </p:nvSpPr>
        <p:spPr>
          <a:xfrm xmlns:a="http://schemas.openxmlformats.org/drawingml/2006/main">
            <a:off x="8286750" y="1466850"/>
            <a:ext cx="3124200" cy="1047750"/>
          </a:xfrm>
          <a:prstGeom xmlns:a="http://schemas.openxmlformats.org/drawingml/2006/main" prst="roundRect">
            <a:avLst>
              <a:gd name="adj" fmla="val 7273"/>
            </a:avLst>
          </a:prstGeom>
          <a:solidFill xmlns:a="http://schemas.openxmlformats.org/drawingml/2006/main">
            <a:srgbClr val="DDE9E4"/>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D0BF858-1664-4441-9AAC-FF07D9325242}"/>
              </a:ext>
            </a:extLst>
          </p:cNvPr>
          <p:cNvSpPr>
            <a:spLocks xmlns:a="http://schemas.openxmlformats.org/drawingml/2006/main" noGrp="1"/>
          </p:cNvSpPr>
          <p:nvPr/>
        </p:nvSpPr>
        <p:spPr>
          <a:xfrm xmlns:a="http://schemas.openxmlformats.org/drawingml/2006/main">
            <a:off x="8286750" y="1466850"/>
            <a:ext cx="66675" cy="1047750"/>
          </a:xfrm>
          <a:prstGeom xmlns:a="http://schemas.openxmlformats.org/drawingml/2006/main" prst="rect">
            <a:avLst/>
          </a:prstGeom>
          <a:solidFill xmlns:a="http://schemas.openxmlformats.org/drawingml/2006/main">
            <a:srgbClr val="174C4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8C06143-5734-4BAF-9808-32A719A16981}"/>
              </a:ext>
            </a:extLst>
          </p:cNvPr>
          <p:cNvSpPr>
            <a:spLocks xmlns:a="http://schemas.openxmlformats.org/drawingml/2006/main" noGrp="1"/>
          </p:cNvSpPr>
          <p:nvPr/>
        </p:nvSpPr>
        <p:spPr>
          <a:xfrm xmlns:a="http://schemas.openxmlformats.org/drawingml/2006/main">
            <a:off x="8515350" y="1609725"/>
            <a:ext cx="2743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174C4F"/>
                </a:solidFill>
                <a:latin typeface="Arial"/>
                <a:ea typeface="Arial"/>
                <a:cs typeface="Arial"/>
              </a:defRPr>
            </a:defPPr>
            <a:lvl1pPr>
              <a:defRPr sz="1425" b="1">
                <a:solidFill>
                  <a:srgbClr val="174C4F"/>
                </a:solidFill>
                <a:latin typeface="Arial"/>
                <a:ea typeface="Arial"/>
                <a:cs typeface="Arial"/>
              </a:defRPr>
            </a:lvl1pPr>
            <a:lvl2pPr>
              <a:defRPr sz="1425" b="1">
                <a:solidFill>
                  <a:srgbClr val="174C4F"/>
                </a:solidFill>
                <a:latin typeface="Arial"/>
                <a:ea typeface="Arial"/>
                <a:cs typeface="Arial"/>
              </a:defRPr>
            </a:lvl2pPr>
            <a:lvl3pPr>
              <a:defRPr sz="1425" b="1">
                <a:solidFill>
                  <a:srgbClr val="174C4F"/>
                </a:solidFill>
                <a:latin typeface="Arial"/>
                <a:ea typeface="Arial"/>
                <a:cs typeface="Arial"/>
              </a:defRPr>
            </a:lvl3pPr>
            <a:lvl4pPr>
              <a:defRPr sz="1425" b="1">
                <a:solidFill>
                  <a:srgbClr val="174C4F"/>
                </a:solidFill>
                <a:latin typeface="Arial"/>
                <a:ea typeface="Arial"/>
                <a:cs typeface="Arial"/>
              </a:defRPr>
            </a:lvl4pPr>
            <a:lvl5pPr>
              <a:defRPr sz="1425" b="1">
                <a:solidFill>
                  <a:srgbClr val="174C4F"/>
                </a:solidFill>
                <a:latin typeface="Arial"/>
                <a:ea typeface="Arial"/>
                <a:cs typeface="Arial"/>
              </a:defRPr>
            </a:lvl5pPr>
            <a:lvl6pPr>
              <a:defRPr sz="1425" b="1">
                <a:solidFill>
                  <a:srgbClr val="174C4F"/>
                </a:solidFill>
                <a:latin typeface="Arial"/>
                <a:ea typeface="Arial"/>
                <a:cs typeface="Arial"/>
              </a:defRPr>
            </a:lvl6pPr>
            <a:lvl7pPr>
              <a:defRPr sz="1425" b="1">
                <a:solidFill>
                  <a:srgbClr val="174C4F"/>
                </a:solidFill>
                <a:latin typeface="Arial"/>
                <a:ea typeface="Arial"/>
                <a:cs typeface="Arial"/>
              </a:defRPr>
            </a:lvl7pPr>
            <a:lvl8pPr>
              <a:defRPr sz="1425" b="1">
                <a:solidFill>
                  <a:srgbClr val="174C4F"/>
                </a:solidFill>
                <a:latin typeface="Arial"/>
                <a:ea typeface="Arial"/>
                <a:cs typeface="Arial"/>
              </a:defRPr>
            </a:lvl8pPr>
            <a:lvl9pPr>
              <a:defRPr sz="1425" b="1">
                <a:solidFill>
                  <a:srgbClr val="174C4F"/>
                </a:solidFill>
                <a:latin typeface="Arial"/>
                <a:ea typeface="Arial"/>
                <a:cs typeface="Arial"/>
              </a:defRPr>
            </a:lvl9pPr>
          </a:lstStyle>
          <a:p xmlns:a="http://schemas.openxmlformats.org/drawingml/2006/main">
            <a:pPr>
              <a:defRPr sz="1425" b="1">
                <a:solidFill>
                  <a:srgbClr val="174C4F"/>
                </a:solidFill>
                <a:latin typeface="Arial"/>
                <a:ea typeface="Arial"/>
                <a:cs typeface="Arial"/>
              </a:defRPr>
            </a:pPr>
            <a:r>
              <a:rPr sz="1425" b="1">
                <a:solidFill>
                  <a:srgbClr val="174C4F"/>
                </a:solidFill>
                <a:latin typeface="Arial"/>
                <a:ea typeface="Arial"/>
                <a:cs typeface="Arial"/>
              </a:rPr>
              <a:t>Kupiec: frequency</a:t>
            </a:r>
          </a:p>
        </p:txBody>
      </p:sp>
      <p:sp>
        <p:nvSpPr>
          <p:cNvPr id="8" name="">
            <a:extLst xmlns:a="http://schemas.openxmlformats.org/drawingml/2006/main">
              <a:ext uri="{FF2B5EF4-FFF2-40B4-BE49-F238E27FC236}">
                <a16:creationId xmlns:a16="http://schemas.microsoft.com/office/drawing/2014/main" id="{FF5AD791-7FB7-4C1C-A98C-283396304E49}"/>
              </a:ext>
            </a:extLst>
          </p:cNvPr>
          <p:cNvSpPr>
            <a:spLocks xmlns:a="http://schemas.openxmlformats.org/drawingml/2006/main" noGrp="1"/>
          </p:cNvSpPr>
          <p:nvPr/>
        </p:nvSpPr>
        <p:spPr>
          <a:xfrm xmlns:a="http://schemas.openxmlformats.org/drawingml/2006/main">
            <a:off x="8515350" y="1914525"/>
            <a:ext cx="27432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All four pass: total exceptions are close to 31.1 expected.</a:t>
            </a:r>
          </a:p>
        </p:txBody>
      </p:sp>
      <p:sp>
        <p:nvSpPr>
          <p:cNvPr id="9" name="">
            <a:extLst xmlns:a="http://schemas.openxmlformats.org/drawingml/2006/main">
              <a:ext uri="{FF2B5EF4-FFF2-40B4-BE49-F238E27FC236}">
                <a16:creationId xmlns:a16="http://schemas.microsoft.com/office/drawing/2014/main" id="{C833CA1D-D0F6-4E78-9C1C-2B580FD178C2}"/>
              </a:ext>
            </a:extLst>
          </p:cNvPr>
          <p:cNvSpPr>
            <a:spLocks xmlns:a="http://schemas.openxmlformats.org/drawingml/2006/main" noGrp="1"/>
          </p:cNvSpPr>
          <p:nvPr/>
        </p:nvSpPr>
        <p:spPr>
          <a:xfrm xmlns:a="http://schemas.openxmlformats.org/drawingml/2006/main">
            <a:off x="8286750" y="2705100"/>
            <a:ext cx="3124200" cy="1047750"/>
          </a:xfrm>
          <a:prstGeom xmlns:a="http://schemas.openxmlformats.org/drawingml/2006/main" prst="roundRect">
            <a:avLst>
              <a:gd name="adj" fmla="val 7273"/>
            </a:avLst>
          </a:prstGeom>
          <a:solidFill xmlns:a="http://schemas.openxmlformats.org/drawingml/2006/main">
            <a:srgbClr val="F1E2BE"/>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1F1A32B-12D2-429D-89C0-11BA859A3546}"/>
              </a:ext>
            </a:extLst>
          </p:cNvPr>
          <p:cNvSpPr>
            <a:spLocks xmlns:a="http://schemas.openxmlformats.org/drawingml/2006/main" noGrp="1"/>
          </p:cNvSpPr>
          <p:nvPr/>
        </p:nvSpPr>
        <p:spPr>
          <a:xfrm xmlns:a="http://schemas.openxmlformats.org/drawingml/2006/main">
            <a:off x="8286750" y="2705100"/>
            <a:ext cx="66675" cy="1047750"/>
          </a:xfrm>
          <a:prstGeom xmlns:a="http://schemas.openxmlformats.org/drawingml/2006/main" prst="rect">
            <a:avLst/>
          </a:prstGeom>
          <a:solidFill xmlns:a="http://schemas.openxmlformats.org/drawingml/2006/main">
            <a:srgbClr val="7A5A1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31A28C3-48D4-4FDC-999C-C64E0A81F135}"/>
              </a:ext>
            </a:extLst>
          </p:cNvPr>
          <p:cNvSpPr>
            <a:spLocks xmlns:a="http://schemas.openxmlformats.org/drawingml/2006/main" noGrp="1"/>
          </p:cNvSpPr>
          <p:nvPr/>
        </p:nvSpPr>
        <p:spPr>
          <a:xfrm xmlns:a="http://schemas.openxmlformats.org/drawingml/2006/main">
            <a:off x="8515350" y="2847975"/>
            <a:ext cx="2743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7A5A1E"/>
                </a:solidFill>
                <a:latin typeface="Arial"/>
                <a:ea typeface="Arial"/>
                <a:cs typeface="Arial"/>
              </a:defRPr>
            </a:defPPr>
            <a:lvl1pPr>
              <a:defRPr sz="1425" b="1">
                <a:solidFill>
                  <a:srgbClr val="7A5A1E"/>
                </a:solidFill>
                <a:latin typeface="Arial"/>
                <a:ea typeface="Arial"/>
                <a:cs typeface="Arial"/>
              </a:defRPr>
            </a:lvl1pPr>
            <a:lvl2pPr>
              <a:defRPr sz="1425" b="1">
                <a:solidFill>
                  <a:srgbClr val="7A5A1E"/>
                </a:solidFill>
                <a:latin typeface="Arial"/>
                <a:ea typeface="Arial"/>
                <a:cs typeface="Arial"/>
              </a:defRPr>
            </a:lvl2pPr>
            <a:lvl3pPr>
              <a:defRPr sz="1425" b="1">
                <a:solidFill>
                  <a:srgbClr val="7A5A1E"/>
                </a:solidFill>
                <a:latin typeface="Arial"/>
                <a:ea typeface="Arial"/>
                <a:cs typeface="Arial"/>
              </a:defRPr>
            </a:lvl3pPr>
            <a:lvl4pPr>
              <a:defRPr sz="1425" b="1">
                <a:solidFill>
                  <a:srgbClr val="7A5A1E"/>
                </a:solidFill>
                <a:latin typeface="Arial"/>
                <a:ea typeface="Arial"/>
                <a:cs typeface="Arial"/>
              </a:defRPr>
            </a:lvl4pPr>
            <a:lvl5pPr>
              <a:defRPr sz="1425" b="1">
                <a:solidFill>
                  <a:srgbClr val="7A5A1E"/>
                </a:solidFill>
                <a:latin typeface="Arial"/>
                <a:ea typeface="Arial"/>
                <a:cs typeface="Arial"/>
              </a:defRPr>
            </a:lvl5pPr>
            <a:lvl6pPr>
              <a:defRPr sz="1425" b="1">
                <a:solidFill>
                  <a:srgbClr val="7A5A1E"/>
                </a:solidFill>
                <a:latin typeface="Arial"/>
                <a:ea typeface="Arial"/>
                <a:cs typeface="Arial"/>
              </a:defRPr>
            </a:lvl6pPr>
            <a:lvl7pPr>
              <a:defRPr sz="1425" b="1">
                <a:solidFill>
                  <a:srgbClr val="7A5A1E"/>
                </a:solidFill>
                <a:latin typeface="Arial"/>
                <a:ea typeface="Arial"/>
                <a:cs typeface="Arial"/>
              </a:defRPr>
            </a:lvl7pPr>
            <a:lvl8pPr>
              <a:defRPr sz="1425" b="1">
                <a:solidFill>
                  <a:srgbClr val="7A5A1E"/>
                </a:solidFill>
                <a:latin typeface="Arial"/>
                <a:ea typeface="Arial"/>
                <a:cs typeface="Arial"/>
              </a:defRPr>
            </a:lvl8pPr>
            <a:lvl9pPr>
              <a:defRPr sz="1425" b="1">
                <a:solidFill>
                  <a:srgbClr val="7A5A1E"/>
                </a:solidFill>
                <a:latin typeface="Arial"/>
                <a:ea typeface="Arial"/>
                <a:cs typeface="Arial"/>
              </a:defRPr>
            </a:lvl9pPr>
          </a:lstStyle>
          <a:p xmlns:a="http://schemas.openxmlformats.org/drawingml/2006/main">
            <a:pPr>
              <a:defRPr sz="1425" b="1">
                <a:solidFill>
                  <a:srgbClr val="7A5A1E"/>
                </a:solidFill>
                <a:latin typeface="Arial"/>
                <a:ea typeface="Arial"/>
                <a:cs typeface="Arial"/>
              </a:defRPr>
            </a:pPr>
            <a:r>
              <a:rPr sz="1425" b="1">
                <a:solidFill>
                  <a:srgbClr val="7A5A1E"/>
                </a:solidFill>
                <a:latin typeface="Arial"/>
                <a:ea typeface="Arial"/>
                <a:cs typeface="Arial"/>
              </a:rPr>
              <a:t>Christoffersen: timing</a:t>
            </a:r>
          </a:p>
        </p:txBody>
      </p:sp>
      <p:sp>
        <p:nvSpPr>
          <p:cNvPr id="12" name="">
            <a:extLst xmlns:a="http://schemas.openxmlformats.org/drawingml/2006/main">
              <a:ext uri="{FF2B5EF4-FFF2-40B4-BE49-F238E27FC236}">
                <a16:creationId xmlns:a16="http://schemas.microsoft.com/office/drawing/2014/main" id="{73A67686-9CEF-4D8B-A44E-97FC39D0D317}"/>
              </a:ext>
            </a:extLst>
          </p:cNvPr>
          <p:cNvSpPr>
            <a:spLocks xmlns:a="http://schemas.openxmlformats.org/drawingml/2006/main" noGrp="1"/>
          </p:cNvSpPr>
          <p:nvPr/>
        </p:nvSpPr>
        <p:spPr>
          <a:xfrm xmlns:a="http://schemas.openxmlformats.org/drawingml/2006/main">
            <a:off x="8515350" y="3152775"/>
            <a:ext cx="27432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Only GJR-HS passes at 5%; independence p = 0.056.</a:t>
            </a:r>
          </a:p>
        </p:txBody>
      </p:sp>
      <p:sp>
        <p:nvSpPr>
          <p:cNvPr id="13" name="">
            <a:extLst xmlns:a="http://schemas.openxmlformats.org/drawingml/2006/main">
              <a:ext uri="{FF2B5EF4-FFF2-40B4-BE49-F238E27FC236}">
                <a16:creationId xmlns:a16="http://schemas.microsoft.com/office/drawing/2014/main" id="{F44DDF4F-332F-4808-AA02-EE4BC098F598}"/>
              </a:ext>
            </a:extLst>
          </p:cNvPr>
          <p:cNvSpPr>
            <a:spLocks xmlns:a="http://schemas.openxmlformats.org/drawingml/2006/main" noGrp="1"/>
          </p:cNvSpPr>
          <p:nvPr/>
        </p:nvSpPr>
        <p:spPr>
          <a:xfrm xmlns:a="http://schemas.openxmlformats.org/drawingml/2006/main">
            <a:off x="8286750" y="3943350"/>
            <a:ext cx="3124200" cy="1047750"/>
          </a:xfrm>
          <a:prstGeom xmlns:a="http://schemas.openxmlformats.org/drawingml/2006/main" prst="roundRect">
            <a:avLst>
              <a:gd name="adj" fmla="val 7273"/>
            </a:avLst>
          </a:prstGeom>
          <a:solidFill xmlns:a="http://schemas.openxmlformats.org/drawingml/2006/main">
            <a:srgbClr val="DDE9E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66F875D-C9E7-49F7-BDBC-8A30FA32BCBE}"/>
              </a:ext>
            </a:extLst>
          </p:cNvPr>
          <p:cNvSpPr>
            <a:spLocks xmlns:a="http://schemas.openxmlformats.org/drawingml/2006/main" noGrp="1"/>
          </p:cNvSpPr>
          <p:nvPr/>
        </p:nvSpPr>
        <p:spPr>
          <a:xfrm xmlns:a="http://schemas.openxmlformats.org/drawingml/2006/main">
            <a:off x="8286750" y="3943350"/>
            <a:ext cx="66675" cy="1047750"/>
          </a:xfrm>
          <a:prstGeom xmlns:a="http://schemas.openxmlformats.org/drawingml/2006/main" prst="rect">
            <a:avLst/>
          </a:prstGeom>
          <a:solidFill xmlns:a="http://schemas.openxmlformats.org/drawingml/2006/main">
            <a:srgbClr val="174C4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38EA59C-FA59-442F-B339-E42FA08CD329}"/>
              </a:ext>
            </a:extLst>
          </p:cNvPr>
          <p:cNvSpPr>
            <a:spLocks xmlns:a="http://schemas.openxmlformats.org/drawingml/2006/main" noGrp="1"/>
          </p:cNvSpPr>
          <p:nvPr/>
        </p:nvSpPr>
        <p:spPr>
          <a:xfrm xmlns:a="http://schemas.openxmlformats.org/drawingml/2006/main">
            <a:off x="8515350" y="4086225"/>
            <a:ext cx="2743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174C4F"/>
                </a:solidFill>
                <a:latin typeface="Arial"/>
                <a:ea typeface="Arial"/>
                <a:cs typeface="Arial"/>
              </a:defRPr>
            </a:defPPr>
            <a:lvl1pPr>
              <a:defRPr sz="1425" b="1">
                <a:solidFill>
                  <a:srgbClr val="174C4F"/>
                </a:solidFill>
                <a:latin typeface="Arial"/>
                <a:ea typeface="Arial"/>
                <a:cs typeface="Arial"/>
              </a:defRPr>
            </a:lvl1pPr>
            <a:lvl2pPr>
              <a:defRPr sz="1425" b="1">
                <a:solidFill>
                  <a:srgbClr val="174C4F"/>
                </a:solidFill>
                <a:latin typeface="Arial"/>
                <a:ea typeface="Arial"/>
                <a:cs typeface="Arial"/>
              </a:defRPr>
            </a:lvl2pPr>
            <a:lvl3pPr>
              <a:defRPr sz="1425" b="1">
                <a:solidFill>
                  <a:srgbClr val="174C4F"/>
                </a:solidFill>
                <a:latin typeface="Arial"/>
                <a:ea typeface="Arial"/>
                <a:cs typeface="Arial"/>
              </a:defRPr>
            </a:lvl3pPr>
            <a:lvl4pPr>
              <a:defRPr sz="1425" b="1">
                <a:solidFill>
                  <a:srgbClr val="174C4F"/>
                </a:solidFill>
                <a:latin typeface="Arial"/>
                <a:ea typeface="Arial"/>
                <a:cs typeface="Arial"/>
              </a:defRPr>
            </a:lvl4pPr>
            <a:lvl5pPr>
              <a:defRPr sz="1425" b="1">
                <a:solidFill>
                  <a:srgbClr val="174C4F"/>
                </a:solidFill>
                <a:latin typeface="Arial"/>
                <a:ea typeface="Arial"/>
                <a:cs typeface="Arial"/>
              </a:defRPr>
            </a:lvl5pPr>
            <a:lvl6pPr>
              <a:defRPr sz="1425" b="1">
                <a:solidFill>
                  <a:srgbClr val="174C4F"/>
                </a:solidFill>
                <a:latin typeface="Arial"/>
                <a:ea typeface="Arial"/>
                <a:cs typeface="Arial"/>
              </a:defRPr>
            </a:lvl6pPr>
            <a:lvl7pPr>
              <a:defRPr sz="1425" b="1">
                <a:solidFill>
                  <a:srgbClr val="174C4F"/>
                </a:solidFill>
                <a:latin typeface="Arial"/>
                <a:ea typeface="Arial"/>
                <a:cs typeface="Arial"/>
              </a:defRPr>
            </a:lvl7pPr>
            <a:lvl8pPr>
              <a:defRPr sz="1425" b="1">
                <a:solidFill>
                  <a:srgbClr val="174C4F"/>
                </a:solidFill>
                <a:latin typeface="Arial"/>
                <a:ea typeface="Arial"/>
                <a:cs typeface="Arial"/>
              </a:defRPr>
            </a:lvl8pPr>
            <a:lvl9pPr>
              <a:defRPr sz="1425" b="1">
                <a:solidFill>
                  <a:srgbClr val="174C4F"/>
                </a:solidFill>
                <a:latin typeface="Arial"/>
                <a:ea typeface="Arial"/>
                <a:cs typeface="Arial"/>
              </a:defRPr>
            </a:lvl9pPr>
          </a:lstStyle>
          <a:p xmlns:a="http://schemas.openxmlformats.org/drawingml/2006/main">
            <a:pPr>
              <a:defRPr sz="1425" b="1">
                <a:solidFill>
                  <a:srgbClr val="174C4F"/>
                </a:solidFill>
                <a:latin typeface="Arial"/>
                <a:ea typeface="Arial"/>
                <a:cs typeface="Arial"/>
              </a:defRPr>
            </a:pPr>
            <a:r>
              <a:rPr sz="1425" b="1">
                <a:solidFill>
                  <a:srgbClr val="174C4F"/>
                </a:solidFill>
                <a:latin typeface="Arial"/>
                <a:ea typeface="Arial"/>
                <a:cs typeface="Arial"/>
              </a:rPr>
              <a:t>Conditional coverage</a:t>
            </a:r>
          </a:p>
        </p:txBody>
      </p:sp>
      <p:sp>
        <p:nvSpPr>
          <p:cNvPr id="16" name="">
            <a:extLst xmlns:a="http://schemas.openxmlformats.org/drawingml/2006/main">
              <a:ext uri="{FF2B5EF4-FFF2-40B4-BE49-F238E27FC236}">
                <a16:creationId xmlns:a16="http://schemas.microsoft.com/office/drawing/2014/main" id="{B1CCCC14-98DE-47D3-9DF4-C570F115D5B7}"/>
              </a:ext>
            </a:extLst>
          </p:cNvPr>
          <p:cNvSpPr>
            <a:spLocks xmlns:a="http://schemas.openxmlformats.org/drawingml/2006/main" noGrp="1"/>
          </p:cNvSpPr>
          <p:nvPr/>
        </p:nvSpPr>
        <p:spPr>
          <a:xfrm xmlns:a="http://schemas.openxmlformats.org/drawingml/2006/main">
            <a:off x="8515350" y="4391025"/>
            <a:ext cx="27432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GJR-HS passes the joint count-and-timing test and ranks first.</a:t>
            </a:r>
          </a:p>
        </p:txBody>
      </p:sp>
      <p:sp>
        <p:nvSpPr>
          <p:cNvPr id="17" name="">
            <a:extLst xmlns:a="http://schemas.openxmlformats.org/drawingml/2006/main">
              <a:ext uri="{FF2B5EF4-FFF2-40B4-BE49-F238E27FC236}">
                <a16:creationId xmlns:a16="http://schemas.microsoft.com/office/drawing/2014/main" id="{325BD461-C065-4C9F-82DE-A8FD7521CD6B}"/>
              </a:ext>
            </a:extLst>
          </p:cNvPr>
          <p:cNvSpPr>
            <a:spLocks xmlns:a="http://schemas.openxmlformats.org/drawingml/2006/main" noGrp="1"/>
          </p:cNvSpPr>
          <p:nvPr/>
        </p:nvSpPr>
        <p:spPr>
          <a:xfrm xmlns:a="http://schemas.openxmlformats.org/drawingml/2006/main">
            <a:off x="895350" y="5505450"/>
            <a:ext cx="971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275" b="1">
                <a:solidFill>
                  <a:srgbClr val="1B2928"/>
                </a:solidFill>
                <a:latin typeface="Arial"/>
                <a:ea typeface="Arial"/>
                <a:cs typeface="Arial"/>
              </a:defRPr>
            </a:defPPr>
            <a:lvl1pPr algn="ctr">
              <a:defRPr sz="1275" b="1">
                <a:solidFill>
                  <a:srgbClr val="1B2928"/>
                </a:solidFill>
                <a:latin typeface="Arial"/>
                <a:ea typeface="Arial"/>
                <a:cs typeface="Arial"/>
              </a:defRPr>
            </a:lvl1pPr>
            <a:lvl2pPr algn="ctr">
              <a:defRPr sz="1275" b="1">
                <a:solidFill>
                  <a:srgbClr val="1B2928"/>
                </a:solidFill>
                <a:latin typeface="Arial"/>
                <a:ea typeface="Arial"/>
                <a:cs typeface="Arial"/>
              </a:defRPr>
            </a:lvl2pPr>
            <a:lvl3pPr algn="ctr">
              <a:defRPr sz="1275" b="1">
                <a:solidFill>
                  <a:srgbClr val="1B2928"/>
                </a:solidFill>
                <a:latin typeface="Arial"/>
                <a:ea typeface="Arial"/>
                <a:cs typeface="Arial"/>
              </a:defRPr>
            </a:lvl3pPr>
            <a:lvl4pPr algn="ctr">
              <a:defRPr sz="1275" b="1">
                <a:solidFill>
                  <a:srgbClr val="1B2928"/>
                </a:solidFill>
                <a:latin typeface="Arial"/>
                <a:ea typeface="Arial"/>
                <a:cs typeface="Arial"/>
              </a:defRPr>
            </a:lvl4pPr>
            <a:lvl5pPr algn="ctr">
              <a:defRPr sz="1275" b="1">
                <a:solidFill>
                  <a:srgbClr val="1B2928"/>
                </a:solidFill>
                <a:latin typeface="Arial"/>
                <a:ea typeface="Arial"/>
                <a:cs typeface="Arial"/>
              </a:defRPr>
            </a:lvl5pPr>
            <a:lvl6pPr algn="ctr">
              <a:defRPr sz="1275" b="1">
                <a:solidFill>
                  <a:srgbClr val="1B2928"/>
                </a:solidFill>
                <a:latin typeface="Arial"/>
                <a:ea typeface="Arial"/>
                <a:cs typeface="Arial"/>
              </a:defRPr>
            </a:lvl6pPr>
            <a:lvl7pPr algn="ctr">
              <a:defRPr sz="1275" b="1">
                <a:solidFill>
                  <a:srgbClr val="1B2928"/>
                </a:solidFill>
                <a:latin typeface="Arial"/>
                <a:ea typeface="Arial"/>
                <a:cs typeface="Arial"/>
              </a:defRPr>
            </a:lvl7pPr>
            <a:lvl8pPr algn="ctr">
              <a:defRPr sz="1275" b="1">
                <a:solidFill>
                  <a:srgbClr val="1B2928"/>
                </a:solidFill>
                <a:latin typeface="Arial"/>
                <a:ea typeface="Arial"/>
                <a:cs typeface="Arial"/>
              </a:defRPr>
            </a:lvl8pPr>
            <a:lvl9pPr algn="ctr">
              <a:defRPr sz="1275" b="1">
                <a:solidFill>
                  <a:srgbClr val="1B2928"/>
                </a:solidFill>
                <a:latin typeface="Arial"/>
                <a:ea typeface="Arial"/>
                <a:cs typeface="Arial"/>
              </a:defRPr>
            </a:lvl9pPr>
          </a:lstStyle>
          <a:p xmlns:a="http://schemas.openxmlformats.org/drawingml/2006/main">
            <a:pPr algn="ctr">
              <a:defRPr sz="1275" b="1">
                <a:solidFill>
                  <a:srgbClr val="1B2928"/>
                </a:solidFill>
                <a:latin typeface="Arial"/>
                <a:ea typeface="Arial"/>
                <a:cs typeface="Arial"/>
              </a:defRPr>
            </a:pPr>
            <a:r>
              <a:rPr sz="1275" b="1">
                <a:solidFill>
                  <a:srgbClr val="1B2928"/>
                </a:solidFill>
                <a:latin typeface="Arial"/>
                <a:ea typeface="Arial"/>
                <a:cs typeface="Arial"/>
              </a:rPr>
              <a:t>5% decision rule: p &lt; 0.05 triggers rejection. A pass is evidence of adequacy, not proof of truth.</a:t>
            </a:r>
          </a:p>
        </p:txBody>
      </p:sp>
      <p:sp>
        <p:nvSpPr>
          <p:cNvPr id="18" name="">
            <a:extLst xmlns:a="http://schemas.openxmlformats.org/drawingml/2006/main">
              <a:ext uri="{FF2B5EF4-FFF2-40B4-BE49-F238E27FC236}">
                <a16:creationId xmlns:a16="http://schemas.microsoft.com/office/drawing/2014/main" id="{EF974AC9-6088-415E-8FD9-7D7A6242ED0D}"/>
              </a:ext>
            </a:extLst>
          </p:cNvPr>
          <p:cNvSpPr>
            <a:spLocks xmlns:a="http://schemas.openxmlformats.org/drawingml/2006/main" noGrp="1"/>
          </p:cNvSpPr>
          <p:nvPr/>
        </p:nvSpPr>
        <p:spPr>
          <a:xfrm xmlns:a="http://schemas.openxmlformats.org/drawingml/2006/main">
            <a:off x="609600" y="6362700"/>
            <a:ext cx="109728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497C30D-9711-4155-AC55-9E4CDD8A84D3}"/>
              </a:ext>
            </a:extLst>
          </p:cNvPr>
          <p:cNvSpPr>
            <a:spLocks xmlns:a="http://schemas.openxmlformats.org/drawingml/2006/main" noGrp="1"/>
          </p:cNvSpPr>
          <p:nvPr/>
        </p:nvSpPr>
        <p:spPr>
          <a:xfrm xmlns:a="http://schemas.openxmlformats.org/drawingml/2006/main">
            <a:off x="609600" y="6429375"/>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75">
                <a:solidFill>
                  <a:srgbClr val="5E6865"/>
                </a:solidFill>
                <a:latin typeface="Arial"/>
                <a:ea typeface="Arial"/>
                <a:cs typeface="Arial"/>
              </a:defRPr>
            </a:defPPr>
            <a:lvl1pPr>
              <a:defRPr sz="675">
                <a:solidFill>
                  <a:srgbClr val="5E6865"/>
                </a:solidFill>
                <a:latin typeface="Arial"/>
                <a:ea typeface="Arial"/>
                <a:cs typeface="Arial"/>
              </a:defRPr>
            </a:lvl1pPr>
            <a:lvl2pPr>
              <a:defRPr sz="675">
                <a:solidFill>
                  <a:srgbClr val="5E6865"/>
                </a:solidFill>
                <a:latin typeface="Arial"/>
                <a:ea typeface="Arial"/>
                <a:cs typeface="Arial"/>
              </a:defRPr>
            </a:lvl2pPr>
            <a:lvl3pPr>
              <a:defRPr sz="675">
                <a:solidFill>
                  <a:srgbClr val="5E6865"/>
                </a:solidFill>
                <a:latin typeface="Arial"/>
                <a:ea typeface="Arial"/>
                <a:cs typeface="Arial"/>
              </a:defRPr>
            </a:lvl3pPr>
            <a:lvl4pPr>
              <a:defRPr sz="675">
                <a:solidFill>
                  <a:srgbClr val="5E6865"/>
                </a:solidFill>
                <a:latin typeface="Arial"/>
                <a:ea typeface="Arial"/>
                <a:cs typeface="Arial"/>
              </a:defRPr>
            </a:lvl4pPr>
            <a:lvl5pPr>
              <a:defRPr sz="675">
                <a:solidFill>
                  <a:srgbClr val="5E6865"/>
                </a:solidFill>
                <a:latin typeface="Arial"/>
                <a:ea typeface="Arial"/>
                <a:cs typeface="Arial"/>
              </a:defRPr>
            </a:lvl5pPr>
            <a:lvl6pPr>
              <a:defRPr sz="675">
                <a:solidFill>
                  <a:srgbClr val="5E6865"/>
                </a:solidFill>
                <a:latin typeface="Arial"/>
                <a:ea typeface="Arial"/>
                <a:cs typeface="Arial"/>
              </a:defRPr>
            </a:lvl6pPr>
            <a:lvl7pPr>
              <a:defRPr sz="675">
                <a:solidFill>
                  <a:srgbClr val="5E6865"/>
                </a:solidFill>
                <a:latin typeface="Arial"/>
                <a:ea typeface="Arial"/>
                <a:cs typeface="Arial"/>
              </a:defRPr>
            </a:lvl7pPr>
            <a:lvl8pPr>
              <a:defRPr sz="675">
                <a:solidFill>
                  <a:srgbClr val="5E6865"/>
                </a:solidFill>
                <a:latin typeface="Arial"/>
                <a:ea typeface="Arial"/>
                <a:cs typeface="Arial"/>
              </a:defRPr>
            </a:lvl8pPr>
            <a:lvl9pPr>
              <a:defRPr sz="675">
                <a:solidFill>
                  <a:srgbClr val="5E6865"/>
                </a:solidFill>
                <a:latin typeface="Arial"/>
                <a:ea typeface="Arial"/>
                <a:cs typeface="Arial"/>
              </a:defRPr>
            </a:lvl9pPr>
          </a:lstStyle>
          <a:p xmlns:a="http://schemas.openxmlformats.org/drawingml/2006/main">
            <a:pPr>
              <a:defRPr sz="675">
                <a:solidFill>
                  <a:srgbClr val="5E6865"/>
                </a:solidFill>
                <a:latin typeface="Arial"/>
                <a:ea typeface="Arial"/>
                <a:cs typeface="Arial"/>
              </a:defRPr>
            </a:pPr>
            <a:r>
              <a:rPr sz="675">
                <a:solidFill>
                  <a:srgbClr val="5E6865"/>
                </a:solidFill>
                <a:latin typeface="Arial"/>
                <a:ea typeface="Arial"/>
                <a:cs typeface="Arial"/>
              </a:rPr>
              <a:t>Source: QFI_V2_report.docx; Advanced Equity Portfolio Risk Management brief; report_assets/results.json and presentation_backtest.json, as of 16 October 2026.</a:t>
            </a:r>
          </a:p>
        </p:txBody>
      </p:sp>
      <p:sp>
        <p:nvSpPr>
          <p:cNvPr id="20" name="">
            <a:extLst xmlns:a="http://schemas.openxmlformats.org/drawingml/2006/main">
              <a:ext uri="{FF2B5EF4-FFF2-40B4-BE49-F238E27FC236}">
                <a16:creationId xmlns:a16="http://schemas.microsoft.com/office/drawing/2014/main" id="{66EBD71B-0CA5-4D2B-BBA6-A51E93C88219}"/>
              </a:ext>
            </a:extLst>
          </p:cNvPr>
          <p:cNvSpPr>
            <a:spLocks xmlns:a="http://schemas.openxmlformats.org/drawingml/2006/main" noGrp="1"/>
          </p:cNvSpPr>
          <p:nvPr/>
        </p:nvSpPr>
        <p:spPr>
          <a:xfrm xmlns:a="http://schemas.openxmlformats.org/drawingml/2006/main">
            <a:off x="10839450" y="64008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174C4F"/>
                </a:solidFill>
                <a:latin typeface="Arial"/>
                <a:ea typeface="Arial"/>
                <a:cs typeface="Arial"/>
              </a:defRPr>
            </a:defPPr>
            <a:lvl1pPr algn="r">
              <a:defRPr sz="825" b="1">
                <a:solidFill>
                  <a:srgbClr val="174C4F"/>
                </a:solidFill>
                <a:latin typeface="Arial"/>
                <a:ea typeface="Arial"/>
                <a:cs typeface="Arial"/>
              </a:defRPr>
            </a:lvl1pPr>
            <a:lvl2pPr algn="r">
              <a:defRPr sz="825" b="1">
                <a:solidFill>
                  <a:srgbClr val="174C4F"/>
                </a:solidFill>
                <a:latin typeface="Arial"/>
                <a:ea typeface="Arial"/>
                <a:cs typeface="Arial"/>
              </a:defRPr>
            </a:lvl2pPr>
            <a:lvl3pPr algn="r">
              <a:defRPr sz="825" b="1">
                <a:solidFill>
                  <a:srgbClr val="174C4F"/>
                </a:solidFill>
                <a:latin typeface="Arial"/>
                <a:ea typeface="Arial"/>
                <a:cs typeface="Arial"/>
              </a:defRPr>
            </a:lvl3pPr>
            <a:lvl4pPr algn="r">
              <a:defRPr sz="825" b="1">
                <a:solidFill>
                  <a:srgbClr val="174C4F"/>
                </a:solidFill>
                <a:latin typeface="Arial"/>
                <a:ea typeface="Arial"/>
                <a:cs typeface="Arial"/>
              </a:defRPr>
            </a:lvl4pPr>
            <a:lvl5pPr algn="r">
              <a:defRPr sz="825" b="1">
                <a:solidFill>
                  <a:srgbClr val="174C4F"/>
                </a:solidFill>
                <a:latin typeface="Arial"/>
                <a:ea typeface="Arial"/>
                <a:cs typeface="Arial"/>
              </a:defRPr>
            </a:lvl5pPr>
            <a:lvl6pPr algn="r">
              <a:defRPr sz="825" b="1">
                <a:solidFill>
                  <a:srgbClr val="174C4F"/>
                </a:solidFill>
                <a:latin typeface="Arial"/>
                <a:ea typeface="Arial"/>
                <a:cs typeface="Arial"/>
              </a:defRPr>
            </a:lvl6pPr>
            <a:lvl7pPr algn="r">
              <a:defRPr sz="825" b="1">
                <a:solidFill>
                  <a:srgbClr val="174C4F"/>
                </a:solidFill>
                <a:latin typeface="Arial"/>
                <a:ea typeface="Arial"/>
                <a:cs typeface="Arial"/>
              </a:defRPr>
            </a:lvl7pPr>
            <a:lvl8pPr algn="r">
              <a:defRPr sz="825" b="1">
                <a:solidFill>
                  <a:srgbClr val="174C4F"/>
                </a:solidFill>
                <a:latin typeface="Arial"/>
                <a:ea typeface="Arial"/>
                <a:cs typeface="Arial"/>
              </a:defRPr>
            </a:lvl8pPr>
            <a:lvl9pPr algn="r">
              <a:defRPr sz="825" b="1">
                <a:solidFill>
                  <a:srgbClr val="174C4F"/>
                </a:solidFill>
                <a:latin typeface="Arial"/>
                <a:ea typeface="Arial"/>
                <a:cs typeface="Arial"/>
              </a:defRPr>
            </a:lvl9pPr>
          </a:lstStyle>
          <a:p xmlns:a="http://schemas.openxmlformats.org/drawingml/2006/main">
            <a:pPr algn="r">
              <a:defRPr sz="825" b="1">
                <a:solidFill>
                  <a:srgbClr val="174C4F"/>
                </a:solidFill>
                <a:latin typeface="Arial"/>
                <a:ea typeface="Arial"/>
                <a:cs typeface="Arial"/>
              </a:defRPr>
            </a:pPr>
            <a:r>
              <a:rPr sz="825" b="1">
                <a:solidFill>
                  <a:srgbClr val="174C4F"/>
                </a:solidFill>
                <a:latin typeface="Arial"/>
                <a:ea typeface="Arial"/>
                <a:cs typeface="Arial"/>
              </a:rPr>
              <a:t>09</a:t>
            </a:r>
          </a:p>
        </p:txBody>
      </p:sp>
    </p:spTree>
    <p:extLst>
      <p:ext uri="{BB962C8B-B14F-4D97-AF65-F5344CB8AC3E}">
        <p14:creationId xmlns:p14="http://schemas.microsoft.com/office/powerpoint/2010/main" val="1101725542"/>
      </p:ext>
    </p:extLst>
  </p:cSld>
</p:sld>
</file>

<file path=ppt/slides/slide10.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F93CB48-223E-462D-A072-B686ADAE595E}"/>
              </a:ext>
            </a:extLst>
          </p:cNvPr>
          <p:cNvSpPr>
            <a:spLocks xmlns:a="http://schemas.openxmlformats.org/drawingml/2006/main" noGrp="1"/>
          </p:cNvSpPr>
          <p:nvPr/>
        </p:nvSpPr>
        <p:spPr>
          <a:xfrm xmlns:a="http://schemas.openxmlformats.org/drawingml/2006/main">
            <a:off x="609600" y="4000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B2928"/>
                </a:solidFill>
                <a:latin typeface="Arial"/>
                <a:ea typeface="Arial"/>
                <a:cs typeface="Arial"/>
              </a:defRPr>
            </a:defPPr>
            <a:lvl1pPr>
              <a:defRPr sz="2550" b="1">
                <a:solidFill>
                  <a:srgbClr val="1B2928"/>
                </a:solidFill>
                <a:latin typeface="Arial"/>
                <a:ea typeface="Arial"/>
                <a:cs typeface="Arial"/>
              </a:defRPr>
            </a:lvl1pPr>
            <a:lvl2pPr>
              <a:defRPr sz="2550" b="1">
                <a:solidFill>
                  <a:srgbClr val="1B2928"/>
                </a:solidFill>
                <a:latin typeface="Arial"/>
                <a:ea typeface="Arial"/>
                <a:cs typeface="Arial"/>
              </a:defRPr>
            </a:lvl2pPr>
            <a:lvl3pPr>
              <a:defRPr sz="2550" b="1">
                <a:solidFill>
                  <a:srgbClr val="1B2928"/>
                </a:solidFill>
                <a:latin typeface="Arial"/>
                <a:ea typeface="Arial"/>
                <a:cs typeface="Arial"/>
              </a:defRPr>
            </a:lvl3pPr>
            <a:lvl4pPr>
              <a:defRPr sz="2550" b="1">
                <a:solidFill>
                  <a:srgbClr val="1B2928"/>
                </a:solidFill>
                <a:latin typeface="Arial"/>
                <a:ea typeface="Arial"/>
                <a:cs typeface="Arial"/>
              </a:defRPr>
            </a:lvl4pPr>
            <a:lvl5pPr>
              <a:defRPr sz="2550" b="1">
                <a:solidFill>
                  <a:srgbClr val="1B2928"/>
                </a:solidFill>
                <a:latin typeface="Arial"/>
                <a:ea typeface="Arial"/>
                <a:cs typeface="Arial"/>
              </a:defRPr>
            </a:lvl5pPr>
            <a:lvl6pPr>
              <a:defRPr sz="2550" b="1">
                <a:solidFill>
                  <a:srgbClr val="1B2928"/>
                </a:solidFill>
                <a:latin typeface="Arial"/>
                <a:ea typeface="Arial"/>
                <a:cs typeface="Arial"/>
              </a:defRPr>
            </a:lvl6pPr>
            <a:lvl7pPr>
              <a:defRPr sz="2550" b="1">
                <a:solidFill>
                  <a:srgbClr val="1B2928"/>
                </a:solidFill>
                <a:latin typeface="Arial"/>
                <a:ea typeface="Arial"/>
                <a:cs typeface="Arial"/>
              </a:defRPr>
            </a:lvl7pPr>
            <a:lvl8pPr>
              <a:defRPr sz="2550" b="1">
                <a:solidFill>
                  <a:srgbClr val="1B2928"/>
                </a:solidFill>
                <a:latin typeface="Arial"/>
                <a:ea typeface="Arial"/>
                <a:cs typeface="Arial"/>
              </a:defRPr>
            </a:lvl8pPr>
            <a:lvl9pPr>
              <a:defRPr sz="2550" b="1">
                <a:solidFill>
                  <a:srgbClr val="1B2928"/>
                </a:solidFill>
                <a:latin typeface="Arial"/>
                <a:ea typeface="Arial"/>
                <a:cs typeface="Arial"/>
              </a:defRPr>
            </a:lvl9pPr>
          </a:lstStyle>
          <a:p xmlns:a="http://schemas.openxmlformats.org/drawingml/2006/main">
            <a:pPr>
              <a:defRPr sz="2550" b="1">
                <a:solidFill>
                  <a:srgbClr val="1B2928"/>
                </a:solidFill>
                <a:latin typeface="Arial"/>
                <a:ea typeface="Arial"/>
                <a:cs typeface="Arial"/>
              </a:defRPr>
            </a:pPr>
            <a:r>
              <a:rPr sz="2550" b="1">
                <a:solidFill>
                  <a:srgbClr val="1B2928"/>
                </a:solidFill>
                <a:latin typeface="Arial"/>
                <a:ea typeface="Arial"/>
                <a:cs typeface="Arial"/>
              </a:rPr>
              <a:t>The largest exceptions are economically meaningful</a:t>
            </a:r>
          </a:p>
        </p:txBody>
      </p:sp>
      <p:sp>
        <p:nvSpPr>
          <p:cNvPr id="2" name="">
            <a:extLst xmlns:a="http://schemas.openxmlformats.org/drawingml/2006/main">
              <a:ext uri="{FF2B5EF4-FFF2-40B4-BE49-F238E27FC236}">
                <a16:creationId xmlns:a16="http://schemas.microsoft.com/office/drawing/2014/main" id="{85E8BD51-0E2A-472C-8E4B-C8CED0EC14D3}"/>
              </a:ext>
            </a:extLst>
          </p:cNvPr>
          <p:cNvSpPr>
            <a:spLocks xmlns:a="http://schemas.openxmlformats.org/drawingml/2006/main" noGrp="1"/>
          </p:cNvSpPr>
          <p:nvPr/>
        </p:nvSpPr>
        <p:spPr>
          <a:xfrm xmlns:a="http://schemas.openxmlformats.org/drawingml/2006/main">
            <a:off x="609600" y="981075"/>
            <a:ext cx="685800" cy="47625"/>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81D7D9B-8567-4C61-B7A4-9BBBCF0D95CD}"/>
              </a:ext>
            </a:extLst>
          </p:cNvPr>
          <p:cNvSpPr>
            <a:spLocks xmlns:a="http://schemas.openxmlformats.org/drawingml/2006/main" noGrp="1"/>
          </p:cNvSpPr>
          <p:nvPr/>
        </p:nvSpPr>
        <p:spPr>
          <a:xfrm xmlns:a="http://schemas.openxmlformats.org/drawingml/2006/main">
            <a:off x="1466850" y="866775"/>
            <a:ext cx="962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Worst GJR-HS breaches in the full backtest, sorted by realized loss</a:t>
            </a:r>
          </a:p>
        </p:txBody>
      </p:sp>
      <p:graphicFrame>
        <p:nvGraphicFramePr>
          <p:cNvPr id="4" name="">
            <a:extLst xmlns:a="http://schemas.openxmlformats.org/drawingml/2006/main">
              <a:ext uri="{FF2B5EF4-FFF2-40B4-BE49-F238E27FC236}">
                <a16:creationId xmlns:a16="http://schemas.microsoft.com/office/drawing/2014/main" id="{9F03DFA4-7C57-40D3-83E6-DED8D689FA66}"/>
              </a:ext>
            </a:extLst>
          </p:cNvPr>
          <p:cNvGraphicFramePr/>
          <p:nvPr/>
        </p:nvGraphicFramePr>
        <p:xfrm>
          <a:off xmlns:a="http://schemas.openxmlformats.org/drawingml/2006/main" x="552450" y="1485900"/>
          <a:ext xmlns:a="http://schemas.openxmlformats.org/drawingml/2006/main" cx="11087100" cy="3657600"/>
        </p:xfrm>
        <a:graphic xmlns:a="http://schemas.openxmlformats.org/drawingml/2006/main">
          <a:graphicData uri="http://schemas.openxmlformats.org/drawingml/2006/table">
            <a:tbl>
              <a:tblPr firstRow="1" bandRow="1"/>
              <a:tblGrid>
                <a:gridCol w="1847850"/>
                <a:gridCol w="2008533"/>
                <a:gridCol w="2008533"/>
                <a:gridCol w="1847850"/>
                <a:gridCol w="3374335"/>
              </a:tblGrid>
              <a:tr h="522514">
                <a:tc>
                  <a:txBody>
                    <a:bodyPr/>
                    <a:lstStyle/>
                    <a:p>
                      <a:r>
                        <a:rPr sz="1125" b="1">
                          <a:solidFill>
                            <a:srgbClr val="FFFEFB"/>
                          </a:solidFill>
                          <a:latin typeface="Arial"/>
                          <a:ea typeface="Arial"/>
                          <a:cs typeface="Arial"/>
                        </a:rPr>
                        <a:t>Date</a:t>
                      </a:r>
                    </a:p>
                  </a:txBody>
                  <a:tcPr marL="76200" marR="76200" marT="66675" marB="66675">
                    <a:lnL w="9525">
                      <a:solidFill>
                        <a:srgbClr val="D7D0C1"/>
                      </a:solidFill>
                      <a:prstDash val="solid"/>
                    </a:lnL>
                    <a:lnR w="9525">
                      <a:solidFill>
                        <a:srgbClr val="D7D0C1"/>
                      </a:solidFill>
                      <a:prstDash val="solid"/>
                    </a:lnR>
                    <a:lnT w="9525">
                      <a:solidFill>
                        <a:srgbClr val="D7D0C1"/>
                      </a:solidFill>
                      <a:prstDash val="solid"/>
                    </a:lnT>
                    <a:lnB w="9525">
                      <a:solidFill>
                        <a:srgbClr val="D7D0C1"/>
                      </a:solidFill>
                      <a:prstDash val="solid"/>
                    </a:lnB>
                    <a:solidFill>
                      <a:srgbClr val="174C4F"/>
                    </a:solidFill>
                  </a:tcPr>
                </a:tc>
                <a:tc>
                  <a:txBody>
                    <a:bodyPr/>
                    <a:lstStyle/>
                    <a:p>
                      <a:r>
                        <a:rPr sz="1125" b="1">
                          <a:solidFill>
                            <a:srgbClr val="FFFEFB"/>
                          </a:solidFill>
                          <a:latin typeface="Arial"/>
                          <a:ea typeface="Arial"/>
                          <a:cs typeface="Arial"/>
                        </a:rPr>
                        <a:t>Realized loss</a:t>
                      </a:r>
                    </a:p>
                  </a:txBody>
                  <a:tcPr marL="76200" marR="76200" marT="66675" marB="66675">
                    <a:lnR w="9525">
                      <a:solidFill>
                        <a:srgbClr val="D7D0C1"/>
                      </a:solidFill>
                      <a:prstDash val="solid"/>
                    </a:lnR>
                    <a:lnT w="9525">
                      <a:solidFill>
                        <a:srgbClr val="D7D0C1"/>
                      </a:solidFill>
                      <a:prstDash val="solid"/>
                    </a:lnT>
                    <a:lnB w="9525">
                      <a:solidFill>
                        <a:srgbClr val="D7D0C1"/>
                      </a:solidFill>
                      <a:prstDash val="solid"/>
                    </a:lnB>
                    <a:solidFill>
                      <a:srgbClr val="174C4F"/>
                    </a:solidFill>
                  </a:tcPr>
                </a:tc>
                <a:tc>
                  <a:txBody>
                    <a:bodyPr/>
                    <a:lstStyle/>
                    <a:p>
                      <a:r>
                        <a:rPr sz="1125" b="1">
                          <a:solidFill>
                            <a:srgbClr val="FFFEFB"/>
                          </a:solidFill>
                          <a:latin typeface="Arial"/>
                          <a:ea typeface="Arial"/>
                          <a:cs typeface="Arial"/>
                        </a:rPr>
                        <a:t>VaR forecast</a:t>
                      </a:r>
                    </a:p>
                  </a:txBody>
                  <a:tcPr marL="76200" marR="76200" marT="66675" marB="66675">
                    <a:lnR w="9525">
                      <a:solidFill>
                        <a:srgbClr val="D7D0C1"/>
                      </a:solidFill>
                      <a:prstDash val="solid"/>
                    </a:lnR>
                    <a:lnT w="9525">
                      <a:solidFill>
                        <a:srgbClr val="D7D0C1"/>
                      </a:solidFill>
                      <a:prstDash val="solid"/>
                    </a:lnT>
                    <a:lnB w="9525">
                      <a:solidFill>
                        <a:srgbClr val="D7D0C1"/>
                      </a:solidFill>
                      <a:prstDash val="solid"/>
                    </a:lnB>
                    <a:solidFill>
                      <a:srgbClr val="174C4F"/>
                    </a:solidFill>
                  </a:tcPr>
                </a:tc>
                <a:tc>
                  <a:txBody>
                    <a:bodyPr/>
                    <a:lstStyle/>
                    <a:p>
                      <a:r>
                        <a:rPr sz="1125" b="1">
                          <a:solidFill>
                            <a:srgbClr val="FFFEFB"/>
                          </a:solidFill>
                          <a:latin typeface="Arial"/>
                          <a:ea typeface="Arial"/>
                          <a:cs typeface="Arial"/>
                        </a:rPr>
                        <a:t>Excess</a:t>
                      </a:r>
                    </a:p>
                  </a:txBody>
                  <a:tcPr marL="76200" marR="76200" marT="66675" marB="66675">
                    <a:lnR w="9525">
                      <a:solidFill>
                        <a:srgbClr val="D7D0C1"/>
                      </a:solidFill>
                      <a:prstDash val="solid"/>
                    </a:lnR>
                    <a:lnT w="9525">
                      <a:solidFill>
                        <a:srgbClr val="D7D0C1"/>
                      </a:solidFill>
                      <a:prstDash val="solid"/>
                    </a:lnT>
                    <a:lnB w="9525">
                      <a:solidFill>
                        <a:srgbClr val="D7D0C1"/>
                      </a:solidFill>
                      <a:prstDash val="solid"/>
                    </a:lnB>
                    <a:solidFill>
                      <a:srgbClr val="174C4F"/>
                    </a:solidFill>
                  </a:tcPr>
                </a:tc>
                <a:tc>
                  <a:txBody>
                    <a:bodyPr/>
                    <a:lstStyle/>
                    <a:p>
                      <a:r>
                        <a:rPr sz="1125" b="1">
                          <a:solidFill>
                            <a:srgbClr val="FFFEFB"/>
                          </a:solidFill>
                          <a:latin typeface="Arial"/>
                          <a:ea typeface="Arial"/>
                          <a:cs typeface="Arial"/>
                        </a:rPr>
                        <a:t>Market context</a:t>
                      </a:r>
                    </a:p>
                  </a:txBody>
                  <a:tcPr marL="76200" marR="76200" marT="66675" marB="66675">
                    <a:lnR w="9525">
                      <a:solidFill>
                        <a:srgbClr val="D7D0C1"/>
                      </a:solidFill>
                      <a:prstDash val="solid"/>
                    </a:lnR>
                    <a:lnT w="9525">
                      <a:solidFill>
                        <a:srgbClr val="D7D0C1"/>
                      </a:solidFill>
                      <a:prstDash val="solid"/>
                    </a:lnT>
                    <a:lnB w="9525">
                      <a:solidFill>
                        <a:srgbClr val="D7D0C1"/>
                      </a:solidFill>
                      <a:prstDash val="solid"/>
                    </a:lnB>
                    <a:solidFill>
                      <a:srgbClr val="174C4F"/>
                    </a:solidFill>
                  </a:tcPr>
                </a:tc>
              </a:tr>
              <a:tr h="522514">
                <a:tc>
                  <a:txBody>
                    <a:bodyPr/>
                    <a:lstStyle/>
                    <a:p>
                      <a:r>
                        <a:rPr sz="1050" b="1">
                          <a:solidFill>
                            <a:srgbClr val="1B2928"/>
                          </a:solidFill>
                          <a:latin typeface="Arial"/>
                          <a:ea typeface="Arial"/>
                          <a:cs typeface="Arial"/>
                        </a:rPr>
                        <a:t>11 Jun 2020</a:t>
                      </a:r>
                    </a:p>
                  </a:txBody>
                  <a:tcPr marL="76200" marR="76200" marT="66675" marB="66675">
                    <a:lnL w="9525">
                      <a:solidFill>
                        <a:srgbClr val="D7D0C1"/>
                      </a:solidFill>
                      <a:prstDash val="solid"/>
                    </a:lnL>
                    <a:lnR w="9525">
                      <a:solidFill>
                        <a:srgbClr val="D7D0C1"/>
                      </a:solidFill>
                      <a:prstDash val="solid"/>
                    </a:lnR>
                    <a:lnB w="9525">
                      <a:solidFill>
                        <a:srgbClr val="D7D0C1"/>
                      </a:solidFill>
                      <a:prstDash val="solid"/>
                    </a:lnB>
                    <a:solidFill>
                      <a:srgbClr val="F3DCD7"/>
                    </a:solidFill>
                  </a:tcPr>
                </a:tc>
                <a:tc>
                  <a:txBody>
                    <a:bodyPr/>
                    <a:lstStyle/>
                    <a:p>
                      <a:r>
                        <a:rPr sz="1050" b="1">
                          <a:solidFill>
                            <a:srgbClr val="1B2928"/>
                          </a:solidFill>
                          <a:latin typeface="Arial"/>
                          <a:ea typeface="Arial"/>
                          <a:cs typeface="Arial"/>
                        </a:rPr>
                        <a:t>$585,671</a:t>
                      </a:r>
                    </a:p>
                  </a:txBody>
                  <a:tcPr marL="76200" marR="76200" marT="66675" marB="66675">
                    <a:lnR w="9525">
                      <a:solidFill>
                        <a:srgbClr val="D7D0C1"/>
                      </a:solidFill>
                      <a:prstDash val="solid"/>
                    </a:lnR>
                    <a:lnB w="9525">
                      <a:solidFill>
                        <a:srgbClr val="D7D0C1"/>
                      </a:solidFill>
                      <a:prstDash val="solid"/>
                    </a:lnB>
                    <a:solidFill>
                      <a:srgbClr val="F3DCD7"/>
                    </a:solidFill>
                  </a:tcPr>
                </a:tc>
                <a:tc>
                  <a:txBody>
                    <a:bodyPr/>
                    <a:lstStyle/>
                    <a:p>
                      <a:r>
                        <a:rPr sz="1050" b="1">
                          <a:solidFill>
                            <a:srgbClr val="1B2928"/>
                          </a:solidFill>
                          <a:latin typeface="Arial"/>
                          <a:ea typeface="Arial"/>
                          <a:cs typeface="Arial"/>
                        </a:rPr>
                        <a:t>$259,011</a:t>
                      </a:r>
                    </a:p>
                  </a:txBody>
                  <a:tcPr marL="76200" marR="76200" marT="66675" marB="66675">
                    <a:lnR w="9525">
                      <a:solidFill>
                        <a:srgbClr val="D7D0C1"/>
                      </a:solidFill>
                      <a:prstDash val="solid"/>
                    </a:lnR>
                    <a:lnB w="9525">
                      <a:solidFill>
                        <a:srgbClr val="D7D0C1"/>
                      </a:solidFill>
                      <a:prstDash val="solid"/>
                    </a:lnB>
                    <a:solidFill>
                      <a:srgbClr val="F3DCD7"/>
                    </a:solidFill>
                  </a:tcPr>
                </a:tc>
                <a:tc>
                  <a:txBody>
                    <a:bodyPr/>
                    <a:lstStyle/>
                    <a:p>
                      <a:r>
                        <a:rPr sz="1050" b="1">
                          <a:solidFill>
                            <a:srgbClr val="1B2928"/>
                          </a:solidFill>
                          <a:latin typeface="Arial"/>
                          <a:ea typeface="Arial"/>
                          <a:cs typeface="Arial"/>
                        </a:rPr>
                        <a:t>$326,659</a:t>
                      </a:r>
                    </a:p>
                  </a:txBody>
                  <a:tcPr marL="76200" marR="76200" marT="66675" marB="66675">
                    <a:lnR w="9525">
                      <a:solidFill>
                        <a:srgbClr val="D7D0C1"/>
                      </a:solidFill>
                      <a:prstDash val="solid"/>
                    </a:lnR>
                    <a:lnB w="9525">
                      <a:solidFill>
                        <a:srgbClr val="D7D0C1"/>
                      </a:solidFill>
                      <a:prstDash val="solid"/>
                    </a:lnB>
                    <a:solidFill>
                      <a:srgbClr val="F3DCD7"/>
                    </a:solidFill>
                  </a:tcPr>
                </a:tc>
                <a:tc>
                  <a:txBody>
                    <a:bodyPr/>
                    <a:lstStyle/>
                    <a:p>
                      <a:r>
                        <a:rPr sz="1050" b="1">
                          <a:solidFill>
                            <a:srgbClr val="1B2928"/>
                          </a:solidFill>
                          <a:latin typeface="Arial"/>
                          <a:ea typeface="Arial"/>
                          <a:cs typeface="Arial"/>
                        </a:rPr>
                        <a:t>COVID-era selloff</a:t>
                      </a:r>
                    </a:p>
                  </a:txBody>
                  <a:tcPr marL="76200" marR="76200" marT="66675" marB="66675">
                    <a:lnR w="9525">
                      <a:solidFill>
                        <a:srgbClr val="D7D0C1"/>
                      </a:solidFill>
                      <a:prstDash val="solid"/>
                    </a:lnR>
                    <a:lnB w="9525">
                      <a:solidFill>
                        <a:srgbClr val="D7D0C1"/>
                      </a:solidFill>
                      <a:prstDash val="solid"/>
                    </a:lnB>
                    <a:solidFill>
                      <a:srgbClr val="F3DCD7"/>
                    </a:solidFill>
                  </a:tcPr>
                </a:tc>
              </a:tr>
              <a:tr h="522514">
                <a:tc>
                  <a:txBody>
                    <a:bodyPr/>
                    <a:lstStyle/>
                    <a:p>
                      <a:r>
                        <a:rPr sz="1050">
                          <a:solidFill>
                            <a:srgbClr val="1B2928"/>
                          </a:solidFill>
                          <a:latin typeface="Arial"/>
                          <a:ea typeface="Arial"/>
                          <a:cs typeface="Arial"/>
                        </a:rPr>
                        <a:t>13 Sep 2022</a:t>
                      </a:r>
                    </a:p>
                  </a:txBody>
                  <a:tcPr marL="76200" marR="76200" marT="66675" marB="66675">
                    <a:lnL w="9525">
                      <a:solidFill>
                        <a:srgbClr val="D7D0C1"/>
                      </a:solidFill>
                      <a:prstDash val="solid"/>
                    </a:lnL>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$559,631</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$388,660</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$170,972</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Inflation / rate repricing</a:t>
                      </a:r>
                    </a:p>
                  </a:txBody>
                  <a:tcPr marL="76200" marR="76200" marT="66675" marB="66675">
                    <a:lnR w="9525">
                      <a:solidFill>
                        <a:srgbClr val="D7D0C1"/>
                      </a:solidFill>
                      <a:prstDash val="solid"/>
                    </a:lnR>
                    <a:lnB w="9525">
                      <a:solidFill>
                        <a:srgbClr val="D7D0C1"/>
                      </a:solidFill>
                      <a:prstDash val="solid"/>
                    </a:lnB>
                    <a:solidFill>
                      <a:srgbClr val="FFFEFB"/>
                    </a:solidFill>
                  </a:tcPr>
                </a:tc>
              </a:tr>
              <a:tr h="522514">
                <a:tc>
                  <a:txBody>
                    <a:bodyPr/>
                    <a:lstStyle/>
                    <a:p>
                      <a:r>
                        <a:rPr sz="1050">
                          <a:solidFill>
                            <a:srgbClr val="1B2928"/>
                          </a:solidFill>
                          <a:latin typeface="Arial"/>
                          <a:ea typeface="Arial"/>
                          <a:cs typeface="Arial"/>
                        </a:rPr>
                        <a:t>03 Apr 2025</a:t>
                      </a:r>
                    </a:p>
                  </a:txBody>
                  <a:tcPr marL="76200" marR="76200" marT="66675" marB="66675">
                    <a:lnL w="9525">
                      <a:solidFill>
                        <a:srgbClr val="D7D0C1"/>
                      </a:solidFill>
                      <a:prstDash val="solid"/>
                    </a:lnL>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$559,204</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$426,298</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$132,906</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Tariff shock</a:t>
                      </a:r>
                    </a:p>
                  </a:txBody>
                  <a:tcPr marL="76200" marR="76200" marT="66675" marB="66675">
                    <a:lnR w="9525">
                      <a:solidFill>
                        <a:srgbClr val="D7D0C1"/>
                      </a:solidFill>
                      <a:prstDash val="solid"/>
                    </a:lnR>
                    <a:lnB w="9525">
                      <a:solidFill>
                        <a:srgbClr val="D7D0C1"/>
                      </a:solidFill>
                      <a:prstDash val="solid"/>
                    </a:lnB>
                    <a:solidFill>
                      <a:srgbClr val="FFFEFB"/>
                    </a:solidFill>
                  </a:tcPr>
                </a:tc>
              </a:tr>
              <a:tr h="522514">
                <a:tc>
                  <a:txBody>
                    <a:bodyPr/>
                    <a:lstStyle/>
                    <a:p>
                      <a:r>
                        <a:rPr sz="1050">
                          <a:solidFill>
                            <a:srgbClr val="1B2928"/>
                          </a:solidFill>
                          <a:latin typeface="Arial"/>
                          <a:ea typeface="Arial"/>
                          <a:cs typeface="Arial"/>
                        </a:rPr>
                        <a:t>24 Feb 2020</a:t>
                      </a:r>
                    </a:p>
                  </a:txBody>
                  <a:tcPr marL="76200" marR="76200" marT="66675" marB="66675">
                    <a:lnL w="9525">
                      <a:solidFill>
                        <a:srgbClr val="D7D0C1"/>
                      </a:solidFill>
                      <a:prstDash val="solid"/>
                    </a:lnL>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$530,344</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$395,434</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$134,909</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COVID escalation</a:t>
                      </a:r>
                    </a:p>
                  </a:txBody>
                  <a:tcPr marL="76200" marR="76200" marT="66675" marB="66675">
                    <a:lnR w="9525">
                      <a:solidFill>
                        <a:srgbClr val="D7D0C1"/>
                      </a:solidFill>
                      <a:prstDash val="solid"/>
                    </a:lnR>
                    <a:lnB w="9525">
                      <a:solidFill>
                        <a:srgbClr val="D7D0C1"/>
                      </a:solidFill>
                      <a:prstDash val="solid"/>
                    </a:lnB>
                    <a:solidFill>
                      <a:srgbClr val="FFFEFB"/>
                    </a:solidFill>
                  </a:tcPr>
                </a:tc>
              </a:tr>
              <a:tr h="522514">
                <a:tc>
                  <a:txBody>
                    <a:bodyPr/>
                    <a:lstStyle/>
                    <a:p>
                      <a:r>
                        <a:rPr sz="1050">
                          <a:solidFill>
                            <a:srgbClr val="1B2928"/>
                          </a:solidFill>
                          <a:latin typeface="Arial"/>
                          <a:ea typeface="Arial"/>
                          <a:cs typeface="Arial"/>
                        </a:rPr>
                        <a:t>03 Feb 2022</a:t>
                      </a:r>
                    </a:p>
                  </a:txBody>
                  <a:tcPr marL="76200" marR="76200" marT="66675" marB="66675">
                    <a:lnL w="9525">
                      <a:solidFill>
                        <a:srgbClr val="D7D0C1"/>
                      </a:solidFill>
                      <a:prstDash val="solid"/>
                    </a:lnL>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$501,692</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$474,098</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$27,594</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Tech / rate repricing</a:t>
                      </a:r>
                    </a:p>
                  </a:txBody>
                  <a:tcPr marL="76200" marR="76200" marT="66675" marB="66675">
                    <a:lnR w="9525">
                      <a:solidFill>
                        <a:srgbClr val="D7D0C1"/>
                      </a:solidFill>
                      <a:prstDash val="solid"/>
                    </a:lnR>
                    <a:lnB w="9525">
                      <a:solidFill>
                        <a:srgbClr val="D7D0C1"/>
                      </a:solidFill>
                      <a:prstDash val="solid"/>
                    </a:lnB>
                    <a:solidFill>
                      <a:srgbClr val="FFFEFB"/>
                    </a:solidFill>
                  </a:tcPr>
                </a:tc>
              </a:tr>
              <a:tr h="522514">
                <a:tc>
                  <a:txBody>
                    <a:bodyPr/>
                    <a:lstStyle/>
                    <a:p>
                      <a:r>
                        <a:rPr sz="1050">
                          <a:solidFill>
                            <a:srgbClr val="1B2928"/>
                          </a:solidFill>
                          <a:latin typeface="Arial"/>
                          <a:ea typeface="Arial"/>
                          <a:cs typeface="Arial"/>
                        </a:rPr>
                        <a:t>03 Sep 2020</a:t>
                      </a:r>
                    </a:p>
                  </a:txBody>
                  <a:tcPr marL="76200" marR="76200" marT="66675" marB="66675">
                    <a:lnL w="9525">
                      <a:solidFill>
                        <a:srgbClr val="D7D0C1"/>
                      </a:solidFill>
                      <a:prstDash val="solid"/>
                    </a:lnL>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$476,904</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$263,661</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$213,243</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1050">
                          <a:solidFill>
                            <a:srgbClr val="1B2928"/>
                          </a:solidFill>
                          <a:latin typeface="Arial"/>
                          <a:ea typeface="Arial"/>
                          <a:cs typeface="Arial"/>
                        </a:rPr>
                        <a:t>Technology selloff</a:t>
                      </a:r>
                    </a:p>
                  </a:txBody>
                  <a:tcPr marL="76200" marR="76200" marT="66675" marB="66675">
                    <a:lnR w="9525">
                      <a:solidFill>
                        <a:srgbClr val="D7D0C1"/>
                      </a:solidFill>
                      <a:prstDash val="solid"/>
                    </a:lnR>
                    <a:lnB w="9525">
                      <a:solidFill>
                        <a:srgbClr val="D7D0C1"/>
                      </a:solidFill>
                      <a:prstDash val="solid"/>
                    </a:lnB>
                    <a:solidFill>
                      <a:srgbClr val="FFFEFB"/>
                    </a:solidFill>
                  </a:tcPr>
                </a:tc>
              </a:tr>
            </a:tbl>
          </a:graphicData>
        </a:graphic>
      </p:graphicFrame>
      <p:sp>
        <p:nvSpPr>
          <p:cNvPr id="5" name="">
            <a:extLst xmlns:a="http://schemas.openxmlformats.org/drawingml/2006/main">
              <a:ext uri="{FF2B5EF4-FFF2-40B4-BE49-F238E27FC236}">
                <a16:creationId xmlns:a16="http://schemas.microsoft.com/office/drawing/2014/main" id="{02AC4DC2-3923-4768-851B-8E3C9021A5DD}"/>
              </a:ext>
            </a:extLst>
          </p:cNvPr>
          <p:cNvSpPr>
            <a:spLocks xmlns:a="http://schemas.openxmlformats.org/drawingml/2006/main" noGrp="1"/>
          </p:cNvSpPr>
          <p:nvPr/>
        </p:nvSpPr>
        <p:spPr>
          <a:xfrm xmlns:a="http://schemas.openxmlformats.org/drawingml/2006/main">
            <a:off x="1238250" y="5410200"/>
            <a:ext cx="9715500" cy="685800"/>
          </a:xfrm>
          <a:prstGeom xmlns:a="http://schemas.openxmlformats.org/drawingml/2006/main" prst="roundRect">
            <a:avLst>
              <a:gd name="adj" fmla="val 11111"/>
            </a:avLst>
          </a:prstGeom>
          <a:solidFill xmlns:a="http://schemas.openxmlformats.org/drawingml/2006/main">
            <a:srgbClr val="DDE9E4"/>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28AEEC1-B343-4551-BE9E-22DF2AEC49CD}"/>
              </a:ext>
            </a:extLst>
          </p:cNvPr>
          <p:cNvSpPr>
            <a:spLocks xmlns:a="http://schemas.openxmlformats.org/drawingml/2006/main" noGrp="1"/>
          </p:cNvSpPr>
          <p:nvPr/>
        </p:nvSpPr>
        <p:spPr>
          <a:xfrm xmlns:a="http://schemas.openxmlformats.org/drawingml/2006/main">
            <a:off x="1238250" y="5410200"/>
            <a:ext cx="66675" cy="685800"/>
          </a:xfrm>
          <a:prstGeom xmlns:a="http://schemas.openxmlformats.org/drawingml/2006/main" prst="rect">
            <a:avLst/>
          </a:prstGeom>
          <a:solidFill xmlns:a="http://schemas.openxmlformats.org/drawingml/2006/main">
            <a:srgbClr val="174C4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5BAE5E2-5160-444C-9284-B7E403F9DE89}"/>
              </a:ext>
            </a:extLst>
          </p:cNvPr>
          <p:cNvSpPr>
            <a:spLocks xmlns:a="http://schemas.openxmlformats.org/drawingml/2006/main" noGrp="1"/>
          </p:cNvSpPr>
          <p:nvPr/>
        </p:nvSpPr>
        <p:spPr>
          <a:xfrm xmlns:a="http://schemas.openxmlformats.org/drawingml/2006/main">
            <a:off x="1466850" y="5553075"/>
            <a:ext cx="933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174C4F"/>
                </a:solidFill>
                <a:latin typeface="Arial"/>
                <a:ea typeface="Arial"/>
                <a:cs typeface="Arial"/>
              </a:defRPr>
            </a:defPPr>
            <a:lvl1pPr>
              <a:defRPr sz="1425" b="1">
                <a:solidFill>
                  <a:srgbClr val="174C4F"/>
                </a:solidFill>
                <a:latin typeface="Arial"/>
                <a:ea typeface="Arial"/>
                <a:cs typeface="Arial"/>
              </a:defRPr>
            </a:lvl1pPr>
            <a:lvl2pPr>
              <a:defRPr sz="1425" b="1">
                <a:solidFill>
                  <a:srgbClr val="174C4F"/>
                </a:solidFill>
                <a:latin typeface="Arial"/>
                <a:ea typeface="Arial"/>
                <a:cs typeface="Arial"/>
              </a:defRPr>
            </a:lvl2pPr>
            <a:lvl3pPr>
              <a:defRPr sz="1425" b="1">
                <a:solidFill>
                  <a:srgbClr val="174C4F"/>
                </a:solidFill>
                <a:latin typeface="Arial"/>
                <a:ea typeface="Arial"/>
                <a:cs typeface="Arial"/>
              </a:defRPr>
            </a:lvl3pPr>
            <a:lvl4pPr>
              <a:defRPr sz="1425" b="1">
                <a:solidFill>
                  <a:srgbClr val="174C4F"/>
                </a:solidFill>
                <a:latin typeface="Arial"/>
                <a:ea typeface="Arial"/>
                <a:cs typeface="Arial"/>
              </a:defRPr>
            </a:lvl4pPr>
            <a:lvl5pPr>
              <a:defRPr sz="1425" b="1">
                <a:solidFill>
                  <a:srgbClr val="174C4F"/>
                </a:solidFill>
                <a:latin typeface="Arial"/>
                <a:ea typeface="Arial"/>
                <a:cs typeface="Arial"/>
              </a:defRPr>
            </a:lvl5pPr>
            <a:lvl6pPr>
              <a:defRPr sz="1425" b="1">
                <a:solidFill>
                  <a:srgbClr val="174C4F"/>
                </a:solidFill>
                <a:latin typeface="Arial"/>
                <a:ea typeface="Arial"/>
                <a:cs typeface="Arial"/>
              </a:defRPr>
            </a:lvl6pPr>
            <a:lvl7pPr>
              <a:defRPr sz="1425" b="1">
                <a:solidFill>
                  <a:srgbClr val="174C4F"/>
                </a:solidFill>
                <a:latin typeface="Arial"/>
                <a:ea typeface="Arial"/>
                <a:cs typeface="Arial"/>
              </a:defRPr>
            </a:lvl7pPr>
            <a:lvl8pPr>
              <a:defRPr sz="1425" b="1">
                <a:solidFill>
                  <a:srgbClr val="174C4F"/>
                </a:solidFill>
                <a:latin typeface="Arial"/>
                <a:ea typeface="Arial"/>
                <a:cs typeface="Arial"/>
              </a:defRPr>
            </a:lvl8pPr>
            <a:lvl9pPr>
              <a:defRPr sz="1425" b="1">
                <a:solidFill>
                  <a:srgbClr val="174C4F"/>
                </a:solidFill>
                <a:latin typeface="Arial"/>
                <a:ea typeface="Arial"/>
                <a:cs typeface="Arial"/>
              </a:defRPr>
            </a:lvl9pPr>
          </a:lstStyle>
          <a:p xmlns:a="http://schemas.openxmlformats.org/drawingml/2006/main">
            <a:pPr>
              <a:defRPr sz="1425" b="1">
                <a:solidFill>
                  <a:srgbClr val="174C4F"/>
                </a:solidFill>
                <a:latin typeface="Arial"/>
                <a:ea typeface="Arial"/>
                <a:cs typeface="Arial"/>
              </a:defRPr>
            </a:pPr>
            <a:r>
              <a:rPr sz="1425" b="1">
                <a:solidFill>
                  <a:srgbClr val="174C4F"/>
                </a:solidFill>
                <a:latin typeface="Arial"/>
                <a:ea typeface="Arial"/>
                <a:cs typeface="Arial"/>
              </a:rPr>
              <a:t>Control implication</a:t>
            </a:r>
          </a:p>
        </p:txBody>
      </p:sp>
      <p:sp>
        <p:nvSpPr>
          <p:cNvPr id="8" name="">
            <a:extLst xmlns:a="http://schemas.openxmlformats.org/drawingml/2006/main">
              <a:ext uri="{FF2B5EF4-FFF2-40B4-BE49-F238E27FC236}">
                <a16:creationId xmlns:a16="http://schemas.microsoft.com/office/drawing/2014/main" id="{C7F7B75F-FD1E-4941-8BB9-56CE839720C4}"/>
              </a:ext>
            </a:extLst>
          </p:cNvPr>
          <p:cNvSpPr>
            <a:spLocks xmlns:a="http://schemas.openxmlformats.org/drawingml/2006/main" noGrp="1"/>
          </p:cNvSpPr>
          <p:nvPr/>
        </p:nvSpPr>
        <p:spPr>
          <a:xfrm xmlns:a="http://schemas.openxmlformats.org/drawingml/2006/main">
            <a:off x="1466850" y="5857875"/>
            <a:ext cx="93345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Count tests treat every exception equally. Production review should also record severity, data reconciliation, position-level contributors, cause and remediation.</a:t>
            </a:r>
          </a:p>
        </p:txBody>
      </p:sp>
      <p:sp>
        <p:nvSpPr>
          <p:cNvPr id="9" name="">
            <a:extLst xmlns:a="http://schemas.openxmlformats.org/drawingml/2006/main">
              <a:ext uri="{FF2B5EF4-FFF2-40B4-BE49-F238E27FC236}">
                <a16:creationId xmlns:a16="http://schemas.microsoft.com/office/drawing/2014/main" id="{6206F4AF-D05E-4B5C-B3BE-6D3E276268C0}"/>
              </a:ext>
            </a:extLst>
          </p:cNvPr>
          <p:cNvSpPr>
            <a:spLocks xmlns:a="http://schemas.openxmlformats.org/drawingml/2006/main" noGrp="1"/>
          </p:cNvSpPr>
          <p:nvPr/>
        </p:nvSpPr>
        <p:spPr>
          <a:xfrm xmlns:a="http://schemas.openxmlformats.org/drawingml/2006/main">
            <a:off x="609600" y="6362700"/>
            <a:ext cx="109728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6F64272-D6C1-4262-9AA0-6321779C3406}"/>
              </a:ext>
            </a:extLst>
          </p:cNvPr>
          <p:cNvSpPr>
            <a:spLocks xmlns:a="http://schemas.openxmlformats.org/drawingml/2006/main" noGrp="1"/>
          </p:cNvSpPr>
          <p:nvPr/>
        </p:nvSpPr>
        <p:spPr>
          <a:xfrm xmlns:a="http://schemas.openxmlformats.org/drawingml/2006/main">
            <a:off x="609600" y="6429375"/>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75">
                <a:solidFill>
                  <a:srgbClr val="5E6865"/>
                </a:solidFill>
                <a:latin typeface="Arial"/>
                <a:ea typeface="Arial"/>
                <a:cs typeface="Arial"/>
              </a:defRPr>
            </a:defPPr>
            <a:lvl1pPr>
              <a:defRPr sz="675">
                <a:solidFill>
                  <a:srgbClr val="5E6865"/>
                </a:solidFill>
                <a:latin typeface="Arial"/>
                <a:ea typeface="Arial"/>
                <a:cs typeface="Arial"/>
              </a:defRPr>
            </a:lvl1pPr>
            <a:lvl2pPr>
              <a:defRPr sz="675">
                <a:solidFill>
                  <a:srgbClr val="5E6865"/>
                </a:solidFill>
                <a:latin typeface="Arial"/>
                <a:ea typeface="Arial"/>
                <a:cs typeface="Arial"/>
              </a:defRPr>
            </a:lvl2pPr>
            <a:lvl3pPr>
              <a:defRPr sz="675">
                <a:solidFill>
                  <a:srgbClr val="5E6865"/>
                </a:solidFill>
                <a:latin typeface="Arial"/>
                <a:ea typeface="Arial"/>
                <a:cs typeface="Arial"/>
              </a:defRPr>
            </a:lvl3pPr>
            <a:lvl4pPr>
              <a:defRPr sz="675">
                <a:solidFill>
                  <a:srgbClr val="5E6865"/>
                </a:solidFill>
                <a:latin typeface="Arial"/>
                <a:ea typeface="Arial"/>
                <a:cs typeface="Arial"/>
              </a:defRPr>
            </a:lvl4pPr>
            <a:lvl5pPr>
              <a:defRPr sz="675">
                <a:solidFill>
                  <a:srgbClr val="5E6865"/>
                </a:solidFill>
                <a:latin typeface="Arial"/>
                <a:ea typeface="Arial"/>
                <a:cs typeface="Arial"/>
              </a:defRPr>
            </a:lvl5pPr>
            <a:lvl6pPr>
              <a:defRPr sz="675">
                <a:solidFill>
                  <a:srgbClr val="5E6865"/>
                </a:solidFill>
                <a:latin typeface="Arial"/>
                <a:ea typeface="Arial"/>
                <a:cs typeface="Arial"/>
              </a:defRPr>
            </a:lvl6pPr>
            <a:lvl7pPr>
              <a:defRPr sz="675">
                <a:solidFill>
                  <a:srgbClr val="5E6865"/>
                </a:solidFill>
                <a:latin typeface="Arial"/>
                <a:ea typeface="Arial"/>
                <a:cs typeface="Arial"/>
              </a:defRPr>
            </a:lvl7pPr>
            <a:lvl8pPr>
              <a:defRPr sz="675">
                <a:solidFill>
                  <a:srgbClr val="5E6865"/>
                </a:solidFill>
                <a:latin typeface="Arial"/>
                <a:ea typeface="Arial"/>
                <a:cs typeface="Arial"/>
              </a:defRPr>
            </a:lvl8pPr>
            <a:lvl9pPr>
              <a:defRPr sz="675">
                <a:solidFill>
                  <a:srgbClr val="5E6865"/>
                </a:solidFill>
                <a:latin typeface="Arial"/>
                <a:ea typeface="Arial"/>
                <a:cs typeface="Arial"/>
              </a:defRPr>
            </a:lvl9pPr>
          </a:lstStyle>
          <a:p xmlns:a="http://schemas.openxmlformats.org/drawingml/2006/main">
            <a:pPr>
              <a:defRPr sz="675">
                <a:solidFill>
                  <a:srgbClr val="5E6865"/>
                </a:solidFill>
                <a:latin typeface="Arial"/>
                <a:ea typeface="Arial"/>
                <a:cs typeface="Arial"/>
              </a:defRPr>
            </a:pPr>
            <a:r>
              <a:rPr sz="675">
                <a:solidFill>
                  <a:srgbClr val="5E6865"/>
                </a:solidFill>
                <a:latin typeface="Arial"/>
                <a:ea typeface="Arial"/>
                <a:cs typeface="Arial"/>
              </a:rPr>
              <a:t>Source: QFI_V2_report.docx; Advanced Equity Portfolio Risk Management brief; report_assets/results.json and presentation_backtest.json, as of 16 October 2026.</a:t>
            </a:r>
          </a:p>
        </p:txBody>
      </p:sp>
      <p:sp>
        <p:nvSpPr>
          <p:cNvPr id="11" name="">
            <a:extLst xmlns:a="http://schemas.openxmlformats.org/drawingml/2006/main">
              <a:ext uri="{FF2B5EF4-FFF2-40B4-BE49-F238E27FC236}">
                <a16:creationId xmlns:a16="http://schemas.microsoft.com/office/drawing/2014/main" id="{E235161A-AD2C-466A-B7A7-3B864156653F}"/>
              </a:ext>
            </a:extLst>
          </p:cNvPr>
          <p:cNvSpPr>
            <a:spLocks xmlns:a="http://schemas.openxmlformats.org/drawingml/2006/main" noGrp="1"/>
          </p:cNvSpPr>
          <p:nvPr/>
        </p:nvSpPr>
        <p:spPr>
          <a:xfrm xmlns:a="http://schemas.openxmlformats.org/drawingml/2006/main">
            <a:off x="10839450" y="64008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174C4F"/>
                </a:solidFill>
                <a:latin typeface="Arial"/>
                <a:ea typeface="Arial"/>
                <a:cs typeface="Arial"/>
              </a:defRPr>
            </a:defPPr>
            <a:lvl1pPr algn="r">
              <a:defRPr sz="825" b="1">
                <a:solidFill>
                  <a:srgbClr val="174C4F"/>
                </a:solidFill>
                <a:latin typeface="Arial"/>
                <a:ea typeface="Arial"/>
                <a:cs typeface="Arial"/>
              </a:defRPr>
            </a:lvl1pPr>
            <a:lvl2pPr algn="r">
              <a:defRPr sz="825" b="1">
                <a:solidFill>
                  <a:srgbClr val="174C4F"/>
                </a:solidFill>
                <a:latin typeface="Arial"/>
                <a:ea typeface="Arial"/>
                <a:cs typeface="Arial"/>
              </a:defRPr>
            </a:lvl2pPr>
            <a:lvl3pPr algn="r">
              <a:defRPr sz="825" b="1">
                <a:solidFill>
                  <a:srgbClr val="174C4F"/>
                </a:solidFill>
                <a:latin typeface="Arial"/>
                <a:ea typeface="Arial"/>
                <a:cs typeface="Arial"/>
              </a:defRPr>
            </a:lvl3pPr>
            <a:lvl4pPr algn="r">
              <a:defRPr sz="825" b="1">
                <a:solidFill>
                  <a:srgbClr val="174C4F"/>
                </a:solidFill>
                <a:latin typeface="Arial"/>
                <a:ea typeface="Arial"/>
                <a:cs typeface="Arial"/>
              </a:defRPr>
            </a:lvl4pPr>
            <a:lvl5pPr algn="r">
              <a:defRPr sz="825" b="1">
                <a:solidFill>
                  <a:srgbClr val="174C4F"/>
                </a:solidFill>
                <a:latin typeface="Arial"/>
                <a:ea typeface="Arial"/>
                <a:cs typeface="Arial"/>
              </a:defRPr>
            </a:lvl5pPr>
            <a:lvl6pPr algn="r">
              <a:defRPr sz="825" b="1">
                <a:solidFill>
                  <a:srgbClr val="174C4F"/>
                </a:solidFill>
                <a:latin typeface="Arial"/>
                <a:ea typeface="Arial"/>
                <a:cs typeface="Arial"/>
              </a:defRPr>
            </a:lvl6pPr>
            <a:lvl7pPr algn="r">
              <a:defRPr sz="825" b="1">
                <a:solidFill>
                  <a:srgbClr val="174C4F"/>
                </a:solidFill>
                <a:latin typeface="Arial"/>
                <a:ea typeface="Arial"/>
                <a:cs typeface="Arial"/>
              </a:defRPr>
            </a:lvl7pPr>
            <a:lvl8pPr algn="r">
              <a:defRPr sz="825" b="1">
                <a:solidFill>
                  <a:srgbClr val="174C4F"/>
                </a:solidFill>
                <a:latin typeface="Arial"/>
                <a:ea typeface="Arial"/>
                <a:cs typeface="Arial"/>
              </a:defRPr>
            </a:lvl8pPr>
            <a:lvl9pPr algn="r">
              <a:defRPr sz="825" b="1">
                <a:solidFill>
                  <a:srgbClr val="174C4F"/>
                </a:solidFill>
                <a:latin typeface="Arial"/>
                <a:ea typeface="Arial"/>
                <a:cs typeface="Arial"/>
              </a:defRPr>
            </a:lvl9pPr>
          </a:lstStyle>
          <a:p xmlns:a="http://schemas.openxmlformats.org/drawingml/2006/main">
            <a:pPr algn="r">
              <a:defRPr sz="825" b="1">
                <a:solidFill>
                  <a:srgbClr val="174C4F"/>
                </a:solidFill>
                <a:latin typeface="Arial"/>
                <a:ea typeface="Arial"/>
                <a:cs typeface="Arial"/>
              </a:defRPr>
            </a:pPr>
            <a:r>
              <a:rPr sz="825" b="1">
                <a:solidFill>
                  <a:srgbClr val="174C4F"/>
                </a:solidFill>
                <a:latin typeface="Arial"/>
                <a:ea typeface="Arial"/>
                <a:cs typeface="Arial"/>
              </a:rPr>
              <a:t>10</a:t>
            </a:r>
          </a:p>
        </p:txBody>
      </p:sp>
    </p:spTree>
    <p:extLst>
      <p:ext uri="{BB962C8B-B14F-4D97-AF65-F5344CB8AC3E}">
        <p14:creationId xmlns:p14="http://schemas.microsoft.com/office/powerpoint/2010/main" val="1222051987"/>
      </p:ext>
    </p:extLst>
  </p:cSld>
</p:sld>
</file>

<file path=ppt/slides/slide11.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7F90A68-E6C1-4B6F-8E90-6E6C5F09BE7D}"/>
              </a:ext>
            </a:extLst>
          </p:cNvPr>
          <p:cNvSpPr>
            <a:spLocks xmlns:a="http://schemas.openxmlformats.org/drawingml/2006/main" noGrp="1"/>
          </p:cNvSpPr>
          <p:nvPr/>
        </p:nvSpPr>
        <p:spPr>
          <a:xfrm xmlns:a="http://schemas.openxmlformats.org/drawingml/2006/main">
            <a:off x="609600" y="4000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B2928"/>
                </a:solidFill>
                <a:latin typeface="Arial"/>
                <a:ea typeface="Arial"/>
                <a:cs typeface="Arial"/>
              </a:defRPr>
            </a:defPPr>
            <a:lvl1pPr>
              <a:defRPr sz="2550" b="1">
                <a:solidFill>
                  <a:srgbClr val="1B2928"/>
                </a:solidFill>
                <a:latin typeface="Arial"/>
                <a:ea typeface="Arial"/>
                <a:cs typeface="Arial"/>
              </a:defRPr>
            </a:lvl1pPr>
            <a:lvl2pPr>
              <a:defRPr sz="2550" b="1">
                <a:solidFill>
                  <a:srgbClr val="1B2928"/>
                </a:solidFill>
                <a:latin typeface="Arial"/>
                <a:ea typeface="Arial"/>
                <a:cs typeface="Arial"/>
              </a:defRPr>
            </a:lvl2pPr>
            <a:lvl3pPr>
              <a:defRPr sz="2550" b="1">
                <a:solidFill>
                  <a:srgbClr val="1B2928"/>
                </a:solidFill>
                <a:latin typeface="Arial"/>
                <a:ea typeface="Arial"/>
                <a:cs typeface="Arial"/>
              </a:defRPr>
            </a:lvl3pPr>
            <a:lvl4pPr>
              <a:defRPr sz="2550" b="1">
                <a:solidFill>
                  <a:srgbClr val="1B2928"/>
                </a:solidFill>
                <a:latin typeface="Arial"/>
                <a:ea typeface="Arial"/>
                <a:cs typeface="Arial"/>
              </a:defRPr>
            </a:lvl4pPr>
            <a:lvl5pPr>
              <a:defRPr sz="2550" b="1">
                <a:solidFill>
                  <a:srgbClr val="1B2928"/>
                </a:solidFill>
                <a:latin typeface="Arial"/>
                <a:ea typeface="Arial"/>
                <a:cs typeface="Arial"/>
              </a:defRPr>
            </a:lvl5pPr>
            <a:lvl6pPr>
              <a:defRPr sz="2550" b="1">
                <a:solidFill>
                  <a:srgbClr val="1B2928"/>
                </a:solidFill>
                <a:latin typeface="Arial"/>
                <a:ea typeface="Arial"/>
                <a:cs typeface="Arial"/>
              </a:defRPr>
            </a:lvl6pPr>
            <a:lvl7pPr>
              <a:defRPr sz="2550" b="1">
                <a:solidFill>
                  <a:srgbClr val="1B2928"/>
                </a:solidFill>
                <a:latin typeface="Arial"/>
                <a:ea typeface="Arial"/>
                <a:cs typeface="Arial"/>
              </a:defRPr>
            </a:lvl7pPr>
            <a:lvl8pPr>
              <a:defRPr sz="2550" b="1">
                <a:solidFill>
                  <a:srgbClr val="1B2928"/>
                </a:solidFill>
                <a:latin typeface="Arial"/>
                <a:ea typeface="Arial"/>
                <a:cs typeface="Arial"/>
              </a:defRPr>
            </a:lvl8pPr>
            <a:lvl9pPr>
              <a:defRPr sz="2550" b="1">
                <a:solidFill>
                  <a:srgbClr val="1B2928"/>
                </a:solidFill>
                <a:latin typeface="Arial"/>
                <a:ea typeface="Arial"/>
                <a:cs typeface="Arial"/>
              </a:defRPr>
            </a:lvl9pPr>
          </a:lstStyle>
          <a:p xmlns:a="http://schemas.openxmlformats.org/drawingml/2006/main">
            <a:pPr>
              <a:defRPr sz="2550" b="1">
                <a:solidFill>
                  <a:srgbClr val="1B2928"/>
                </a:solidFill>
                <a:latin typeface="Arial"/>
                <a:ea typeface="Arial"/>
                <a:cs typeface="Arial"/>
              </a:defRPr>
            </a:pPr>
            <a:r>
              <a:rPr sz="2550" b="1">
                <a:solidFill>
                  <a:srgbClr val="1B2928"/>
                </a:solidFill>
                <a:latin typeface="Arial"/>
                <a:ea typeface="Arial"/>
                <a:cs typeface="Arial"/>
              </a:rPr>
              <a:t>Crisis losses overwhelm ordinary daily VaR</a:t>
            </a:r>
          </a:p>
        </p:txBody>
      </p:sp>
      <p:sp>
        <p:nvSpPr>
          <p:cNvPr id="2" name="">
            <a:extLst xmlns:a="http://schemas.openxmlformats.org/drawingml/2006/main">
              <a:ext uri="{FF2B5EF4-FFF2-40B4-BE49-F238E27FC236}">
                <a16:creationId xmlns:a16="http://schemas.microsoft.com/office/drawing/2014/main" id="{FDBE9C4D-1DB6-45B6-9FC6-B1E9310BD1DE}"/>
              </a:ext>
            </a:extLst>
          </p:cNvPr>
          <p:cNvSpPr>
            <a:spLocks xmlns:a="http://schemas.openxmlformats.org/drawingml/2006/main" noGrp="1"/>
          </p:cNvSpPr>
          <p:nvPr/>
        </p:nvSpPr>
        <p:spPr>
          <a:xfrm xmlns:a="http://schemas.openxmlformats.org/drawingml/2006/main">
            <a:off x="609600" y="981075"/>
            <a:ext cx="685800" cy="47625"/>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0B4F181-5D53-49CC-A68E-444D6313D4EB}"/>
              </a:ext>
            </a:extLst>
          </p:cNvPr>
          <p:cNvSpPr>
            <a:spLocks xmlns:a="http://schemas.openxmlformats.org/drawingml/2006/main" noGrp="1"/>
          </p:cNvSpPr>
          <p:nvPr/>
        </p:nvSpPr>
        <p:spPr>
          <a:xfrm xmlns:a="http://schemas.openxmlformats.org/drawingml/2006/main">
            <a:off x="1466850" y="866775"/>
            <a:ext cx="962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Historical and hypothetical scenarios, ranked by portfolio loss</a:t>
            </a:r>
          </a:p>
        </p:txBody>
      </p:sp>
      <p:graphicFrame>
        <p:nvGraphicFramePr>
          <p:cNvPr id="4" name="Chart">
            <a:extLst xmlns:a="http://schemas.openxmlformats.org/drawingml/2006/main">
              <a:ext uri="{FF2B5EF4-FFF2-40B4-BE49-F238E27FC236}">
                <a16:creationId xmlns:a16="http://schemas.microsoft.com/office/drawing/2014/main" id="{F851B086-235E-404B-A343-93104B8E3AEC}"/>
              </a:ext>
            </a:extLst>
          </p:cNvPr>
          <p:cNvGraphicFramePr/>
          <p:nvPr/>
        </p:nvGraphicFramePr>
        <p:xfrm>
          <a:off xmlns:a="http://schemas.openxmlformats.org/drawingml/2006/main" x="438150" y="1352550"/>
          <a:ext xmlns:a="http://schemas.openxmlformats.org/drawingml/2006/main" cx="8286750" cy="4438650"/>
        </p:xfrm>
        <a:graphic xmlns:a="http://schemas.openxmlformats.org/drawingml/2006/main">
          <a:graphicData uri="http://schemas.openxmlformats.org/drawingml/2006/chart">
            <c:chart xmlns:r="http://schemas.openxmlformats.org/officeDocument/2006/relationships" xmlns:c="http://schemas.openxmlformats.org/drawingml/2006/chart" r:id="R7ea4c11002d94496"/>
          </a:graphicData>
        </a:graphic>
      </p:graphicFrame>
      <p:sp>
        <p:nvSpPr>
          <p:cNvPr id="5" name="">
            <a:extLst xmlns:a="http://schemas.openxmlformats.org/drawingml/2006/main">
              <a:ext uri="{FF2B5EF4-FFF2-40B4-BE49-F238E27FC236}">
                <a16:creationId xmlns:a16="http://schemas.microsoft.com/office/drawing/2014/main" id="{E017775E-E1CD-439B-8999-4C626A178A63}"/>
              </a:ext>
            </a:extLst>
          </p:cNvPr>
          <p:cNvSpPr>
            <a:spLocks xmlns:a="http://schemas.openxmlformats.org/drawingml/2006/main" noGrp="1"/>
          </p:cNvSpPr>
          <p:nvPr/>
        </p:nvSpPr>
        <p:spPr>
          <a:xfrm xmlns:a="http://schemas.openxmlformats.org/drawingml/2006/main">
            <a:off x="628650" y="1171575"/>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5E6865"/>
                </a:solidFill>
                <a:latin typeface="Arial"/>
                <a:ea typeface="Arial"/>
                <a:cs typeface="Arial"/>
              </a:defRPr>
            </a:defPPr>
            <a:lvl1pPr>
              <a:defRPr sz="900" b="1">
                <a:solidFill>
                  <a:srgbClr val="5E6865"/>
                </a:solidFill>
                <a:latin typeface="Arial"/>
                <a:ea typeface="Arial"/>
                <a:cs typeface="Arial"/>
              </a:defRPr>
            </a:lvl1pPr>
            <a:lvl2pPr>
              <a:defRPr sz="900" b="1">
                <a:solidFill>
                  <a:srgbClr val="5E6865"/>
                </a:solidFill>
                <a:latin typeface="Arial"/>
                <a:ea typeface="Arial"/>
                <a:cs typeface="Arial"/>
              </a:defRPr>
            </a:lvl2pPr>
            <a:lvl3pPr>
              <a:defRPr sz="900" b="1">
                <a:solidFill>
                  <a:srgbClr val="5E6865"/>
                </a:solidFill>
                <a:latin typeface="Arial"/>
                <a:ea typeface="Arial"/>
                <a:cs typeface="Arial"/>
              </a:defRPr>
            </a:lvl3pPr>
            <a:lvl4pPr>
              <a:defRPr sz="900" b="1">
                <a:solidFill>
                  <a:srgbClr val="5E6865"/>
                </a:solidFill>
                <a:latin typeface="Arial"/>
                <a:ea typeface="Arial"/>
                <a:cs typeface="Arial"/>
              </a:defRPr>
            </a:lvl4pPr>
            <a:lvl5pPr>
              <a:defRPr sz="900" b="1">
                <a:solidFill>
                  <a:srgbClr val="5E6865"/>
                </a:solidFill>
                <a:latin typeface="Arial"/>
                <a:ea typeface="Arial"/>
                <a:cs typeface="Arial"/>
              </a:defRPr>
            </a:lvl5pPr>
            <a:lvl6pPr>
              <a:defRPr sz="900" b="1">
                <a:solidFill>
                  <a:srgbClr val="5E6865"/>
                </a:solidFill>
                <a:latin typeface="Arial"/>
                <a:ea typeface="Arial"/>
                <a:cs typeface="Arial"/>
              </a:defRPr>
            </a:lvl6pPr>
            <a:lvl7pPr>
              <a:defRPr sz="900" b="1">
                <a:solidFill>
                  <a:srgbClr val="5E6865"/>
                </a:solidFill>
                <a:latin typeface="Arial"/>
                <a:ea typeface="Arial"/>
                <a:cs typeface="Arial"/>
              </a:defRPr>
            </a:lvl7pPr>
            <a:lvl8pPr>
              <a:defRPr sz="900" b="1">
                <a:solidFill>
                  <a:srgbClr val="5E6865"/>
                </a:solidFill>
                <a:latin typeface="Arial"/>
                <a:ea typeface="Arial"/>
                <a:cs typeface="Arial"/>
              </a:defRPr>
            </a:lvl8pPr>
            <a:lvl9pPr>
              <a:defRPr sz="900" b="1">
                <a:solidFill>
                  <a:srgbClr val="5E6865"/>
                </a:solidFill>
                <a:latin typeface="Arial"/>
                <a:ea typeface="Arial"/>
                <a:cs typeface="Arial"/>
              </a:defRPr>
            </a:lvl9pPr>
          </a:lstStyle>
          <a:p xmlns:a="http://schemas.openxmlformats.org/drawingml/2006/main">
            <a:pPr>
              <a:defRPr sz="900" b="1">
                <a:solidFill>
                  <a:srgbClr val="5E6865"/>
                </a:solidFill>
                <a:latin typeface="Arial"/>
                <a:ea typeface="Arial"/>
                <a:cs typeface="Arial"/>
              </a:defRPr>
            </a:pPr>
            <a:r>
              <a:rPr sz="900" b="1">
                <a:solidFill>
                  <a:srgbClr val="5E6865"/>
                </a:solidFill>
                <a:latin typeface="Arial"/>
                <a:ea typeface="Arial"/>
                <a:cs typeface="Arial"/>
              </a:rPr>
              <a:t>Portfolio loss (%)</a:t>
            </a:r>
          </a:p>
        </p:txBody>
      </p:sp>
      <p:sp>
        <p:nvSpPr>
          <p:cNvPr id="6" name="">
            <a:extLst xmlns:a="http://schemas.openxmlformats.org/drawingml/2006/main">
              <a:ext uri="{FF2B5EF4-FFF2-40B4-BE49-F238E27FC236}">
                <a16:creationId xmlns:a16="http://schemas.microsoft.com/office/drawing/2014/main" id="{32495548-712C-4FE8-9C0A-67773927F7FB}"/>
              </a:ext>
            </a:extLst>
          </p:cNvPr>
          <p:cNvSpPr>
            <a:spLocks xmlns:a="http://schemas.openxmlformats.org/drawingml/2006/main" noGrp="1"/>
          </p:cNvSpPr>
          <p:nvPr/>
        </p:nvSpPr>
        <p:spPr>
          <a:xfrm xmlns:a="http://schemas.openxmlformats.org/drawingml/2006/main">
            <a:off x="9067800" y="1619250"/>
            <a:ext cx="2190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B84A3A"/>
                </a:solidFill>
                <a:latin typeface="Arial"/>
                <a:ea typeface="Arial"/>
                <a:cs typeface="Arial"/>
              </a:defRPr>
            </a:defPPr>
            <a:lvl1pPr>
              <a:defRPr sz="2550" b="1">
                <a:solidFill>
                  <a:srgbClr val="B84A3A"/>
                </a:solidFill>
                <a:latin typeface="Arial"/>
                <a:ea typeface="Arial"/>
                <a:cs typeface="Arial"/>
              </a:defRPr>
            </a:lvl1pPr>
            <a:lvl2pPr>
              <a:defRPr sz="2550" b="1">
                <a:solidFill>
                  <a:srgbClr val="B84A3A"/>
                </a:solidFill>
                <a:latin typeface="Arial"/>
                <a:ea typeface="Arial"/>
                <a:cs typeface="Arial"/>
              </a:defRPr>
            </a:lvl2pPr>
            <a:lvl3pPr>
              <a:defRPr sz="2550" b="1">
                <a:solidFill>
                  <a:srgbClr val="B84A3A"/>
                </a:solidFill>
                <a:latin typeface="Arial"/>
                <a:ea typeface="Arial"/>
                <a:cs typeface="Arial"/>
              </a:defRPr>
            </a:lvl3pPr>
            <a:lvl4pPr>
              <a:defRPr sz="2550" b="1">
                <a:solidFill>
                  <a:srgbClr val="B84A3A"/>
                </a:solidFill>
                <a:latin typeface="Arial"/>
                <a:ea typeface="Arial"/>
                <a:cs typeface="Arial"/>
              </a:defRPr>
            </a:lvl4pPr>
            <a:lvl5pPr>
              <a:defRPr sz="2550" b="1">
                <a:solidFill>
                  <a:srgbClr val="B84A3A"/>
                </a:solidFill>
                <a:latin typeface="Arial"/>
                <a:ea typeface="Arial"/>
                <a:cs typeface="Arial"/>
              </a:defRPr>
            </a:lvl5pPr>
            <a:lvl6pPr>
              <a:defRPr sz="2550" b="1">
                <a:solidFill>
                  <a:srgbClr val="B84A3A"/>
                </a:solidFill>
                <a:latin typeface="Arial"/>
                <a:ea typeface="Arial"/>
                <a:cs typeface="Arial"/>
              </a:defRPr>
            </a:lvl6pPr>
            <a:lvl7pPr>
              <a:defRPr sz="2550" b="1">
                <a:solidFill>
                  <a:srgbClr val="B84A3A"/>
                </a:solidFill>
                <a:latin typeface="Arial"/>
                <a:ea typeface="Arial"/>
                <a:cs typeface="Arial"/>
              </a:defRPr>
            </a:lvl7pPr>
            <a:lvl8pPr>
              <a:defRPr sz="2550" b="1">
                <a:solidFill>
                  <a:srgbClr val="B84A3A"/>
                </a:solidFill>
                <a:latin typeface="Arial"/>
                <a:ea typeface="Arial"/>
                <a:cs typeface="Arial"/>
              </a:defRPr>
            </a:lvl8pPr>
            <a:lvl9pPr>
              <a:defRPr sz="2550" b="1">
                <a:solidFill>
                  <a:srgbClr val="B84A3A"/>
                </a:solidFill>
                <a:latin typeface="Arial"/>
                <a:ea typeface="Arial"/>
                <a:cs typeface="Arial"/>
              </a:defRPr>
            </a:lvl9pPr>
          </a:lstStyle>
          <a:p xmlns:a="http://schemas.openxmlformats.org/drawingml/2006/main">
            <a:pPr>
              <a:defRPr sz="2550" b="1">
                <a:solidFill>
                  <a:srgbClr val="B84A3A"/>
                </a:solidFill>
                <a:latin typeface="Arial"/>
                <a:ea typeface="Arial"/>
                <a:cs typeface="Arial"/>
              </a:defRPr>
            </a:pPr>
            <a:r>
              <a:rPr sz="2550" b="1">
                <a:solidFill>
                  <a:srgbClr val="B84A3A"/>
                </a:solidFill>
                <a:latin typeface="Arial"/>
                <a:ea typeface="Arial"/>
                <a:cs typeface="Arial"/>
              </a:rPr>
              <a:t>44.1%</a:t>
            </a:r>
          </a:p>
        </p:txBody>
      </p:sp>
      <p:sp>
        <p:nvSpPr>
          <p:cNvPr id="7" name="">
            <a:extLst xmlns:a="http://schemas.openxmlformats.org/drawingml/2006/main">
              <a:ext uri="{FF2B5EF4-FFF2-40B4-BE49-F238E27FC236}">
                <a16:creationId xmlns:a16="http://schemas.microsoft.com/office/drawing/2014/main" id="{9C361708-D809-4BE5-B12B-A52045EF2453}"/>
              </a:ext>
            </a:extLst>
          </p:cNvPr>
          <p:cNvSpPr>
            <a:spLocks xmlns:a="http://schemas.openxmlformats.org/drawingml/2006/main" noGrp="1"/>
          </p:cNvSpPr>
          <p:nvPr/>
        </p:nvSpPr>
        <p:spPr>
          <a:xfrm xmlns:a="http://schemas.openxmlformats.org/drawingml/2006/main">
            <a:off x="9067800" y="2124075"/>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2008 crisis replay</a:t>
            </a:r>
          </a:p>
        </p:txBody>
      </p:sp>
      <p:sp>
        <p:nvSpPr>
          <p:cNvPr id="8" name="">
            <a:extLst xmlns:a="http://schemas.openxmlformats.org/drawingml/2006/main">
              <a:ext uri="{FF2B5EF4-FFF2-40B4-BE49-F238E27FC236}">
                <a16:creationId xmlns:a16="http://schemas.microsoft.com/office/drawing/2014/main" id="{AA0EBF02-7336-4F21-9C8C-37E1F5110971}"/>
              </a:ext>
            </a:extLst>
          </p:cNvPr>
          <p:cNvSpPr>
            <a:spLocks xmlns:a="http://schemas.openxmlformats.org/drawingml/2006/main" noGrp="1"/>
          </p:cNvSpPr>
          <p:nvPr/>
        </p:nvSpPr>
        <p:spPr>
          <a:xfrm xmlns:a="http://schemas.openxmlformats.org/drawingml/2006/main">
            <a:off x="9067800" y="2857500"/>
            <a:ext cx="2190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B84A3A"/>
                </a:solidFill>
                <a:latin typeface="Arial"/>
                <a:ea typeface="Arial"/>
                <a:cs typeface="Arial"/>
              </a:defRPr>
            </a:defPPr>
            <a:lvl1pPr>
              <a:defRPr sz="2550" b="1">
                <a:solidFill>
                  <a:srgbClr val="B84A3A"/>
                </a:solidFill>
                <a:latin typeface="Arial"/>
                <a:ea typeface="Arial"/>
                <a:cs typeface="Arial"/>
              </a:defRPr>
            </a:lvl1pPr>
            <a:lvl2pPr>
              <a:defRPr sz="2550" b="1">
                <a:solidFill>
                  <a:srgbClr val="B84A3A"/>
                </a:solidFill>
                <a:latin typeface="Arial"/>
                <a:ea typeface="Arial"/>
                <a:cs typeface="Arial"/>
              </a:defRPr>
            </a:lvl2pPr>
            <a:lvl3pPr>
              <a:defRPr sz="2550" b="1">
                <a:solidFill>
                  <a:srgbClr val="B84A3A"/>
                </a:solidFill>
                <a:latin typeface="Arial"/>
                <a:ea typeface="Arial"/>
                <a:cs typeface="Arial"/>
              </a:defRPr>
            </a:lvl3pPr>
            <a:lvl4pPr>
              <a:defRPr sz="2550" b="1">
                <a:solidFill>
                  <a:srgbClr val="B84A3A"/>
                </a:solidFill>
                <a:latin typeface="Arial"/>
                <a:ea typeface="Arial"/>
                <a:cs typeface="Arial"/>
              </a:defRPr>
            </a:lvl4pPr>
            <a:lvl5pPr>
              <a:defRPr sz="2550" b="1">
                <a:solidFill>
                  <a:srgbClr val="B84A3A"/>
                </a:solidFill>
                <a:latin typeface="Arial"/>
                <a:ea typeface="Arial"/>
                <a:cs typeface="Arial"/>
              </a:defRPr>
            </a:lvl5pPr>
            <a:lvl6pPr>
              <a:defRPr sz="2550" b="1">
                <a:solidFill>
                  <a:srgbClr val="B84A3A"/>
                </a:solidFill>
                <a:latin typeface="Arial"/>
                <a:ea typeface="Arial"/>
                <a:cs typeface="Arial"/>
              </a:defRPr>
            </a:lvl6pPr>
            <a:lvl7pPr>
              <a:defRPr sz="2550" b="1">
                <a:solidFill>
                  <a:srgbClr val="B84A3A"/>
                </a:solidFill>
                <a:latin typeface="Arial"/>
                <a:ea typeface="Arial"/>
                <a:cs typeface="Arial"/>
              </a:defRPr>
            </a:lvl7pPr>
            <a:lvl8pPr>
              <a:defRPr sz="2550" b="1">
                <a:solidFill>
                  <a:srgbClr val="B84A3A"/>
                </a:solidFill>
                <a:latin typeface="Arial"/>
                <a:ea typeface="Arial"/>
                <a:cs typeface="Arial"/>
              </a:defRPr>
            </a:lvl8pPr>
            <a:lvl9pPr>
              <a:defRPr sz="2550" b="1">
                <a:solidFill>
                  <a:srgbClr val="B84A3A"/>
                </a:solidFill>
                <a:latin typeface="Arial"/>
                <a:ea typeface="Arial"/>
                <a:cs typeface="Arial"/>
              </a:defRPr>
            </a:lvl9pPr>
          </a:lstStyle>
          <a:p xmlns:a="http://schemas.openxmlformats.org/drawingml/2006/main">
            <a:pPr>
              <a:defRPr sz="2550" b="1">
                <a:solidFill>
                  <a:srgbClr val="B84A3A"/>
                </a:solidFill>
                <a:latin typeface="Arial"/>
                <a:ea typeface="Arial"/>
                <a:cs typeface="Arial"/>
              </a:defRPr>
            </a:pPr>
            <a:r>
              <a:rPr sz="2550" b="1">
                <a:solidFill>
                  <a:srgbClr val="B84A3A"/>
                </a:solidFill>
                <a:latin typeface="Arial"/>
                <a:ea typeface="Arial"/>
                <a:cs typeface="Arial"/>
              </a:rPr>
              <a:t>34.6%</a:t>
            </a:r>
          </a:p>
        </p:txBody>
      </p:sp>
      <p:sp>
        <p:nvSpPr>
          <p:cNvPr id="9" name="">
            <a:extLst xmlns:a="http://schemas.openxmlformats.org/drawingml/2006/main">
              <a:ext uri="{FF2B5EF4-FFF2-40B4-BE49-F238E27FC236}">
                <a16:creationId xmlns:a16="http://schemas.microsoft.com/office/drawing/2014/main" id="{9931C68E-04E0-4D61-A8FC-C8CEAA090AEF}"/>
              </a:ext>
            </a:extLst>
          </p:cNvPr>
          <p:cNvSpPr>
            <a:spLocks xmlns:a="http://schemas.openxmlformats.org/drawingml/2006/main" noGrp="1"/>
          </p:cNvSpPr>
          <p:nvPr/>
        </p:nvSpPr>
        <p:spPr>
          <a:xfrm xmlns:a="http://schemas.openxmlformats.org/drawingml/2006/main">
            <a:off x="9067800" y="3362325"/>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COVID crash replay</a:t>
            </a:r>
          </a:p>
        </p:txBody>
      </p:sp>
      <p:sp>
        <p:nvSpPr>
          <p:cNvPr id="10" name="">
            <a:extLst xmlns:a="http://schemas.openxmlformats.org/drawingml/2006/main">
              <a:ext uri="{FF2B5EF4-FFF2-40B4-BE49-F238E27FC236}">
                <a16:creationId xmlns:a16="http://schemas.microsoft.com/office/drawing/2014/main" id="{9944FC85-D15D-4F84-B281-8479ECCCF695}"/>
              </a:ext>
            </a:extLst>
          </p:cNvPr>
          <p:cNvSpPr>
            <a:spLocks xmlns:a="http://schemas.openxmlformats.org/drawingml/2006/main" noGrp="1"/>
          </p:cNvSpPr>
          <p:nvPr/>
        </p:nvSpPr>
        <p:spPr>
          <a:xfrm xmlns:a="http://schemas.openxmlformats.org/drawingml/2006/main">
            <a:off x="9067800" y="4095750"/>
            <a:ext cx="2190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C9973A"/>
                </a:solidFill>
                <a:latin typeface="Arial"/>
                <a:ea typeface="Arial"/>
                <a:cs typeface="Arial"/>
              </a:defRPr>
            </a:defPPr>
            <a:lvl1pPr>
              <a:defRPr sz="2550" b="1">
                <a:solidFill>
                  <a:srgbClr val="C9973A"/>
                </a:solidFill>
                <a:latin typeface="Arial"/>
                <a:ea typeface="Arial"/>
                <a:cs typeface="Arial"/>
              </a:defRPr>
            </a:lvl1pPr>
            <a:lvl2pPr>
              <a:defRPr sz="2550" b="1">
                <a:solidFill>
                  <a:srgbClr val="C9973A"/>
                </a:solidFill>
                <a:latin typeface="Arial"/>
                <a:ea typeface="Arial"/>
                <a:cs typeface="Arial"/>
              </a:defRPr>
            </a:lvl2pPr>
            <a:lvl3pPr>
              <a:defRPr sz="2550" b="1">
                <a:solidFill>
                  <a:srgbClr val="C9973A"/>
                </a:solidFill>
                <a:latin typeface="Arial"/>
                <a:ea typeface="Arial"/>
                <a:cs typeface="Arial"/>
              </a:defRPr>
            </a:lvl3pPr>
            <a:lvl4pPr>
              <a:defRPr sz="2550" b="1">
                <a:solidFill>
                  <a:srgbClr val="C9973A"/>
                </a:solidFill>
                <a:latin typeface="Arial"/>
                <a:ea typeface="Arial"/>
                <a:cs typeface="Arial"/>
              </a:defRPr>
            </a:lvl4pPr>
            <a:lvl5pPr>
              <a:defRPr sz="2550" b="1">
                <a:solidFill>
                  <a:srgbClr val="C9973A"/>
                </a:solidFill>
                <a:latin typeface="Arial"/>
                <a:ea typeface="Arial"/>
                <a:cs typeface="Arial"/>
              </a:defRPr>
            </a:lvl5pPr>
            <a:lvl6pPr>
              <a:defRPr sz="2550" b="1">
                <a:solidFill>
                  <a:srgbClr val="C9973A"/>
                </a:solidFill>
                <a:latin typeface="Arial"/>
                <a:ea typeface="Arial"/>
                <a:cs typeface="Arial"/>
              </a:defRPr>
            </a:lvl6pPr>
            <a:lvl7pPr>
              <a:defRPr sz="2550" b="1">
                <a:solidFill>
                  <a:srgbClr val="C9973A"/>
                </a:solidFill>
                <a:latin typeface="Arial"/>
                <a:ea typeface="Arial"/>
                <a:cs typeface="Arial"/>
              </a:defRPr>
            </a:lvl7pPr>
            <a:lvl8pPr>
              <a:defRPr sz="2550" b="1">
                <a:solidFill>
                  <a:srgbClr val="C9973A"/>
                </a:solidFill>
                <a:latin typeface="Arial"/>
                <a:ea typeface="Arial"/>
                <a:cs typeface="Arial"/>
              </a:defRPr>
            </a:lvl8pPr>
            <a:lvl9pPr>
              <a:defRPr sz="2550" b="1">
                <a:solidFill>
                  <a:srgbClr val="C9973A"/>
                </a:solidFill>
                <a:latin typeface="Arial"/>
                <a:ea typeface="Arial"/>
                <a:cs typeface="Arial"/>
              </a:defRPr>
            </a:lvl9pPr>
          </a:lstStyle>
          <a:p xmlns:a="http://schemas.openxmlformats.org/drawingml/2006/main">
            <a:pPr>
              <a:defRPr sz="2550" b="1">
                <a:solidFill>
                  <a:srgbClr val="C9973A"/>
                </a:solidFill>
                <a:latin typeface="Arial"/>
                <a:ea typeface="Arial"/>
                <a:cs typeface="Arial"/>
              </a:defRPr>
            </a:pPr>
            <a:r>
              <a:rPr sz="2550" b="1">
                <a:solidFill>
                  <a:srgbClr val="C9973A"/>
                </a:solidFill>
                <a:latin typeface="Arial"/>
                <a:ea typeface="Arial"/>
                <a:cs typeface="Arial"/>
              </a:rPr>
              <a:t>9.6%</a:t>
            </a:r>
          </a:p>
        </p:txBody>
      </p:sp>
      <p:sp>
        <p:nvSpPr>
          <p:cNvPr id="11" name="">
            <a:extLst xmlns:a="http://schemas.openxmlformats.org/drawingml/2006/main">
              <a:ext uri="{FF2B5EF4-FFF2-40B4-BE49-F238E27FC236}">
                <a16:creationId xmlns:a16="http://schemas.microsoft.com/office/drawing/2014/main" id="{46B406E9-E14C-41DD-BD21-988DFE239967}"/>
              </a:ext>
            </a:extLst>
          </p:cNvPr>
          <p:cNvSpPr>
            <a:spLocks xmlns:a="http://schemas.openxmlformats.org/drawingml/2006/main" noGrp="1"/>
          </p:cNvSpPr>
          <p:nvPr/>
        </p:nvSpPr>
        <p:spPr>
          <a:xfrm xmlns:a="http://schemas.openxmlformats.org/drawingml/2006/main">
            <a:off x="9067800" y="4600575"/>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Basel-style stressed VaR</a:t>
            </a:r>
          </a:p>
        </p:txBody>
      </p:sp>
      <p:sp>
        <p:nvSpPr>
          <p:cNvPr id="12" name="">
            <a:extLst xmlns:a="http://schemas.openxmlformats.org/drawingml/2006/main">
              <a:ext uri="{FF2B5EF4-FFF2-40B4-BE49-F238E27FC236}">
                <a16:creationId xmlns:a16="http://schemas.microsoft.com/office/drawing/2014/main" id="{5E5C309A-CCD2-4064-ACEF-5C546620DB42}"/>
              </a:ext>
            </a:extLst>
          </p:cNvPr>
          <p:cNvSpPr>
            <a:spLocks xmlns:a="http://schemas.openxmlformats.org/drawingml/2006/main" noGrp="1"/>
          </p:cNvSpPr>
          <p:nvPr/>
        </p:nvSpPr>
        <p:spPr>
          <a:xfrm xmlns:a="http://schemas.openxmlformats.org/drawingml/2006/main">
            <a:off x="8991600" y="5295900"/>
            <a:ext cx="2400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1B2928"/>
                </a:solidFill>
                <a:latin typeface="Arial"/>
                <a:ea typeface="Arial"/>
                <a:cs typeface="Arial"/>
              </a:defRPr>
            </a:defPPr>
            <a:lvl1pPr>
              <a:defRPr sz="1275" b="1">
                <a:solidFill>
                  <a:srgbClr val="1B2928"/>
                </a:solidFill>
                <a:latin typeface="Arial"/>
                <a:ea typeface="Arial"/>
                <a:cs typeface="Arial"/>
              </a:defRPr>
            </a:lvl1pPr>
            <a:lvl2pPr>
              <a:defRPr sz="1275" b="1">
                <a:solidFill>
                  <a:srgbClr val="1B2928"/>
                </a:solidFill>
                <a:latin typeface="Arial"/>
                <a:ea typeface="Arial"/>
                <a:cs typeface="Arial"/>
              </a:defRPr>
            </a:lvl2pPr>
            <a:lvl3pPr>
              <a:defRPr sz="1275" b="1">
                <a:solidFill>
                  <a:srgbClr val="1B2928"/>
                </a:solidFill>
                <a:latin typeface="Arial"/>
                <a:ea typeface="Arial"/>
                <a:cs typeface="Arial"/>
              </a:defRPr>
            </a:lvl3pPr>
            <a:lvl4pPr>
              <a:defRPr sz="1275" b="1">
                <a:solidFill>
                  <a:srgbClr val="1B2928"/>
                </a:solidFill>
                <a:latin typeface="Arial"/>
                <a:ea typeface="Arial"/>
                <a:cs typeface="Arial"/>
              </a:defRPr>
            </a:lvl4pPr>
            <a:lvl5pPr>
              <a:defRPr sz="1275" b="1">
                <a:solidFill>
                  <a:srgbClr val="1B2928"/>
                </a:solidFill>
                <a:latin typeface="Arial"/>
                <a:ea typeface="Arial"/>
                <a:cs typeface="Arial"/>
              </a:defRPr>
            </a:lvl5pPr>
            <a:lvl6pPr>
              <a:defRPr sz="1275" b="1">
                <a:solidFill>
                  <a:srgbClr val="1B2928"/>
                </a:solidFill>
                <a:latin typeface="Arial"/>
                <a:ea typeface="Arial"/>
                <a:cs typeface="Arial"/>
              </a:defRPr>
            </a:lvl6pPr>
            <a:lvl7pPr>
              <a:defRPr sz="1275" b="1">
                <a:solidFill>
                  <a:srgbClr val="1B2928"/>
                </a:solidFill>
                <a:latin typeface="Arial"/>
                <a:ea typeface="Arial"/>
                <a:cs typeface="Arial"/>
              </a:defRPr>
            </a:lvl7pPr>
            <a:lvl8pPr>
              <a:defRPr sz="1275" b="1">
                <a:solidFill>
                  <a:srgbClr val="1B2928"/>
                </a:solidFill>
                <a:latin typeface="Arial"/>
                <a:ea typeface="Arial"/>
                <a:cs typeface="Arial"/>
              </a:defRPr>
            </a:lvl8pPr>
            <a:lvl9pPr>
              <a:defRPr sz="1275" b="1">
                <a:solidFill>
                  <a:srgbClr val="1B2928"/>
                </a:solidFill>
                <a:latin typeface="Arial"/>
                <a:ea typeface="Arial"/>
                <a:cs typeface="Arial"/>
              </a:defRPr>
            </a:lvl9pPr>
          </a:lstStyle>
          <a:p xmlns:a="http://schemas.openxmlformats.org/drawingml/2006/main">
            <a:pPr>
              <a:defRPr sz="1275" b="1">
                <a:solidFill>
                  <a:srgbClr val="1B2928"/>
                </a:solidFill>
                <a:latin typeface="Arial"/>
                <a:ea typeface="Arial"/>
                <a:cs typeface="Arial"/>
              </a:defRPr>
            </a:pPr>
            <a:r>
              <a:rPr sz="1275" b="1">
                <a:solidFill>
                  <a:srgbClr val="1B2928"/>
                </a:solidFill>
                <a:latin typeface="Arial"/>
                <a:ea typeface="Arial"/>
                <a:cs typeface="Arial"/>
              </a:rPr>
              <a:t>Daily VaR is a control metric—not a crisis-loss ceiling.</a:t>
            </a:r>
          </a:p>
        </p:txBody>
      </p:sp>
      <p:sp>
        <p:nvSpPr>
          <p:cNvPr id="13" name="">
            <a:extLst xmlns:a="http://schemas.openxmlformats.org/drawingml/2006/main">
              <a:ext uri="{FF2B5EF4-FFF2-40B4-BE49-F238E27FC236}">
                <a16:creationId xmlns:a16="http://schemas.microsoft.com/office/drawing/2014/main" id="{AD16D7CD-EA33-4CE5-8B48-75A2F92F6B1B}"/>
              </a:ext>
            </a:extLst>
          </p:cNvPr>
          <p:cNvSpPr>
            <a:spLocks xmlns:a="http://schemas.openxmlformats.org/drawingml/2006/main" noGrp="1"/>
          </p:cNvSpPr>
          <p:nvPr/>
        </p:nvSpPr>
        <p:spPr>
          <a:xfrm xmlns:a="http://schemas.openxmlformats.org/drawingml/2006/main">
            <a:off x="609600" y="6362700"/>
            <a:ext cx="109728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E9F94D5-E0DE-44A3-B45A-150CF03F8414}"/>
              </a:ext>
            </a:extLst>
          </p:cNvPr>
          <p:cNvSpPr>
            <a:spLocks xmlns:a="http://schemas.openxmlformats.org/drawingml/2006/main" noGrp="1"/>
          </p:cNvSpPr>
          <p:nvPr/>
        </p:nvSpPr>
        <p:spPr>
          <a:xfrm xmlns:a="http://schemas.openxmlformats.org/drawingml/2006/main">
            <a:off x="609600" y="6429375"/>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75">
                <a:solidFill>
                  <a:srgbClr val="5E6865"/>
                </a:solidFill>
                <a:latin typeface="Arial"/>
                <a:ea typeface="Arial"/>
                <a:cs typeface="Arial"/>
              </a:defRPr>
            </a:defPPr>
            <a:lvl1pPr>
              <a:defRPr sz="675">
                <a:solidFill>
                  <a:srgbClr val="5E6865"/>
                </a:solidFill>
                <a:latin typeface="Arial"/>
                <a:ea typeface="Arial"/>
                <a:cs typeface="Arial"/>
              </a:defRPr>
            </a:lvl1pPr>
            <a:lvl2pPr>
              <a:defRPr sz="675">
                <a:solidFill>
                  <a:srgbClr val="5E6865"/>
                </a:solidFill>
                <a:latin typeface="Arial"/>
                <a:ea typeface="Arial"/>
                <a:cs typeface="Arial"/>
              </a:defRPr>
            </a:lvl2pPr>
            <a:lvl3pPr>
              <a:defRPr sz="675">
                <a:solidFill>
                  <a:srgbClr val="5E6865"/>
                </a:solidFill>
                <a:latin typeface="Arial"/>
                <a:ea typeface="Arial"/>
                <a:cs typeface="Arial"/>
              </a:defRPr>
            </a:lvl3pPr>
            <a:lvl4pPr>
              <a:defRPr sz="675">
                <a:solidFill>
                  <a:srgbClr val="5E6865"/>
                </a:solidFill>
                <a:latin typeface="Arial"/>
                <a:ea typeface="Arial"/>
                <a:cs typeface="Arial"/>
              </a:defRPr>
            </a:lvl4pPr>
            <a:lvl5pPr>
              <a:defRPr sz="675">
                <a:solidFill>
                  <a:srgbClr val="5E6865"/>
                </a:solidFill>
                <a:latin typeface="Arial"/>
                <a:ea typeface="Arial"/>
                <a:cs typeface="Arial"/>
              </a:defRPr>
            </a:lvl5pPr>
            <a:lvl6pPr>
              <a:defRPr sz="675">
                <a:solidFill>
                  <a:srgbClr val="5E6865"/>
                </a:solidFill>
                <a:latin typeface="Arial"/>
                <a:ea typeface="Arial"/>
                <a:cs typeface="Arial"/>
              </a:defRPr>
            </a:lvl6pPr>
            <a:lvl7pPr>
              <a:defRPr sz="675">
                <a:solidFill>
                  <a:srgbClr val="5E6865"/>
                </a:solidFill>
                <a:latin typeface="Arial"/>
                <a:ea typeface="Arial"/>
                <a:cs typeface="Arial"/>
              </a:defRPr>
            </a:lvl7pPr>
            <a:lvl8pPr>
              <a:defRPr sz="675">
                <a:solidFill>
                  <a:srgbClr val="5E6865"/>
                </a:solidFill>
                <a:latin typeface="Arial"/>
                <a:ea typeface="Arial"/>
                <a:cs typeface="Arial"/>
              </a:defRPr>
            </a:lvl8pPr>
            <a:lvl9pPr>
              <a:defRPr sz="675">
                <a:solidFill>
                  <a:srgbClr val="5E6865"/>
                </a:solidFill>
                <a:latin typeface="Arial"/>
                <a:ea typeface="Arial"/>
                <a:cs typeface="Arial"/>
              </a:defRPr>
            </a:lvl9pPr>
          </a:lstStyle>
          <a:p xmlns:a="http://schemas.openxmlformats.org/drawingml/2006/main">
            <a:pPr>
              <a:defRPr sz="675">
                <a:solidFill>
                  <a:srgbClr val="5E6865"/>
                </a:solidFill>
                <a:latin typeface="Arial"/>
                <a:ea typeface="Arial"/>
                <a:cs typeface="Arial"/>
              </a:defRPr>
            </a:pPr>
            <a:r>
              <a:rPr sz="675">
                <a:solidFill>
                  <a:srgbClr val="5E6865"/>
                </a:solidFill>
                <a:latin typeface="Arial"/>
                <a:ea typeface="Arial"/>
                <a:cs typeface="Arial"/>
              </a:rPr>
              <a:t>Source: QFI_V2_report.docx; Advanced Equity Portfolio Risk Management brief; report_assets/results.json and presentation_backtest.json, as of 16 October 2026.</a:t>
            </a:r>
          </a:p>
        </p:txBody>
      </p:sp>
      <p:sp>
        <p:nvSpPr>
          <p:cNvPr id="15" name="">
            <a:extLst xmlns:a="http://schemas.openxmlformats.org/drawingml/2006/main">
              <a:ext uri="{FF2B5EF4-FFF2-40B4-BE49-F238E27FC236}">
                <a16:creationId xmlns:a16="http://schemas.microsoft.com/office/drawing/2014/main" id="{04F0FCDD-2DD6-4565-BD94-4161CD21A26B}"/>
              </a:ext>
            </a:extLst>
          </p:cNvPr>
          <p:cNvSpPr>
            <a:spLocks xmlns:a="http://schemas.openxmlformats.org/drawingml/2006/main" noGrp="1"/>
          </p:cNvSpPr>
          <p:nvPr/>
        </p:nvSpPr>
        <p:spPr>
          <a:xfrm xmlns:a="http://schemas.openxmlformats.org/drawingml/2006/main">
            <a:off x="10839450" y="64008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174C4F"/>
                </a:solidFill>
                <a:latin typeface="Arial"/>
                <a:ea typeface="Arial"/>
                <a:cs typeface="Arial"/>
              </a:defRPr>
            </a:defPPr>
            <a:lvl1pPr algn="r">
              <a:defRPr sz="825" b="1">
                <a:solidFill>
                  <a:srgbClr val="174C4F"/>
                </a:solidFill>
                <a:latin typeface="Arial"/>
                <a:ea typeface="Arial"/>
                <a:cs typeface="Arial"/>
              </a:defRPr>
            </a:lvl1pPr>
            <a:lvl2pPr algn="r">
              <a:defRPr sz="825" b="1">
                <a:solidFill>
                  <a:srgbClr val="174C4F"/>
                </a:solidFill>
                <a:latin typeface="Arial"/>
                <a:ea typeface="Arial"/>
                <a:cs typeface="Arial"/>
              </a:defRPr>
            </a:lvl2pPr>
            <a:lvl3pPr algn="r">
              <a:defRPr sz="825" b="1">
                <a:solidFill>
                  <a:srgbClr val="174C4F"/>
                </a:solidFill>
                <a:latin typeface="Arial"/>
                <a:ea typeface="Arial"/>
                <a:cs typeface="Arial"/>
              </a:defRPr>
            </a:lvl3pPr>
            <a:lvl4pPr algn="r">
              <a:defRPr sz="825" b="1">
                <a:solidFill>
                  <a:srgbClr val="174C4F"/>
                </a:solidFill>
                <a:latin typeface="Arial"/>
                <a:ea typeface="Arial"/>
                <a:cs typeface="Arial"/>
              </a:defRPr>
            </a:lvl4pPr>
            <a:lvl5pPr algn="r">
              <a:defRPr sz="825" b="1">
                <a:solidFill>
                  <a:srgbClr val="174C4F"/>
                </a:solidFill>
                <a:latin typeface="Arial"/>
                <a:ea typeface="Arial"/>
                <a:cs typeface="Arial"/>
              </a:defRPr>
            </a:lvl5pPr>
            <a:lvl6pPr algn="r">
              <a:defRPr sz="825" b="1">
                <a:solidFill>
                  <a:srgbClr val="174C4F"/>
                </a:solidFill>
                <a:latin typeface="Arial"/>
                <a:ea typeface="Arial"/>
                <a:cs typeface="Arial"/>
              </a:defRPr>
            </a:lvl6pPr>
            <a:lvl7pPr algn="r">
              <a:defRPr sz="825" b="1">
                <a:solidFill>
                  <a:srgbClr val="174C4F"/>
                </a:solidFill>
                <a:latin typeface="Arial"/>
                <a:ea typeface="Arial"/>
                <a:cs typeface="Arial"/>
              </a:defRPr>
            </a:lvl7pPr>
            <a:lvl8pPr algn="r">
              <a:defRPr sz="825" b="1">
                <a:solidFill>
                  <a:srgbClr val="174C4F"/>
                </a:solidFill>
                <a:latin typeface="Arial"/>
                <a:ea typeface="Arial"/>
                <a:cs typeface="Arial"/>
              </a:defRPr>
            </a:lvl8pPr>
            <a:lvl9pPr algn="r">
              <a:defRPr sz="825" b="1">
                <a:solidFill>
                  <a:srgbClr val="174C4F"/>
                </a:solidFill>
                <a:latin typeface="Arial"/>
                <a:ea typeface="Arial"/>
                <a:cs typeface="Arial"/>
              </a:defRPr>
            </a:lvl9pPr>
          </a:lstStyle>
          <a:p xmlns:a="http://schemas.openxmlformats.org/drawingml/2006/main">
            <a:pPr algn="r">
              <a:defRPr sz="825" b="1">
                <a:solidFill>
                  <a:srgbClr val="174C4F"/>
                </a:solidFill>
                <a:latin typeface="Arial"/>
                <a:ea typeface="Arial"/>
                <a:cs typeface="Arial"/>
              </a:defRPr>
            </a:pPr>
            <a:r>
              <a:rPr sz="825" b="1">
                <a:solidFill>
                  <a:srgbClr val="174C4F"/>
                </a:solidFill>
                <a:latin typeface="Arial"/>
                <a:ea typeface="Arial"/>
                <a:cs typeface="Arial"/>
              </a:rPr>
              <a:t>11</a:t>
            </a:r>
          </a:p>
        </p:txBody>
      </p:sp>
    </p:spTree>
    <p:extLst>
      <p:ext uri="{BB962C8B-B14F-4D97-AF65-F5344CB8AC3E}">
        <p14:creationId xmlns:p14="http://schemas.microsoft.com/office/powerpoint/2010/main" val="217110027"/>
      </p:ext>
    </p:extLst>
  </p:cSld>
</p:sld>
</file>

<file path=ppt/slides/slide12.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5D55F1D-FE75-4069-BAF9-F7AA9802F57E}"/>
              </a:ext>
            </a:extLst>
          </p:cNvPr>
          <p:cNvSpPr>
            <a:spLocks xmlns:a="http://schemas.openxmlformats.org/drawingml/2006/main" noGrp="1"/>
          </p:cNvSpPr>
          <p:nvPr/>
        </p:nvSpPr>
        <p:spPr>
          <a:xfrm xmlns:a="http://schemas.openxmlformats.org/drawingml/2006/main">
            <a:off x="609600" y="4000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B2928"/>
                </a:solidFill>
                <a:latin typeface="Arial"/>
                <a:ea typeface="Arial"/>
                <a:cs typeface="Arial"/>
              </a:defRPr>
            </a:defPPr>
            <a:lvl1pPr>
              <a:defRPr sz="2550" b="1">
                <a:solidFill>
                  <a:srgbClr val="1B2928"/>
                </a:solidFill>
                <a:latin typeface="Arial"/>
                <a:ea typeface="Arial"/>
                <a:cs typeface="Arial"/>
              </a:defRPr>
            </a:lvl1pPr>
            <a:lvl2pPr>
              <a:defRPr sz="2550" b="1">
                <a:solidFill>
                  <a:srgbClr val="1B2928"/>
                </a:solidFill>
                <a:latin typeface="Arial"/>
                <a:ea typeface="Arial"/>
                <a:cs typeface="Arial"/>
              </a:defRPr>
            </a:lvl2pPr>
            <a:lvl3pPr>
              <a:defRPr sz="2550" b="1">
                <a:solidFill>
                  <a:srgbClr val="1B2928"/>
                </a:solidFill>
                <a:latin typeface="Arial"/>
                <a:ea typeface="Arial"/>
                <a:cs typeface="Arial"/>
              </a:defRPr>
            </a:lvl3pPr>
            <a:lvl4pPr>
              <a:defRPr sz="2550" b="1">
                <a:solidFill>
                  <a:srgbClr val="1B2928"/>
                </a:solidFill>
                <a:latin typeface="Arial"/>
                <a:ea typeface="Arial"/>
                <a:cs typeface="Arial"/>
              </a:defRPr>
            </a:lvl4pPr>
            <a:lvl5pPr>
              <a:defRPr sz="2550" b="1">
                <a:solidFill>
                  <a:srgbClr val="1B2928"/>
                </a:solidFill>
                <a:latin typeface="Arial"/>
                <a:ea typeface="Arial"/>
                <a:cs typeface="Arial"/>
              </a:defRPr>
            </a:lvl5pPr>
            <a:lvl6pPr>
              <a:defRPr sz="2550" b="1">
                <a:solidFill>
                  <a:srgbClr val="1B2928"/>
                </a:solidFill>
                <a:latin typeface="Arial"/>
                <a:ea typeface="Arial"/>
                <a:cs typeface="Arial"/>
              </a:defRPr>
            </a:lvl6pPr>
            <a:lvl7pPr>
              <a:defRPr sz="2550" b="1">
                <a:solidFill>
                  <a:srgbClr val="1B2928"/>
                </a:solidFill>
                <a:latin typeface="Arial"/>
                <a:ea typeface="Arial"/>
                <a:cs typeface="Arial"/>
              </a:defRPr>
            </a:lvl7pPr>
            <a:lvl8pPr>
              <a:defRPr sz="2550" b="1">
                <a:solidFill>
                  <a:srgbClr val="1B2928"/>
                </a:solidFill>
                <a:latin typeface="Arial"/>
                <a:ea typeface="Arial"/>
                <a:cs typeface="Arial"/>
              </a:defRPr>
            </a:lvl8pPr>
            <a:lvl9pPr>
              <a:defRPr sz="2550" b="1">
                <a:solidFill>
                  <a:srgbClr val="1B2928"/>
                </a:solidFill>
                <a:latin typeface="Arial"/>
                <a:ea typeface="Arial"/>
                <a:cs typeface="Arial"/>
              </a:defRPr>
            </a:lvl9pPr>
          </a:lstStyle>
          <a:p xmlns:a="http://schemas.openxmlformats.org/drawingml/2006/main">
            <a:pPr>
              <a:defRPr sz="2550" b="1">
                <a:solidFill>
                  <a:srgbClr val="1B2928"/>
                </a:solidFill>
                <a:latin typeface="Arial"/>
                <a:ea typeface="Arial"/>
                <a:cs typeface="Arial"/>
              </a:defRPr>
            </a:pPr>
            <a:r>
              <a:rPr sz="2550" b="1">
                <a:solidFill>
                  <a:srgbClr val="1B2928"/>
                </a:solidFill>
                <a:latin typeface="Arial"/>
                <a:ea typeface="Arial"/>
                <a:cs typeface="Arial"/>
              </a:rPr>
              <a:t>Risk is more concentrated than capital</a:t>
            </a:r>
          </a:p>
        </p:txBody>
      </p:sp>
      <p:sp>
        <p:nvSpPr>
          <p:cNvPr id="2" name="">
            <a:extLst xmlns:a="http://schemas.openxmlformats.org/drawingml/2006/main">
              <a:ext uri="{FF2B5EF4-FFF2-40B4-BE49-F238E27FC236}">
                <a16:creationId xmlns:a16="http://schemas.microsoft.com/office/drawing/2014/main" id="{3855C9AB-9459-4155-B12E-BF57476A3CC3}"/>
              </a:ext>
            </a:extLst>
          </p:cNvPr>
          <p:cNvSpPr>
            <a:spLocks xmlns:a="http://schemas.openxmlformats.org/drawingml/2006/main" noGrp="1"/>
          </p:cNvSpPr>
          <p:nvPr/>
        </p:nvSpPr>
        <p:spPr>
          <a:xfrm xmlns:a="http://schemas.openxmlformats.org/drawingml/2006/main">
            <a:off x="609600" y="981075"/>
            <a:ext cx="685800" cy="47625"/>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1ACBC26-3777-438A-8325-F29B1FD179DC}"/>
              </a:ext>
            </a:extLst>
          </p:cNvPr>
          <p:cNvSpPr>
            <a:spLocks xmlns:a="http://schemas.openxmlformats.org/drawingml/2006/main" noGrp="1"/>
          </p:cNvSpPr>
          <p:nvPr/>
        </p:nvSpPr>
        <p:spPr>
          <a:xfrm xmlns:a="http://schemas.openxmlformats.org/drawingml/2006/main">
            <a:off x="1466850" y="866775"/>
            <a:ext cx="962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Current capital weights versus Expected Shortfall contribution</a:t>
            </a:r>
          </a:p>
        </p:txBody>
      </p:sp>
      <p:graphicFrame>
        <p:nvGraphicFramePr>
          <p:cNvPr id="4" name="Chart">
            <a:extLst xmlns:a="http://schemas.openxmlformats.org/drawingml/2006/main">
              <a:ext uri="{FF2B5EF4-FFF2-40B4-BE49-F238E27FC236}">
                <a16:creationId xmlns:a16="http://schemas.microsoft.com/office/drawing/2014/main" id="{CBC322D2-71C2-4370-A24A-2E4963CFCC5A}"/>
              </a:ext>
            </a:extLst>
          </p:cNvPr>
          <p:cNvGraphicFramePr/>
          <p:nvPr/>
        </p:nvGraphicFramePr>
        <p:xfrm>
          <a:off xmlns:a="http://schemas.openxmlformats.org/drawingml/2006/main" x="438150" y="1371600"/>
          <a:ext xmlns:a="http://schemas.openxmlformats.org/drawingml/2006/main" cx="8572500" cy="4333875"/>
        </p:xfrm>
        <a:graphic xmlns:a="http://schemas.openxmlformats.org/drawingml/2006/main">
          <a:graphicData uri="http://schemas.openxmlformats.org/drawingml/2006/chart">
            <c:chart xmlns:r="http://schemas.openxmlformats.org/officeDocument/2006/relationships" xmlns:c="http://schemas.openxmlformats.org/drawingml/2006/chart" r:id="R58ec0530ffd24113"/>
          </a:graphicData>
        </a:graphic>
      </p:graphicFrame>
      <p:sp>
        <p:nvSpPr>
          <p:cNvPr id="5" name="">
            <a:extLst xmlns:a="http://schemas.openxmlformats.org/drawingml/2006/main">
              <a:ext uri="{FF2B5EF4-FFF2-40B4-BE49-F238E27FC236}">
                <a16:creationId xmlns:a16="http://schemas.microsoft.com/office/drawing/2014/main" id="{8F047A0A-3CFE-4832-9533-106041052E1D}"/>
              </a:ext>
            </a:extLst>
          </p:cNvPr>
          <p:cNvSpPr>
            <a:spLocks xmlns:a="http://schemas.openxmlformats.org/drawingml/2006/main" noGrp="1"/>
          </p:cNvSpPr>
          <p:nvPr/>
        </p:nvSpPr>
        <p:spPr>
          <a:xfrm xmlns:a="http://schemas.openxmlformats.org/drawingml/2006/main">
            <a:off x="628650" y="1181100"/>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5E6865"/>
                </a:solidFill>
                <a:latin typeface="Arial"/>
                <a:ea typeface="Arial"/>
                <a:cs typeface="Arial"/>
              </a:defRPr>
            </a:defPPr>
            <a:lvl1pPr>
              <a:defRPr sz="900" b="1">
                <a:solidFill>
                  <a:srgbClr val="5E6865"/>
                </a:solidFill>
                <a:latin typeface="Arial"/>
                <a:ea typeface="Arial"/>
                <a:cs typeface="Arial"/>
              </a:defRPr>
            </a:lvl1pPr>
            <a:lvl2pPr>
              <a:defRPr sz="900" b="1">
                <a:solidFill>
                  <a:srgbClr val="5E6865"/>
                </a:solidFill>
                <a:latin typeface="Arial"/>
                <a:ea typeface="Arial"/>
                <a:cs typeface="Arial"/>
              </a:defRPr>
            </a:lvl2pPr>
            <a:lvl3pPr>
              <a:defRPr sz="900" b="1">
                <a:solidFill>
                  <a:srgbClr val="5E6865"/>
                </a:solidFill>
                <a:latin typeface="Arial"/>
                <a:ea typeface="Arial"/>
                <a:cs typeface="Arial"/>
              </a:defRPr>
            </a:lvl3pPr>
            <a:lvl4pPr>
              <a:defRPr sz="900" b="1">
                <a:solidFill>
                  <a:srgbClr val="5E6865"/>
                </a:solidFill>
                <a:latin typeface="Arial"/>
                <a:ea typeface="Arial"/>
                <a:cs typeface="Arial"/>
              </a:defRPr>
            </a:lvl4pPr>
            <a:lvl5pPr>
              <a:defRPr sz="900" b="1">
                <a:solidFill>
                  <a:srgbClr val="5E6865"/>
                </a:solidFill>
                <a:latin typeface="Arial"/>
                <a:ea typeface="Arial"/>
                <a:cs typeface="Arial"/>
              </a:defRPr>
            </a:lvl5pPr>
            <a:lvl6pPr>
              <a:defRPr sz="900" b="1">
                <a:solidFill>
                  <a:srgbClr val="5E6865"/>
                </a:solidFill>
                <a:latin typeface="Arial"/>
                <a:ea typeface="Arial"/>
                <a:cs typeface="Arial"/>
              </a:defRPr>
            </a:lvl6pPr>
            <a:lvl7pPr>
              <a:defRPr sz="900" b="1">
                <a:solidFill>
                  <a:srgbClr val="5E6865"/>
                </a:solidFill>
                <a:latin typeface="Arial"/>
                <a:ea typeface="Arial"/>
                <a:cs typeface="Arial"/>
              </a:defRPr>
            </a:lvl7pPr>
            <a:lvl8pPr>
              <a:defRPr sz="900" b="1">
                <a:solidFill>
                  <a:srgbClr val="5E6865"/>
                </a:solidFill>
                <a:latin typeface="Arial"/>
                <a:ea typeface="Arial"/>
                <a:cs typeface="Arial"/>
              </a:defRPr>
            </a:lvl8pPr>
            <a:lvl9pPr>
              <a:defRPr sz="900" b="1">
                <a:solidFill>
                  <a:srgbClr val="5E6865"/>
                </a:solidFill>
                <a:latin typeface="Arial"/>
                <a:ea typeface="Arial"/>
                <a:cs typeface="Arial"/>
              </a:defRPr>
            </a:lvl9pPr>
          </a:lstStyle>
          <a:p xmlns:a="http://schemas.openxmlformats.org/drawingml/2006/main">
            <a:pPr>
              <a:defRPr sz="900" b="1">
                <a:solidFill>
                  <a:srgbClr val="5E6865"/>
                </a:solidFill>
                <a:latin typeface="Arial"/>
                <a:ea typeface="Arial"/>
                <a:cs typeface="Arial"/>
              </a:defRPr>
            </a:pPr>
            <a:r>
              <a:rPr sz="900" b="1">
                <a:solidFill>
                  <a:srgbClr val="5E6865"/>
                </a:solidFill>
                <a:latin typeface="Arial"/>
                <a:ea typeface="Arial"/>
                <a:cs typeface="Arial"/>
              </a:rPr>
              <a:t>Share of portfolio (%)</a:t>
            </a:r>
          </a:p>
        </p:txBody>
      </p:sp>
      <p:sp>
        <p:nvSpPr>
          <p:cNvPr id="6" name="">
            <a:extLst xmlns:a="http://schemas.openxmlformats.org/drawingml/2006/main">
              <a:ext uri="{FF2B5EF4-FFF2-40B4-BE49-F238E27FC236}">
                <a16:creationId xmlns:a16="http://schemas.microsoft.com/office/drawing/2014/main" id="{4A783FE1-36E1-4ECC-9532-AED6FBD75D1D}"/>
              </a:ext>
            </a:extLst>
          </p:cNvPr>
          <p:cNvSpPr>
            <a:spLocks xmlns:a="http://schemas.openxmlformats.org/drawingml/2006/main" noGrp="1"/>
          </p:cNvSpPr>
          <p:nvPr/>
        </p:nvSpPr>
        <p:spPr>
          <a:xfrm xmlns:a="http://schemas.openxmlformats.org/drawingml/2006/main">
            <a:off x="9353550" y="16573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B84A3A"/>
                </a:solidFill>
                <a:latin typeface="Arial"/>
                <a:ea typeface="Arial"/>
                <a:cs typeface="Arial"/>
              </a:defRPr>
            </a:defPPr>
            <a:lvl1pPr>
              <a:defRPr sz="2550" b="1">
                <a:solidFill>
                  <a:srgbClr val="B84A3A"/>
                </a:solidFill>
                <a:latin typeface="Arial"/>
                <a:ea typeface="Arial"/>
                <a:cs typeface="Arial"/>
              </a:defRPr>
            </a:lvl1pPr>
            <a:lvl2pPr>
              <a:defRPr sz="2550" b="1">
                <a:solidFill>
                  <a:srgbClr val="B84A3A"/>
                </a:solidFill>
                <a:latin typeface="Arial"/>
                <a:ea typeface="Arial"/>
                <a:cs typeface="Arial"/>
              </a:defRPr>
            </a:lvl2pPr>
            <a:lvl3pPr>
              <a:defRPr sz="2550" b="1">
                <a:solidFill>
                  <a:srgbClr val="B84A3A"/>
                </a:solidFill>
                <a:latin typeface="Arial"/>
                <a:ea typeface="Arial"/>
                <a:cs typeface="Arial"/>
              </a:defRPr>
            </a:lvl3pPr>
            <a:lvl4pPr>
              <a:defRPr sz="2550" b="1">
                <a:solidFill>
                  <a:srgbClr val="B84A3A"/>
                </a:solidFill>
                <a:latin typeface="Arial"/>
                <a:ea typeface="Arial"/>
                <a:cs typeface="Arial"/>
              </a:defRPr>
            </a:lvl4pPr>
            <a:lvl5pPr>
              <a:defRPr sz="2550" b="1">
                <a:solidFill>
                  <a:srgbClr val="B84A3A"/>
                </a:solidFill>
                <a:latin typeface="Arial"/>
                <a:ea typeface="Arial"/>
                <a:cs typeface="Arial"/>
              </a:defRPr>
            </a:lvl5pPr>
            <a:lvl6pPr>
              <a:defRPr sz="2550" b="1">
                <a:solidFill>
                  <a:srgbClr val="B84A3A"/>
                </a:solidFill>
                <a:latin typeface="Arial"/>
                <a:ea typeface="Arial"/>
                <a:cs typeface="Arial"/>
              </a:defRPr>
            </a:lvl6pPr>
            <a:lvl7pPr>
              <a:defRPr sz="2550" b="1">
                <a:solidFill>
                  <a:srgbClr val="B84A3A"/>
                </a:solidFill>
                <a:latin typeface="Arial"/>
                <a:ea typeface="Arial"/>
                <a:cs typeface="Arial"/>
              </a:defRPr>
            </a:lvl7pPr>
            <a:lvl8pPr>
              <a:defRPr sz="2550" b="1">
                <a:solidFill>
                  <a:srgbClr val="B84A3A"/>
                </a:solidFill>
                <a:latin typeface="Arial"/>
                <a:ea typeface="Arial"/>
                <a:cs typeface="Arial"/>
              </a:defRPr>
            </a:lvl8pPr>
            <a:lvl9pPr>
              <a:defRPr sz="2550" b="1">
                <a:solidFill>
                  <a:srgbClr val="B84A3A"/>
                </a:solidFill>
                <a:latin typeface="Arial"/>
                <a:ea typeface="Arial"/>
                <a:cs typeface="Arial"/>
              </a:defRPr>
            </a:lvl9pPr>
          </a:lstStyle>
          <a:p xmlns:a="http://schemas.openxmlformats.org/drawingml/2006/main">
            <a:pPr>
              <a:defRPr sz="2550" b="1">
                <a:solidFill>
                  <a:srgbClr val="B84A3A"/>
                </a:solidFill>
                <a:latin typeface="Arial"/>
                <a:ea typeface="Arial"/>
                <a:cs typeface="Arial"/>
              </a:defRPr>
            </a:pPr>
            <a:r>
              <a:rPr sz="2550" b="1">
                <a:solidFill>
                  <a:srgbClr val="B84A3A"/>
                </a:solidFill>
                <a:latin typeface="Arial"/>
                <a:ea typeface="Arial"/>
                <a:cs typeface="Arial"/>
              </a:rPr>
              <a:t>19.9%</a:t>
            </a:r>
          </a:p>
        </p:txBody>
      </p:sp>
      <p:sp>
        <p:nvSpPr>
          <p:cNvPr id="7" name="">
            <a:extLst xmlns:a="http://schemas.openxmlformats.org/drawingml/2006/main">
              <a:ext uri="{FF2B5EF4-FFF2-40B4-BE49-F238E27FC236}">
                <a16:creationId xmlns:a16="http://schemas.microsoft.com/office/drawing/2014/main" id="{CD8F3AE4-B906-414D-B3F1-DDD44824E69A}"/>
              </a:ext>
            </a:extLst>
          </p:cNvPr>
          <p:cNvSpPr>
            <a:spLocks xmlns:a="http://schemas.openxmlformats.org/drawingml/2006/main" noGrp="1"/>
          </p:cNvSpPr>
          <p:nvPr/>
        </p:nvSpPr>
        <p:spPr>
          <a:xfrm xmlns:a="http://schemas.openxmlformats.org/drawingml/2006/main">
            <a:off x="9353550" y="2162175"/>
            <a:ext cx="200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TSLA share of ES</a:t>
            </a:r>
          </a:p>
        </p:txBody>
      </p:sp>
      <p:sp>
        <p:nvSpPr>
          <p:cNvPr id="8" name="">
            <a:extLst xmlns:a="http://schemas.openxmlformats.org/drawingml/2006/main">
              <a:ext uri="{FF2B5EF4-FFF2-40B4-BE49-F238E27FC236}">
                <a16:creationId xmlns:a16="http://schemas.microsoft.com/office/drawing/2014/main" id="{F5D3085F-0174-4A32-B7D1-E482C4C74BCB}"/>
              </a:ext>
            </a:extLst>
          </p:cNvPr>
          <p:cNvSpPr>
            <a:spLocks xmlns:a="http://schemas.openxmlformats.org/drawingml/2006/main" noGrp="1"/>
          </p:cNvSpPr>
          <p:nvPr/>
        </p:nvSpPr>
        <p:spPr>
          <a:xfrm xmlns:a="http://schemas.openxmlformats.org/drawingml/2006/main">
            <a:off x="9353550" y="28956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B84A3A"/>
                </a:solidFill>
                <a:latin typeface="Arial"/>
                <a:ea typeface="Arial"/>
                <a:cs typeface="Arial"/>
              </a:defRPr>
            </a:defPPr>
            <a:lvl1pPr>
              <a:defRPr sz="2550" b="1">
                <a:solidFill>
                  <a:srgbClr val="B84A3A"/>
                </a:solidFill>
                <a:latin typeface="Arial"/>
                <a:ea typeface="Arial"/>
                <a:cs typeface="Arial"/>
              </a:defRPr>
            </a:lvl1pPr>
            <a:lvl2pPr>
              <a:defRPr sz="2550" b="1">
                <a:solidFill>
                  <a:srgbClr val="B84A3A"/>
                </a:solidFill>
                <a:latin typeface="Arial"/>
                <a:ea typeface="Arial"/>
                <a:cs typeface="Arial"/>
              </a:defRPr>
            </a:lvl2pPr>
            <a:lvl3pPr>
              <a:defRPr sz="2550" b="1">
                <a:solidFill>
                  <a:srgbClr val="B84A3A"/>
                </a:solidFill>
                <a:latin typeface="Arial"/>
                <a:ea typeface="Arial"/>
                <a:cs typeface="Arial"/>
              </a:defRPr>
            </a:lvl3pPr>
            <a:lvl4pPr>
              <a:defRPr sz="2550" b="1">
                <a:solidFill>
                  <a:srgbClr val="B84A3A"/>
                </a:solidFill>
                <a:latin typeface="Arial"/>
                <a:ea typeface="Arial"/>
                <a:cs typeface="Arial"/>
              </a:defRPr>
            </a:lvl4pPr>
            <a:lvl5pPr>
              <a:defRPr sz="2550" b="1">
                <a:solidFill>
                  <a:srgbClr val="B84A3A"/>
                </a:solidFill>
                <a:latin typeface="Arial"/>
                <a:ea typeface="Arial"/>
                <a:cs typeface="Arial"/>
              </a:defRPr>
            </a:lvl5pPr>
            <a:lvl6pPr>
              <a:defRPr sz="2550" b="1">
                <a:solidFill>
                  <a:srgbClr val="B84A3A"/>
                </a:solidFill>
                <a:latin typeface="Arial"/>
                <a:ea typeface="Arial"/>
                <a:cs typeface="Arial"/>
              </a:defRPr>
            </a:lvl6pPr>
            <a:lvl7pPr>
              <a:defRPr sz="2550" b="1">
                <a:solidFill>
                  <a:srgbClr val="B84A3A"/>
                </a:solidFill>
                <a:latin typeface="Arial"/>
                <a:ea typeface="Arial"/>
                <a:cs typeface="Arial"/>
              </a:defRPr>
            </a:lvl7pPr>
            <a:lvl8pPr>
              <a:defRPr sz="2550" b="1">
                <a:solidFill>
                  <a:srgbClr val="B84A3A"/>
                </a:solidFill>
                <a:latin typeface="Arial"/>
                <a:ea typeface="Arial"/>
                <a:cs typeface="Arial"/>
              </a:defRPr>
            </a:lvl8pPr>
            <a:lvl9pPr>
              <a:defRPr sz="2550" b="1">
                <a:solidFill>
                  <a:srgbClr val="B84A3A"/>
                </a:solidFill>
                <a:latin typeface="Arial"/>
                <a:ea typeface="Arial"/>
                <a:cs typeface="Arial"/>
              </a:defRPr>
            </a:lvl9pPr>
          </a:lstStyle>
          <a:p xmlns:a="http://schemas.openxmlformats.org/drawingml/2006/main">
            <a:pPr>
              <a:defRPr sz="2550" b="1">
                <a:solidFill>
                  <a:srgbClr val="B84A3A"/>
                </a:solidFill>
                <a:latin typeface="Arial"/>
                <a:ea typeface="Arial"/>
                <a:cs typeface="Arial"/>
              </a:defRPr>
            </a:pPr>
            <a:r>
              <a:rPr sz="2550" b="1">
                <a:solidFill>
                  <a:srgbClr val="B84A3A"/>
                </a:solidFill>
                <a:latin typeface="Arial"/>
                <a:ea typeface="Arial"/>
                <a:cs typeface="Arial"/>
              </a:rPr>
              <a:t>17.4%</a:t>
            </a:r>
          </a:p>
        </p:txBody>
      </p:sp>
      <p:sp>
        <p:nvSpPr>
          <p:cNvPr id="9" name="">
            <a:extLst xmlns:a="http://schemas.openxmlformats.org/drawingml/2006/main">
              <a:ext uri="{FF2B5EF4-FFF2-40B4-BE49-F238E27FC236}">
                <a16:creationId xmlns:a16="http://schemas.microsoft.com/office/drawing/2014/main" id="{D71AF1FC-61A4-47BF-B938-2BC49FC0BE2C}"/>
              </a:ext>
            </a:extLst>
          </p:cNvPr>
          <p:cNvSpPr>
            <a:spLocks xmlns:a="http://schemas.openxmlformats.org/drawingml/2006/main" noGrp="1"/>
          </p:cNvSpPr>
          <p:nvPr/>
        </p:nvSpPr>
        <p:spPr>
          <a:xfrm xmlns:a="http://schemas.openxmlformats.org/drawingml/2006/main">
            <a:off x="9353550" y="3400425"/>
            <a:ext cx="200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AMZN share of ES</a:t>
            </a:r>
          </a:p>
        </p:txBody>
      </p:sp>
      <p:sp>
        <p:nvSpPr>
          <p:cNvPr id="10" name="">
            <a:extLst xmlns:a="http://schemas.openxmlformats.org/drawingml/2006/main">
              <a:ext uri="{FF2B5EF4-FFF2-40B4-BE49-F238E27FC236}">
                <a16:creationId xmlns:a16="http://schemas.microsoft.com/office/drawing/2014/main" id="{5D616ECE-A4C7-4DBB-8B0C-C814C48C9FBF}"/>
              </a:ext>
            </a:extLst>
          </p:cNvPr>
          <p:cNvSpPr>
            <a:spLocks xmlns:a="http://schemas.openxmlformats.org/drawingml/2006/main" noGrp="1"/>
          </p:cNvSpPr>
          <p:nvPr/>
        </p:nvSpPr>
        <p:spPr>
          <a:xfrm xmlns:a="http://schemas.openxmlformats.org/drawingml/2006/main">
            <a:off x="9353550" y="41338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74C4F"/>
                </a:solidFill>
                <a:latin typeface="Arial"/>
                <a:ea typeface="Arial"/>
                <a:cs typeface="Arial"/>
              </a:defRPr>
            </a:defPPr>
            <a:lvl1pPr>
              <a:defRPr sz="2550" b="1">
                <a:solidFill>
                  <a:srgbClr val="174C4F"/>
                </a:solidFill>
                <a:latin typeface="Arial"/>
                <a:ea typeface="Arial"/>
                <a:cs typeface="Arial"/>
              </a:defRPr>
            </a:lvl1pPr>
            <a:lvl2pPr>
              <a:defRPr sz="2550" b="1">
                <a:solidFill>
                  <a:srgbClr val="174C4F"/>
                </a:solidFill>
                <a:latin typeface="Arial"/>
                <a:ea typeface="Arial"/>
                <a:cs typeface="Arial"/>
              </a:defRPr>
            </a:lvl2pPr>
            <a:lvl3pPr>
              <a:defRPr sz="2550" b="1">
                <a:solidFill>
                  <a:srgbClr val="174C4F"/>
                </a:solidFill>
                <a:latin typeface="Arial"/>
                <a:ea typeface="Arial"/>
                <a:cs typeface="Arial"/>
              </a:defRPr>
            </a:lvl3pPr>
            <a:lvl4pPr>
              <a:defRPr sz="2550" b="1">
                <a:solidFill>
                  <a:srgbClr val="174C4F"/>
                </a:solidFill>
                <a:latin typeface="Arial"/>
                <a:ea typeface="Arial"/>
                <a:cs typeface="Arial"/>
              </a:defRPr>
            </a:lvl4pPr>
            <a:lvl5pPr>
              <a:defRPr sz="2550" b="1">
                <a:solidFill>
                  <a:srgbClr val="174C4F"/>
                </a:solidFill>
                <a:latin typeface="Arial"/>
                <a:ea typeface="Arial"/>
                <a:cs typeface="Arial"/>
              </a:defRPr>
            </a:lvl5pPr>
            <a:lvl6pPr>
              <a:defRPr sz="2550" b="1">
                <a:solidFill>
                  <a:srgbClr val="174C4F"/>
                </a:solidFill>
                <a:latin typeface="Arial"/>
                <a:ea typeface="Arial"/>
                <a:cs typeface="Arial"/>
              </a:defRPr>
            </a:lvl6pPr>
            <a:lvl7pPr>
              <a:defRPr sz="2550" b="1">
                <a:solidFill>
                  <a:srgbClr val="174C4F"/>
                </a:solidFill>
                <a:latin typeface="Arial"/>
                <a:ea typeface="Arial"/>
                <a:cs typeface="Arial"/>
              </a:defRPr>
            </a:lvl7pPr>
            <a:lvl8pPr>
              <a:defRPr sz="2550" b="1">
                <a:solidFill>
                  <a:srgbClr val="174C4F"/>
                </a:solidFill>
                <a:latin typeface="Arial"/>
                <a:ea typeface="Arial"/>
                <a:cs typeface="Arial"/>
              </a:defRPr>
            </a:lvl8pPr>
            <a:lvl9pPr>
              <a:defRPr sz="2550" b="1">
                <a:solidFill>
                  <a:srgbClr val="174C4F"/>
                </a:solidFill>
                <a:latin typeface="Arial"/>
                <a:ea typeface="Arial"/>
                <a:cs typeface="Arial"/>
              </a:defRPr>
            </a:lvl9pPr>
          </a:lstStyle>
          <a:p xmlns:a="http://schemas.openxmlformats.org/drawingml/2006/main">
            <a:pPr>
              <a:defRPr sz="2550" b="1">
                <a:solidFill>
                  <a:srgbClr val="174C4F"/>
                </a:solidFill>
                <a:latin typeface="Arial"/>
                <a:ea typeface="Arial"/>
                <a:cs typeface="Arial"/>
              </a:defRPr>
            </a:pPr>
            <a:r>
              <a:rPr sz="2550" b="1">
                <a:solidFill>
                  <a:srgbClr val="174C4F"/>
                </a:solidFill>
                <a:latin typeface="Arial"/>
                <a:ea typeface="Arial"/>
                <a:cs typeface="Arial"/>
              </a:rPr>
              <a:t>38%</a:t>
            </a:r>
          </a:p>
        </p:txBody>
      </p:sp>
      <p:sp>
        <p:nvSpPr>
          <p:cNvPr id="11" name="">
            <a:extLst xmlns:a="http://schemas.openxmlformats.org/drawingml/2006/main">
              <a:ext uri="{FF2B5EF4-FFF2-40B4-BE49-F238E27FC236}">
                <a16:creationId xmlns:a16="http://schemas.microsoft.com/office/drawing/2014/main" id="{418C87E1-8E52-41F3-A243-070D611EDDDB}"/>
              </a:ext>
            </a:extLst>
          </p:cNvPr>
          <p:cNvSpPr>
            <a:spLocks xmlns:a="http://schemas.openxmlformats.org/drawingml/2006/main" noGrp="1"/>
          </p:cNvSpPr>
          <p:nvPr/>
        </p:nvSpPr>
        <p:spPr>
          <a:xfrm xmlns:a="http://schemas.openxmlformats.org/drawingml/2006/main">
            <a:off x="9353550" y="4638675"/>
            <a:ext cx="200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Diversification benefit</a:t>
            </a:r>
          </a:p>
        </p:txBody>
      </p:sp>
      <p:sp>
        <p:nvSpPr>
          <p:cNvPr id="12" name="">
            <a:extLst xmlns:a="http://schemas.openxmlformats.org/drawingml/2006/main">
              <a:ext uri="{FF2B5EF4-FFF2-40B4-BE49-F238E27FC236}">
                <a16:creationId xmlns:a16="http://schemas.microsoft.com/office/drawing/2014/main" id="{5C4039E4-4EAC-4574-8F86-9737D4CC587C}"/>
              </a:ext>
            </a:extLst>
          </p:cNvPr>
          <p:cNvSpPr>
            <a:spLocks xmlns:a="http://schemas.openxmlformats.org/drawingml/2006/main" noGrp="1"/>
          </p:cNvSpPr>
          <p:nvPr/>
        </p:nvSpPr>
        <p:spPr>
          <a:xfrm xmlns:a="http://schemas.openxmlformats.org/drawingml/2006/main">
            <a:off x="9239250" y="5353050"/>
            <a:ext cx="22383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350" b="1">
                <a:solidFill>
                  <a:srgbClr val="1B2928"/>
                </a:solidFill>
                <a:latin typeface="Arial"/>
                <a:ea typeface="Arial"/>
                <a:cs typeface="Arial"/>
              </a:defRPr>
            </a:defPPr>
            <a:lvl1pPr algn="ctr">
              <a:defRPr sz="1350" b="1">
                <a:solidFill>
                  <a:srgbClr val="1B2928"/>
                </a:solidFill>
                <a:latin typeface="Arial"/>
                <a:ea typeface="Arial"/>
                <a:cs typeface="Arial"/>
              </a:defRPr>
            </a:lvl1pPr>
            <a:lvl2pPr algn="ctr">
              <a:defRPr sz="1350" b="1">
                <a:solidFill>
                  <a:srgbClr val="1B2928"/>
                </a:solidFill>
                <a:latin typeface="Arial"/>
                <a:ea typeface="Arial"/>
                <a:cs typeface="Arial"/>
              </a:defRPr>
            </a:lvl2pPr>
            <a:lvl3pPr algn="ctr">
              <a:defRPr sz="1350" b="1">
                <a:solidFill>
                  <a:srgbClr val="1B2928"/>
                </a:solidFill>
                <a:latin typeface="Arial"/>
                <a:ea typeface="Arial"/>
                <a:cs typeface="Arial"/>
              </a:defRPr>
            </a:lvl3pPr>
            <a:lvl4pPr algn="ctr">
              <a:defRPr sz="1350" b="1">
                <a:solidFill>
                  <a:srgbClr val="1B2928"/>
                </a:solidFill>
                <a:latin typeface="Arial"/>
                <a:ea typeface="Arial"/>
                <a:cs typeface="Arial"/>
              </a:defRPr>
            </a:lvl4pPr>
            <a:lvl5pPr algn="ctr">
              <a:defRPr sz="1350" b="1">
                <a:solidFill>
                  <a:srgbClr val="1B2928"/>
                </a:solidFill>
                <a:latin typeface="Arial"/>
                <a:ea typeface="Arial"/>
                <a:cs typeface="Arial"/>
              </a:defRPr>
            </a:lvl5pPr>
            <a:lvl6pPr algn="ctr">
              <a:defRPr sz="1350" b="1">
                <a:solidFill>
                  <a:srgbClr val="1B2928"/>
                </a:solidFill>
                <a:latin typeface="Arial"/>
                <a:ea typeface="Arial"/>
                <a:cs typeface="Arial"/>
              </a:defRPr>
            </a:lvl6pPr>
            <a:lvl7pPr algn="ctr">
              <a:defRPr sz="1350" b="1">
                <a:solidFill>
                  <a:srgbClr val="1B2928"/>
                </a:solidFill>
                <a:latin typeface="Arial"/>
                <a:ea typeface="Arial"/>
                <a:cs typeface="Arial"/>
              </a:defRPr>
            </a:lvl7pPr>
            <a:lvl8pPr algn="ctr">
              <a:defRPr sz="1350" b="1">
                <a:solidFill>
                  <a:srgbClr val="1B2928"/>
                </a:solidFill>
                <a:latin typeface="Arial"/>
                <a:ea typeface="Arial"/>
                <a:cs typeface="Arial"/>
              </a:defRPr>
            </a:lvl8pPr>
            <a:lvl9pPr algn="ctr">
              <a:defRPr sz="1350" b="1">
                <a:solidFill>
                  <a:srgbClr val="1B2928"/>
                </a:solidFill>
                <a:latin typeface="Arial"/>
                <a:ea typeface="Arial"/>
                <a:cs typeface="Arial"/>
              </a:defRPr>
            </a:lvl9pPr>
          </a:lstStyle>
          <a:p xmlns:a="http://schemas.openxmlformats.org/drawingml/2006/main">
            <a:pPr algn="ctr">
              <a:defRPr sz="1350" b="1">
                <a:solidFill>
                  <a:srgbClr val="1B2928"/>
                </a:solidFill>
                <a:latin typeface="Arial"/>
                <a:ea typeface="Arial"/>
                <a:cs typeface="Arial"/>
              </a:defRPr>
            </a:pPr>
            <a:r>
              <a:rPr sz="1350" b="1">
                <a:solidFill>
                  <a:srgbClr val="1B2928"/>
                </a:solidFill>
                <a:latin typeface="Arial"/>
                <a:ea typeface="Arial"/>
                <a:cs typeface="Arial"/>
              </a:rPr>
              <a:t>~20% of capital → ~37% of tail risk</a:t>
            </a:r>
          </a:p>
        </p:txBody>
      </p:sp>
      <p:sp>
        <p:nvSpPr>
          <p:cNvPr id="13" name="">
            <a:extLst xmlns:a="http://schemas.openxmlformats.org/drawingml/2006/main">
              <a:ext uri="{FF2B5EF4-FFF2-40B4-BE49-F238E27FC236}">
                <a16:creationId xmlns:a16="http://schemas.microsoft.com/office/drawing/2014/main" id="{9FF5788A-D9B5-4E56-BECF-5332E229D8FE}"/>
              </a:ext>
            </a:extLst>
          </p:cNvPr>
          <p:cNvSpPr>
            <a:spLocks xmlns:a="http://schemas.openxmlformats.org/drawingml/2006/main" noGrp="1"/>
          </p:cNvSpPr>
          <p:nvPr/>
        </p:nvSpPr>
        <p:spPr>
          <a:xfrm xmlns:a="http://schemas.openxmlformats.org/drawingml/2006/main">
            <a:off x="609600" y="6362700"/>
            <a:ext cx="109728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09F963E-EA72-4313-AD0A-451F237FB431}"/>
              </a:ext>
            </a:extLst>
          </p:cNvPr>
          <p:cNvSpPr>
            <a:spLocks xmlns:a="http://schemas.openxmlformats.org/drawingml/2006/main" noGrp="1"/>
          </p:cNvSpPr>
          <p:nvPr/>
        </p:nvSpPr>
        <p:spPr>
          <a:xfrm xmlns:a="http://schemas.openxmlformats.org/drawingml/2006/main">
            <a:off x="609600" y="6429375"/>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75">
                <a:solidFill>
                  <a:srgbClr val="5E6865"/>
                </a:solidFill>
                <a:latin typeface="Arial"/>
                <a:ea typeface="Arial"/>
                <a:cs typeface="Arial"/>
              </a:defRPr>
            </a:defPPr>
            <a:lvl1pPr>
              <a:defRPr sz="675">
                <a:solidFill>
                  <a:srgbClr val="5E6865"/>
                </a:solidFill>
                <a:latin typeface="Arial"/>
                <a:ea typeface="Arial"/>
                <a:cs typeface="Arial"/>
              </a:defRPr>
            </a:lvl1pPr>
            <a:lvl2pPr>
              <a:defRPr sz="675">
                <a:solidFill>
                  <a:srgbClr val="5E6865"/>
                </a:solidFill>
                <a:latin typeface="Arial"/>
                <a:ea typeface="Arial"/>
                <a:cs typeface="Arial"/>
              </a:defRPr>
            </a:lvl2pPr>
            <a:lvl3pPr>
              <a:defRPr sz="675">
                <a:solidFill>
                  <a:srgbClr val="5E6865"/>
                </a:solidFill>
                <a:latin typeface="Arial"/>
                <a:ea typeface="Arial"/>
                <a:cs typeface="Arial"/>
              </a:defRPr>
            </a:lvl3pPr>
            <a:lvl4pPr>
              <a:defRPr sz="675">
                <a:solidFill>
                  <a:srgbClr val="5E6865"/>
                </a:solidFill>
                <a:latin typeface="Arial"/>
                <a:ea typeface="Arial"/>
                <a:cs typeface="Arial"/>
              </a:defRPr>
            </a:lvl4pPr>
            <a:lvl5pPr>
              <a:defRPr sz="675">
                <a:solidFill>
                  <a:srgbClr val="5E6865"/>
                </a:solidFill>
                <a:latin typeface="Arial"/>
                <a:ea typeface="Arial"/>
                <a:cs typeface="Arial"/>
              </a:defRPr>
            </a:lvl5pPr>
            <a:lvl6pPr>
              <a:defRPr sz="675">
                <a:solidFill>
                  <a:srgbClr val="5E6865"/>
                </a:solidFill>
                <a:latin typeface="Arial"/>
                <a:ea typeface="Arial"/>
                <a:cs typeface="Arial"/>
              </a:defRPr>
            </a:lvl6pPr>
            <a:lvl7pPr>
              <a:defRPr sz="675">
                <a:solidFill>
                  <a:srgbClr val="5E6865"/>
                </a:solidFill>
                <a:latin typeface="Arial"/>
                <a:ea typeface="Arial"/>
                <a:cs typeface="Arial"/>
              </a:defRPr>
            </a:lvl7pPr>
            <a:lvl8pPr>
              <a:defRPr sz="675">
                <a:solidFill>
                  <a:srgbClr val="5E6865"/>
                </a:solidFill>
                <a:latin typeface="Arial"/>
                <a:ea typeface="Arial"/>
                <a:cs typeface="Arial"/>
              </a:defRPr>
            </a:lvl8pPr>
            <a:lvl9pPr>
              <a:defRPr sz="675">
                <a:solidFill>
                  <a:srgbClr val="5E6865"/>
                </a:solidFill>
                <a:latin typeface="Arial"/>
                <a:ea typeface="Arial"/>
                <a:cs typeface="Arial"/>
              </a:defRPr>
            </a:lvl9pPr>
          </a:lstStyle>
          <a:p xmlns:a="http://schemas.openxmlformats.org/drawingml/2006/main">
            <a:pPr>
              <a:defRPr sz="675">
                <a:solidFill>
                  <a:srgbClr val="5E6865"/>
                </a:solidFill>
                <a:latin typeface="Arial"/>
                <a:ea typeface="Arial"/>
                <a:cs typeface="Arial"/>
              </a:defRPr>
            </a:pPr>
            <a:r>
              <a:rPr sz="675">
                <a:solidFill>
                  <a:srgbClr val="5E6865"/>
                </a:solidFill>
                <a:latin typeface="Arial"/>
                <a:ea typeface="Arial"/>
                <a:cs typeface="Arial"/>
              </a:rPr>
              <a:t>Source: QFI_V2_report.docx; Advanced Equity Portfolio Risk Management brief; report_assets/results.json and presentation_backtest.json, as of 16 October 2026.</a:t>
            </a:r>
          </a:p>
        </p:txBody>
      </p:sp>
      <p:sp>
        <p:nvSpPr>
          <p:cNvPr id="15" name="">
            <a:extLst xmlns:a="http://schemas.openxmlformats.org/drawingml/2006/main">
              <a:ext uri="{FF2B5EF4-FFF2-40B4-BE49-F238E27FC236}">
                <a16:creationId xmlns:a16="http://schemas.microsoft.com/office/drawing/2014/main" id="{F1D2A838-0F85-451A-99C6-CA1D417DDF24}"/>
              </a:ext>
            </a:extLst>
          </p:cNvPr>
          <p:cNvSpPr>
            <a:spLocks xmlns:a="http://schemas.openxmlformats.org/drawingml/2006/main" noGrp="1"/>
          </p:cNvSpPr>
          <p:nvPr/>
        </p:nvSpPr>
        <p:spPr>
          <a:xfrm xmlns:a="http://schemas.openxmlformats.org/drawingml/2006/main">
            <a:off x="10839450" y="64008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174C4F"/>
                </a:solidFill>
                <a:latin typeface="Arial"/>
                <a:ea typeface="Arial"/>
                <a:cs typeface="Arial"/>
              </a:defRPr>
            </a:defPPr>
            <a:lvl1pPr algn="r">
              <a:defRPr sz="825" b="1">
                <a:solidFill>
                  <a:srgbClr val="174C4F"/>
                </a:solidFill>
                <a:latin typeface="Arial"/>
                <a:ea typeface="Arial"/>
                <a:cs typeface="Arial"/>
              </a:defRPr>
            </a:lvl1pPr>
            <a:lvl2pPr algn="r">
              <a:defRPr sz="825" b="1">
                <a:solidFill>
                  <a:srgbClr val="174C4F"/>
                </a:solidFill>
                <a:latin typeface="Arial"/>
                <a:ea typeface="Arial"/>
                <a:cs typeface="Arial"/>
              </a:defRPr>
            </a:lvl2pPr>
            <a:lvl3pPr algn="r">
              <a:defRPr sz="825" b="1">
                <a:solidFill>
                  <a:srgbClr val="174C4F"/>
                </a:solidFill>
                <a:latin typeface="Arial"/>
                <a:ea typeface="Arial"/>
                <a:cs typeface="Arial"/>
              </a:defRPr>
            </a:lvl3pPr>
            <a:lvl4pPr algn="r">
              <a:defRPr sz="825" b="1">
                <a:solidFill>
                  <a:srgbClr val="174C4F"/>
                </a:solidFill>
                <a:latin typeface="Arial"/>
                <a:ea typeface="Arial"/>
                <a:cs typeface="Arial"/>
              </a:defRPr>
            </a:lvl4pPr>
            <a:lvl5pPr algn="r">
              <a:defRPr sz="825" b="1">
                <a:solidFill>
                  <a:srgbClr val="174C4F"/>
                </a:solidFill>
                <a:latin typeface="Arial"/>
                <a:ea typeface="Arial"/>
                <a:cs typeface="Arial"/>
              </a:defRPr>
            </a:lvl5pPr>
            <a:lvl6pPr algn="r">
              <a:defRPr sz="825" b="1">
                <a:solidFill>
                  <a:srgbClr val="174C4F"/>
                </a:solidFill>
                <a:latin typeface="Arial"/>
                <a:ea typeface="Arial"/>
                <a:cs typeface="Arial"/>
              </a:defRPr>
            </a:lvl6pPr>
            <a:lvl7pPr algn="r">
              <a:defRPr sz="825" b="1">
                <a:solidFill>
                  <a:srgbClr val="174C4F"/>
                </a:solidFill>
                <a:latin typeface="Arial"/>
                <a:ea typeface="Arial"/>
                <a:cs typeface="Arial"/>
              </a:defRPr>
            </a:lvl7pPr>
            <a:lvl8pPr algn="r">
              <a:defRPr sz="825" b="1">
                <a:solidFill>
                  <a:srgbClr val="174C4F"/>
                </a:solidFill>
                <a:latin typeface="Arial"/>
                <a:ea typeface="Arial"/>
                <a:cs typeface="Arial"/>
              </a:defRPr>
            </a:lvl8pPr>
            <a:lvl9pPr algn="r">
              <a:defRPr sz="825" b="1">
                <a:solidFill>
                  <a:srgbClr val="174C4F"/>
                </a:solidFill>
                <a:latin typeface="Arial"/>
                <a:ea typeface="Arial"/>
                <a:cs typeface="Arial"/>
              </a:defRPr>
            </a:lvl9pPr>
          </a:lstStyle>
          <a:p xmlns:a="http://schemas.openxmlformats.org/drawingml/2006/main">
            <a:pPr algn="r">
              <a:defRPr sz="825" b="1">
                <a:solidFill>
                  <a:srgbClr val="174C4F"/>
                </a:solidFill>
                <a:latin typeface="Arial"/>
                <a:ea typeface="Arial"/>
                <a:cs typeface="Arial"/>
              </a:defRPr>
            </a:pPr>
            <a:r>
              <a:rPr sz="825" b="1">
                <a:solidFill>
                  <a:srgbClr val="174C4F"/>
                </a:solidFill>
                <a:latin typeface="Arial"/>
                <a:ea typeface="Arial"/>
                <a:cs typeface="Arial"/>
              </a:rPr>
              <a:t>12</a:t>
            </a:r>
          </a:p>
        </p:txBody>
      </p:sp>
    </p:spTree>
    <p:extLst>
      <p:ext uri="{BB962C8B-B14F-4D97-AF65-F5344CB8AC3E}">
        <p14:creationId xmlns:p14="http://schemas.microsoft.com/office/powerpoint/2010/main" val="2104390001"/>
      </p:ext>
    </p:extLst>
  </p:cSld>
</p:sld>
</file>

<file path=ppt/slides/slide13.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DCDE649-E175-4284-8162-B3E110ED62AC}"/>
              </a:ext>
            </a:extLst>
          </p:cNvPr>
          <p:cNvSpPr>
            <a:spLocks xmlns:a="http://schemas.openxmlformats.org/drawingml/2006/main" noGrp="1"/>
          </p:cNvSpPr>
          <p:nvPr/>
        </p:nvSpPr>
        <p:spPr>
          <a:xfrm xmlns:a="http://schemas.openxmlformats.org/drawingml/2006/main">
            <a:off x="609600" y="4000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B2928"/>
                </a:solidFill>
                <a:latin typeface="Arial"/>
                <a:ea typeface="Arial"/>
                <a:cs typeface="Arial"/>
              </a:defRPr>
            </a:defPPr>
            <a:lvl1pPr>
              <a:defRPr sz="2550" b="1">
                <a:solidFill>
                  <a:srgbClr val="1B2928"/>
                </a:solidFill>
                <a:latin typeface="Arial"/>
                <a:ea typeface="Arial"/>
                <a:cs typeface="Arial"/>
              </a:defRPr>
            </a:lvl1pPr>
            <a:lvl2pPr>
              <a:defRPr sz="2550" b="1">
                <a:solidFill>
                  <a:srgbClr val="1B2928"/>
                </a:solidFill>
                <a:latin typeface="Arial"/>
                <a:ea typeface="Arial"/>
                <a:cs typeface="Arial"/>
              </a:defRPr>
            </a:lvl2pPr>
            <a:lvl3pPr>
              <a:defRPr sz="2550" b="1">
                <a:solidFill>
                  <a:srgbClr val="1B2928"/>
                </a:solidFill>
                <a:latin typeface="Arial"/>
                <a:ea typeface="Arial"/>
                <a:cs typeface="Arial"/>
              </a:defRPr>
            </a:lvl3pPr>
            <a:lvl4pPr>
              <a:defRPr sz="2550" b="1">
                <a:solidFill>
                  <a:srgbClr val="1B2928"/>
                </a:solidFill>
                <a:latin typeface="Arial"/>
                <a:ea typeface="Arial"/>
                <a:cs typeface="Arial"/>
              </a:defRPr>
            </a:lvl4pPr>
            <a:lvl5pPr>
              <a:defRPr sz="2550" b="1">
                <a:solidFill>
                  <a:srgbClr val="1B2928"/>
                </a:solidFill>
                <a:latin typeface="Arial"/>
                <a:ea typeface="Arial"/>
                <a:cs typeface="Arial"/>
              </a:defRPr>
            </a:lvl5pPr>
            <a:lvl6pPr>
              <a:defRPr sz="2550" b="1">
                <a:solidFill>
                  <a:srgbClr val="1B2928"/>
                </a:solidFill>
                <a:latin typeface="Arial"/>
                <a:ea typeface="Arial"/>
                <a:cs typeface="Arial"/>
              </a:defRPr>
            </a:lvl6pPr>
            <a:lvl7pPr>
              <a:defRPr sz="2550" b="1">
                <a:solidFill>
                  <a:srgbClr val="1B2928"/>
                </a:solidFill>
                <a:latin typeface="Arial"/>
                <a:ea typeface="Arial"/>
                <a:cs typeface="Arial"/>
              </a:defRPr>
            </a:lvl7pPr>
            <a:lvl8pPr>
              <a:defRPr sz="2550" b="1">
                <a:solidFill>
                  <a:srgbClr val="1B2928"/>
                </a:solidFill>
                <a:latin typeface="Arial"/>
                <a:ea typeface="Arial"/>
                <a:cs typeface="Arial"/>
              </a:defRPr>
            </a:lvl8pPr>
            <a:lvl9pPr>
              <a:defRPr sz="2550" b="1">
                <a:solidFill>
                  <a:srgbClr val="1B2928"/>
                </a:solidFill>
                <a:latin typeface="Arial"/>
                <a:ea typeface="Arial"/>
                <a:cs typeface="Arial"/>
              </a:defRPr>
            </a:lvl9pPr>
          </a:lstStyle>
          <a:p xmlns:a="http://schemas.openxmlformats.org/drawingml/2006/main">
            <a:pPr>
              <a:defRPr sz="2550" b="1">
                <a:solidFill>
                  <a:srgbClr val="1B2928"/>
                </a:solidFill>
                <a:latin typeface="Arial"/>
                <a:ea typeface="Arial"/>
                <a:cs typeface="Arial"/>
              </a:defRPr>
            </a:pPr>
            <a:r>
              <a:rPr sz="2550" b="1">
                <a:solidFill>
                  <a:srgbClr val="1B2928"/>
                </a:solidFill>
                <a:latin typeface="Arial"/>
                <a:ea typeface="Arial"/>
                <a:cs typeface="Arial"/>
              </a:rPr>
              <a:t>The analytics translate into concrete actions</a:t>
            </a:r>
          </a:p>
        </p:txBody>
      </p:sp>
      <p:sp>
        <p:nvSpPr>
          <p:cNvPr id="2" name="">
            <a:extLst xmlns:a="http://schemas.openxmlformats.org/drawingml/2006/main">
              <a:ext uri="{FF2B5EF4-FFF2-40B4-BE49-F238E27FC236}">
                <a16:creationId xmlns:a16="http://schemas.microsoft.com/office/drawing/2014/main" id="{57700816-044A-4E86-9C29-279FC27B3433}"/>
              </a:ext>
            </a:extLst>
          </p:cNvPr>
          <p:cNvSpPr>
            <a:spLocks xmlns:a="http://schemas.openxmlformats.org/drawingml/2006/main" noGrp="1"/>
          </p:cNvSpPr>
          <p:nvPr/>
        </p:nvSpPr>
        <p:spPr>
          <a:xfrm xmlns:a="http://schemas.openxmlformats.org/drawingml/2006/main">
            <a:off x="609600" y="981075"/>
            <a:ext cx="685800" cy="47625"/>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BDB7ADB-A46A-43F4-A6A5-B4DD86A24AC4}"/>
              </a:ext>
            </a:extLst>
          </p:cNvPr>
          <p:cNvSpPr>
            <a:spLocks xmlns:a="http://schemas.openxmlformats.org/drawingml/2006/main" noGrp="1"/>
          </p:cNvSpPr>
          <p:nvPr/>
        </p:nvSpPr>
        <p:spPr>
          <a:xfrm xmlns:a="http://schemas.openxmlformats.org/drawingml/2006/main">
            <a:off x="1466850" y="866775"/>
            <a:ext cx="962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Illustrative hedge estimates and an in-sample reallocation</a:t>
            </a:r>
          </a:p>
        </p:txBody>
      </p:sp>
      <p:graphicFrame>
        <p:nvGraphicFramePr>
          <p:cNvPr id="4" name="Chart">
            <a:extLst xmlns:a="http://schemas.openxmlformats.org/drawingml/2006/main">
              <a:ext uri="{FF2B5EF4-FFF2-40B4-BE49-F238E27FC236}">
                <a16:creationId xmlns:a16="http://schemas.microsoft.com/office/drawing/2014/main" id="{DEAF72E5-C86D-4564-A8B1-D51F5D2BAAEB}"/>
              </a:ext>
            </a:extLst>
          </p:cNvPr>
          <p:cNvGraphicFramePr/>
          <p:nvPr/>
        </p:nvGraphicFramePr>
        <p:xfrm>
          <a:off xmlns:a="http://schemas.openxmlformats.org/drawingml/2006/main" x="514350" y="1409700"/>
          <a:ext xmlns:a="http://schemas.openxmlformats.org/drawingml/2006/main" cx="7315200" cy="4095750"/>
        </p:xfrm>
        <a:graphic xmlns:a="http://schemas.openxmlformats.org/drawingml/2006/main">
          <a:graphicData uri="http://schemas.openxmlformats.org/drawingml/2006/chart">
            <c:chart xmlns:r="http://schemas.openxmlformats.org/officeDocument/2006/relationships" xmlns:c="http://schemas.openxmlformats.org/drawingml/2006/chart" r:id="R6d0ad76c41684639"/>
          </a:graphicData>
        </a:graphic>
      </p:graphicFrame>
      <p:sp>
        <p:nvSpPr>
          <p:cNvPr id="5" name="">
            <a:extLst xmlns:a="http://schemas.openxmlformats.org/drawingml/2006/main">
              <a:ext uri="{FF2B5EF4-FFF2-40B4-BE49-F238E27FC236}">
                <a16:creationId xmlns:a16="http://schemas.microsoft.com/office/drawing/2014/main" id="{5BF4F735-406B-48AC-9C24-71932B8DFEA4}"/>
              </a:ext>
            </a:extLst>
          </p:cNvPr>
          <p:cNvSpPr>
            <a:spLocks xmlns:a="http://schemas.openxmlformats.org/drawingml/2006/main" noGrp="1"/>
          </p:cNvSpPr>
          <p:nvPr/>
        </p:nvSpPr>
        <p:spPr>
          <a:xfrm xmlns:a="http://schemas.openxmlformats.org/drawingml/2006/main">
            <a:off x="8248650" y="1619250"/>
            <a:ext cx="320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74C4F"/>
                </a:solidFill>
                <a:latin typeface="Arial"/>
                <a:ea typeface="Arial"/>
                <a:cs typeface="Arial"/>
              </a:defRPr>
            </a:defPPr>
            <a:lvl1pPr>
              <a:defRPr sz="2550" b="1">
                <a:solidFill>
                  <a:srgbClr val="174C4F"/>
                </a:solidFill>
                <a:latin typeface="Arial"/>
                <a:ea typeface="Arial"/>
                <a:cs typeface="Arial"/>
              </a:defRPr>
            </a:lvl1pPr>
            <a:lvl2pPr>
              <a:defRPr sz="2550" b="1">
                <a:solidFill>
                  <a:srgbClr val="174C4F"/>
                </a:solidFill>
                <a:latin typeface="Arial"/>
                <a:ea typeface="Arial"/>
                <a:cs typeface="Arial"/>
              </a:defRPr>
            </a:lvl2pPr>
            <a:lvl3pPr>
              <a:defRPr sz="2550" b="1">
                <a:solidFill>
                  <a:srgbClr val="174C4F"/>
                </a:solidFill>
                <a:latin typeface="Arial"/>
                <a:ea typeface="Arial"/>
                <a:cs typeface="Arial"/>
              </a:defRPr>
            </a:lvl3pPr>
            <a:lvl4pPr>
              <a:defRPr sz="2550" b="1">
                <a:solidFill>
                  <a:srgbClr val="174C4F"/>
                </a:solidFill>
                <a:latin typeface="Arial"/>
                <a:ea typeface="Arial"/>
                <a:cs typeface="Arial"/>
              </a:defRPr>
            </a:lvl4pPr>
            <a:lvl5pPr>
              <a:defRPr sz="2550" b="1">
                <a:solidFill>
                  <a:srgbClr val="174C4F"/>
                </a:solidFill>
                <a:latin typeface="Arial"/>
                <a:ea typeface="Arial"/>
                <a:cs typeface="Arial"/>
              </a:defRPr>
            </a:lvl5pPr>
            <a:lvl6pPr>
              <a:defRPr sz="2550" b="1">
                <a:solidFill>
                  <a:srgbClr val="174C4F"/>
                </a:solidFill>
                <a:latin typeface="Arial"/>
                <a:ea typeface="Arial"/>
                <a:cs typeface="Arial"/>
              </a:defRPr>
            </a:lvl6pPr>
            <a:lvl7pPr>
              <a:defRPr sz="2550" b="1">
                <a:solidFill>
                  <a:srgbClr val="174C4F"/>
                </a:solidFill>
                <a:latin typeface="Arial"/>
                <a:ea typeface="Arial"/>
                <a:cs typeface="Arial"/>
              </a:defRPr>
            </a:lvl7pPr>
            <a:lvl8pPr>
              <a:defRPr sz="2550" b="1">
                <a:solidFill>
                  <a:srgbClr val="174C4F"/>
                </a:solidFill>
                <a:latin typeface="Arial"/>
                <a:ea typeface="Arial"/>
                <a:cs typeface="Arial"/>
              </a:defRPr>
            </a:lvl8pPr>
            <a:lvl9pPr>
              <a:defRPr sz="2550" b="1">
                <a:solidFill>
                  <a:srgbClr val="174C4F"/>
                </a:solidFill>
                <a:latin typeface="Arial"/>
                <a:ea typeface="Arial"/>
                <a:cs typeface="Arial"/>
              </a:defRPr>
            </a:lvl9pPr>
          </a:lstStyle>
          <a:p xmlns:a="http://schemas.openxmlformats.org/drawingml/2006/main">
            <a:pPr>
              <a:defRPr sz="2550" b="1">
                <a:solidFill>
                  <a:srgbClr val="174C4F"/>
                </a:solidFill>
                <a:latin typeface="Arial"/>
                <a:ea typeface="Arial"/>
                <a:cs typeface="Arial"/>
              </a:defRPr>
            </a:pPr>
            <a:r>
              <a:rPr sz="2550" b="1">
                <a:solidFill>
                  <a:srgbClr val="174C4F"/>
                </a:solidFill>
                <a:latin typeface="Arial"/>
                <a:ea typeface="Arial"/>
                <a:cs typeface="Arial"/>
              </a:rPr>
              <a:t>−59%</a:t>
            </a:r>
          </a:p>
        </p:txBody>
      </p:sp>
      <p:sp>
        <p:nvSpPr>
          <p:cNvPr id="6" name="">
            <a:extLst xmlns:a="http://schemas.openxmlformats.org/drawingml/2006/main">
              <a:ext uri="{FF2B5EF4-FFF2-40B4-BE49-F238E27FC236}">
                <a16:creationId xmlns:a16="http://schemas.microsoft.com/office/drawing/2014/main" id="{CBC74BE5-4F66-45DB-8713-FB709C7FEE8E}"/>
              </a:ext>
            </a:extLst>
          </p:cNvPr>
          <p:cNvSpPr>
            <a:spLocks xmlns:a="http://schemas.openxmlformats.org/drawingml/2006/main" noGrp="1"/>
          </p:cNvSpPr>
          <p:nvPr/>
        </p:nvSpPr>
        <p:spPr>
          <a:xfrm xmlns:a="http://schemas.openxmlformats.org/drawingml/2006/main">
            <a:off x="8248650" y="2124075"/>
            <a:ext cx="3200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VaR with beta-neutral SPY hedge</a:t>
            </a:r>
          </a:p>
        </p:txBody>
      </p:sp>
      <p:sp>
        <p:nvSpPr>
          <p:cNvPr id="7" name="">
            <a:extLst xmlns:a="http://schemas.openxmlformats.org/drawingml/2006/main">
              <a:ext uri="{FF2B5EF4-FFF2-40B4-BE49-F238E27FC236}">
                <a16:creationId xmlns:a16="http://schemas.microsoft.com/office/drawing/2014/main" id="{DB733247-9D31-45B9-9FA3-CA067A9FBB17}"/>
              </a:ext>
            </a:extLst>
          </p:cNvPr>
          <p:cNvSpPr>
            <a:spLocks xmlns:a="http://schemas.openxmlformats.org/drawingml/2006/main" noGrp="1"/>
          </p:cNvSpPr>
          <p:nvPr/>
        </p:nvSpPr>
        <p:spPr>
          <a:xfrm xmlns:a="http://schemas.openxmlformats.org/drawingml/2006/main">
            <a:off x="8248650" y="2914650"/>
            <a:ext cx="320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C9973A"/>
                </a:solidFill>
                <a:latin typeface="Arial"/>
                <a:ea typeface="Arial"/>
                <a:cs typeface="Arial"/>
              </a:defRPr>
            </a:defPPr>
            <a:lvl1pPr>
              <a:defRPr sz="2550" b="1">
                <a:solidFill>
                  <a:srgbClr val="C9973A"/>
                </a:solidFill>
                <a:latin typeface="Arial"/>
                <a:ea typeface="Arial"/>
                <a:cs typeface="Arial"/>
              </a:defRPr>
            </a:lvl1pPr>
            <a:lvl2pPr>
              <a:defRPr sz="2550" b="1">
                <a:solidFill>
                  <a:srgbClr val="C9973A"/>
                </a:solidFill>
                <a:latin typeface="Arial"/>
                <a:ea typeface="Arial"/>
                <a:cs typeface="Arial"/>
              </a:defRPr>
            </a:lvl2pPr>
            <a:lvl3pPr>
              <a:defRPr sz="2550" b="1">
                <a:solidFill>
                  <a:srgbClr val="C9973A"/>
                </a:solidFill>
                <a:latin typeface="Arial"/>
                <a:ea typeface="Arial"/>
                <a:cs typeface="Arial"/>
              </a:defRPr>
            </a:lvl3pPr>
            <a:lvl4pPr>
              <a:defRPr sz="2550" b="1">
                <a:solidFill>
                  <a:srgbClr val="C9973A"/>
                </a:solidFill>
                <a:latin typeface="Arial"/>
                <a:ea typeface="Arial"/>
                <a:cs typeface="Arial"/>
              </a:defRPr>
            </a:lvl4pPr>
            <a:lvl5pPr>
              <a:defRPr sz="2550" b="1">
                <a:solidFill>
                  <a:srgbClr val="C9973A"/>
                </a:solidFill>
                <a:latin typeface="Arial"/>
                <a:ea typeface="Arial"/>
                <a:cs typeface="Arial"/>
              </a:defRPr>
            </a:lvl5pPr>
            <a:lvl6pPr>
              <a:defRPr sz="2550" b="1">
                <a:solidFill>
                  <a:srgbClr val="C9973A"/>
                </a:solidFill>
                <a:latin typeface="Arial"/>
                <a:ea typeface="Arial"/>
                <a:cs typeface="Arial"/>
              </a:defRPr>
            </a:lvl6pPr>
            <a:lvl7pPr>
              <a:defRPr sz="2550" b="1">
                <a:solidFill>
                  <a:srgbClr val="C9973A"/>
                </a:solidFill>
                <a:latin typeface="Arial"/>
                <a:ea typeface="Arial"/>
                <a:cs typeface="Arial"/>
              </a:defRPr>
            </a:lvl7pPr>
            <a:lvl8pPr>
              <a:defRPr sz="2550" b="1">
                <a:solidFill>
                  <a:srgbClr val="C9973A"/>
                </a:solidFill>
                <a:latin typeface="Arial"/>
                <a:ea typeface="Arial"/>
                <a:cs typeface="Arial"/>
              </a:defRPr>
            </a:lvl8pPr>
            <a:lvl9pPr>
              <a:defRPr sz="2550" b="1">
                <a:solidFill>
                  <a:srgbClr val="C9973A"/>
                </a:solidFill>
                <a:latin typeface="Arial"/>
                <a:ea typeface="Arial"/>
                <a:cs typeface="Arial"/>
              </a:defRPr>
            </a:lvl9pPr>
          </a:lstStyle>
          <a:p xmlns:a="http://schemas.openxmlformats.org/drawingml/2006/main">
            <a:pPr>
              <a:defRPr sz="2550" b="1">
                <a:solidFill>
                  <a:srgbClr val="C9973A"/>
                </a:solidFill>
                <a:latin typeface="Arial"/>
                <a:ea typeface="Arial"/>
                <a:cs typeface="Arial"/>
              </a:defRPr>
            </a:pPr>
            <a:r>
              <a:rPr sz="2550" b="1">
                <a:solidFill>
                  <a:srgbClr val="C9973A"/>
                </a:solidFill>
                <a:latin typeface="Arial"/>
                <a:ea typeface="Arial"/>
                <a:cs typeface="Arial"/>
              </a:rPr>
              <a:t>$330k → $229k</a:t>
            </a:r>
          </a:p>
        </p:txBody>
      </p:sp>
      <p:sp>
        <p:nvSpPr>
          <p:cNvPr id="8" name="">
            <a:extLst xmlns:a="http://schemas.openxmlformats.org/drawingml/2006/main">
              <a:ext uri="{FF2B5EF4-FFF2-40B4-BE49-F238E27FC236}">
                <a16:creationId xmlns:a16="http://schemas.microsoft.com/office/drawing/2014/main" id="{D1DB0449-AC38-4EC0-AECE-2D548000119C}"/>
              </a:ext>
            </a:extLst>
          </p:cNvPr>
          <p:cNvSpPr>
            <a:spLocks xmlns:a="http://schemas.openxmlformats.org/drawingml/2006/main" noGrp="1"/>
          </p:cNvSpPr>
          <p:nvPr/>
        </p:nvSpPr>
        <p:spPr>
          <a:xfrm xmlns:a="http://schemas.openxmlformats.org/drawingml/2006/main">
            <a:off x="8248650" y="3419475"/>
            <a:ext cx="3200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a:solidFill>
                  <a:srgbClr val="5E6865"/>
                </a:solidFill>
                <a:latin typeface="Arial"/>
                <a:ea typeface="Arial"/>
                <a:cs typeface="Arial"/>
              </a:defRPr>
            </a:defPPr>
            <a:lvl1pPr>
              <a:defRPr sz="1125">
                <a:solidFill>
                  <a:srgbClr val="5E6865"/>
                </a:solidFill>
                <a:latin typeface="Arial"/>
                <a:ea typeface="Arial"/>
                <a:cs typeface="Arial"/>
              </a:defRPr>
            </a:lvl1pPr>
            <a:lvl2pPr>
              <a:defRPr sz="1125">
                <a:solidFill>
                  <a:srgbClr val="5E6865"/>
                </a:solidFill>
                <a:latin typeface="Arial"/>
                <a:ea typeface="Arial"/>
                <a:cs typeface="Arial"/>
              </a:defRPr>
            </a:lvl2pPr>
            <a:lvl3pPr>
              <a:defRPr sz="1125">
                <a:solidFill>
                  <a:srgbClr val="5E6865"/>
                </a:solidFill>
                <a:latin typeface="Arial"/>
                <a:ea typeface="Arial"/>
                <a:cs typeface="Arial"/>
              </a:defRPr>
            </a:lvl3pPr>
            <a:lvl4pPr>
              <a:defRPr sz="1125">
                <a:solidFill>
                  <a:srgbClr val="5E6865"/>
                </a:solidFill>
                <a:latin typeface="Arial"/>
                <a:ea typeface="Arial"/>
                <a:cs typeface="Arial"/>
              </a:defRPr>
            </a:lvl4pPr>
            <a:lvl5pPr>
              <a:defRPr sz="1125">
                <a:solidFill>
                  <a:srgbClr val="5E6865"/>
                </a:solidFill>
                <a:latin typeface="Arial"/>
                <a:ea typeface="Arial"/>
                <a:cs typeface="Arial"/>
              </a:defRPr>
            </a:lvl5pPr>
            <a:lvl6pPr>
              <a:defRPr sz="1125">
                <a:solidFill>
                  <a:srgbClr val="5E6865"/>
                </a:solidFill>
                <a:latin typeface="Arial"/>
                <a:ea typeface="Arial"/>
                <a:cs typeface="Arial"/>
              </a:defRPr>
            </a:lvl6pPr>
            <a:lvl7pPr>
              <a:defRPr sz="1125">
                <a:solidFill>
                  <a:srgbClr val="5E6865"/>
                </a:solidFill>
                <a:latin typeface="Arial"/>
                <a:ea typeface="Arial"/>
                <a:cs typeface="Arial"/>
              </a:defRPr>
            </a:lvl7pPr>
            <a:lvl8pPr>
              <a:defRPr sz="1125">
                <a:solidFill>
                  <a:srgbClr val="5E6865"/>
                </a:solidFill>
                <a:latin typeface="Arial"/>
                <a:ea typeface="Arial"/>
                <a:cs typeface="Arial"/>
              </a:defRPr>
            </a:lvl8pPr>
            <a:lvl9pPr>
              <a:defRPr sz="1125">
                <a:solidFill>
                  <a:srgbClr val="5E6865"/>
                </a:solidFill>
                <a:latin typeface="Arial"/>
                <a:ea typeface="Arial"/>
                <a:cs typeface="Arial"/>
              </a:defRPr>
            </a:lvl9pPr>
          </a:lstStyle>
          <a:p xmlns:a="http://schemas.openxmlformats.org/drawingml/2006/main">
            <a:pPr>
              <a:defRPr sz="1125">
                <a:solidFill>
                  <a:srgbClr val="5E6865"/>
                </a:solidFill>
                <a:latin typeface="Arial"/>
                <a:ea typeface="Arial"/>
                <a:cs typeface="Arial"/>
              </a:defRPr>
            </a:pPr>
            <a:r>
              <a:rPr sz="1125">
                <a:solidFill>
                  <a:srgbClr val="5E6865"/>
                </a:solidFill>
                <a:latin typeface="Arial"/>
                <a:ea typeface="Arial"/>
                <a:cs typeface="Arial"/>
              </a:rPr>
              <a:t>ES in optimized split</a:t>
            </a:r>
          </a:p>
        </p:txBody>
      </p:sp>
      <p:sp>
        <p:nvSpPr>
          <p:cNvPr id="9" name="">
            <a:extLst xmlns:a="http://schemas.openxmlformats.org/drawingml/2006/main">
              <a:ext uri="{FF2B5EF4-FFF2-40B4-BE49-F238E27FC236}">
                <a16:creationId xmlns:a16="http://schemas.microsoft.com/office/drawing/2014/main" id="{121F304D-7183-42B9-B2A0-B8149DD9B53A}"/>
              </a:ext>
            </a:extLst>
          </p:cNvPr>
          <p:cNvSpPr>
            <a:spLocks xmlns:a="http://schemas.openxmlformats.org/drawingml/2006/main" noGrp="1"/>
          </p:cNvSpPr>
          <p:nvPr/>
        </p:nvSpPr>
        <p:spPr>
          <a:xfrm xmlns:a="http://schemas.openxmlformats.org/drawingml/2006/main">
            <a:off x="8115300" y="4324350"/>
            <a:ext cx="3333750" cy="1428750"/>
          </a:xfrm>
          <a:prstGeom xmlns:a="http://schemas.openxmlformats.org/drawingml/2006/main" prst="roundRect">
            <a:avLst>
              <a:gd name="adj" fmla="val 5333"/>
            </a:avLst>
          </a:prstGeom>
          <a:solidFill xmlns:a="http://schemas.openxmlformats.org/drawingml/2006/main">
            <a:srgbClr val="F3DCD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8E8F6B0-96B0-4171-A61E-A87C7EE859FB}"/>
              </a:ext>
            </a:extLst>
          </p:cNvPr>
          <p:cNvSpPr>
            <a:spLocks xmlns:a="http://schemas.openxmlformats.org/drawingml/2006/main" noGrp="1"/>
          </p:cNvSpPr>
          <p:nvPr/>
        </p:nvSpPr>
        <p:spPr>
          <a:xfrm xmlns:a="http://schemas.openxmlformats.org/drawingml/2006/main">
            <a:off x="8115300" y="4324350"/>
            <a:ext cx="66675" cy="1428750"/>
          </a:xfrm>
          <a:prstGeom xmlns:a="http://schemas.openxmlformats.org/drawingml/2006/main" prst="rect">
            <a:avLst/>
          </a:prstGeom>
          <a:solidFill xmlns:a="http://schemas.openxmlformats.org/drawingml/2006/main">
            <a:srgbClr val="B84A3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8A869AA-599D-4592-90E8-2584A9AA38B6}"/>
              </a:ext>
            </a:extLst>
          </p:cNvPr>
          <p:cNvSpPr>
            <a:spLocks xmlns:a="http://schemas.openxmlformats.org/drawingml/2006/main" noGrp="1"/>
          </p:cNvSpPr>
          <p:nvPr/>
        </p:nvSpPr>
        <p:spPr>
          <a:xfrm xmlns:a="http://schemas.openxmlformats.org/drawingml/2006/main">
            <a:off x="8343900" y="4467225"/>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B84A3A"/>
                </a:solidFill>
                <a:latin typeface="Arial"/>
                <a:ea typeface="Arial"/>
                <a:cs typeface="Arial"/>
              </a:defRPr>
            </a:defPPr>
            <a:lvl1pPr>
              <a:defRPr sz="1425" b="1">
                <a:solidFill>
                  <a:srgbClr val="B84A3A"/>
                </a:solidFill>
                <a:latin typeface="Arial"/>
                <a:ea typeface="Arial"/>
                <a:cs typeface="Arial"/>
              </a:defRPr>
            </a:lvl1pPr>
            <a:lvl2pPr>
              <a:defRPr sz="1425" b="1">
                <a:solidFill>
                  <a:srgbClr val="B84A3A"/>
                </a:solidFill>
                <a:latin typeface="Arial"/>
                <a:ea typeface="Arial"/>
                <a:cs typeface="Arial"/>
              </a:defRPr>
            </a:lvl2pPr>
            <a:lvl3pPr>
              <a:defRPr sz="1425" b="1">
                <a:solidFill>
                  <a:srgbClr val="B84A3A"/>
                </a:solidFill>
                <a:latin typeface="Arial"/>
                <a:ea typeface="Arial"/>
                <a:cs typeface="Arial"/>
              </a:defRPr>
            </a:lvl3pPr>
            <a:lvl4pPr>
              <a:defRPr sz="1425" b="1">
                <a:solidFill>
                  <a:srgbClr val="B84A3A"/>
                </a:solidFill>
                <a:latin typeface="Arial"/>
                <a:ea typeface="Arial"/>
                <a:cs typeface="Arial"/>
              </a:defRPr>
            </a:lvl4pPr>
            <a:lvl5pPr>
              <a:defRPr sz="1425" b="1">
                <a:solidFill>
                  <a:srgbClr val="B84A3A"/>
                </a:solidFill>
                <a:latin typeface="Arial"/>
                <a:ea typeface="Arial"/>
                <a:cs typeface="Arial"/>
              </a:defRPr>
            </a:lvl5pPr>
            <a:lvl6pPr>
              <a:defRPr sz="1425" b="1">
                <a:solidFill>
                  <a:srgbClr val="B84A3A"/>
                </a:solidFill>
                <a:latin typeface="Arial"/>
                <a:ea typeface="Arial"/>
                <a:cs typeface="Arial"/>
              </a:defRPr>
            </a:lvl6pPr>
            <a:lvl7pPr>
              <a:defRPr sz="1425" b="1">
                <a:solidFill>
                  <a:srgbClr val="B84A3A"/>
                </a:solidFill>
                <a:latin typeface="Arial"/>
                <a:ea typeface="Arial"/>
                <a:cs typeface="Arial"/>
              </a:defRPr>
            </a:lvl7pPr>
            <a:lvl8pPr>
              <a:defRPr sz="1425" b="1">
                <a:solidFill>
                  <a:srgbClr val="B84A3A"/>
                </a:solidFill>
                <a:latin typeface="Arial"/>
                <a:ea typeface="Arial"/>
                <a:cs typeface="Arial"/>
              </a:defRPr>
            </a:lvl8pPr>
            <a:lvl9pPr>
              <a:defRPr sz="1425" b="1">
                <a:solidFill>
                  <a:srgbClr val="B84A3A"/>
                </a:solidFill>
                <a:latin typeface="Arial"/>
                <a:ea typeface="Arial"/>
                <a:cs typeface="Arial"/>
              </a:defRPr>
            </a:lvl9pPr>
          </a:lstStyle>
          <a:p xmlns:a="http://schemas.openxmlformats.org/drawingml/2006/main">
            <a:pPr>
              <a:defRPr sz="1425" b="1">
                <a:solidFill>
                  <a:srgbClr val="B84A3A"/>
                </a:solidFill>
                <a:latin typeface="Arial"/>
                <a:ea typeface="Arial"/>
                <a:cs typeface="Arial"/>
              </a:defRPr>
            </a:pPr>
            <a:r>
              <a:rPr sz="1425" b="1">
                <a:solidFill>
                  <a:srgbClr val="B84A3A"/>
                </a:solidFill>
                <a:latin typeface="Arial"/>
                <a:ea typeface="Arial"/>
                <a:cs typeface="Arial"/>
              </a:rPr>
              <a:t>Before any trade</a:t>
            </a:r>
          </a:p>
        </p:txBody>
      </p:sp>
      <p:sp>
        <p:nvSpPr>
          <p:cNvPr id="12" name="">
            <a:extLst xmlns:a="http://schemas.openxmlformats.org/drawingml/2006/main">
              <a:ext uri="{FF2B5EF4-FFF2-40B4-BE49-F238E27FC236}">
                <a16:creationId xmlns:a16="http://schemas.microsoft.com/office/drawing/2014/main" id="{2B4677FA-F6D7-443B-AC9D-08835CEDADCD}"/>
              </a:ext>
            </a:extLst>
          </p:cNvPr>
          <p:cNvSpPr>
            <a:spLocks xmlns:a="http://schemas.openxmlformats.org/drawingml/2006/main" noGrp="1"/>
          </p:cNvSpPr>
          <p:nvPr/>
        </p:nvSpPr>
        <p:spPr>
          <a:xfrm xmlns:a="http://schemas.openxmlformats.org/drawingml/2006/main">
            <a:off x="8343900" y="4772025"/>
            <a:ext cx="2952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Add liquidity, turnover, transaction-cost, position-limit, basis-risk and out-of-sample controls. These estimates support decisions; they do not authorize execution.</a:t>
            </a:r>
          </a:p>
        </p:txBody>
      </p:sp>
      <p:sp>
        <p:nvSpPr>
          <p:cNvPr id="13" name="">
            <a:extLst xmlns:a="http://schemas.openxmlformats.org/drawingml/2006/main">
              <a:ext uri="{FF2B5EF4-FFF2-40B4-BE49-F238E27FC236}">
                <a16:creationId xmlns:a16="http://schemas.microsoft.com/office/drawing/2014/main" id="{5172CE45-E03A-4DD7-A56F-DAF3B14E8050}"/>
              </a:ext>
            </a:extLst>
          </p:cNvPr>
          <p:cNvSpPr>
            <a:spLocks xmlns:a="http://schemas.openxmlformats.org/drawingml/2006/main" noGrp="1"/>
          </p:cNvSpPr>
          <p:nvPr/>
        </p:nvSpPr>
        <p:spPr>
          <a:xfrm xmlns:a="http://schemas.openxmlformats.org/drawingml/2006/main">
            <a:off x="609600" y="6362700"/>
            <a:ext cx="109728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1C1E64C-8209-4904-9A2C-17FBE0596990}"/>
              </a:ext>
            </a:extLst>
          </p:cNvPr>
          <p:cNvSpPr>
            <a:spLocks xmlns:a="http://schemas.openxmlformats.org/drawingml/2006/main" noGrp="1"/>
          </p:cNvSpPr>
          <p:nvPr/>
        </p:nvSpPr>
        <p:spPr>
          <a:xfrm xmlns:a="http://schemas.openxmlformats.org/drawingml/2006/main">
            <a:off x="609600" y="6429375"/>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75">
                <a:solidFill>
                  <a:srgbClr val="5E6865"/>
                </a:solidFill>
                <a:latin typeface="Arial"/>
                <a:ea typeface="Arial"/>
                <a:cs typeface="Arial"/>
              </a:defRPr>
            </a:defPPr>
            <a:lvl1pPr>
              <a:defRPr sz="675">
                <a:solidFill>
                  <a:srgbClr val="5E6865"/>
                </a:solidFill>
                <a:latin typeface="Arial"/>
                <a:ea typeface="Arial"/>
                <a:cs typeface="Arial"/>
              </a:defRPr>
            </a:lvl1pPr>
            <a:lvl2pPr>
              <a:defRPr sz="675">
                <a:solidFill>
                  <a:srgbClr val="5E6865"/>
                </a:solidFill>
                <a:latin typeface="Arial"/>
                <a:ea typeface="Arial"/>
                <a:cs typeface="Arial"/>
              </a:defRPr>
            </a:lvl2pPr>
            <a:lvl3pPr>
              <a:defRPr sz="675">
                <a:solidFill>
                  <a:srgbClr val="5E6865"/>
                </a:solidFill>
                <a:latin typeface="Arial"/>
                <a:ea typeface="Arial"/>
                <a:cs typeface="Arial"/>
              </a:defRPr>
            </a:lvl3pPr>
            <a:lvl4pPr>
              <a:defRPr sz="675">
                <a:solidFill>
                  <a:srgbClr val="5E6865"/>
                </a:solidFill>
                <a:latin typeface="Arial"/>
                <a:ea typeface="Arial"/>
                <a:cs typeface="Arial"/>
              </a:defRPr>
            </a:lvl4pPr>
            <a:lvl5pPr>
              <a:defRPr sz="675">
                <a:solidFill>
                  <a:srgbClr val="5E6865"/>
                </a:solidFill>
                <a:latin typeface="Arial"/>
                <a:ea typeface="Arial"/>
                <a:cs typeface="Arial"/>
              </a:defRPr>
            </a:lvl5pPr>
            <a:lvl6pPr>
              <a:defRPr sz="675">
                <a:solidFill>
                  <a:srgbClr val="5E6865"/>
                </a:solidFill>
                <a:latin typeface="Arial"/>
                <a:ea typeface="Arial"/>
                <a:cs typeface="Arial"/>
              </a:defRPr>
            </a:lvl6pPr>
            <a:lvl7pPr>
              <a:defRPr sz="675">
                <a:solidFill>
                  <a:srgbClr val="5E6865"/>
                </a:solidFill>
                <a:latin typeface="Arial"/>
                <a:ea typeface="Arial"/>
                <a:cs typeface="Arial"/>
              </a:defRPr>
            </a:lvl7pPr>
            <a:lvl8pPr>
              <a:defRPr sz="675">
                <a:solidFill>
                  <a:srgbClr val="5E6865"/>
                </a:solidFill>
                <a:latin typeface="Arial"/>
                <a:ea typeface="Arial"/>
                <a:cs typeface="Arial"/>
              </a:defRPr>
            </a:lvl8pPr>
            <a:lvl9pPr>
              <a:defRPr sz="675">
                <a:solidFill>
                  <a:srgbClr val="5E6865"/>
                </a:solidFill>
                <a:latin typeface="Arial"/>
                <a:ea typeface="Arial"/>
                <a:cs typeface="Arial"/>
              </a:defRPr>
            </a:lvl9pPr>
          </a:lstStyle>
          <a:p xmlns:a="http://schemas.openxmlformats.org/drawingml/2006/main">
            <a:pPr>
              <a:defRPr sz="675">
                <a:solidFill>
                  <a:srgbClr val="5E6865"/>
                </a:solidFill>
                <a:latin typeface="Arial"/>
                <a:ea typeface="Arial"/>
                <a:cs typeface="Arial"/>
              </a:defRPr>
            </a:pPr>
            <a:r>
              <a:rPr sz="675">
                <a:solidFill>
                  <a:srgbClr val="5E6865"/>
                </a:solidFill>
                <a:latin typeface="Arial"/>
                <a:ea typeface="Arial"/>
                <a:cs typeface="Arial"/>
              </a:rPr>
              <a:t>Source: QFI_V2_report.docx; Advanced Equity Portfolio Risk Management brief; report_assets/results.json and presentation_backtest.json, as of 16 October 2026.</a:t>
            </a:r>
          </a:p>
        </p:txBody>
      </p:sp>
      <p:sp>
        <p:nvSpPr>
          <p:cNvPr id="15" name="">
            <a:extLst xmlns:a="http://schemas.openxmlformats.org/drawingml/2006/main">
              <a:ext uri="{FF2B5EF4-FFF2-40B4-BE49-F238E27FC236}">
                <a16:creationId xmlns:a16="http://schemas.microsoft.com/office/drawing/2014/main" id="{DDCE0867-04CB-4298-BFF2-D78D3FEE3C87}"/>
              </a:ext>
            </a:extLst>
          </p:cNvPr>
          <p:cNvSpPr>
            <a:spLocks xmlns:a="http://schemas.openxmlformats.org/drawingml/2006/main" noGrp="1"/>
          </p:cNvSpPr>
          <p:nvPr/>
        </p:nvSpPr>
        <p:spPr>
          <a:xfrm xmlns:a="http://schemas.openxmlformats.org/drawingml/2006/main">
            <a:off x="10839450" y="64008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174C4F"/>
                </a:solidFill>
                <a:latin typeface="Arial"/>
                <a:ea typeface="Arial"/>
                <a:cs typeface="Arial"/>
              </a:defRPr>
            </a:defPPr>
            <a:lvl1pPr algn="r">
              <a:defRPr sz="825" b="1">
                <a:solidFill>
                  <a:srgbClr val="174C4F"/>
                </a:solidFill>
                <a:latin typeface="Arial"/>
                <a:ea typeface="Arial"/>
                <a:cs typeface="Arial"/>
              </a:defRPr>
            </a:lvl1pPr>
            <a:lvl2pPr algn="r">
              <a:defRPr sz="825" b="1">
                <a:solidFill>
                  <a:srgbClr val="174C4F"/>
                </a:solidFill>
                <a:latin typeface="Arial"/>
                <a:ea typeface="Arial"/>
                <a:cs typeface="Arial"/>
              </a:defRPr>
            </a:lvl2pPr>
            <a:lvl3pPr algn="r">
              <a:defRPr sz="825" b="1">
                <a:solidFill>
                  <a:srgbClr val="174C4F"/>
                </a:solidFill>
                <a:latin typeface="Arial"/>
                <a:ea typeface="Arial"/>
                <a:cs typeface="Arial"/>
              </a:defRPr>
            </a:lvl3pPr>
            <a:lvl4pPr algn="r">
              <a:defRPr sz="825" b="1">
                <a:solidFill>
                  <a:srgbClr val="174C4F"/>
                </a:solidFill>
                <a:latin typeface="Arial"/>
                <a:ea typeface="Arial"/>
                <a:cs typeface="Arial"/>
              </a:defRPr>
            </a:lvl4pPr>
            <a:lvl5pPr algn="r">
              <a:defRPr sz="825" b="1">
                <a:solidFill>
                  <a:srgbClr val="174C4F"/>
                </a:solidFill>
                <a:latin typeface="Arial"/>
                <a:ea typeface="Arial"/>
                <a:cs typeface="Arial"/>
              </a:defRPr>
            </a:lvl5pPr>
            <a:lvl6pPr algn="r">
              <a:defRPr sz="825" b="1">
                <a:solidFill>
                  <a:srgbClr val="174C4F"/>
                </a:solidFill>
                <a:latin typeface="Arial"/>
                <a:ea typeface="Arial"/>
                <a:cs typeface="Arial"/>
              </a:defRPr>
            </a:lvl6pPr>
            <a:lvl7pPr algn="r">
              <a:defRPr sz="825" b="1">
                <a:solidFill>
                  <a:srgbClr val="174C4F"/>
                </a:solidFill>
                <a:latin typeface="Arial"/>
                <a:ea typeface="Arial"/>
                <a:cs typeface="Arial"/>
              </a:defRPr>
            </a:lvl7pPr>
            <a:lvl8pPr algn="r">
              <a:defRPr sz="825" b="1">
                <a:solidFill>
                  <a:srgbClr val="174C4F"/>
                </a:solidFill>
                <a:latin typeface="Arial"/>
                <a:ea typeface="Arial"/>
                <a:cs typeface="Arial"/>
              </a:defRPr>
            </a:lvl8pPr>
            <a:lvl9pPr algn="r">
              <a:defRPr sz="825" b="1">
                <a:solidFill>
                  <a:srgbClr val="174C4F"/>
                </a:solidFill>
                <a:latin typeface="Arial"/>
                <a:ea typeface="Arial"/>
                <a:cs typeface="Arial"/>
              </a:defRPr>
            </a:lvl9pPr>
          </a:lstStyle>
          <a:p xmlns:a="http://schemas.openxmlformats.org/drawingml/2006/main">
            <a:pPr algn="r">
              <a:defRPr sz="825" b="1">
                <a:solidFill>
                  <a:srgbClr val="174C4F"/>
                </a:solidFill>
                <a:latin typeface="Arial"/>
                <a:ea typeface="Arial"/>
                <a:cs typeface="Arial"/>
              </a:defRPr>
            </a:pPr>
            <a:r>
              <a:rPr sz="825" b="1">
                <a:solidFill>
                  <a:srgbClr val="174C4F"/>
                </a:solidFill>
                <a:latin typeface="Arial"/>
                <a:ea typeface="Arial"/>
                <a:cs typeface="Arial"/>
              </a:rPr>
              <a:t>13</a:t>
            </a:r>
          </a:p>
        </p:txBody>
      </p:sp>
    </p:spTree>
    <p:extLst>
      <p:ext uri="{BB962C8B-B14F-4D97-AF65-F5344CB8AC3E}">
        <p14:creationId xmlns:p14="http://schemas.microsoft.com/office/powerpoint/2010/main" val="1429459784"/>
      </p:ext>
    </p:extLst>
  </p:cSld>
</p:sld>
</file>

<file path=ppt/slides/slide14.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DCD70EB-5182-4256-91C3-03775DCB85CC}"/>
              </a:ext>
            </a:extLst>
          </p:cNvPr>
          <p:cNvSpPr>
            <a:spLocks xmlns:a="http://schemas.openxmlformats.org/drawingml/2006/main" noGrp="1"/>
          </p:cNvSpPr>
          <p:nvPr/>
        </p:nvSpPr>
        <p:spPr>
          <a:xfrm xmlns:a="http://schemas.openxmlformats.org/drawingml/2006/main">
            <a:off x="609600" y="4000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1B2928"/>
                </a:solidFill>
                <a:latin typeface="Arial"/>
                <a:ea typeface="Arial"/>
                <a:cs typeface="Arial"/>
              </a:defRPr>
            </a:defPPr>
            <a:lvl1pPr>
              <a:defRPr sz="2550" b="1">
                <a:solidFill>
                  <a:srgbClr val="1B2928"/>
                </a:solidFill>
                <a:latin typeface="Arial"/>
                <a:ea typeface="Arial"/>
                <a:cs typeface="Arial"/>
              </a:defRPr>
            </a:lvl1pPr>
            <a:lvl2pPr>
              <a:defRPr sz="2550" b="1">
                <a:solidFill>
                  <a:srgbClr val="1B2928"/>
                </a:solidFill>
                <a:latin typeface="Arial"/>
                <a:ea typeface="Arial"/>
                <a:cs typeface="Arial"/>
              </a:defRPr>
            </a:lvl2pPr>
            <a:lvl3pPr>
              <a:defRPr sz="2550" b="1">
                <a:solidFill>
                  <a:srgbClr val="1B2928"/>
                </a:solidFill>
                <a:latin typeface="Arial"/>
                <a:ea typeface="Arial"/>
                <a:cs typeface="Arial"/>
              </a:defRPr>
            </a:lvl3pPr>
            <a:lvl4pPr>
              <a:defRPr sz="2550" b="1">
                <a:solidFill>
                  <a:srgbClr val="1B2928"/>
                </a:solidFill>
                <a:latin typeface="Arial"/>
                <a:ea typeface="Arial"/>
                <a:cs typeface="Arial"/>
              </a:defRPr>
            </a:lvl4pPr>
            <a:lvl5pPr>
              <a:defRPr sz="2550" b="1">
                <a:solidFill>
                  <a:srgbClr val="1B2928"/>
                </a:solidFill>
                <a:latin typeface="Arial"/>
                <a:ea typeface="Arial"/>
                <a:cs typeface="Arial"/>
              </a:defRPr>
            </a:lvl5pPr>
            <a:lvl6pPr>
              <a:defRPr sz="2550" b="1">
                <a:solidFill>
                  <a:srgbClr val="1B2928"/>
                </a:solidFill>
                <a:latin typeface="Arial"/>
                <a:ea typeface="Arial"/>
                <a:cs typeface="Arial"/>
              </a:defRPr>
            </a:lvl6pPr>
            <a:lvl7pPr>
              <a:defRPr sz="2550" b="1">
                <a:solidFill>
                  <a:srgbClr val="1B2928"/>
                </a:solidFill>
                <a:latin typeface="Arial"/>
                <a:ea typeface="Arial"/>
                <a:cs typeface="Arial"/>
              </a:defRPr>
            </a:lvl7pPr>
            <a:lvl8pPr>
              <a:defRPr sz="2550" b="1">
                <a:solidFill>
                  <a:srgbClr val="1B2928"/>
                </a:solidFill>
                <a:latin typeface="Arial"/>
                <a:ea typeface="Arial"/>
                <a:cs typeface="Arial"/>
              </a:defRPr>
            </a:lvl8pPr>
            <a:lvl9pPr>
              <a:defRPr sz="2550" b="1">
                <a:solidFill>
                  <a:srgbClr val="1B2928"/>
                </a:solidFill>
                <a:latin typeface="Arial"/>
                <a:ea typeface="Arial"/>
                <a:cs typeface="Arial"/>
              </a:defRPr>
            </a:lvl9pPr>
          </a:lstStyle>
          <a:p xmlns:a="http://schemas.openxmlformats.org/drawingml/2006/main">
            <a:pPr>
              <a:defRPr sz="2550" b="1">
                <a:solidFill>
                  <a:srgbClr val="1B2928"/>
                </a:solidFill>
                <a:latin typeface="Arial"/>
                <a:ea typeface="Arial"/>
                <a:cs typeface="Arial"/>
              </a:defRPr>
            </a:pPr>
            <a:r>
              <a:rPr sz="2550" b="1">
                <a:solidFill>
                  <a:srgbClr val="1B2928"/>
                </a:solidFill>
                <a:latin typeface="Arial"/>
                <a:ea typeface="Arial"/>
                <a:cs typeface="Arial"/>
              </a:rPr>
              <a:t>Proposed limits turn analytics into governance</a:t>
            </a:r>
          </a:p>
        </p:txBody>
      </p:sp>
      <p:sp>
        <p:nvSpPr>
          <p:cNvPr id="2" name="">
            <a:extLst xmlns:a="http://schemas.openxmlformats.org/drawingml/2006/main">
              <a:ext uri="{FF2B5EF4-FFF2-40B4-BE49-F238E27FC236}">
                <a16:creationId xmlns:a16="http://schemas.microsoft.com/office/drawing/2014/main" id="{FA96C4BB-293B-413E-9656-CD4AD7D52E18}"/>
              </a:ext>
            </a:extLst>
          </p:cNvPr>
          <p:cNvSpPr>
            <a:spLocks xmlns:a="http://schemas.openxmlformats.org/drawingml/2006/main" noGrp="1"/>
          </p:cNvSpPr>
          <p:nvPr/>
        </p:nvSpPr>
        <p:spPr>
          <a:xfrm xmlns:a="http://schemas.openxmlformats.org/drawingml/2006/main">
            <a:off x="609600" y="981075"/>
            <a:ext cx="685800" cy="47625"/>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B7A9A0B-9EC3-484E-A97F-86D5EDDEA2F7}"/>
              </a:ext>
            </a:extLst>
          </p:cNvPr>
          <p:cNvSpPr>
            <a:spLocks xmlns:a="http://schemas.openxmlformats.org/drawingml/2006/main" noGrp="1"/>
          </p:cNvSpPr>
          <p:nvPr/>
        </p:nvSpPr>
        <p:spPr>
          <a:xfrm xmlns:a="http://schemas.openxmlformats.org/drawingml/2006/main">
            <a:off x="1466850" y="866775"/>
            <a:ext cx="962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a:solidFill>
                  <a:srgbClr val="5E6865"/>
                </a:solidFill>
                <a:latin typeface="Arial"/>
                <a:ea typeface="Arial"/>
                <a:cs typeface="Arial"/>
              </a:defRPr>
            </a:defPPr>
            <a:lvl1pPr>
              <a:defRPr sz="1200">
                <a:solidFill>
                  <a:srgbClr val="5E6865"/>
                </a:solidFill>
                <a:latin typeface="Arial"/>
                <a:ea typeface="Arial"/>
                <a:cs typeface="Arial"/>
              </a:defRPr>
            </a:lvl1pPr>
            <a:lvl2pPr>
              <a:defRPr sz="1200">
                <a:solidFill>
                  <a:srgbClr val="5E6865"/>
                </a:solidFill>
                <a:latin typeface="Arial"/>
                <a:ea typeface="Arial"/>
                <a:cs typeface="Arial"/>
              </a:defRPr>
            </a:lvl2pPr>
            <a:lvl3pPr>
              <a:defRPr sz="1200">
                <a:solidFill>
                  <a:srgbClr val="5E6865"/>
                </a:solidFill>
                <a:latin typeface="Arial"/>
                <a:ea typeface="Arial"/>
                <a:cs typeface="Arial"/>
              </a:defRPr>
            </a:lvl3pPr>
            <a:lvl4pPr>
              <a:defRPr sz="1200">
                <a:solidFill>
                  <a:srgbClr val="5E6865"/>
                </a:solidFill>
                <a:latin typeface="Arial"/>
                <a:ea typeface="Arial"/>
                <a:cs typeface="Arial"/>
              </a:defRPr>
            </a:lvl4pPr>
            <a:lvl5pPr>
              <a:defRPr sz="1200">
                <a:solidFill>
                  <a:srgbClr val="5E6865"/>
                </a:solidFill>
                <a:latin typeface="Arial"/>
                <a:ea typeface="Arial"/>
                <a:cs typeface="Arial"/>
              </a:defRPr>
            </a:lvl5pPr>
            <a:lvl6pPr>
              <a:defRPr sz="1200">
                <a:solidFill>
                  <a:srgbClr val="5E6865"/>
                </a:solidFill>
                <a:latin typeface="Arial"/>
                <a:ea typeface="Arial"/>
                <a:cs typeface="Arial"/>
              </a:defRPr>
            </a:lvl6pPr>
            <a:lvl7pPr>
              <a:defRPr sz="1200">
                <a:solidFill>
                  <a:srgbClr val="5E6865"/>
                </a:solidFill>
                <a:latin typeface="Arial"/>
                <a:ea typeface="Arial"/>
                <a:cs typeface="Arial"/>
              </a:defRPr>
            </a:lvl7pPr>
            <a:lvl8pPr>
              <a:defRPr sz="1200">
                <a:solidFill>
                  <a:srgbClr val="5E6865"/>
                </a:solidFill>
                <a:latin typeface="Arial"/>
                <a:ea typeface="Arial"/>
                <a:cs typeface="Arial"/>
              </a:defRPr>
            </a:lvl8pPr>
            <a:lvl9pPr>
              <a:defRPr sz="1200">
                <a:solidFill>
                  <a:srgbClr val="5E6865"/>
                </a:solidFill>
                <a:latin typeface="Arial"/>
                <a:ea typeface="Arial"/>
                <a:cs typeface="Arial"/>
              </a:defRPr>
            </a:lvl9pPr>
          </a:lstStyle>
          <a:p xmlns:a="http://schemas.openxmlformats.org/drawingml/2006/main">
            <a:pPr>
              <a:defRPr sz="1200">
                <a:solidFill>
                  <a:srgbClr val="5E6865"/>
                </a:solidFill>
                <a:latin typeface="Arial"/>
                <a:ea typeface="Arial"/>
                <a:cs typeface="Arial"/>
              </a:defRPr>
            </a:pPr>
            <a:r>
              <a:rPr sz="1200">
                <a:solidFill>
                  <a:srgbClr val="5E6865"/>
                </a:solidFill>
                <a:latin typeface="Arial"/>
                <a:ea typeface="Arial"/>
                <a:cs typeface="Arial"/>
              </a:rPr>
              <a:t>Illustrative thresholds for committee approval—not existing policy</a:t>
            </a:r>
          </a:p>
        </p:txBody>
      </p:sp>
      <p:graphicFrame>
        <p:nvGraphicFramePr>
          <p:cNvPr id="4" name="">
            <a:extLst xmlns:a="http://schemas.openxmlformats.org/drawingml/2006/main">
              <a:ext uri="{FF2B5EF4-FFF2-40B4-BE49-F238E27FC236}">
                <a16:creationId xmlns:a16="http://schemas.microsoft.com/office/drawing/2014/main" id="{009F90CF-63BB-4942-8E3B-CEA941B2027F}"/>
              </a:ext>
            </a:extLst>
          </p:cNvPr>
          <p:cNvGraphicFramePr/>
          <p:nvPr/>
        </p:nvGraphicFramePr>
        <p:xfrm>
          <a:off xmlns:a="http://schemas.openxmlformats.org/drawingml/2006/main" x="514350" y="1428750"/>
          <a:ext xmlns:a="http://schemas.openxmlformats.org/drawingml/2006/main" cx="11163300" cy="3181350"/>
        </p:xfrm>
        <a:graphic xmlns:a="http://schemas.openxmlformats.org/drawingml/2006/main">
          <a:graphicData uri="http://schemas.openxmlformats.org/drawingml/2006/table">
            <a:tbl>
              <a:tblPr firstRow="1" bandRow="1"/>
              <a:tblGrid>
                <a:gridCol w="2688970"/>
                <a:gridCol w="1711163"/>
                <a:gridCol w="1711163"/>
                <a:gridCol w="1711163"/>
                <a:gridCol w="3340842"/>
              </a:tblGrid>
              <a:tr h="636270">
                <a:tc>
                  <a:txBody>
                    <a:bodyPr/>
                    <a:lstStyle/>
                    <a:p>
                      <a:r>
                        <a:rPr sz="1125" b="1">
                          <a:solidFill>
                            <a:srgbClr val="FFFEFB"/>
                          </a:solidFill>
                          <a:latin typeface="Arial"/>
                          <a:ea typeface="Arial"/>
                          <a:cs typeface="Arial"/>
                        </a:rPr>
                        <a:t>Control</a:t>
                      </a:r>
                    </a:p>
                  </a:txBody>
                  <a:tcPr marL="76200" marR="76200" marT="66675" marB="66675">
                    <a:lnL w="9525">
                      <a:solidFill>
                        <a:srgbClr val="D7D0C1"/>
                      </a:solidFill>
                      <a:prstDash val="solid"/>
                    </a:lnL>
                    <a:lnR w="9525">
                      <a:solidFill>
                        <a:srgbClr val="D7D0C1"/>
                      </a:solidFill>
                      <a:prstDash val="solid"/>
                    </a:lnR>
                    <a:lnT w="9525">
                      <a:solidFill>
                        <a:srgbClr val="D7D0C1"/>
                      </a:solidFill>
                      <a:prstDash val="solid"/>
                    </a:lnT>
                    <a:lnB w="9525">
                      <a:solidFill>
                        <a:srgbClr val="D7D0C1"/>
                      </a:solidFill>
                      <a:prstDash val="solid"/>
                    </a:lnB>
                    <a:solidFill>
                      <a:srgbClr val="174C4F"/>
                    </a:solidFill>
                  </a:tcPr>
                </a:tc>
                <a:tc>
                  <a:txBody>
                    <a:bodyPr/>
                    <a:lstStyle/>
                    <a:p>
                      <a:r>
                        <a:rPr sz="1125" b="1">
                          <a:solidFill>
                            <a:srgbClr val="FFFEFB"/>
                          </a:solidFill>
                          <a:latin typeface="Arial"/>
                          <a:ea typeface="Arial"/>
                          <a:cs typeface="Arial"/>
                        </a:rPr>
                        <a:t>Early warning</a:t>
                      </a:r>
                    </a:p>
                  </a:txBody>
                  <a:tcPr marL="76200" marR="76200" marT="66675" marB="66675">
                    <a:lnR w="9525">
                      <a:solidFill>
                        <a:srgbClr val="D7D0C1"/>
                      </a:solidFill>
                      <a:prstDash val="solid"/>
                    </a:lnR>
                    <a:lnT w="9525">
                      <a:solidFill>
                        <a:srgbClr val="D7D0C1"/>
                      </a:solidFill>
                      <a:prstDash val="solid"/>
                    </a:lnT>
                    <a:lnB w="9525">
                      <a:solidFill>
                        <a:srgbClr val="D7D0C1"/>
                      </a:solidFill>
                      <a:prstDash val="solid"/>
                    </a:lnB>
                    <a:solidFill>
                      <a:srgbClr val="174C4F"/>
                    </a:solidFill>
                  </a:tcPr>
                </a:tc>
                <a:tc>
                  <a:txBody>
                    <a:bodyPr/>
                    <a:lstStyle/>
                    <a:p>
                      <a:r>
                        <a:rPr sz="1125" b="1">
                          <a:solidFill>
                            <a:srgbClr val="FFFEFB"/>
                          </a:solidFill>
                          <a:latin typeface="Arial"/>
                          <a:ea typeface="Arial"/>
                          <a:cs typeface="Arial"/>
                        </a:rPr>
                        <a:t>Escalation</a:t>
                      </a:r>
                    </a:p>
                  </a:txBody>
                  <a:tcPr marL="76200" marR="76200" marT="66675" marB="66675">
                    <a:lnR w="9525">
                      <a:solidFill>
                        <a:srgbClr val="D7D0C1"/>
                      </a:solidFill>
                      <a:prstDash val="solid"/>
                    </a:lnR>
                    <a:lnT w="9525">
                      <a:solidFill>
                        <a:srgbClr val="D7D0C1"/>
                      </a:solidFill>
                      <a:prstDash val="solid"/>
                    </a:lnT>
                    <a:lnB w="9525">
                      <a:solidFill>
                        <a:srgbClr val="D7D0C1"/>
                      </a:solidFill>
                      <a:prstDash val="solid"/>
                    </a:lnB>
                    <a:solidFill>
                      <a:srgbClr val="174C4F"/>
                    </a:solidFill>
                  </a:tcPr>
                </a:tc>
                <a:tc>
                  <a:txBody>
                    <a:bodyPr/>
                    <a:lstStyle/>
                    <a:p>
                      <a:r>
                        <a:rPr sz="1125" b="1">
                          <a:solidFill>
                            <a:srgbClr val="FFFEFB"/>
                          </a:solidFill>
                          <a:latin typeface="Arial"/>
                          <a:ea typeface="Arial"/>
                          <a:cs typeface="Arial"/>
                        </a:rPr>
                        <a:t>Current</a:t>
                      </a:r>
                    </a:p>
                  </a:txBody>
                  <a:tcPr marL="76200" marR="76200" marT="66675" marB="66675">
                    <a:lnR w="9525">
                      <a:solidFill>
                        <a:srgbClr val="D7D0C1"/>
                      </a:solidFill>
                      <a:prstDash val="solid"/>
                    </a:lnR>
                    <a:lnT w="9525">
                      <a:solidFill>
                        <a:srgbClr val="D7D0C1"/>
                      </a:solidFill>
                      <a:prstDash val="solid"/>
                    </a:lnT>
                    <a:lnB w="9525">
                      <a:solidFill>
                        <a:srgbClr val="D7D0C1"/>
                      </a:solidFill>
                      <a:prstDash val="solid"/>
                    </a:lnB>
                    <a:solidFill>
                      <a:srgbClr val="174C4F"/>
                    </a:solidFill>
                  </a:tcPr>
                </a:tc>
                <a:tc>
                  <a:txBody>
                    <a:bodyPr/>
                    <a:lstStyle/>
                    <a:p>
                      <a:r>
                        <a:rPr sz="1125" b="1">
                          <a:solidFill>
                            <a:srgbClr val="FFFEFB"/>
                          </a:solidFill>
                          <a:latin typeface="Arial"/>
                          <a:ea typeface="Arial"/>
                          <a:cs typeface="Arial"/>
                        </a:rPr>
                        <a:t>Status / action</a:t>
                      </a:r>
                    </a:p>
                  </a:txBody>
                  <a:tcPr marL="76200" marR="76200" marT="66675" marB="66675">
                    <a:lnR w="9525">
                      <a:solidFill>
                        <a:srgbClr val="D7D0C1"/>
                      </a:solidFill>
                      <a:prstDash val="solid"/>
                    </a:lnR>
                    <a:lnT w="9525">
                      <a:solidFill>
                        <a:srgbClr val="D7D0C1"/>
                      </a:solidFill>
                      <a:prstDash val="solid"/>
                    </a:lnT>
                    <a:lnB w="9525">
                      <a:solidFill>
                        <a:srgbClr val="D7D0C1"/>
                      </a:solidFill>
                      <a:prstDash val="solid"/>
                    </a:lnB>
                    <a:solidFill>
                      <a:srgbClr val="174C4F"/>
                    </a:solidFill>
                  </a:tcPr>
                </a:tc>
              </a:tr>
              <a:tr h="636270">
                <a:tc>
                  <a:txBody>
                    <a:bodyPr/>
                    <a:lstStyle/>
                    <a:p>
                      <a:r>
                        <a:rPr sz="975">
                          <a:solidFill>
                            <a:srgbClr val="1B2928"/>
                          </a:solidFill>
                          <a:latin typeface="Arial"/>
                          <a:ea typeface="Arial"/>
                          <a:cs typeface="Arial"/>
                        </a:rPr>
                        <a:t>99% 1-day GJR-HS VaR</a:t>
                      </a:r>
                    </a:p>
                  </a:txBody>
                  <a:tcPr marL="76200" marR="76200" marT="66675" marB="66675">
                    <a:lnL w="9525">
                      <a:solidFill>
                        <a:srgbClr val="D7D0C1"/>
                      </a:solidFill>
                      <a:prstDash val="solid"/>
                    </a:lnL>
                    <a:lnR w="9525">
                      <a:solidFill>
                        <a:srgbClr val="D7D0C1"/>
                      </a:solidFill>
                      <a:prstDash val="solid"/>
                    </a:lnR>
                    <a:lnB w="9525">
                      <a:solidFill>
                        <a:srgbClr val="D7D0C1"/>
                      </a:solidFill>
                      <a:prstDash val="solid"/>
                    </a:lnB>
                    <a:solidFill>
                      <a:srgbClr val="FFFEFB"/>
                    </a:solidFill>
                  </a:tcPr>
                </a:tc>
                <a:tc>
                  <a:txBody>
                    <a:bodyPr/>
                    <a:lstStyle/>
                    <a:p>
                      <a:r>
                        <a:rPr sz="975">
                          <a:solidFill>
                            <a:srgbClr val="1B2928"/>
                          </a:solidFill>
                          <a:latin typeface="Arial"/>
                          <a:ea typeface="Arial"/>
                          <a:cs typeface="Arial"/>
                        </a:rPr>
                        <a:t>3.0% NAV</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975">
                          <a:solidFill>
                            <a:srgbClr val="1B2928"/>
                          </a:solidFill>
                          <a:latin typeface="Arial"/>
                          <a:ea typeface="Arial"/>
                          <a:cs typeface="Arial"/>
                        </a:rPr>
                        <a:t>3.5% NAV</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975">
                          <a:solidFill>
                            <a:srgbClr val="1B2928"/>
                          </a:solidFill>
                          <a:latin typeface="Arial"/>
                          <a:ea typeface="Arial"/>
                          <a:cs typeface="Arial"/>
                        </a:rPr>
                        <a:t>2.97%</a:t>
                      </a:r>
                    </a:p>
                  </a:txBody>
                  <a:tcPr marL="76200" marR="76200" marT="66675" marB="66675">
                    <a:lnR w="9525">
                      <a:solidFill>
                        <a:srgbClr val="D7D0C1"/>
                      </a:solidFill>
                      <a:prstDash val="solid"/>
                    </a:lnR>
                    <a:lnB w="9525">
                      <a:solidFill>
                        <a:srgbClr val="D7D0C1"/>
                      </a:solidFill>
                      <a:prstDash val="solid"/>
                    </a:lnB>
                    <a:solidFill>
                      <a:srgbClr val="FFFEFB"/>
                    </a:solidFill>
                  </a:tcPr>
                </a:tc>
                <a:tc>
                  <a:txBody>
                    <a:bodyPr/>
                    <a:lstStyle/>
                    <a:p>
                      <a:r>
                        <a:rPr sz="975">
                          <a:solidFill>
                            <a:srgbClr val="1B2928"/>
                          </a:solidFill>
                          <a:latin typeface="Arial"/>
                          <a:ea typeface="Arial"/>
                          <a:cs typeface="Arial"/>
                        </a:rPr>
                        <a:t>GREEN — monitor daily</a:t>
                      </a:r>
                    </a:p>
                  </a:txBody>
                  <a:tcPr marL="76200" marR="76200" marT="66675" marB="66675">
                    <a:lnR w="9525">
                      <a:solidFill>
                        <a:srgbClr val="D7D0C1"/>
                      </a:solidFill>
                      <a:prstDash val="solid"/>
                    </a:lnR>
                    <a:lnB w="9525">
                      <a:solidFill>
                        <a:srgbClr val="D7D0C1"/>
                      </a:solidFill>
                      <a:prstDash val="solid"/>
                    </a:lnB>
                    <a:solidFill>
                      <a:srgbClr val="FFFEFB"/>
                    </a:solidFill>
                  </a:tcPr>
                </a:tc>
              </a:tr>
              <a:tr h="636270">
                <a:tc>
                  <a:txBody>
                    <a:bodyPr/>
                    <a:lstStyle/>
                    <a:p>
                      <a:r>
                        <a:rPr sz="975" b="1">
                          <a:solidFill>
                            <a:srgbClr val="1B2928"/>
                          </a:solidFill>
                          <a:latin typeface="Arial"/>
                          <a:ea typeface="Arial"/>
                          <a:cs typeface="Arial"/>
                        </a:rPr>
                        <a:t>Worst approved stress</a:t>
                      </a:r>
                    </a:p>
                  </a:txBody>
                  <a:tcPr marL="76200" marR="76200" marT="66675" marB="66675">
                    <a:lnL w="9525">
                      <a:solidFill>
                        <a:srgbClr val="D7D0C1"/>
                      </a:solidFill>
                      <a:prstDash val="solid"/>
                    </a:lnL>
                    <a:lnR w="9525">
                      <a:solidFill>
                        <a:srgbClr val="D7D0C1"/>
                      </a:solidFill>
                      <a:prstDash val="solid"/>
                    </a:lnR>
                    <a:lnB w="9525">
                      <a:solidFill>
                        <a:srgbClr val="D7D0C1"/>
                      </a:solidFill>
                      <a:prstDash val="solid"/>
                    </a:lnB>
                    <a:solidFill>
                      <a:srgbClr val="F3DCD7"/>
                    </a:solidFill>
                  </a:tcPr>
                </a:tc>
                <a:tc>
                  <a:txBody>
                    <a:bodyPr/>
                    <a:lstStyle/>
                    <a:p>
                      <a:r>
                        <a:rPr sz="975" b="1">
                          <a:solidFill>
                            <a:srgbClr val="1B2928"/>
                          </a:solidFill>
                          <a:latin typeface="Arial"/>
                          <a:ea typeface="Arial"/>
                          <a:cs typeface="Arial"/>
                        </a:rPr>
                        <a:t>35% NAV</a:t>
                      </a:r>
                    </a:p>
                  </a:txBody>
                  <a:tcPr marL="76200" marR="76200" marT="66675" marB="66675">
                    <a:lnR w="9525">
                      <a:solidFill>
                        <a:srgbClr val="D7D0C1"/>
                      </a:solidFill>
                      <a:prstDash val="solid"/>
                    </a:lnR>
                    <a:lnB w="9525">
                      <a:solidFill>
                        <a:srgbClr val="D7D0C1"/>
                      </a:solidFill>
                      <a:prstDash val="solid"/>
                    </a:lnB>
                    <a:solidFill>
                      <a:srgbClr val="F3DCD7"/>
                    </a:solidFill>
                  </a:tcPr>
                </a:tc>
                <a:tc>
                  <a:txBody>
                    <a:bodyPr/>
                    <a:lstStyle/>
                    <a:p>
                      <a:r>
                        <a:rPr sz="975" b="1">
                          <a:solidFill>
                            <a:srgbClr val="1B2928"/>
                          </a:solidFill>
                          <a:latin typeface="Arial"/>
                          <a:ea typeface="Arial"/>
                          <a:cs typeface="Arial"/>
                        </a:rPr>
                        <a:t>40% NAV</a:t>
                      </a:r>
                    </a:p>
                  </a:txBody>
                  <a:tcPr marL="76200" marR="76200" marT="66675" marB="66675">
                    <a:lnR w="9525">
                      <a:solidFill>
                        <a:srgbClr val="D7D0C1"/>
                      </a:solidFill>
                      <a:prstDash val="solid"/>
                    </a:lnR>
                    <a:lnB w="9525">
                      <a:solidFill>
                        <a:srgbClr val="D7D0C1"/>
                      </a:solidFill>
                      <a:prstDash val="solid"/>
                    </a:lnB>
                    <a:solidFill>
                      <a:srgbClr val="F3DCD7"/>
                    </a:solidFill>
                  </a:tcPr>
                </a:tc>
                <a:tc>
                  <a:txBody>
                    <a:bodyPr/>
                    <a:lstStyle/>
                    <a:p>
                      <a:r>
                        <a:rPr sz="975" b="1">
                          <a:solidFill>
                            <a:srgbClr val="1B2928"/>
                          </a:solidFill>
                          <a:latin typeface="Arial"/>
                          <a:ea typeface="Arial"/>
                          <a:cs typeface="Arial"/>
                        </a:rPr>
                        <a:t>44.1%</a:t>
                      </a:r>
                    </a:p>
                  </a:txBody>
                  <a:tcPr marL="76200" marR="76200" marT="66675" marB="66675">
                    <a:lnR w="9525">
                      <a:solidFill>
                        <a:srgbClr val="D7D0C1"/>
                      </a:solidFill>
                      <a:prstDash val="solid"/>
                    </a:lnR>
                    <a:lnB w="9525">
                      <a:solidFill>
                        <a:srgbClr val="D7D0C1"/>
                      </a:solidFill>
                      <a:prstDash val="solid"/>
                    </a:lnB>
                    <a:solidFill>
                      <a:srgbClr val="F3DCD7"/>
                    </a:solidFill>
                  </a:tcPr>
                </a:tc>
                <a:tc>
                  <a:txBody>
                    <a:bodyPr/>
                    <a:lstStyle/>
                    <a:p>
                      <a:r>
                        <a:rPr sz="975" b="1">
                          <a:solidFill>
                            <a:srgbClr val="1B2928"/>
                          </a:solidFill>
                          <a:latin typeface="Arial"/>
                          <a:ea typeface="Arial"/>
                          <a:cs typeface="Arial"/>
                        </a:rPr>
                        <a:t>RED — decide hedge / reduction</a:t>
                      </a:r>
                    </a:p>
                  </a:txBody>
                  <a:tcPr marL="76200" marR="76200" marT="66675" marB="66675">
                    <a:lnR w="9525">
                      <a:solidFill>
                        <a:srgbClr val="D7D0C1"/>
                      </a:solidFill>
                      <a:prstDash val="solid"/>
                    </a:lnR>
                    <a:lnB w="9525">
                      <a:solidFill>
                        <a:srgbClr val="D7D0C1"/>
                      </a:solidFill>
                      <a:prstDash val="solid"/>
                    </a:lnB>
                    <a:solidFill>
                      <a:srgbClr val="F3DCD7"/>
                    </a:solidFill>
                  </a:tcPr>
                </a:tc>
              </a:tr>
              <a:tr h="636270">
                <a:tc>
                  <a:txBody>
                    <a:bodyPr/>
                    <a:lstStyle/>
                    <a:p>
                      <a:r>
                        <a:rPr sz="975">
                          <a:solidFill>
                            <a:srgbClr val="1B2928"/>
                          </a:solidFill>
                          <a:latin typeface="Arial"/>
                          <a:ea typeface="Arial"/>
                          <a:cs typeface="Arial"/>
                        </a:rPr>
                        <a:t>Single-name ES share</a:t>
                      </a:r>
                    </a:p>
                  </a:txBody>
                  <a:tcPr marL="76200" marR="76200" marT="66675" marB="66675">
                    <a:lnL w="9525">
                      <a:solidFill>
                        <a:srgbClr val="D7D0C1"/>
                      </a:solidFill>
                      <a:prstDash val="solid"/>
                    </a:lnL>
                    <a:lnR w="9525">
                      <a:solidFill>
                        <a:srgbClr val="D7D0C1"/>
                      </a:solidFill>
                      <a:prstDash val="solid"/>
                    </a:lnR>
                    <a:lnB w="9525">
                      <a:solidFill>
                        <a:srgbClr val="D7D0C1"/>
                      </a:solidFill>
                      <a:prstDash val="solid"/>
                    </a:lnB>
                    <a:solidFill>
                      <a:srgbClr val="F1E2BE"/>
                    </a:solidFill>
                  </a:tcPr>
                </a:tc>
                <a:tc>
                  <a:txBody>
                    <a:bodyPr/>
                    <a:lstStyle/>
                    <a:p>
                      <a:r>
                        <a:rPr sz="975">
                          <a:solidFill>
                            <a:srgbClr val="1B2928"/>
                          </a:solidFill>
                          <a:latin typeface="Arial"/>
                          <a:ea typeface="Arial"/>
                          <a:cs typeface="Arial"/>
                        </a:rPr>
                        <a:t>18%</a:t>
                      </a:r>
                    </a:p>
                  </a:txBody>
                  <a:tcPr marL="76200" marR="76200" marT="66675" marB="66675">
                    <a:lnR w="9525">
                      <a:solidFill>
                        <a:srgbClr val="D7D0C1"/>
                      </a:solidFill>
                      <a:prstDash val="solid"/>
                    </a:lnR>
                    <a:lnB w="9525">
                      <a:solidFill>
                        <a:srgbClr val="D7D0C1"/>
                      </a:solidFill>
                      <a:prstDash val="solid"/>
                    </a:lnB>
                    <a:solidFill>
                      <a:srgbClr val="F1E2BE"/>
                    </a:solidFill>
                  </a:tcPr>
                </a:tc>
                <a:tc>
                  <a:txBody>
                    <a:bodyPr/>
                    <a:lstStyle/>
                    <a:p>
                      <a:r>
                        <a:rPr sz="975">
                          <a:solidFill>
                            <a:srgbClr val="1B2928"/>
                          </a:solidFill>
                          <a:latin typeface="Arial"/>
                          <a:ea typeface="Arial"/>
                          <a:cs typeface="Arial"/>
                        </a:rPr>
                        <a:t>20%</a:t>
                      </a:r>
                    </a:p>
                  </a:txBody>
                  <a:tcPr marL="76200" marR="76200" marT="66675" marB="66675">
                    <a:lnR w="9525">
                      <a:solidFill>
                        <a:srgbClr val="D7D0C1"/>
                      </a:solidFill>
                      <a:prstDash val="solid"/>
                    </a:lnR>
                    <a:lnB w="9525">
                      <a:solidFill>
                        <a:srgbClr val="D7D0C1"/>
                      </a:solidFill>
                      <a:prstDash val="solid"/>
                    </a:lnB>
                    <a:solidFill>
                      <a:srgbClr val="F1E2BE"/>
                    </a:solidFill>
                  </a:tcPr>
                </a:tc>
                <a:tc>
                  <a:txBody>
                    <a:bodyPr/>
                    <a:lstStyle/>
                    <a:p>
                      <a:r>
                        <a:rPr sz="975">
                          <a:solidFill>
                            <a:srgbClr val="1B2928"/>
                          </a:solidFill>
                          <a:latin typeface="Arial"/>
                          <a:ea typeface="Arial"/>
                          <a:cs typeface="Arial"/>
                        </a:rPr>
                        <a:t>TSLA 19.9%</a:t>
                      </a:r>
                    </a:p>
                  </a:txBody>
                  <a:tcPr marL="76200" marR="76200" marT="66675" marB="66675">
                    <a:lnR w="9525">
                      <a:solidFill>
                        <a:srgbClr val="D7D0C1"/>
                      </a:solidFill>
                      <a:prstDash val="solid"/>
                    </a:lnR>
                    <a:lnB w="9525">
                      <a:solidFill>
                        <a:srgbClr val="D7D0C1"/>
                      </a:solidFill>
                      <a:prstDash val="solid"/>
                    </a:lnB>
                    <a:solidFill>
                      <a:srgbClr val="F1E2BE"/>
                    </a:solidFill>
                  </a:tcPr>
                </a:tc>
                <a:tc>
                  <a:txBody>
                    <a:bodyPr/>
                    <a:lstStyle/>
                    <a:p>
                      <a:r>
                        <a:rPr sz="975">
                          <a:solidFill>
                            <a:srgbClr val="1B2928"/>
                          </a:solidFill>
                          <a:latin typeface="Arial"/>
                          <a:ea typeface="Arial"/>
                          <a:cs typeface="Arial"/>
                        </a:rPr>
                        <a:t>AMBER — concentration review</a:t>
                      </a:r>
                    </a:p>
                  </a:txBody>
                  <a:tcPr marL="76200" marR="76200" marT="66675" marB="66675">
                    <a:lnR w="9525">
                      <a:solidFill>
                        <a:srgbClr val="D7D0C1"/>
                      </a:solidFill>
                      <a:prstDash val="solid"/>
                    </a:lnR>
                    <a:lnB w="9525">
                      <a:solidFill>
                        <a:srgbClr val="D7D0C1"/>
                      </a:solidFill>
                      <a:prstDash val="solid"/>
                    </a:lnB>
                    <a:solidFill>
                      <a:srgbClr val="F1E2BE"/>
                    </a:solidFill>
                  </a:tcPr>
                </a:tc>
              </a:tr>
              <a:tr h="636270">
                <a:tc>
                  <a:txBody>
                    <a:bodyPr/>
                    <a:lstStyle/>
                    <a:p>
                      <a:r>
                        <a:rPr sz="975">
                          <a:solidFill>
                            <a:srgbClr val="1B2928"/>
                          </a:solidFill>
                          <a:latin typeface="Arial"/>
                          <a:ea typeface="Arial"/>
                          <a:cs typeface="Arial"/>
                        </a:rPr>
                        <a:t>Backtest model health</a:t>
                      </a:r>
                    </a:p>
                  </a:txBody>
                  <a:tcPr marL="76200" marR="76200" marT="66675" marB="66675">
                    <a:lnL w="9525">
                      <a:solidFill>
                        <a:srgbClr val="D7D0C1"/>
                      </a:solidFill>
                      <a:prstDash val="solid"/>
                    </a:lnL>
                    <a:lnR w="9525">
                      <a:solidFill>
                        <a:srgbClr val="D7D0C1"/>
                      </a:solidFill>
                      <a:prstDash val="solid"/>
                    </a:lnR>
                    <a:lnB w="9525">
                      <a:solidFill>
                        <a:srgbClr val="D7D0C1"/>
                      </a:solidFill>
                      <a:prstDash val="solid"/>
                    </a:lnB>
                    <a:solidFill>
                      <a:srgbClr val="F1E2BE"/>
                    </a:solidFill>
                  </a:tcPr>
                </a:tc>
                <a:tc>
                  <a:txBody>
                    <a:bodyPr/>
                    <a:lstStyle/>
                    <a:p>
                      <a:r>
                        <a:rPr sz="975">
                          <a:solidFill>
                            <a:srgbClr val="1B2928"/>
                          </a:solidFill>
                          <a:latin typeface="Arial"/>
                          <a:ea typeface="Arial"/>
                          <a:cs typeface="Arial"/>
                        </a:rPr>
                        <a:t>p &lt; 0.10</a:t>
                      </a:r>
                    </a:p>
                  </a:txBody>
                  <a:tcPr marL="76200" marR="76200" marT="66675" marB="66675">
                    <a:lnR w="9525">
                      <a:solidFill>
                        <a:srgbClr val="D7D0C1"/>
                      </a:solidFill>
                      <a:prstDash val="solid"/>
                    </a:lnR>
                    <a:lnB w="9525">
                      <a:solidFill>
                        <a:srgbClr val="D7D0C1"/>
                      </a:solidFill>
                      <a:prstDash val="solid"/>
                    </a:lnB>
                    <a:solidFill>
                      <a:srgbClr val="F1E2BE"/>
                    </a:solidFill>
                  </a:tcPr>
                </a:tc>
                <a:tc>
                  <a:txBody>
                    <a:bodyPr/>
                    <a:lstStyle/>
                    <a:p>
                      <a:r>
                        <a:rPr sz="975">
                          <a:solidFill>
                            <a:srgbClr val="1B2928"/>
                          </a:solidFill>
                          <a:latin typeface="Arial"/>
                          <a:ea typeface="Arial"/>
                          <a:cs typeface="Arial"/>
                        </a:rPr>
                        <a:t>p &lt; 0.05</a:t>
                      </a:r>
                    </a:p>
                  </a:txBody>
                  <a:tcPr marL="76200" marR="76200" marT="66675" marB="66675">
                    <a:lnR w="9525">
                      <a:solidFill>
                        <a:srgbClr val="D7D0C1"/>
                      </a:solidFill>
                      <a:prstDash val="solid"/>
                    </a:lnR>
                    <a:lnB w="9525">
                      <a:solidFill>
                        <a:srgbClr val="D7D0C1"/>
                      </a:solidFill>
                      <a:prstDash val="solid"/>
                    </a:lnB>
                    <a:solidFill>
                      <a:srgbClr val="F1E2BE"/>
                    </a:solidFill>
                  </a:tcPr>
                </a:tc>
                <a:tc>
                  <a:txBody>
                    <a:bodyPr/>
                    <a:lstStyle/>
                    <a:p>
                      <a:r>
                        <a:rPr sz="975">
                          <a:solidFill>
                            <a:srgbClr val="1B2928"/>
                          </a:solidFill>
                          <a:latin typeface="Arial"/>
                          <a:ea typeface="Arial"/>
                          <a:cs typeface="Arial"/>
                        </a:rPr>
                        <a:t>Ind. p 0.056</a:t>
                      </a:r>
                    </a:p>
                  </a:txBody>
                  <a:tcPr marL="76200" marR="76200" marT="66675" marB="66675">
                    <a:lnR w="9525">
                      <a:solidFill>
                        <a:srgbClr val="D7D0C1"/>
                      </a:solidFill>
                      <a:prstDash val="solid"/>
                    </a:lnR>
                    <a:lnB w="9525">
                      <a:solidFill>
                        <a:srgbClr val="D7D0C1"/>
                      </a:solidFill>
                      <a:prstDash val="solid"/>
                    </a:lnB>
                    <a:solidFill>
                      <a:srgbClr val="F1E2BE"/>
                    </a:solidFill>
                  </a:tcPr>
                </a:tc>
                <a:tc>
                  <a:txBody>
                    <a:bodyPr/>
                    <a:lstStyle/>
                    <a:p>
                      <a:r>
                        <a:rPr sz="975">
                          <a:solidFill>
                            <a:srgbClr val="1B2928"/>
                          </a:solidFill>
                          <a:latin typeface="Arial"/>
                          <a:ea typeface="Arial"/>
                          <a:cs typeface="Arial"/>
                        </a:rPr>
                        <a:t>AMBER — close monitoring</a:t>
                      </a:r>
                    </a:p>
                  </a:txBody>
                  <a:tcPr marL="76200" marR="76200" marT="66675" marB="66675">
                    <a:lnR w="9525">
                      <a:solidFill>
                        <a:srgbClr val="D7D0C1"/>
                      </a:solidFill>
                      <a:prstDash val="solid"/>
                    </a:lnR>
                    <a:lnB w="9525">
                      <a:solidFill>
                        <a:srgbClr val="D7D0C1"/>
                      </a:solidFill>
                      <a:prstDash val="solid"/>
                    </a:lnB>
                    <a:solidFill>
                      <a:srgbClr val="F1E2BE"/>
                    </a:solidFill>
                  </a:tcPr>
                </a:tc>
              </a:tr>
            </a:tbl>
          </a:graphicData>
        </a:graphic>
      </p:graphicFrame>
      <p:sp>
        <p:nvSpPr>
          <p:cNvPr id="5" name="">
            <a:extLst xmlns:a="http://schemas.openxmlformats.org/drawingml/2006/main">
              <a:ext uri="{FF2B5EF4-FFF2-40B4-BE49-F238E27FC236}">
                <a16:creationId xmlns:a16="http://schemas.microsoft.com/office/drawing/2014/main" id="{B56A3828-6F87-43E8-BE66-12B456F53A5A}"/>
              </a:ext>
            </a:extLst>
          </p:cNvPr>
          <p:cNvSpPr>
            <a:spLocks xmlns:a="http://schemas.openxmlformats.org/drawingml/2006/main" noGrp="1"/>
          </p:cNvSpPr>
          <p:nvPr/>
        </p:nvSpPr>
        <p:spPr>
          <a:xfrm xmlns:a="http://schemas.openxmlformats.org/drawingml/2006/main">
            <a:off x="876300" y="4991100"/>
            <a:ext cx="10439400" cy="1000125"/>
          </a:xfrm>
          <a:prstGeom xmlns:a="http://schemas.openxmlformats.org/drawingml/2006/main" prst="roundRect">
            <a:avLst>
              <a:gd name="adj" fmla="val 7619"/>
            </a:avLst>
          </a:prstGeom>
          <a:solidFill xmlns:a="http://schemas.openxmlformats.org/drawingml/2006/main">
            <a:srgbClr val="DDE9E4"/>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5CC5F76-C9A2-4D9E-9623-E5D1191CB2FB}"/>
              </a:ext>
            </a:extLst>
          </p:cNvPr>
          <p:cNvSpPr>
            <a:spLocks xmlns:a="http://schemas.openxmlformats.org/drawingml/2006/main" noGrp="1"/>
          </p:cNvSpPr>
          <p:nvPr/>
        </p:nvSpPr>
        <p:spPr>
          <a:xfrm xmlns:a="http://schemas.openxmlformats.org/drawingml/2006/main">
            <a:off x="876300" y="4991100"/>
            <a:ext cx="66675" cy="1000125"/>
          </a:xfrm>
          <a:prstGeom xmlns:a="http://schemas.openxmlformats.org/drawingml/2006/main" prst="rect">
            <a:avLst/>
          </a:prstGeom>
          <a:solidFill xmlns:a="http://schemas.openxmlformats.org/drawingml/2006/main">
            <a:srgbClr val="174C4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B3B0C34-0D72-4B76-9FE4-87ABF881D715}"/>
              </a:ext>
            </a:extLst>
          </p:cNvPr>
          <p:cNvSpPr>
            <a:spLocks xmlns:a="http://schemas.openxmlformats.org/drawingml/2006/main" noGrp="1"/>
          </p:cNvSpPr>
          <p:nvPr/>
        </p:nvSpPr>
        <p:spPr>
          <a:xfrm xmlns:a="http://schemas.openxmlformats.org/drawingml/2006/main">
            <a:off x="1104900" y="5133975"/>
            <a:ext cx="10058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174C4F"/>
                </a:solidFill>
                <a:latin typeface="Arial"/>
                <a:ea typeface="Arial"/>
                <a:cs typeface="Arial"/>
              </a:defRPr>
            </a:defPPr>
            <a:lvl1pPr>
              <a:defRPr sz="1425" b="1">
                <a:solidFill>
                  <a:srgbClr val="174C4F"/>
                </a:solidFill>
                <a:latin typeface="Arial"/>
                <a:ea typeface="Arial"/>
                <a:cs typeface="Arial"/>
              </a:defRPr>
            </a:lvl1pPr>
            <a:lvl2pPr>
              <a:defRPr sz="1425" b="1">
                <a:solidFill>
                  <a:srgbClr val="174C4F"/>
                </a:solidFill>
                <a:latin typeface="Arial"/>
                <a:ea typeface="Arial"/>
                <a:cs typeface="Arial"/>
              </a:defRPr>
            </a:lvl2pPr>
            <a:lvl3pPr>
              <a:defRPr sz="1425" b="1">
                <a:solidFill>
                  <a:srgbClr val="174C4F"/>
                </a:solidFill>
                <a:latin typeface="Arial"/>
                <a:ea typeface="Arial"/>
                <a:cs typeface="Arial"/>
              </a:defRPr>
            </a:lvl3pPr>
            <a:lvl4pPr>
              <a:defRPr sz="1425" b="1">
                <a:solidFill>
                  <a:srgbClr val="174C4F"/>
                </a:solidFill>
                <a:latin typeface="Arial"/>
                <a:ea typeface="Arial"/>
                <a:cs typeface="Arial"/>
              </a:defRPr>
            </a:lvl4pPr>
            <a:lvl5pPr>
              <a:defRPr sz="1425" b="1">
                <a:solidFill>
                  <a:srgbClr val="174C4F"/>
                </a:solidFill>
                <a:latin typeface="Arial"/>
                <a:ea typeface="Arial"/>
                <a:cs typeface="Arial"/>
              </a:defRPr>
            </a:lvl5pPr>
            <a:lvl6pPr>
              <a:defRPr sz="1425" b="1">
                <a:solidFill>
                  <a:srgbClr val="174C4F"/>
                </a:solidFill>
                <a:latin typeface="Arial"/>
                <a:ea typeface="Arial"/>
                <a:cs typeface="Arial"/>
              </a:defRPr>
            </a:lvl6pPr>
            <a:lvl7pPr>
              <a:defRPr sz="1425" b="1">
                <a:solidFill>
                  <a:srgbClr val="174C4F"/>
                </a:solidFill>
                <a:latin typeface="Arial"/>
                <a:ea typeface="Arial"/>
                <a:cs typeface="Arial"/>
              </a:defRPr>
            </a:lvl7pPr>
            <a:lvl8pPr>
              <a:defRPr sz="1425" b="1">
                <a:solidFill>
                  <a:srgbClr val="174C4F"/>
                </a:solidFill>
                <a:latin typeface="Arial"/>
                <a:ea typeface="Arial"/>
                <a:cs typeface="Arial"/>
              </a:defRPr>
            </a:lvl8pPr>
            <a:lvl9pPr>
              <a:defRPr sz="1425" b="1">
                <a:solidFill>
                  <a:srgbClr val="174C4F"/>
                </a:solidFill>
                <a:latin typeface="Arial"/>
                <a:ea typeface="Arial"/>
                <a:cs typeface="Arial"/>
              </a:defRPr>
            </a:lvl9pPr>
          </a:lstStyle>
          <a:p xmlns:a="http://schemas.openxmlformats.org/drawingml/2006/main">
            <a:pPr>
              <a:defRPr sz="1425" b="1">
                <a:solidFill>
                  <a:srgbClr val="174C4F"/>
                </a:solidFill>
                <a:latin typeface="Arial"/>
                <a:ea typeface="Arial"/>
                <a:cs typeface="Arial"/>
              </a:defRPr>
            </a:pPr>
            <a:r>
              <a:rPr sz="1425" b="1">
                <a:solidFill>
                  <a:srgbClr val="174C4F"/>
                </a:solidFill>
                <a:latin typeface="Arial"/>
                <a:ea typeface="Arial"/>
                <a:cs typeface="Arial"/>
              </a:rPr>
              <a:t>Ownership and cadence</a:t>
            </a:r>
          </a:p>
        </p:txBody>
      </p:sp>
      <p:sp>
        <p:nvSpPr>
          <p:cNvPr id="8" name="">
            <a:extLst xmlns:a="http://schemas.openxmlformats.org/drawingml/2006/main">
              <a:ext uri="{FF2B5EF4-FFF2-40B4-BE49-F238E27FC236}">
                <a16:creationId xmlns:a16="http://schemas.microsoft.com/office/drawing/2014/main" id="{27DBDA8C-7825-40B4-8966-50168DD3F0CF}"/>
              </a:ext>
            </a:extLst>
          </p:cNvPr>
          <p:cNvSpPr>
            <a:spLocks xmlns:a="http://schemas.openxmlformats.org/drawingml/2006/main" noGrp="1"/>
          </p:cNvSpPr>
          <p:nvPr/>
        </p:nvSpPr>
        <p:spPr>
          <a:xfrm xmlns:a="http://schemas.openxmlformats.org/drawingml/2006/main">
            <a:off x="1104900" y="5438775"/>
            <a:ext cx="10058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a:solidFill>
                  <a:srgbClr val="1B2928"/>
                </a:solidFill>
                <a:latin typeface="Arial"/>
                <a:ea typeface="Arial"/>
                <a:cs typeface="Arial"/>
              </a:defRPr>
            </a:defPPr>
            <a:lvl1pPr>
              <a:defRPr sz="1050">
                <a:solidFill>
                  <a:srgbClr val="1B2928"/>
                </a:solidFill>
                <a:latin typeface="Arial"/>
                <a:ea typeface="Arial"/>
                <a:cs typeface="Arial"/>
              </a:defRPr>
            </a:lvl1pPr>
            <a:lvl2pPr>
              <a:defRPr sz="1050">
                <a:solidFill>
                  <a:srgbClr val="1B2928"/>
                </a:solidFill>
                <a:latin typeface="Arial"/>
                <a:ea typeface="Arial"/>
                <a:cs typeface="Arial"/>
              </a:defRPr>
            </a:lvl2pPr>
            <a:lvl3pPr>
              <a:defRPr sz="1050">
                <a:solidFill>
                  <a:srgbClr val="1B2928"/>
                </a:solidFill>
                <a:latin typeface="Arial"/>
                <a:ea typeface="Arial"/>
                <a:cs typeface="Arial"/>
              </a:defRPr>
            </a:lvl3pPr>
            <a:lvl4pPr>
              <a:defRPr sz="1050">
                <a:solidFill>
                  <a:srgbClr val="1B2928"/>
                </a:solidFill>
                <a:latin typeface="Arial"/>
                <a:ea typeface="Arial"/>
                <a:cs typeface="Arial"/>
              </a:defRPr>
            </a:lvl4pPr>
            <a:lvl5pPr>
              <a:defRPr sz="1050">
                <a:solidFill>
                  <a:srgbClr val="1B2928"/>
                </a:solidFill>
                <a:latin typeface="Arial"/>
                <a:ea typeface="Arial"/>
                <a:cs typeface="Arial"/>
              </a:defRPr>
            </a:lvl5pPr>
            <a:lvl6pPr>
              <a:defRPr sz="1050">
                <a:solidFill>
                  <a:srgbClr val="1B2928"/>
                </a:solidFill>
                <a:latin typeface="Arial"/>
                <a:ea typeface="Arial"/>
                <a:cs typeface="Arial"/>
              </a:defRPr>
            </a:lvl6pPr>
            <a:lvl7pPr>
              <a:defRPr sz="1050">
                <a:solidFill>
                  <a:srgbClr val="1B2928"/>
                </a:solidFill>
                <a:latin typeface="Arial"/>
                <a:ea typeface="Arial"/>
                <a:cs typeface="Arial"/>
              </a:defRPr>
            </a:lvl7pPr>
            <a:lvl8pPr>
              <a:defRPr sz="1050">
                <a:solidFill>
                  <a:srgbClr val="1B2928"/>
                </a:solidFill>
                <a:latin typeface="Arial"/>
                <a:ea typeface="Arial"/>
                <a:cs typeface="Arial"/>
              </a:defRPr>
            </a:lvl8pPr>
            <a:lvl9pPr>
              <a:defRPr sz="1050">
                <a:solidFill>
                  <a:srgbClr val="1B2928"/>
                </a:solidFill>
                <a:latin typeface="Arial"/>
                <a:ea typeface="Arial"/>
                <a:cs typeface="Arial"/>
              </a:defRPr>
            </a:lvl9pPr>
          </a:lstStyle>
          <a:p xmlns:a="http://schemas.openxmlformats.org/drawingml/2006/main">
            <a:pPr>
              <a:defRPr sz="1050">
                <a:solidFill>
                  <a:srgbClr val="1B2928"/>
                </a:solidFill>
                <a:latin typeface="Arial"/>
                <a:ea typeface="Arial"/>
                <a:cs typeface="Arial"/>
              </a:defRPr>
            </a:pPr>
            <a:r>
              <a:rPr sz="1050">
                <a:solidFill>
                  <a:srgbClr val="1B2928"/>
                </a:solidFill>
                <a:latin typeface="Arial"/>
                <a:ea typeface="Arial"/>
                <a:cs typeface="Arial"/>
              </a:rPr>
              <a:t>Risk team: daily monitoring and one-day exception review. Portfolio manager: remediation proposal. Risk committee: approve limits, accept residual risk, and review quarterly or after material exposure changes.</a:t>
            </a:r>
          </a:p>
        </p:txBody>
      </p:sp>
      <p:sp>
        <p:nvSpPr>
          <p:cNvPr id="9" name="">
            <a:extLst xmlns:a="http://schemas.openxmlformats.org/drawingml/2006/main">
              <a:ext uri="{FF2B5EF4-FFF2-40B4-BE49-F238E27FC236}">
                <a16:creationId xmlns:a16="http://schemas.microsoft.com/office/drawing/2014/main" id="{DE26A9C6-B2FC-4DD1-84A8-E67BB1EEDE1E}"/>
              </a:ext>
            </a:extLst>
          </p:cNvPr>
          <p:cNvSpPr>
            <a:spLocks xmlns:a="http://schemas.openxmlformats.org/drawingml/2006/main" noGrp="1"/>
          </p:cNvSpPr>
          <p:nvPr/>
        </p:nvSpPr>
        <p:spPr>
          <a:xfrm xmlns:a="http://schemas.openxmlformats.org/drawingml/2006/main">
            <a:off x="609600" y="6362700"/>
            <a:ext cx="10972800" cy="9525"/>
          </a:xfrm>
          <a:prstGeom xmlns:a="http://schemas.openxmlformats.org/drawingml/2006/main" prst="rect">
            <a:avLst/>
          </a:prstGeom>
          <a:solidFill xmlns:a="http://schemas.openxmlformats.org/drawingml/2006/main">
            <a:srgbClr val="D7D0C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881FF9F-0CA6-44E5-B4F4-42A08A2EE74C}"/>
              </a:ext>
            </a:extLst>
          </p:cNvPr>
          <p:cNvSpPr>
            <a:spLocks xmlns:a="http://schemas.openxmlformats.org/drawingml/2006/main" noGrp="1"/>
          </p:cNvSpPr>
          <p:nvPr/>
        </p:nvSpPr>
        <p:spPr>
          <a:xfrm xmlns:a="http://schemas.openxmlformats.org/drawingml/2006/main">
            <a:off x="609600" y="6429375"/>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75">
                <a:solidFill>
                  <a:srgbClr val="5E6865"/>
                </a:solidFill>
                <a:latin typeface="Arial"/>
                <a:ea typeface="Arial"/>
                <a:cs typeface="Arial"/>
              </a:defRPr>
            </a:defPPr>
            <a:lvl1pPr>
              <a:defRPr sz="675">
                <a:solidFill>
                  <a:srgbClr val="5E6865"/>
                </a:solidFill>
                <a:latin typeface="Arial"/>
                <a:ea typeface="Arial"/>
                <a:cs typeface="Arial"/>
              </a:defRPr>
            </a:lvl1pPr>
            <a:lvl2pPr>
              <a:defRPr sz="675">
                <a:solidFill>
                  <a:srgbClr val="5E6865"/>
                </a:solidFill>
                <a:latin typeface="Arial"/>
                <a:ea typeface="Arial"/>
                <a:cs typeface="Arial"/>
              </a:defRPr>
            </a:lvl2pPr>
            <a:lvl3pPr>
              <a:defRPr sz="675">
                <a:solidFill>
                  <a:srgbClr val="5E6865"/>
                </a:solidFill>
                <a:latin typeface="Arial"/>
                <a:ea typeface="Arial"/>
                <a:cs typeface="Arial"/>
              </a:defRPr>
            </a:lvl3pPr>
            <a:lvl4pPr>
              <a:defRPr sz="675">
                <a:solidFill>
                  <a:srgbClr val="5E6865"/>
                </a:solidFill>
                <a:latin typeface="Arial"/>
                <a:ea typeface="Arial"/>
                <a:cs typeface="Arial"/>
              </a:defRPr>
            </a:lvl4pPr>
            <a:lvl5pPr>
              <a:defRPr sz="675">
                <a:solidFill>
                  <a:srgbClr val="5E6865"/>
                </a:solidFill>
                <a:latin typeface="Arial"/>
                <a:ea typeface="Arial"/>
                <a:cs typeface="Arial"/>
              </a:defRPr>
            </a:lvl5pPr>
            <a:lvl6pPr>
              <a:defRPr sz="675">
                <a:solidFill>
                  <a:srgbClr val="5E6865"/>
                </a:solidFill>
                <a:latin typeface="Arial"/>
                <a:ea typeface="Arial"/>
                <a:cs typeface="Arial"/>
              </a:defRPr>
            </a:lvl6pPr>
            <a:lvl7pPr>
              <a:defRPr sz="675">
                <a:solidFill>
                  <a:srgbClr val="5E6865"/>
                </a:solidFill>
                <a:latin typeface="Arial"/>
                <a:ea typeface="Arial"/>
                <a:cs typeface="Arial"/>
              </a:defRPr>
            </a:lvl7pPr>
            <a:lvl8pPr>
              <a:defRPr sz="675">
                <a:solidFill>
                  <a:srgbClr val="5E6865"/>
                </a:solidFill>
                <a:latin typeface="Arial"/>
                <a:ea typeface="Arial"/>
                <a:cs typeface="Arial"/>
              </a:defRPr>
            </a:lvl8pPr>
            <a:lvl9pPr>
              <a:defRPr sz="675">
                <a:solidFill>
                  <a:srgbClr val="5E6865"/>
                </a:solidFill>
                <a:latin typeface="Arial"/>
                <a:ea typeface="Arial"/>
                <a:cs typeface="Arial"/>
              </a:defRPr>
            </a:lvl9pPr>
          </a:lstStyle>
          <a:p xmlns:a="http://schemas.openxmlformats.org/drawingml/2006/main">
            <a:pPr>
              <a:defRPr sz="675">
                <a:solidFill>
                  <a:srgbClr val="5E6865"/>
                </a:solidFill>
                <a:latin typeface="Arial"/>
                <a:ea typeface="Arial"/>
                <a:cs typeface="Arial"/>
              </a:defRPr>
            </a:pPr>
            <a:r>
              <a:rPr sz="675">
                <a:solidFill>
                  <a:srgbClr val="5E6865"/>
                </a:solidFill>
                <a:latin typeface="Arial"/>
                <a:ea typeface="Arial"/>
                <a:cs typeface="Arial"/>
              </a:rPr>
              <a:t>Source: QFI_V2_report.docx; Advanced Equity Portfolio Risk Management brief; report_assets/results.json and presentation_backtest.json, as of 16 October 2026.</a:t>
            </a:r>
          </a:p>
        </p:txBody>
      </p:sp>
      <p:sp>
        <p:nvSpPr>
          <p:cNvPr id="11" name="">
            <a:extLst xmlns:a="http://schemas.openxmlformats.org/drawingml/2006/main">
              <a:ext uri="{FF2B5EF4-FFF2-40B4-BE49-F238E27FC236}">
                <a16:creationId xmlns:a16="http://schemas.microsoft.com/office/drawing/2014/main" id="{9F6500F5-E3FB-4A1E-B233-583BA00B5833}"/>
              </a:ext>
            </a:extLst>
          </p:cNvPr>
          <p:cNvSpPr>
            <a:spLocks xmlns:a="http://schemas.openxmlformats.org/drawingml/2006/main" noGrp="1"/>
          </p:cNvSpPr>
          <p:nvPr/>
        </p:nvSpPr>
        <p:spPr>
          <a:xfrm xmlns:a="http://schemas.openxmlformats.org/drawingml/2006/main">
            <a:off x="10839450" y="64008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174C4F"/>
                </a:solidFill>
                <a:latin typeface="Arial"/>
                <a:ea typeface="Arial"/>
                <a:cs typeface="Arial"/>
              </a:defRPr>
            </a:defPPr>
            <a:lvl1pPr algn="r">
              <a:defRPr sz="825" b="1">
                <a:solidFill>
                  <a:srgbClr val="174C4F"/>
                </a:solidFill>
                <a:latin typeface="Arial"/>
                <a:ea typeface="Arial"/>
                <a:cs typeface="Arial"/>
              </a:defRPr>
            </a:lvl1pPr>
            <a:lvl2pPr algn="r">
              <a:defRPr sz="825" b="1">
                <a:solidFill>
                  <a:srgbClr val="174C4F"/>
                </a:solidFill>
                <a:latin typeface="Arial"/>
                <a:ea typeface="Arial"/>
                <a:cs typeface="Arial"/>
              </a:defRPr>
            </a:lvl2pPr>
            <a:lvl3pPr algn="r">
              <a:defRPr sz="825" b="1">
                <a:solidFill>
                  <a:srgbClr val="174C4F"/>
                </a:solidFill>
                <a:latin typeface="Arial"/>
                <a:ea typeface="Arial"/>
                <a:cs typeface="Arial"/>
              </a:defRPr>
            </a:lvl3pPr>
            <a:lvl4pPr algn="r">
              <a:defRPr sz="825" b="1">
                <a:solidFill>
                  <a:srgbClr val="174C4F"/>
                </a:solidFill>
                <a:latin typeface="Arial"/>
                <a:ea typeface="Arial"/>
                <a:cs typeface="Arial"/>
              </a:defRPr>
            </a:lvl4pPr>
            <a:lvl5pPr algn="r">
              <a:defRPr sz="825" b="1">
                <a:solidFill>
                  <a:srgbClr val="174C4F"/>
                </a:solidFill>
                <a:latin typeface="Arial"/>
                <a:ea typeface="Arial"/>
                <a:cs typeface="Arial"/>
              </a:defRPr>
            </a:lvl5pPr>
            <a:lvl6pPr algn="r">
              <a:defRPr sz="825" b="1">
                <a:solidFill>
                  <a:srgbClr val="174C4F"/>
                </a:solidFill>
                <a:latin typeface="Arial"/>
                <a:ea typeface="Arial"/>
                <a:cs typeface="Arial"/>
              </a:defRPr>
            </a:lvl6pPr>
            <a:lvl7pPr algn="r">
              <a:defRPr sz="825" b="1">
                <a:solidFill>
                  <a:srgbClr val="174C4F"/>
                </a:solidFill>
                <a:latin typeface="Arial"/>
                <a:ea typeface="Arial"/>
                <a:cs typeface="Arial"/>
              </a:defRPr>
            </a:lvl7pPr>
            <a:lvl8pPr algn="r">
              <a:defRPr sz="825" b="1">
                <a:solidFill>
                  <a:srgbClr val="174C4F"/>
                </a:solidFill>
                <a:latin typeface="Arial"/>
                <a:ea typeface="Arial"/>
                <a:cs typeface="Arial"/>
              </a:defRPr>
            </a:lvl8pPr>
            <a:lvl9pPr algn="r">
              <a:defRPr sz="825" b="1">
                <a:solidFill>
                  <a:srgbClr val="174C4F"/>
                </a:solidFill>
                <a:latin typeface="Arial"/>
                <a:ea typeface="Arial"/>
                <a:cs typeface="Arial"/>
              </a:defRPr>
            </a:lvl9pPr>
          </a:lstStyle>
          <a:p xmlns:a="http://schemas.openxmlformats.org/drawingml/2006/main">
            <a:pPr algn="r">
              <a:defRPr sz="825" b="1">
                <a:solidFill>
                  <a:srgbClr val="174C4F"/>
                </a:solidFill>
                <a:latin typeface="Arial"/>
                <a:ea typeface="Arial"/>
                <a:cs typeface="Arial"/>
              </a:defRPr>
            </a:pPr>
            <a:r>
              <a:rPr sz="825" b="1">
                <a:solidFill>
                  <a:srgbClr val="174C4F"/>
                </a:solidFill>
                <a:latin typeface="Arial"/>
                <a:ea typeface="Arial"/>
                <a:cs typeface="Arial"/>
              </a:rPr>
              <a:t>14</a:t>
            </a:r>
          </a:p>
        </p:txBody>
      </p:sp>
    </p:spTree>
    <p:extLst>
      <p:ext uri="{BB962C8B-B14F-4D97-AF65-F5344CB8AC3E}">
        <p14:creationId xmlns:p14="http://schemas.microsoft.com/office/powerpoint/2010/main" val="434957667"/>
      </p:ext>
    </p:extLst>
  </p:cSld>
</p:sld>
</file>

<file path=ppt/slides/slide15.xml><?xml version="1.0" encoding="utf-8"?>
<p:sld xmlns:p="http://schemas.openxmlformats.org/presentationml/2006/main">
  <p:cSld>
    <p:bg>
      <p:bgPr>
        <a:solidFill xmlns:a="http://schemas.openxmlformats.org/drawingml/2006/main">
          <a:srgbClr val="1B292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9B3F92D-7314-4687-81E6-EF94769755AA}"/>
              </a:ext>
            </a:extLst>
          </p:cNvPr>
          <p:cNvSpPr>
            <a:spLocks xmlns:a="http://schemas.openxmlformats.org/drawingml/2006/main" noGrp="1"/>
          </p:cNvSpPr>
          <p:nvPr/>
        </p:nvSpPr>
        <p:spPr>
          <a:xfrm xmlns:a="http://schemas.openxmlformats.org/drawingml/2006/main">
            <a:off x="685800" y="476250"/>
            <a:ext cx="10287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700" b="1">
                <a:solidFill>
                  <a:srgbClr val="FFFEFB"/>
                </a:solidFill>
                <a:latin typeface="Arial"/>
                <a:ea typeface="Arial"/>
                <a:cs typeface="Arial"/>
              </a:defRPr>
            </a:defPPr>
            <a:lvl1pPr>
              <a:defRPr sz="2700" b="1">
                <a:solidFill>
                  <a:srgbClr val="FFFEFB"/>
                </a:solidFill>
                <a:latin typeface="Arial"/>
                <a:ea typeface="Arial"/>
                <a:cs typeface="Arial"/>
              </a:defRPr>
            </a:lvl1pPr>
            <a:lvl2pPr>
              <a:defRPr sz="2700" b="1">
                <a:solidFill>
                  <a:srgbClr val="FFFEFB"/>
                </a:solidFill>
                <a:latin typeface="Arial"/>
                <a:ea typeface="Arial"/>
                <a:cs typeface="Arial"/>
              </a:defRPr>
            </a:lvl2pPr>
            <a:lvl3pPr>
              <a:defRPr sz="2700" b="1">
                <a:solidFill>
                  <a:srgbClr val="FFFEFB"/>
                </a:solidFill>
                <a:latin typeface="Arial"/>
                <a:ea typeface="Arial"/>
                <a:cs typeface="Arial"/>
              </a:defRPr>
            </a:lvl3pPr>
            <a:lvl4pPr>
              <a:defRPr sz="2700" b="1">
                <a:solidFill>
                  <a:srgbClr val="FFFEFB"/>
                </a:solidFill>
                <a:latin typeface="Arial"/>
                <a:ea typeface="Arial"/>
                <a:cs typeface="Arial"/>
              </a:defRPr>
            </a:lvl4pPr>
            <a:lvl5pPr>
              <a:defRPr sz="2700" b="1">
                <a:solidFill>
                  <a:srgbClr val="FFFEFB"/>
                </a:solidFill>
                <a:latin typeface="Arial"/>
                <a:ea typeface="Arial"/>
                <a:cs typeface="Arial"/>
              </a:defRPr>
            </a:lvl5pPr>
            <a:lvl6pPr>
              <a:defRPr sz="2700" b="1">
                <a:solidFill>
                  <a:srgbClr val="FFFEFB"/>
                </a:solidFill>
                <a:latin typeface="Arial"/>
                <a:ea typeface="Arial"/>
                <a:cs typeface="Arial"/>
              </a:defRPr>
            </a:lvl6pPr>
            <a:lvl7pPr>
              <a:defRPr sz="2700" b="1">
                <a:solidFill>
                  <a:srgbClr val="FFFEFB"/>
                </a:solidFill>
                <a:latin typeface="Arial"/>
                <a:ea typeface="Arial"/>
                <a:cs typeface="Arial"/>
              </a:defRPr>
            </a:lvl7pPr>
            <a:lvl8pPr>
              <a:defRPr sz="2700" b="1">
                <a:solidFill>
                  <a:srgbClr val="FFFEFB"/>
                </a:solidFill>
                <a:latin typeface="Arial"/>
                <a:ea typeface="Arial"/>
                <a:cs typeface="Arial"/>
              </a:defRPr>
            </a:lvl8pPr>
            <a:lvl9pPr>
              <a:defRPr sz="2700" b="1">
                <a:solidFill>
                  <a:srgbClr val="FFFEFB"/>
                </a:solidFill>
                <a:latin typeface="Arial"/>
                <a:ea typeface="Arial"/>
                <a:cs typeface="Arial"/>
              </a:defRPr>
            </a:lvl9pPr>
          </a:lstStyle>
          <a:p xmlns:a="http://schemas.openxmlformats.org/drawingml/2006/main">
            <a:pPr>
              <a:defRPr sz="2700" b="1">
                <a:solidFill>
                  <a:srgbClr val="FFFEFB"/>
                </a:solidFill>
                <a:latin typeface="Arial"/>
                <a:ea typeface="Arial"/>
                <a:cs typeface="Arial"/>
              </a:defRPr>
            </a:pPr>
            <a:r>
              <a:rPr sz="2700" b="1">
                <a:solidFill>
                  <a:srgbClr val="FFFEFB"/>
                </a:solidFill>
                <a:latin typeface="Arial"/>
                <a:ea typeface="Arial"/>
                <a:cs typeface="Arial"/>
              </a:rPr>
              <a:t>Recommendation: adopt a primary–challenger model</a:t>
            </a:r>
          </a:p>
        </p:txBody>
      </p:sp>
      <p:sp>
        <p:nvSpPr>
          <p:cNvPr id="2" name="">
            <a:extLst xmlns:a="http://schemas.openxmlformats.org/drawingml/2006/main">
              <a:ext uri="{FF2B5EF4-FFF2-40B4-BE49-F238E27FC236}">
                <a16:creationId xmlns:a16="http://schemas.microsoft.com/office/drawing/2014/main" id="{6E7470C9-CC1F-4246-B958-53D7740D9AA5}"/>
              </a:ext>
            </a:extLst>
          </p:cNvPr>
          <p:cNvSpPr>
            <a:spLocks xmlns:a="http://schemas.openxmlformats.org/drawingml/2006/main" noGrp="1"/>
          </p:cNvSpPr>
          <p:nvPr/>
        </p:nvSpPr>
        <p:spPr>
          <a:xfrm xmlns:a="http://schemas.openxmlformats.org/drawingml/2006/main">
            <a:off x="685800" y="1133475"/>
            <a:ext cx="838200" cy="47625"/>
          </a:xfrm>
          <a:prstGeom xmlns:a="http://schemas.openxmlformats.org/drawingml/2006/main" prst="rect">
            <a:avLst/>
          </a:prstGeom>
          <a:solidFill xmlns:a="http://schemas.openxmlformats.org/drawingml/2006/main">
            <a:srgbClr val="C9973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BD456E8-BDB2-46D9-B3AD-EC33CDB9EDDD}"/>
              </a:ext>
            </a:extLst>
          </p:cNvPr>
          <p:cNvSpPr>
            <a:spLocks xmlns:a="http://schemas.openxmlformats.org/drawingml/2006/main" noGrp="1"/>
          </p:cNvSpPr>
          <p:nvPr/>
        </p:nvSpPr>
        <p:spPr>
          <a:xfrm xmlns:a="http://schemas.openxmlformats.org/drawingml/2006/main">
            <a:off x="762000" y="1581150"/>
            <a:ext cx="47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b="1">
                <a:solidFill>
                  <a:srgbClr val="C9973A"/>
                </a:solidFill>
                <a:latin typeface="Arial"/>
                <a:ea typeface="Arial"/>
                <a:cs typeface="Arial"/>
              </a:defRPr>
            </a:defPPr>
            <a:lvl1pPr>
              <a:defRPr sz="1125" b="1">
                <a:solidFill>
                  <a:srgbClr val="C9973A"/>
                </a:solidFill>
                <a:latin typeface="Arial"/>
                <a:ea typeface="Arial"/>
                <a:cs typeface="Arial"/>
              </a:defRPr>
            </a:lvl1pPr>
            <a:lvl2pPr>
              <a:defRPr sz="1125" b="1">
                <a:solidFill>
                  <a:srgbClr val="C9973A"/>
                </a:solidFill>
                <a:latin typeface="Arial"/>
                <a:ea typeface="Arial"/>
                <a:cs typeface="Arial"/>
              </a:defRPr>
            </a:lvl2pPr>
            <a:lvl3pPr>
              <a:defRPr sz="1125" b="1">
                <a:solidFill>
                  <a:srgbClr val="C9973A"/>
                </a:solidFill>
                <a:latin typeface="Arial"/>
                <a:ea typeface="Arial"/>
                <a:cs typeface="Arial"/>
              </a:defRPr>
            </a:lvl3pPr>
            <a:lvl4pPr>
              <a:defRPr sz="1125" b="1">
                <a:solidFill>
                  <a:srgbClr val="C9973A"/>
                </a:solidFill>
                <a:latin typeface="Arial"/>
                <a:ea typeface="Arial"/>
                <a:cs typeface="Arial"/>
              </a:defRPr>
            </a:lvl4pPr>
            <a:lvl5pPr>
              <a:defRPr sz="1125" b="1">
                <a:solidFill>
                  <a:srgbClr val="C9973A"/>
                </a:solidFill>
                <a:latin typeface="Arial"/>
                <a:ea typeface="Arial"/>
                <a:cs typeface="Arial"/>
              </a:defRPr>
            </a:lvl5pPr>
            <a:lvl6pPr>
              <a:defRPr sz="1125" b="1">
                <a:solidFill>
                  <a:srgbClr val="C9973A"/>
                </a:solidFill>
                <a:latin typeface="Arial"/>
                <a:ea typeface="Arial"/>
                <a:cs typeface="Arial"/>
              </a:defRPr>
            </a:lvl6pPr>
            <a:lvl7pPr>
              <a:defRPr sz="1125" b="1">
                <a:solidFill>
                  <a:srgbClr val="C9973A"/>
                </a:solidFill>
                <a:latin typeface="Arial"/>
                <a:ea typeface="Arial"/>
                <a:cs typeface="Arial"/>
              </a:defRPr>
            </a:lvl7pPr>
            <a:lvl8pPr>
              <a:defRPr sz="1125" b="1">
                <a:solidFill>
                  <a:srgbClr val="C9973A"/>
                </a:solidFill>
                <a:latin typeface="Arial"/>
                <a:ea typeface="Arial"/>
                <a:cs typeface="Arial"/>
              </a:defRPr>
            </a:lvl8pPr>
            <a:lvl9pPr>
              <a:defRPr sz="1125" b="1">
                <a:solidFill>
                  <a:srgbClr val="C9973A"/>
                </a:solidFill>
                <a:latin typeface="Arial"/>
                <a:ea typeface="Arial"/>
                <a:cs typeface="Arial"/>
              </a:defRPr>
            </a:lvl9pPr>
          </a:lstStyle>
          <a:p xmlns:a="http://schemas.openxmlformats.org/drawingml/2006/main">
            <a:pPr>
              <a:defRPr sz="1125" b="1">
                <a:solidFill>
                  <a:srgbClr val="C9973A"/>
                </a:solidFill>
                <a:latin typeface="Arial"/>
                <a:ea typeface="Arial"/>
                <a:cs typeface="Arial"/>
              </a:defRPr>
            </a:pPr>
            <a:r>
              <a:rPr sz="1125" b="1">
                <a:solidFill>
                  <a:srgbClr val="C9973A"/>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2AC5A72D-4F23-481A-AF48-3AF22565AE8E}"/>
              </a:ext>
            </a:extLst>
          </p:cNvPr>
          <p:cNvSpPr>
            <a:spLocks xmlns:a="http://schemas.openxmlformats.org/drawingml/2006/main" noGrp="1"/>
          </p:cNvSpPr>
          <p:nvPr/>
        </p:nvSpPr>
        <p:spPr>
          <a:xfrm xmlns:a="http://schemas.openxmlformats.org/drawingml/2006/main">
            <a:off x="1428750" y="15621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F1E2BE"/>
                </a:solidFill>
                <a:latin typeface="Arial"/>
                <a:ea typeface="Arial"/>
                <a:cs typeface="Arial"/>
              </a:defRPr>
            </a:defPPr>
            <a:lvl1pPr>
              <a:defRPr sz="1275" b="1">
                <a:solidFill>
                  <a:srgbClr val="F1E2BE"/>
                </a:solidFill>
                <a:latin typeface="Arial"/>
                <a:ea typeface="Arial"/>
                <a:cs typeface="Arial"/>
              </a:defRPr>
            </a:lvl1pPr>
            <a:lvl2pPr>
              <a:defRPr sz="1275" b="1">
                <a:solidFill>
                  <a:srgbClr val="F1E2BE"/>
                </a:solidFill>
                <a:latin typeface="Arial"/>
                <a:ea typeface="Arial"/>
                <a:cs typeface="Arial"/>
              </a:defRPr>
            </a:lvl2pPr>
            <a:lvl3pPr>
              <a:defRPr sz="1275" b="1">
                <a:solidFill>
                  <a:srgbClr val="F1E2BE"/>
                </a:solidFill>
                <a:latin typeface="Arial"/>
                <a:ea typeface="Arial"/>
                <a:cs typeface="Arial"/>
              </a:defRPr>
            </a:lvl3pPr>
            <a:lvl4pPr>
              <a:defRPr sz="1275" b="1">
                <a:solidFill>
                  <a:srgbClr val="F1E2BE"/>
                </a:solidFill>
                <a:latin typeface="Arial"/>
                <a:ea typeface="Arial"/>
                <a:cs typeface="Arial"/>
              </a:defRPr>
            </a:lvl4pPr>
            <a:lvl5pPr>
              <a:defRPr sz="1275" b="1">
                <a:solidFill>
                  <a:srgbClr val="F1E2BE"/>
                </a:solidFill>
                <a:latin typeface="Arial"/>
                <a:ea typeface="Arial"/>
                <a:cs typeface="Arial"/>
              </a:defRPr>
            </a:lvl5pPr>
            <a:lvl6pPr>
              <a:defRPr sz="1275" b="1">
                <a:solidFill>
                  <a:srgbClr val="F1E2BE"/>
                </a:solidFill>
                <a:latin typeface="Arial"/>
                <a:ea typeface="Arial"/>
                <a:cs typeface="Arial"/>
              </a:defRPr>
            </a:lvl6pPr>
            <a:lvl7pPr>
              <a:defRPr sz="1275" b="1">
                <a:solidFill>
                  <a:srgbClr val="F1E2BE"/>
                </a:solidFill>
                <a:latin typeface="Arial"/>
                <a:ea typeface="Arial"/>
                <a:cs typeface="Arial"/>
              </a:defRPr>
            </a:lvl7pPr>
            <a:lvl8pPr>
              <a:defRPr sz="1275" b="1">
                <a:solidFill>
                  <a:srgbClr val="F1E2BE"/>
                </a:solidFill>
                <a:latin typeface="Arial"/>
                <a:ea typeface="Arial"/>
                <a:cs typeface="Arial"/>
              </a:defRPr>
            </a:lvl8pPr>
            <a:lvl9pPr>
              <a:defRPr sz="1275" b="1">
                <a:solidFill>
                  <a:srgbClr val="F1E2BE"/>
                </a:solidFill>
                <a:latin typeface="Arial"/>
                <a:ea typeface="Arial"/>
                <a:cs typeface="Arial"/>
              </a:defRPr>
            </a:lvl9pPr>
          </a:lstStyle>
          <a:p xmlns:a="http://schemas.openxmlformats.org/drawingml/2006/main">
            <a:pPr>
              <a:defRPr sz="1275" b="1">
                <a:solidFill>
                  <a:srgbClr val="F1E2BE"/>
                </a:solidFill>
                <a:latin typeface="Arial"/>
                <a:ea typeface="Arial"/>
                <a:cs typeface="Arial"/>
              </a:defRPr>
            </a:pPr>
            <a:r>
              <a:rPr sz="1275" b="1">
                <a:solidFill>
                  <a:srgbClr val="F1E2BE"/>
                </a:solidFill>
                <a:latin typeface="Arial"/>
                <a:ea typeface="Arial"/>
                <a:cs typeface="Arial"/>
              </a:rPr>
              <a:t>PRIMARY</a:t>
            </a:r>
          </a:p>
        </p:txBody>
      </p:sp>
      <p:sp>
        <p:nvSpPr>
          <p:cNvPr id="5" name="">
            <a:extLst xmlns:a="http://schemas.openxmlformats.org/drawingml/2006/main">
              <a:ext uri="{FF2B5EF4-FFF2-40B4-BE49-F238E27FC236}">
                <a16:creationId xmlns:a16="http://schemas.microsoft.com/office/drawing/2014/main" id="{810DFF59-723C-49F7-B00F-BD1296366CC8}"/>
              </a:ext>
            </a:extLst>
          </p:cNvPr>
          <p:cNvSpPr>
            <a:spLocks xmlns:a="http://schemas.openxmlformats.org/drawingml/2006/main" noGrp="1"/>
          </p:cNvSpPr>
          <p:nvPr/>
        </p:nvSpPr>
        <p:spPr>
          <a:xfrm xmlns:a="http://schemas.openxmlformats.org/drawingml/2006/main">
            <a:off x="3429000" y="1533525"/>
            <a:ext cx="742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a:solidFill>
                  <a:srgbClr val="FFFEFB"/>
                </a:solidFill>
                <a:latin typeface="Arial"/>
                <a:ea typeface="Arial"/>
                <a:cs typeface="Arial"/>
              </a:defRPr>
            </a:defPPr>
            <a:lvl1pPr>
              <a:defRPr sz="1575">
                <a:solidFill>
                  <a:srgbClr val="FFFEFB"/>
                </a:solidFill>
                <a:latin typeface="Arial"/>
                <a:ea typeface="Arial"/>
                <a:cs typeface="Arial"/>
              </a:defRPr>
            </a:lvl1pPr>
            <a:lvl2pPr>
              <a:defRPr sz="1575">
                <a:solidFill>
                  <a:srgbClr val="FFFEFB"/>
                </a:solidFill>
                <a:latin typeface="Arial"/>
                <a:ea typeface="Arial"/>
                <a:cs typeface="Arial"/>
              </a:defRPr>
            </a:lvl2pPr>
            <a:lvl3pPr>
              <a:defRPr sz="1575">
                <a:solidFill>
                  <a:srgbClr val="FFFEFB"/>
                </a:solidFill>
                <a:latin typeface="Arial"/>
                <a:ea typeface="Arial"/>
                <a:cs typeface="Arial"/>
              </a:defRPr>
            </a:lvl3pPr>
            <a:lvl4pPr>
              <a:defRPr sz="1575">
                <a:solidFill>
                  <a:srgbClr val="FFFEFB"/>
                </a:solidFill>
                <a:latin typeface="Arial"/>
                <a:ea typeface="Arial"/>
                <a:cs typeface="Arial"/>
              </a:defRPr>
            </a:lvl4pPr>
            <a:lvl5pPr>
              <a:defRPr sz="1575">
                <a:solidFill>
                  <a:srgbClr val="FFFEFB"/>
                </a:solidFill>
                <a:latin typeface="Arial"/>
                <a:ea typeface="Arial"/>
                <a:cs typeface="Arial"/>
              </a:defRPr>
            </a:lvl5pPr>
            <a:lvl6pPr>
              <a:defRPr sz="1575">
                <a:solidFill>
                  <a:srgbClr val="FFFEFB"/>
                </a:solidFill>
                <a:latin typeface="Arial"/>
                <a:ea typeface="Arial"/>
                <a:cs typeface="Arial"/>
              </a:defRPr>
            </a:lvl6pPr>
            <a:lvl7pPr>
              <a:defRPr sz="1575">
                <a:solidFill>
                  <a:srgbClr val="FFFEFB"/>
                </a:solidFill>
                <a:latin typeface="Arial"/>
                <a:ea typeface="Arial"/>
                <a:cs typeface="Arial"/>
              </a:defRPr>
            </a:lvl7pPr>
            <a:lvl8pPr>
              <a:defRPr sz="1575">
                <a:solidFill>
                  <a:srgbClr val="FFFEFB"/>
                </a:solidFill>
                <a:latin typeface="Arial"/>
                <a:ea typeface="Arial"/>
                <a:cs typeface="Arial"/>
              </a:defRPr>
            </a:lvl8pPr>
            <a:lvl9pPr>
              <a:defRPr sz="1575">
                <a:solidFill>
                  <a:srgbClr val="FFFEFB"/>
                </a:solidFill>
                <a:latin typeface="Arial"/>
                <a:ea typeface="Arial"/>
                <a:cs typeface="Arial"/>
              </a:defRPr>
            </a:lvl9pPr>
          </a:lstStyle>
          <a:p xmlns:a="http://schemas.openxmlformats.org/drawingml/2006/main">
            <a:pPr>
              <a:defRPr sz="1575">
                <a:solidFill>
                  <a:srgbClr val="FFFEFB"/>
                </a:solidFill>
                <a:latin typeface="Arial"/>
                <a:ea typeface="Arial"/>
                <a:cs typeface="Arial"/>
              </a:defRPr>
            </a:pPr>
            <a:r>
              <a:rPr sz="1575">
                <a:solidFill>
                  <a:srgbClr val="FFFEFB"/>
                </a:solidFill>
                <a:latin typeface="Arial"/>
                <a:ea typeface="Arial"/>
                <a:cs typeface="Arial"/>
              </a:rPr>
              <a:t>GJR-HS for official 99% one-day monitoring and limits</a:t>
            </a:r>
          </a:p>
        </p:txBody>
      </p:sp>
      <p:sp>
        <p:nvSpPr>
          <p:cNvPr id="6" name="">
            <a:extLst xmlns:a="http://schemas.openxmlformats.org/drawingml/2006/main">
              <a:ext uri="{FF2B5EF4-FFF2-40B4-BE49-F238E27FC236}">
                <a16:creationId xmlns:a16="http://schemas.microsoft.com/office/drawing/2014/main" id="{E18851F2-A490-4084-8ED6-5AF31EC0791D}"/>
              </a:ext>
            </a:extLst>
          </p:cNvPr>
          <p:cNvSpPr>
            <a:spLocks xmlns:a="http://schemas.openxmlformats.org/drawingml/2006/main" noGrp="1"/>
          </p:cNvSpPr>
          <p:nvPr/>
        </p:nvSpPr>
        <p:spPr>
          <a:xfrm xmlns:a="http://schemas.openxmlformats.org/drawingml/2006/main">
            <a:off x="1428750" y="2124075"/>
            <a:ext cx="9429750" cy="9525"/>
          </a:xfrm>
          <a:prstGeom xmlns:a="http://schemas.openxmlformats.org/drawingml/2006/main" prst="rect">
            <a:avLst/>
          </a:prstGeom>
          <a:solidFill xmlns:a="http://schemas.openxmlformats.org/drawingml/2006/main">
            <a:srgbClr val="334443"/>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F2A504E-2525-4BE2-BA34-F394EE862CEA}"/>
              </a:ext>
            </a:extLst>
          </p:cNvPr>
          <p:cNvSpPr>
            <a:spLocks xmlns:a="http://schemas.openxmlformats.org/drawingml/2006/main" noGrp="1"/>
          </p:cNvSpPr>
          <p:nvPr/>
        </p:nvSpPr>
        <p:spPr>
          <a:xfrm xmlns:a="http://schemas.openxmlformats.org/drawingml/2006/main">
            <a:off x="762000" y="2552700"/>
            <a:ext cx="47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b="1">
                <a:solidFill>
                  <a:srgbClr val="C9973A"/>
                </a:solidFill>
                <a:latin typeface="Arial"/>
                <a:ea typeface="Arial"/>
                <a:cs typeface="Arial"/>
              </a:defRPr>
            </a:defPPr>
            <a:lvl1pPr>
              <a:defRPr sz="1125" b="1">
                <a:solidFill>
                  <a:srgbClr val="C9973A"/>
                </a:solidFill>
                <a:latin typeface="Arial"/>
                <a:ea typeface="Arial"/>
                <a:cs typeface="Arial"/>
              </a:defRPr>
            </a:lvl1pPr>
            <a:lvl2pPr>
              <a:defRPr sz="1125" b="1">
                <a:solidFill>
                  <a:srgbClr val="C9973A"/>
                </a:solidFill>
                <a:latin typeface="Arial"/>
                <a:ea typeface="Arial"/>
                <a:cs typeface="Arial"/>
              </a:defRPr>
            </a:lvl2pPr>
            <a:lvl3pPr>
              <a:defRPr sz="1125" b="1">
                <a:solidFill>
                  <a:srgbClr val="C9973A"/>
                </a:solidFill>
                <a:latin typeface="Arial"/>
                <a:ea typeface="Arial"/>
                <a:cs typeface="Arial"/>
              </a:defRPr>
            </a:lvl3pPr>
            <a:lvl4pPr>
              <a:defRPr sz="1125" b="1">
                <a:solidFill>
                  <a:srgbClr val="C9973A"/>
                </a:solidFill>
                <a:latin typeface="Arial"/>
                <a:ea typeface="Arial"/>
                <a:cs typeface="Arial"/>
              </a:defRPr>
            </a:lvl4pPr>
            <a:lvl5pPr>
              <a:defRPr sz="1125" b="1">
                <a:solidFill>
                  <a:srgbClr val="C9973A"/>
                </a:solidFill>
                <a:latin typeface="Arial"/>
                <a:ea typeface="Arial"/>
                <a:cs typeface="Arial"/>
              </a:defRPr>
            </a:lvl5pPr>
            <a:lvl6pPr>
              <a:defRPr sz="1125" b="1">
                <a:solidFill>
                  <a:srgbClr val="C9973A"/>
                </a:solidFill>
                <a:latin typeface="Arial"/>
                <a:ea typeface="Arial"/>
                <a:cs typeface="Arial"/>
              </a:defRPr>
            </a:lvl6pPr>
            <a:lvl7pPr>
              <a:defRPr sz="1125" b="1">
                <a:solidFill>
                  <a:srgbClr val="C9973A"/>
                </a:solidFill>
                <a:latin typeface="Arial"/>
                <a:ea typeface="Arial"/>
                <a:cs typeface="Arial"/>
              </a:defRPr>
            </a:lvl7pPr>
            <a:lvl8pPr>
              <a:defRPr sz="1125" b="1">
                <a:solidFill>
                  <a:srgbClr val="C9973A"/>
                </a:solidFill>
                <a:latin typeface="Arial"/>
                <a:ea typeface="Arial"/>
                <a:cs typeface="Arial"/>
              </a:defRPr>
            </a:lvl8pPr>
            <a:lvl9pPr>
              <a:defRPr sz="1125" b="1">
                <a:solidFill>
                  <a:srgbClr val="C9973A"/>
                </a:solidFill>
                <a:latin typeface="Arial"/>
                <a:ea typeface="Arial"/>
                <a:cs typeface="Arial"/>
              </a:defRPr>
            </a:lvl9pPr>
          </a:lstStyle>
          <a:p xmlns:a="http://schemas.openxmlformats.org/drawingml/2006/main">
            <a:pPr>
              <a:defRPr sz="1125" b="1">
                <a:solidFill>
                  <a:srgbClr val="C9973A"/>
                </a:solidFill>
                <a:latin typeface="Arial"/>
                <a:ea typeface="Arial"/>
                <a:cs typeface="Arial"/>
              </a:defRPr>
            </a:pPr>
            <a:r>
              <a:rPr sz="1125" b="1">
                <a:solidFill>
                  <a:srgbClr val="C9973A"/>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5DDCEAFA-B093-4FB5-B9BC-938E35E35E38}"/>
              </a:ext>
            </a:extLst>
          </p:cNvPr>
          <p:cNvSpPr>
            <a:spLocks xmlns:a="http://schemas.openxmlformats.org/drawingml/2006/main" noGrp="1"/>
          </p:cNvSpPr>
          <p:nvPr/>
        </p:nvSpPr>
        <p:spPr>
          <a:xfrm xmlns:a="http://schemas.openxmlformats.org/drawingml/2006/main">
            <a:off x="1428750" y="25336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F1E2BE"/>
                </a:solidFill>
                <a:latin typeface="Arial"/>
                <a:ea typeface="Arial"/>
                <a:cs typeface="Arial"/>
              </a:defRPr>
            </a:defPPr>
            <a:lvl1pPr>
              <a:defRPr sz="1275" b="1">
                <a:solidFill>
                  <a:srgbClr val="F1E2BE"/>
                </a:solidFill>
                <a:latin typeface="Arial"/>
                <a:ea typeface="Arial"/>
                <a:cs typeface="Arial"/>
              </a:defRPr>
            </a:lvl1pPr>
            <a:lvl2pPr>
              <a:defRPr sz="1275" b="1">
                <a:solidFill>
                  <a:srgbClr val="F1E2BE"/>
                </a:solidFill>
                <a:latin typeface="Arial"/>
                <a:ea typeface="Arial"/>
                <a:cs typeface="Arial"/>
              </a:defRPr>
            </a:lvl2pPr>
            <a:lvl3pPr>
              <a:defRPr sz="1275" b="1">
                <a:solidFill>
                  <a:srgbClr val="F1E2BE"/>
                </a:solidFill>
                <a:latin typeface="Arial"/>
                <a:ea typeface="Arial"/>
                <a:cs typeface="Arial"/>
              </a:defRPr>
            </a:lvl3pPr>
            <a:lvl4pPr>
              <a:defRPr sz="1275" b="1">
                <a:solidFill>
                  <a:srgbClr val="F1E2BE"/>
                </a:solidFill>
                <a:latin typeface="Arial"/>
                <a:ea typeface="Arial"/>
                <a:cs typeface="Arial"/>
              </a:defRPr>
            </a:lvl4pPr>
            <a:lvl5pPr>
              <a:defRPr sz="1275" b="1">
                <a:solidFill>
                  <a:srgbClr val="F1E2BE"/>
                </a:solidFill>
                <a:latin typeface="Arial"/>
                <a:ea typeface="Arial"/>
                <a:cs typeface="Arial"/>
              </a:defRPr>
            </a:lvl5pPr>
            <a:lvl6pPr>
              <a:defRPr sz="1275" b="1">
                <a:solidFill>
                  <a:srgbClr val="F1E2BE"/>
                </a:solidFill>
                <a:latin typeface="Arial"/>
                <a:ea typeface="Arial"/>
                <a:cs typeface="Arial"/>
              </a:defRPr>
            </a:lvl6pPr>
            <a:lvl7pPr>
              <a:defRPr sz="1275" b="1">
                <a:solidFill>
                  <a:srgbClr val="F1E2BE"/>
                </a:solidFill>
                <a:latin typeface="Arial"/>
                <a:ea typeface="Arial"/>
                <a:cs typeface="Arial"/>
              </a:defRPr>
            </a:lvl7pPr>
            <a:lvl8pPr>
              <a:defRPr sz="1275" b="1">
                <a:solidFill>
                  <a:srgbClr val="F1E2BE"/>
                </a:solidFill>
                <a:latin typeface="Arial"/>
                <a:ea typeface="Arial"/>
                <a:cs typeface="Arial"/>
              </a:defRPr>
            </a:lvl8pPr>
            <a:lvl9pPr>
              <a:defRPr sz="1275" b="1">
                <a:solidFill>
                  <a:srgbClr val="F1E2BE"/>
                </a:solidFill>
                <a:latin typeface="Arial"/>
                <a:ea typeface="Arial"/>
                <a:cs typeface="Arial"/>
              </a:defRPr>
            </a:lvl9pPr>
          </a:lstStyle>
          <a:p xmlns:a="http://schemas.openxmlformats.org/drawingml/2006/main">
            <a:pPr>
              <a:defRPr sz="1275" b="1">
                <a:solidFill>
                  <a:srgbClr val="F1E2BE"/>
                </a:solidFill>
                <a:latin typeface="Arial"/>
                <a:ea typeface="Arial"/>
                <a:cs typeface="Arial"/>
              </a:defRPr>
            </a:pPr>
            <a:r>
              <a:rPr sz="1275" b="1">
                <a:solidFill>
                  <a:srgbClr val="F1E2BE"/>
                </a:solidFill>
                <a:latin typeface="Arial"/>
                <a:ea typeface="Arial"/>
                <a:cs typeface="Arial"/>
              </a:rPr>
              <a:t>CHALLENGER</a:t>
            </a:r>
          </a:p>
        </p:txBody>
      </p:sp>
      <p:sp>
        <p:nvSpPr>
          <p:cNvPr id="9" name="">
            <a:extLst xmlns:a="http://schemas.openxmlformats.org/drawingml/2006/main">
              <a:ext uri="{FF2B5EF4-FFF2-40B4-BE49-F238E27FC236}">
                <a16:creationId xmlns:a16="http://schemas.microsoft.com/office/drawing/2014/main" id="{B3E466A5-CB36-44E8-9316-FE674536B7CB}"/>
              </a:ext>
            </a:extLst>
          </p:cNvPr>
          <p:cNvSpPr>
            <a:spLocks xmlns:a="http://schemas.openxmlformats.org/drawingml/2006/main" noGrp="1"/>
          </p:cNvSpPr>
          <p:nvPr/>
        </p:nvSpPr>
        <p:spPr>
          <a:xfrm xmlns:a="http://schemas.openxmlformats.org/drawingml/2006/main">
            <a:off x="3429000" y="2505075"/>
            <a:ext cx="742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a:solidFill>
                  <a:srgbClr val="FFFEFB"/>
                </a:solidFill>
                <a:latin typeface="Arial"/>
                <a:ea typeface="Arial"/>
                <a:cs typeface="Arial"/>
              </a:defRPr>
            </a:defPPr>
            <a:lvl1pPr>
              <a:defRPr sz="1575">
                <a:solidFill>
                  <a:srgbClr val="FFFEFB"/>
                </a:solidFill>
                <a:latin typeface="Arial"/>
                <a:ea typeface="Arial"/>
                <a:cs typeface="Arial"/>
              </a:defRPr>
            </a:lvl1pPr>
            <a:lvl2pPr>
              <a:defRPr sz="1575">
                <a:solidFill>
                  <a:srgbClr val="FFFEFB"/>
                </a:solidFill>
                <a:latin typeface="Arial"/>
                <a:ea typeface="Arial"/>
                <a:cs typeface="Arial"/>
              </a:defRPr>
            </a:lvl2pPr>
            <a:lvl3pPr>
              <a:defRPr sz="1575">
                <a:solidFill>
                  <a:srgbClr val="FFFEFB"/>
                </a:solidFill>
                <a:latin typeface="Arial"/>
                <a:ea typeface="Arial"/>
                <a:cs typeface="Arial"/>
              </a:defRPr>
            </a:lvl3pPr>
            <a:lvl4pPr>
              <a:defRPr sz="1575">
                <a:solidFill>
                  <a:srgbClr val="FFFEFB"/>
                </a:solidFill>
                <a:latin typeface="Arial"/>
                <a:ea typeface="Arial"/>
                <a:cs typeface="Arial"/>
              </a:defRPr>
            </a:lvl4pPr>
            <a:lvl5pPr>
              <a:defRPr sz="1575">
                <a:solidFill>
                  <a:srgbClr val="FFFEFB"/>
                </a:solidFill>
                <a:latin typeface="Arial"/>
                <a:ea typeface="Arial"/>
                <a:cs typeface="Arial"/>
              </a:defRPr>
            </a:lvl5pPr>
            <a:lvl6pPr>
              <a:defRPr sz="1575">
                <a:solidFill>
                  <a:srgbClr val="FFFEFB"/>
                </a:solidFill>
                <a:latin typeface="Arial"/>
                <a:ea typeface="Arial"/>
                <a:cs typeface="Arial"/>
              </a:defRPr>
            </a:lvl6pPr>
            <a:lvl7pPr>
              <a:defRPr sz="1575">
                <a:solidFill>
                  <a:srgbClr val="FFFEFB"/>
                </a:solidFill>
                <a:latin typeface="Arial"/>
                <a:ea typeface="Arial"/>
                <a:cs typeface="Arial"/>
              </a:defRPr>
            </a:lvl7pPr>
            <a:lvl8pPr>
              <a:defRPr sz="1575">
                <a:solidFill>
                  <a:srgbClr val="FFFEFB"/>
                </a:solidFill>
                <a:latin typeface="Arial"/>
                <a:ea typeface="Arial"/>
                <a:cs typeface="Arial"/>
              </a:defRPr>
            </a:lvl8pPr>
            <a:lvl9pPr>
              <a:defRPr sz="1575">
                <a:solidFill>
                  <a:srgbClr val="FFFEFB"/>
                </a:solidFill>
                <a:latin typeface="Arial"/>
                <a:ea typeface="Arial"/>
                <a:cs typeface="Arial"/>
              </a:defRPr>
            </a:lvl9pPr>
          </a:lstStyle>
          <a:p xmlns:a="http://schemas.openxmlformats.org/drawingml/2006/main">
            <a:pPr>
              <a:defRPr sz="1575">
                <a:solidFill>
                  <a:srgbClr val="FFFEFB"/>
                </a:solidFill>
                <a:latin typeface="Arial"/>
                <a:ea typeface="Arial"/>
                <a:cs typeface="Arial"/>
              </a:defRPr>
            </a:pPr>
            <a:r>
              <a:rPr sz="1575">
                <a:solidFill>
                  <a:srgbClr val="FFFEFB"/>
                </a:solidFill>
                <a:latin typeface="Arial"/>
                <a:ea typeface="Arial"/>
                <a:cs typeface="Arial"/>
              </a:rPr>
              <a:t>EWMA-HS for fast independent comparison; HS for transparency</a:t>
            </a:r>
          </a:p>
        </p:txBody>
      </p:sp>
      <p:sp>
        <p:nvSpPr>
          <p:cNvPr id="10" name="">
            <a:extLst xmlns:a="http://schemas.openxmlformats.org/drawingml/2006/main">
              <a:ext uri="{FF2B5EF4-FFF2-40B4-BE49-F238E27FC236}">
                <a16:creationId xmlns:a16="http://schemas.microsoft.com/office/drawing/2014/main" id="{CE1DAC86-9FAD-41C0-B696-5EEBB59A1D6B}"/>
              </a:ext>
            </a:extLst>
          </p:cNvPr>
          <p:cNvSpPr>
            <a:spLocks xmlns:a="http://schemas.openxmlformats.org/drawingml/2006/main" noGrp="1"/>
          </p:cNvSpPr>
          <p:nvPr/>
        </p:nvSpPr>
        <p:spPr>
          <a:xfrm xmlns:a="http://schemas.openxmlformats.org/drawingml/2006/main">
            <a:off x="1428750" y="3095625"/>
            <a:ext cx="9429750" cy="9525"/>
          </a:xfrm>
          <a:prstGeom xmlns:a="http://schemas.openxmlformats.org/drawingml/2006/main" prst="rect">
            <a:avLst/>
          </a:prstGeom>
          <a:solidFill xmlns:a="http://schemas.openxmlformats.org/drawingml/2006/main">
            <a:srgbClr val="33444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5E50722-4177-405A-9D8A-4166C91791F4}"/>
              </a:ext>
            </a:extLst>
          </p:cNvPr>
          <p:cNvSpPr>
            <a:spLocks xmlns:a="http://schemas.openxmlformats.org/drawingml/2006/main" noGrp="1"/>
          </p:cNvSpPr>
          <p:nvPr/>
        </p:nvSpPr>
        <p:spPr>
          <a:xfrm xmlns:a="http://schemas.openxmlformats.org/drawingml/2006/main">
            <a:off x="762000" y="3524250"/>
            <a:ext cx="47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b="1">
                <a:solidFill>
                  <a:srgbClr val="C9973A"/>
                </a:solidFill>
                <a:latin typeface="Arial"/>
                <a:ea typeface="Arial"/>
                <a:cs typeface="Arial"/>
              </a:defRPr>
            </a:defPPr>
            <a:lvl1pPr>
              <a:defRPr sz="1125" b="1">
                <a:solidFill>
                  <a:srgbClr val="C9973A"/>
                </a:solidFill>
                <a:latin typeface="Arial"/>
                <a:ea typeface="Arial"/>
                <a:cs typeface="Arial"/>
              </a:defRPr>
            </a:lvl1pPr>
            <a:lvl2pPr>
              <a:defRPr sz="1125" b="1">
                <a:solidFill>
                  <a:srgbClr val="C9973A"/>
                </a:solidFill>
                <a:latin typeface="Arial"/>
                <a:ea typeface="Arial"/>
                <a:cs typeface="Arial"/>
              </a:defRPr>
            </a:lvl2pPr>
            <a:lvl3pPr>
              <a:defRPr sz="1125" b="1">
                <a:solidFill>
                  <a:srgbClr val="C9973A"/>
                </a:solidFill>
                <a:latin typeface="Arial"/>
                <a:ea typeface="Arial"/>
                <a:cs typeface="Arial"/>
              </a:defRPr>
            </a:lvl3pPr>
            <a:lvl4pPr>
              <a:defRPr sz="1125" b="1">
                <a:solidFill>
                  <a:srgbClr val="C9973A"/>
                </a:solidFill>
                <a:latin typeface="Arial"/>
                <a:ea typeface="Arial"/>
                <a:cs typeface="Arial"/>
              </a:defRPr>
            </a:lvl4pPr>
            <a:lvl5pPr>
              <a:defRPr sz="1125" b="1">
                <a:solidFill>
                  <a:srgbClr val="C9973A"/>
                </a:solidFill>
                <a:latin typeface="Arial"/>
                <a:ea typeface="Arial"/>
                <a:cs typeface="Arial"/>
              </a:defRPr>
            </a:lvl5pPr>
            <a:lvl6pPr>
              <a:defRPr sz="1125" b="1">
                <a:solidFill>
                  <a:srgbClr val="C9973A"/>
                </a:solidFill>
                <a:latin typeface="Arial"/>
                <a:ea typeface="Arial"/>
                <a:cs typeface="Arial"/>
              </a:defRPr>
            </a:lvl6pPr>
            <a:lvl7pPr>
              <a:defRPr sz="1125" b="1">
                <a:solidFill>
                  <a:srgbClr val="C9973A"/>
                </a:solidFill>
                <a:latin typeface="Arial"/>
                <a:ea typeface="Arial"/>
                <a:cs typeface="Arial"/>
              </a:defRPr>
            </a:lvl7pPr>
            <a:lvl8pPr>
              <a:defRPr sz="1125" b="1">
                <a:solidFill>
                  <a:srgbClr val="C9973A"/>
                </a:solidFill>
                <a:latin typeface="Arial"/>
                <a:ea typeface="Arial"/>
                <a:cs typeface="Arial"/>
              </a:defRPr>
            </a:lvl8pPr>
            <a:lvl9pPr>
              <a:defRPr sz="1125" b="1">
                <a:solidFill>
                  <a:srgbClr val="C9973A"/>
                </a:solidFill>
                <a:latin typeface="Arial"/>
                <a:ea typeface="Arial"/>
                <a:cs typeface="Arial"/>
              </a:defRPr>
            </a:lvl9pPr>
          </a:lstStyle>
          <a:p xmlns:a="http://schemas.openxmlformats.org/drawingml/2006/main">
            <a:pPr>
              <a:defRPr sz="1125" b="1">
                <a:solidFill>
                  <a:srgbClr val="C9973A"/>
                </a:solidFill>
                <a:latin typeface="Arial"/>
                <a:ea typeface="Arial"/>
                <a:cs typeface="Arial"/>
              </a:defRPr>
            </a:pPr>
            <a:r>
              <a:rPr sz="1125" b="1">
                <a:solidFill>
                  <a:srgbClr val="C9973A"/>
                </a:solidFill>
                <a:latin typeface="Arial"/>
                <a:ea typeface="Arial"/>
                <a:cs typeface="Arial"/>
              </a:rPr>
              <a:t>03</a:t>
            </a:r>
          </a:p>
        </p:txBody>
      </p:sp>
      <p:sp>
        <p:nvSpPr>
          <p:cNvPr id="12" name="">
            <a:extLst xmlns:a="http://schemas.openxmlformats.org/drawingml/2006/main">
              <a:ext uri="{FF2B5EF4-FFF2-40B4-BE49-F238E27FC236}">
                <a16:creationId xmlns:a16="http://schemas.microsoft.com/office/drawing/2014/main" id="{35EFC1C3-2BF8-4A9C-9203-763AA1ACFE6C}"/>
              </a:ext>
            </a:extLst>
          </p:cNvPr>
          <p:cNvSpPr>
            <a:spLocks xmlns:a="http://schemas.openxmlformats.org/drawingml/2006/main" noGrp="1"/>
          </p:cNvSpPr>
          <p:nvPr/>
        </p:nvSpPr>
        <p:spPr>
          <a:xfrm xmlns:a="http://schemas.openxmlformats.org/drawingml/2006/main">
            <a:off x="1428750" y="3505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F1E2BE"/>
                </a:solidFill>
                <a:latin typeface="Arial"/>
                <a:ea typeface="Arial"/>
                <a:cs typeface="Arial"/>
              </a:defRPr>
            </a:defPPr>
            <a:lvl1pPr>
              <a:defRPr sz="1275" b="1">
                <a:solidFill>
                  <a:srgbClr val="F1E2BE"/>
                </a:solidFill>
                <a:latin typeface="Arial"/>
                <a:ea typeface="Arial"/>
                <a:cs typeface="Arial"/>
              </a:defRPr>
            </a:lvl1pPr>
            <a:lvl2pPr>
              <a:defRPr sz="1275" b="1">
                <a:solidFill>
                  <a:srgbClr val="F1E2BE"/>
                </a:solidFill>
                <a:latin typeface="Arial"/>
                <a:ea typeface="Arial"/>
                <a:cs typeface="Arial"/>
              </a:defRPr>
            </a:lvl2pPr>
            <a:lvl3pPr>
              <a:defRPr sz="1275" b="1">
                <a:solidFill>
                  <a:srgbClr val="F1E2BE"/>
                </a:solidFill>
                <a:latin typeface="Arial"/>
                <a:ea typeface="Arial"/>
                <a:cs typeface="Arial"/>
              </a:defRPr>
            </a:lvl3pPr>
            <a:lvl4pPr>
              <a:defRPr sz="1275" b="1">
                <a:solidFill>
                  <a:srgbClr val="F1E2BE"/>
                </a:solidFill>
                <a:latin typeface="Arial"/>
                <a:ea typeface="Arial"/>
                <a:cs typeface="Arial"/>
              </a:defRPr>
            </a:lvl4pPr>
            <a:lvl5pPr>
              <a:defRPr sz="1275" b="1">
                <a:solidFill>
                  <a:srgbClr val="F1E2BE"/>
                </a:solidFill>
                <a:latin typeface="Arial"/>
                <a:ea typeface="Arial"/>
                <a:cs typeface="Arial"/>
              </a:defRPr>
            </a:lvl5pPr>
            <a:lvl6pPr>
              <a:defRPr sz="1275" b="1">
                <a:solidFill>
                  <a:srgbClr val="F1E2BE"/>
                </a:solidFill>
                <a:latin typeface="Arial"/>
                <a:ea typeface="Arial"/>
                <a:cs typeface="Arial"/>
              </a:defRPr>
            </a:lvl6pPr>
            <a:lvl7pPr>
              <a:defRPr sz="1275" b="1">
                <a:solidFill>
                  <a:srgbClr val="F1E2BE"/>
                </a:solidFill>
                <a:latin typeface="Arial"/>
                <a:ea typeface="Arial"/>
                <a:cs typeface="Arial"/>
              </a:defRPr>
            </a:lvl7pPr>
            <a:lvl8pPr>
              <a:defRPr sz="1275" b="1">
                <a:solidFill>
                  <a:srgbClr val="F1E2BE"/>
                </a:solidFill>
                <a:latin typeface="Arial"/>
                <a:ea typeface="Arial"/>
                <a:cs typeface="Arial"/>
              </a:defRPr>
            </a:lvl8pPr>
            <a:lvl9pPr>
              <a:defRPr sz="1275" b="1">
                <a:solidFill>
                  <a:srgbClr val="F1E2BE"/>
                </a:solidFill>
                <a:latin typeface="Arial"/>
                <a:ea typeface="Arial"/>
                <a:cs typeface="Arial"/>
              </a:defRPr>
            </a:lvl9pPr>
          </a:lstStyle>
          <a:p xmlns:a="http://schemas.openxmlformats.org/drawingml/2006/main">
            <a:pPr>
              <a:defRPr sz="1275" b="1">
                <a:solidFill>
                  <a:srgbClr val="F1E2BE"/>
                </a:solidFill>
                <a:latin typeface="Arial"/>
                <a:ea typeface="Arial"/>
                <a:cs typeface="Arial"/>
              </a:defRPr>
            </a:pPr>
            <a:r>
              <a:rPr sz="1275" b="1">
                <a:solidFill>
                  <a:srgbClr val="F1E2BE"/>
                </a:solidFill>
                <a:latin typeface="Arial"/>
                <a:ea typeface="Arial"/>
                <a:cs typeface="Arial"/>
              </a:rPr>
              <a:t>NON-NEGOTIABLE</a:t>
            </a:r>
          </a:p>
        </p:txBody>
      </p:sp>
      <p:sp>
        <p:nvSpPr>
          <p:cNvPr id="13" name="">
            <a:extLst xmlns:a="http://schemas.openxmlformats.org/drawingml/2006/main">
              <a:ext uri="{FF2B5EF4-FFF2-40B4-BE49-F238E27FC236}">
                <a16:creationId xmlns:a16="http://schemas.microsoft.com/office/drawing/2014/main" id="{CBA8124A-6BA9-4B3E-960F-627A6275E557}"/>
              </a:ext>
            </a:extLst>
          </p:cNvPr>
          <p:cNvSpPr>
            <a:spLocks xmlns:a="http://schemas.openxmlformats.org/drawingml/2006/main" noGrp="1"/>
          </p:cNvSpPr>
          <p:nvPr/>
        </p:nvSpPr>
        <p:spPr>
          <a:xfrm xmlns:a="http://schemas.openxmlformats.org/drawingml/2006/main">
            <a:off x="3429000" y="3476625"/>
            <a:ext cx="742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a:solidFill>
                  <a:srgbClr val="FFFEFB"/>
                </a:solidFill>
                <a:latin typeface="Arial"/>
                <a:ea typeface="Arial"/>
                <a:cs typeface="Arial"/>
              </a:defRPr>
            </a:defPPr>
            <a:lvl1pPr>
              <a:defRPr sz="1575">
                <a:solidFill>
                  <a:srgbClr val="FFFEFB"/>
                </a:solidFill>
                <a:latin typeface="Arial"/>
                <a:ea typeface="Arial"/>
                <a:cs typeface="Arial"/>
              </a:defRPr>
            </a:lvl1pPr>
            <a:lvl2pPr>
              <a:defRPr sz="1575">
                <a:solidFill>
                  <a:srgbClr val="FFFEFB"/>
                </a:solidFill>
                <a:latin typeface="Arial"/>
                <a:ea typeface="Arial"/>
                <a:cs typeface="Arial"/>
              </a:defRPr>
            </a:lvl2pPr>
            <a:lvl3pPr>
              <a:defRPr sz="1575">
                <a:solidFill>
                  <a:srgbClr val="FFFEFB"/>
                </a:solidFill>
                <a:latin typeface="Arial"/>
                <a:ea typeface="Arial"/>
                <a:cs typeface="Arial"/>
              </a:defRPr>
            </a:lvl3pPr>
            <a:lvl4pPr>
              <a:defRPr sz="1575">
                <a:solidFill>
                  <a:srgbClr val="FFFEFB"/>
                </a:solidFill>
                <a:latin typeface="Arial"/>
                <a:ea typeface="Arial"/>
                <a:cs typeface="Arial"/>
              </a:defRPr>
            </a:lvl4pPr>
            <a:lvl5pPr>
              <a:defRPr sz="1575">
                <a:solidFill>
                  <a:srgbClr val="FFFEFB"/>
                </a:solidFill>
                <a:latin typeface="Arial"/>
                <a:ea typeface="Arial"/>
                <a:cs typeface="Arial"/>
              </a:defRPr>
            </a:lvl5pPr>
            <a:lvl6pPr>
              <a:defRPr sz="1575">
                <a:solidFill>
                  <a:srgbClr val="FFFEFB"/>
                </a:solidFill>
                <a:latin typeface="Arial"/>
                <a:ea typeface="Arial"/>
                <a:cs typeface="Arial"/>
              </a:defRPr>
            </a:lvl6pPr>
            <a:lvl7pPr>
              <a:defRPr sz="1575">
                <a:solidFill>
                  <a:srgbClr val="FFFEFB"/>
                </a:solidFill>
                <a:latin typeface="Arial"/>
                <a:ea typeface="Arial"/>
                <a:cs typeface="Arial"/>
              </a:defRPr>
            </a:lvl7pPr>
            <a:lvl8pPr>
              <a:defRPr sz="1575">
                <a:solidFill>
                  <a:srgbClr val="FFFEFB"/>
                </a:solidFill>
                <a:latin typeface="Arial"/>
                <a:ea typeface="Arial"/>
                <a:cs typeface="Arial"/>
              </a:defRPr>
            </a:lvl8pPr>
            <a:lvl9pPr>
              <a:defRPr sz="1575">
                <a:solidFill>
                  <a:srgbClr val="FFFEFB"/>
                </a:solidFill>
                <a:latin typeface="Arial"/>
                <a:ea typeface="Arial"/>
                <a:cs typeface="Arial"/>
              </a:defRPr>
            </a:lvl9pPr>
          </a:lstStyle>
          <a:p xmlns:a="http://schemas.openxmlformats.org/drawingml/2006/main">
            <a:pPr>
              <a:defRPr sz="1575">
                <a:solidFill>
                  <a:srgbClr val="FFFEFB"/>
                </a:solidFill>
                <a:latin typeface="Arial"/>
                <a:ea typeface="Arial"/>
                <a:cs typeface="Arial"/>
              </a:defRPr>
            </a:pPr>
            <a:r>
              <a:rPr sz="1575">
                <a:solidFill>
                  <a:srgbClr val="FFFEFB"/>
                </a:solidFill>
                <a:latin typeface="Arial"/>
                <a:ea typeface="Arial"/>
                <a:cs typeface="Arial"/>
              </a:rPr>
              <a:t>Stress testing and ES attribution alongside daily VaR</a:t>
            </a:r>
          </a:p>
        </p:txBody>
      </p:sp>
      <p:sp>
        <p:nvSpPr>
          <p:cNvPr id="14" name="">
            <a:extLst xmlns:a="http://schemas.openxmlformats.org/drawingml/2006/main">
              <a:ext uri="{FF2B5EF4-FFF2-40B4-BE49-F238E27FC236}">
                <a16:creationId xmlns:a16="http://schemas.microsoft.com/office/drawing/2014/main" id="{81E6E11B-1FCD-4B7C-999E-C9EB642347FE}"/>
              </a:ext>
            </a:extLst>
          </p:cNvPr>
          <p:cNvSpPr>
            <a:spLocks xmlns:a="http://schemas.openxmlformats.org/drawingml/2006/main" noGrp="1"/>
          </p:cNvSpPr>
          <p:nvPr/>
        </p:nvSpPr>
        <p:spPr>
          <a:xfrm xmlns:a="http://schemas.openxmlformats.org/drawingml/2006/main">
            <a:off x="1428750" y="4067175"/>
            <a:ext cx="9429750" cy="9525"/>
          </a:xfrm>
          <a:prstGeom xmlns:a="http://schemas.openxmlformats.org/drawingml/2006/main" prst="rect">
            <a:avLst/>
          </a:prstGeom>
          <a:solidFill xmlns:a="http://schemas.openxmlformats.org/drawingml/2006/main">
            <a:srgbClr val="33444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54F7BA8-F5BE-445D-8E9C-1EC713D7340F}"/>
              </a:ext>
            </a:extLst>
          </p:cNvPr>
          <p:cNvSpPr>
            <a:spLocks xmlns:a="http://schemas.openxmlformats.org/drawingml/2006/main" noGrp="1"/>
          </p:cNvSpPr>
          <p:nvPr/>
        </p:nvSpPr>
        <p:spPr>
          <a:xfrm xmlns:a="http://schemas.openxmlformats.org/drawingml/2006/main">
            <a:off x="762000" y="4495800"/>
            <a:ext cx="47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b="1">
                <a:solidFill>
                  <a:srgbClr val="C9973A"/>
                </a:solidFill>
                <a:latin typeface="Arial"/>
                <a:ea typeface="Arial"/>
                <a:cs typeface="Arial"/>
              </a:defRPr>
            </a:defPPr>
            <a:lvl1pPr>
              <a:defRPr sz="1125" b="1">
                <a:solidFill>
                  <a:srgbClr val="C9973A"/>
                </a:solidFill>
                <a:latin typeface="Arial"/>
                <a:ea typeface="Arial"/>
                <a:cs typeface="Arial"/>
              </a:defRPr>
            </a:lvl1pPr>
            <a:lvl2pPr>
              <a:defRPr sz="1125" b="1">
                <a:solidFill>
                  <a:srgbClr val="C9973A"/>
                </a:solidFill>
                <a:latin typeface="Arial"/>
                <a:ea typeface="Arial"/>
                <a:cs typeface="Arial"/>
              </a:defRPr>
            </a:lvl2pPr>
            <a:lvl3pPr>
              <a:defRPr sz="1125" b="1">
                <a:solidFill>
                  <a:srgbClr val="C9973A"/>
                </a:solidFill>
                <a:latin typeface="Arial"/>
                <a:ea typeface="Arial"/>
                <a:cs typeface="Arial"/>
              </a:defRPr>
            </a:lvl3pPr>
            <a:lvl4pPr>
              <a:defRPr sz="1125" b="1">
                <a:solidFill>
                  <a:srgbClr val="C9973A"/>
                </a:solidFill>
                <a:latin typeface="Arial"/>
                <a:ea typeface="Arial"/>
                <a:cs typeface="Arial"/>
              </a:defRPr>
            </a:lvl4pPr>
            <a:lvl5pPr>
              <a:defRPr sz="1125" b="1">
                <a:solidFill>
                  <a:srgbClr val="C9973A"/>
                </a:solidFill>
                <a:latin typeface="Arial"/>
                <a:ea typeface="Arial"/>
                <a:cs typeface="Arial"/>
              </a:defRPr>
            </a:lvl5pPr>
            <a:lvl6pPr>
              <a:defRPr sz="1125" b="1">
                <a:solidFill>
                  <a:srgbClr val="C9973A"/>
                </a:solidFill>
                <a:latin typeface="Arial"/>
                <a:ea typeface="Arial"/>
                <a:cs typeface="Arial"/>
              </a:defRPr>
            </a:lvl6pPr>
            <a:lvl7pPr>
              <a:defRPr sz="1125" b="1">
                <a:solidFill>
                  <a:srgbClr val="C9973A"/>
                </a:solidFill>
                <a:latin typeface="Arial"/>
                <a:ea typeface="Arial"/>
                <a:cs typeface="Arial"/>
              </a:defRPr>
            </a:lvl7pPr>
            <a:lvl8pPr>
              <a:defRPr sz="1125" b="1">
                <a:solidFill>
                  <a:srgbClr val="C9973A"/>
                </a:solidFill>
                <a:latin typeface="Arial"/>
                <a:ea typeface="Arial"/>
                <a:cs typeface="Arial"/>
              </a:defRPr>
            </a:lvl8pPr>
            <a:lvl9pPr>
              <a:defRPr sz="1125" b="1">
                <a:solidFill>
                  <a:srgbClr val="C9973A"/>
                </a:solidFill>
                <a:latin typeface="Arial"/>
                <a:ea typeface="Arial"/>
                <a:cs typeface="Arial"/>
              </a:defRPr>
            </a:lvl9pPr>
          </a:lstStyle>
          <a:p xmlns:a="http://schemas.openxmlformats.org/drawingml/2006/main">
            <a:pPr>
              <a:defRPr sz="1125" b="1">
                <a:solidFill>
                  <a:srgbClr val="C9973A"/>
                </a:solidFill>
                <a:latin typeface="Arial"/>
                <a:ea typeface="Arial"/>
                <a:cs typeface="Arial"/>
              </a:defRPr>
            </a:pPr>
            <a:r>
              <a:rPr sz="1125" b="1">
                <a:solidFill>
                  <a:srgbClr val="C9973A"/>
                </a:solidFill>
                <a:latin typeface="Arial"/>
                <a:ea typeface="Arial"/>
                <a:cs typeface="Arial"/>
              </a:rPr>
              <a:t>04</a:t>
            </a:r>
          </a:p>
        </p:txBody>
      </p:sp>
      <p:sp>
        <p:nvSpPr>
          <p:cNvPr id="16" name="">
            <a:extLst xmlns:a="http://schemas.openxmlformats.org/drawingml/2006/main">
              <a:ext uri="{FF2B5EF4-FFF2-40B4-BE49-F238E27FC236}">
                <a16:creationId xmlns:a16="http://schemas.microsoft.com/office/drawing/2014/main" id="{2E50FB96-D248-49B9-AE08-B6913B1B17A2}"/>
              </a:ext>
            </a:extLst>
          </p:cNvPr>
          <p:cNvSpPr>
            <a:spLocks xmlns:a="http://schemas.openxmlformats.org/drawingml/2006/main" noGrp="1"/>
          </p:cNvSpPr>
          <p:nvPr/>
        </p:nvSpPr>
        <p:spPr>
          <a:xfrm xmlns:a="http://schemas.openxmlformats.org/drawingml/2006/main">
            <a:off x="1428750" y="44767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F1E2BE"/>
                </a:solidFill>
                <a:latin typeface="Arial"/>
                <a:ea typeface="Arial"/>
                <a:cs typeface="Arial"/>
              </a:defRPr>
            </a:defPPr>
            <a:lvl1pPr>
              <a:defRPr sz="1275" b="1">
                <a:solidFill>
                  <a:srgbClr val="F1E2BE"/>
                </a:solidFill>
                <a:latin typeface="Arial"/>
                <a:ea typeface="Arial"/>
                <a:cs typeface="Arial"/>
              </a:defRPr>
            </a:lvl1pPr>
            <a:lvl2pPr>
              <a:defRPr sz="1275" b="1">
                <a:solidFill>
                  <a:srgbClr val="F1E2BE"/>
                </a:solidFill>
                <a:latin typeface="Arial"/>
                <a:ea typeface="Arial"/>
                <a:cs typeface="Arial"/>
              </a:defRPr>
            </a:lvl2pPr>
            <a:lvl3pPr>
              <a:defRPr sz="1275" b="1">
                <a:solidFill>
                  <a:srgbClr val="F1E2BE"/>
                </a:solidFill>
                <a:latin typeface="Arial"/>
                <a:ea typeface="Arial"/>
                <a:cs typeface="Arial"/>
              </a:defRPr>
            </a:lvl3pPr>
            <a:lvl4pPr>
              <a:defRPr sz="1275" b="1">
                <a:solidFill>
                  <a:srgbClr val="F1E2BE"/>
                </a:solidFill>
                <a:latin typeface="Arial"/>
                <a:ea typeface="Arial"/>
                <a:cs typeface="Arial"/>
              </a:defRPr>
            </a:lvl4pPr>
            <a:lvl5pPr>
              <a:defRPr sz="1275" b="1">
                <a:solidFill>
                  <a:srgbClr val="F1E2BE"/>
                </a:solidFill>
                <a:latin typeface="Arial"/>
                <a:ea typeface="Arial"/>
                <a:cs typeface="Arial"/>
              </a:defRPr>
            </a:lvl5pPr>
            <a:lvl6pPr>
              <a:defRPr sz="1275" b="1">
                <a:solidFill>
                  <a:srgbClr val="F1E2BE"/>
                </a:solidFill>
                <a:latin typeface="Arial"/>
                <a:ea typeface="Arial"/>
                <a:cs typeface="Arial"/>
              </a:defRPr>
            </a:lvl6pPr>
            <a:lvl7pPr>
              <a:defRPr sz="1275" b="1">
                <a:solidFill>
                  <a:srgbClr val="F1E2BE"/>
                </a:solidFill>
                <a:latin typeface="Arial"/>
                <a:ea typeface="Arial"/>
                <a:cs typeface="Arial"/>
              </a:defRPr>
            </a:lvl7pPr>
            <a:lvl8pPr>
              <a:defRPr sz="1275" b="1">
                <a:solidFill>
                  <a:srgbClr val="F1E2BE"/>
                </a:solidFill>
                <a:latin typeface="Arial"/>
                <a:ea typeface="Arial"/>
                <a:cs typeface="Arial"/>
              </a:defRPr>
            </a:lvl8pPr>
            <a:lvl9pPr>
              <a:defRPr sz="1275" b="1">
                <a:solidFill>
                  <a:srgbClr val="F1E2BE"/>
                </a:solidFill>
                <a:latin typeface="Arial"/>
                <a:ea typeface="Arial"/>
                <a:cs typeface="Arial"/>
              </a:defRPr>
            </a:lvl9pPr>
          </a:lstStyle>
          <a:p xmlns:a="http://schemas.openxmlformats.org/drawingml/2006/main">
            <a:pPr>
              <a:defRPr sz="1275" b="1">
                <a:solidFill>
                  <a:srgbClr val="F1E2BE"/>
                </a:solidFill>
                <a:latin typeface="Arial"/>
                <a:ea typeface="Arial"/>
                <a:cs typeface="Arial"/>
              </a:defRPr>
            </a:pPr>
            <a:r>
              <a:rPr sz="1275" b="1">
                <a:solidFill>
                  <a:srgbClr val="F1E2BE"/>
                </a:solidFill>
                <a:latin typeface="Arial"/>
                <a:ea typeface="Arial"/>
                <a:cs typeface="Arial"/>
              </a:rPr>
              <a:t>GOVERNANCE</a:t>
            </a:r>
          </a:p>
        </p:txBody>
      </p:sp>
      <p:sp>
        <p:nvSpPr>
          <p:cNvPr id="17" name="">
            <a:extLst xmlns:a="http://schemas.openxmlformats.org/drawingml/2006/main">
              <a:ext uri="{FF2B5EF4-FFF2-40B4-BE49-F238E27FC236}">
                <a16:creationId xmlns:a16="http://schemas.microsoft.com/office/drawing/2014/main" id="{847857A1-6E57-41F0-8BFD-017B6C203C01}"/>
              </a:ext>
            </a:extLst>
          </p:cNvPr>
          <p:cNvSpPr>
            <a:spLocks xmlns:a="http://schemas.openxmlformats.org/drawingml/2006/main" noGrp="1"/>
          </p:cNvSpPr>
          <p:nvPr/>
        </p:nvSpPr>
        <p:spPr>
          <a:xfrm xmlns:a="http://schemas.openxmlformats.org/drawingml/2006/main">
            <a:off x="3429000" y="4448175"/>
            <a:ext cx="742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a:solidFill>
                  <a:srgbClr val="FFFEFB"/>
                </a:solidFill>
                <a:latin typeface="Arial"/>
                <a:ea typeface="Arial"/>
                <a:cs typeface="Arial"/>
              </a:defRPr>
            </a:defPPr>
            <a:lvl1pPr>
              <a:defRPr sz="1575">
                <a:solidFill>
                  <a:srgbClr val="FFFEFB"/>
                </a:solidFill>
                <a:latin typeface="Arial"/>
                <a:ea typeface="Arial"/>
                <a:cs typeface="Arial"/>
              </a:defRPr>
            </a:lvl1pPr>
            <a:lvl2pPr>
              <a:defRPr sz="1575">
                <a:solidFill>
                  <a:srgbClr val="FFFEFB"/>
                </a:solidFill>
                <a:latin typeface="Arial"/>
                <a:ea typeface="Arial"/>
                <a:cs typeface="Arial"/>
              </a:defRPr>
            </a:lvl2pPr>
            <a:lvl3pPr>
              <a:defRPr sz="1575">
                <a:solidFill>
                  <a:srgbClr val="FFFEFB"/>
                </a:solidFill>
                <a:latin typeface="Arial"/>
                <a:ea typeface="Arial"/>
                <a:cs typeface="Arial"/>
              </a:defRPr>
            </a:lvl3pPr>
            <a:lvl4pPr>
              <a:defRPr sz="1575">
                <a:solidFill>
                  <a:srgbClr val="FFFEFB"/>
                </a:solidFill>
                <a:latin typeface="Arial"/>
                <a:ea typeface="Arial"/>
                <a:cs typeface="Arial"/>
              </a:defRPr>
            </a:lvl4pPr>
            <a:lvl5pPr>
              <a:defRPr sz="1575">
                <a:solidFill>
                  <a:srgbClr val="FFFEFB"/>
                </a:solidFill>
                <a:latin typeface="Arial"/>
                <a:ea typeface="Arial"/>
                <a:cs typeface="Arial"/>
              </a:defRPr>
            </a:lvl5pPr>
            <a:lvl6pPr>
              <a:defRPr sz="1575">
                <a:solidFill>
                  <a:srgbClr val="FFFEFB"/>
                </a:solidFill>
                <a:latin typeface="Arial"/>
                <a:ea typeface="Arial"/>
                <a:cs typeface="Arial"/>
              </a:defRPr>
            </a:lvl6pPr>
            <a:lvl7pPr>
              <a:defRPr sz="1575">
                <a:solidFill>
                  <a:srgbClr val="FFFEFB"/>
                </a:solidFill>
                <a:latin typeface="Arial"/>
                <a:ea typeface="Arial"/>
                <a:cs typeface="Arial"/>
              </a:defRPr>
            </a:lvl7pPr>
            <a:lvl8pPr>
              <a:defRPr sz="1575">
                <a:solidFill>
                  <a:srgbClr val="FFFEFB"/>
                </a:solidFill>
                <a:latin typeface="Arial"/>
                <a:ea typeface="Arial"/>
                <a:cs typeface="Arial"/>
              </a:defRPr>
            </a:lvl8pPr>
            <a:lvl9pPr>
              <a:defRPr sz="1575">
                <a:solidFill>
                  <a:srgbClr val="FFFEFB"/>
                </a:solidFill>
                <a:latin typeface="Arial"/>
                <a:ea typeface="Arial"/>
                <a:cs typeface="Arial"/>
              </a:defRPr>
            </a:lvl9pPr>
          </a:lstStyle>
          <a:p xmlns:a="http://schemas.openxmlformats.org/drawingml/2006/main">
            <a:pPr>
              <a:defRPr sz="1575">
                <a:solidFill>
                  <a:srgbClr val="FFFEFB"/>
                </a:solidFill>
                <a:latin typeface="Arial"/>
                <a:ea typeface="Arial"/>
                <a:cs typeface="Arial"/>
              </a:defRPr>
            </a:pPr>
            <a:r>
              <a:rPr sz="1575">
                <a:solidFill>
                  <a:srgbClr val="FFFEFB"/>
                </a:solidFill>
                <a:latin typeface="Arial"/>
                <a:ea typeface="Arial"/>
                <a:cs typeface="Arial"/>
              </a:rPr>
              <a:t>Named thresholds, owners, exception review and audit trail</a:t>
            </a:r>
          </a:p>
        </p:txBody>
      </p:sp>
      <p:sp>
        <p:nvSpPr>
          <p:cNvPr id="18" name="">
            <a:extLst xmlns:a="http://schemas.openxmlformats.org/drawingml/2006/main">
              <a:ext uri="{FF2B5EF4-FFF2-40B4-BE49-F238E27FC236}">
                <a16:creationId xmlns:a16="http://schemas.microsoft.com/office/drawing/2014/main" id="{FEFD3159-2108-4F84-BA0E-3BD9F3C2002C}"/>
              </a:ext>
            </a:extLst>
          </p:cNvPr>
          <p:cNvSpPr>
            <a:spLocks xmlns:a="http://schemas.openxmlformats.org/drawingml/2006/main" noGrp="1"/>
          </p:cNvSpPr>
          <p:nvPr/>
        </p:nvSpPr>
        <p:spPr>
          <a:xfrm xmlns:a="http://schemas.openxmlformats.org/drawingml/2006/main">
            <a:off x="1428750" y="5038725"/>
            <a:ext cx="9429750" cy="9525"/>
          </a:xfrm>
          <a:prstGeom xmlns:a="http://schemas.openxmlformats.org/drawingml/2006/main" prst="rect">
            <a:avLst/>
          </a:prstGeom>
          <a:solidFill xmlns:a="http://schemas.openxmlformats.org/drawingml/2006/main">
            <a:srgbClr val="334443"/>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3782AA6-EEEA-41D1-AA2D-E0F878B67097}"/>
              </a:ext>
            </a:extLst>
          </p:cNvPr>
          <p:cNvSpPr>
            <a:spLocks xmlns:a="http://schemas.openxmlformats.org/drawingml/2006/main" noGrp="1"/>
          </p:cNvSpPr>
          <p:nvPr/>
        </p:nvSpPr>
        <p:spPr>
          <a:xfrm xmlns:a="http://schemas.openxmlformats.org/drawingml/2006/main">
            <a:off x="685800" y="56197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25" b="1">
                <a:solidFill>
                  <a:srgbClr val="C9973A"/>
                </a:solidFill>
                <a:latin typeface="Arial"/>
                <a:ea typeface="Arial"/>
                <a:cs typeface="Arial"/>
              </a:defRPr>
            </a:defPPr>
            <a:lvl1pPr>
              <a:defRPr sz="1125" b="1">
                <a:solidFill>
                  <a:srgbClr val="C9973A"/>
                </a:solidFill>
                <a:latin typeface="Arial"/>
                <a:ea typeface="Arial"/>
                <a:cs typeface="Arial"/>
              </a:defRPr>
            </a:lvl1pPr>
            <a:lvl2pPr>
              <a:defRPr sz="1125" b="1">
                <a:solidFill>
                  <a:srgbClr val="C9973A"/>
                </a:solidFill>
                <a:latin typeface="Arial"/>
                <a:ea typeface="Arial"/>
                <a:cs typeface="Arial"/>
              </a:defRPr>
            </a:lvl2pPr>
            <a:lvl3pPr>
              <a:defRPr sz="1125" b="1">
                <a:solidFill>
                  <a:srgbClr val="C9973A"/>
                </a:solidFill>
                <a:latin typeface="Arial"/>
                <a:ea typeface="Arial"/>
                <a:cs typeface="Arial"/>
              </a:defRPr>
            </a:lvl3pPr>
            <a:lvl4pPr>
              <a:defRPr sz="1125" b="1">
                <a:solidFill>
                  <a:srgbClr val="C9973A"/>
                </a:solidFill>
                <a:latin typeface="Arial"/>
                <a:ea typeface="Arial"/>
                <a:cs typeface="Arial"/>
              </a:defRPr>
            </a:lvl4pPr>
            <a:lvl5pPr>
              <a:defRPr sz="1125" b="1">
                <a:solidFill>
                  <a:srgbClr val="C9973A"/>
                </a:solidFill>
                <a:latin typeface="Arial"/>
                <a:ea typeface="Arial"/>
                <a:cs typeface="Arial"/>
              </a:defRPr>
            </a:lvl5pPr>
            <a:lvl6pPr>
              <a:defRPr sz="1125" b="1">
                <a:solidFill>
                  <a:srgbClr val="C9973A"/>
                </a:solidFill>
                <a:latin typeface="Arial"/>
                <a:ea typeface="Arial"/>
                <a:cs typeface="Arial"/>
              </a:defRPr>
            </a:lvl6pPr>
            <a:lvl7pPr>
              <a:defRPr sz="1125" b="1">
                <a:solidFill>
                  <a:srgbClr val="C9973A"/>
                </a:solidFill>
                <a:latin typeface="Arial"/>
                <a:ea typeface="Arial"/>
                <a:cs typeface="Arial"/>
              </a:defRPr>
            </a:lvl7pPr>
            <a:lvl8pPr>
              <a:defRPr sz="1125" b="1">
                <a:solidFill>
                  <a:srgbClr val="C9973A"/>
                </a:solidFill>
                <a:latin typeface="Arial"/>
                <a:ea typeface="Arial"/>
                <a:cs typeface="Arial"/>
              </a:defRPr>
            </a:lvl8pPr>
            <a:lvl9pPr>
              <a:defRPr sz="1125" b="1">
                <a:solidFill>
                  <a:srgbClr val="C9973A"/>
                </a:solidFill>
                <a:latin typeface="Arial"/>
                <a:ea typeface="Arial"/>
                <a:cs typeface="Arial"/>
              </a:defRPr>
            </a:lvl9pPr>
          </a:lstStyle>
          <a:p xmlns:a="http://schemas.openxmlformats.org/drawingml/2006/main">
            <a:pPr>
              <a:defRPr sz="1125" b="1">
                <a:solidFill>
                  <a:srgbClr val="C9973A"/>
                </a:solidFill>
                <a:latin typeface="Arial"/>
                <a:ea typeface="Arial"/>
                <a:cs typeface="Arial"/>
              </a:defRPr>
            </a:pPr>
            <a:r>
              <a:rPr sz="1125" b="1">
                <a:solidFill>
                  <a:srgbClr val="C9973A"/>
                </a:solidFill>
                <a:latin typeface="Arial"/>
                <a:ea typeface="Arial"/>
                <a:cs typeface="Arial"/>
              </a:rPr>
              <a:t>Immediate committee decisions</a:t>
            </a:r>
          </a:p>
        </p:txBody>
      </p:sp>
      <p:sp>
        <p:nvSpPr>
          <p:cNvPr id="20" name="">
            <a:extLst xmlns:a="http://schemas.openxmlformats.org/drawingml/2006/main">
              <a:ext uri="{FF2B5EF4-FFF2-40B4-BE49-F238E27FC236}">
                <a16:creationId xmlns:a16="http://schemas.microsoft.com/office/drawing/2014/main" id="{45A04851-4BEA-40D3-AEF5-DAABBFEA1C14}"/>
              </a:ext>
            </a:extLst>
          </p:cNvPr>
          <p:cNvSpPr>
            <a:spLocks xmlns:a="http://schemas.openxmlformats.org/drawingml/2006/main" noGrp="1"/>
          </p:cNvSpPr>
          <p:nvPr/>
        </p:nvSpPr>
        <p:spPr>
          <a:xfrm xmlns:a="http://schemas.openxmlformats.org/drawingml/2006/main">
            <a:off x="3429000" y="5514975"/>
            <a:ext cx="7620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a:solidFill>
                  <a:srgbClr val="DDE9E4"/>
                </a:solidFill>
                <a:latin typeface="Arial"/>
                <a:ea typeface="Arial"/>
                <a:cs typeface="Arial"/>
              </a:defRPr>
            </a:defPPr>
            <a:lvl1pPr>
              <a:defRPr sz="1350">
                <a:solidFill>
                  <a:srgbClr val="DDE9E4"/>
                </a:solidFill>
                <a:latin typeface="Arial"/>
                <a:ea typeface="Arial"/>
                <a:cs typeface="Arial"/>
              </a:defRPr>
            </a:lvl1pPr>
            <a:lvl2pPr>
              <a:defRPr sz="1350">
                <a:solidFill>
                  <a:srgbClr val="DDE9E4"/>
                </a:solidFill>
                <a:latin typeface="Arial"/>
                <a:ea typeface="Arial"/>
                <a:cs typeface="Arial"/>
              </a:defRPr>
            </a:lvl2pPr>
            <a:lvl3pPr>
              <a:defRPr sz="1350">
                <a:solidFill>
                  <a:srgbClr val="DDE9E4"/>
                </a:solidFill>
                <a:latin typeface="Arial"/>
                <a:ea typeface="Arial"/>
                <a:cs typeface="Arial"/>
              </a:defRPr>
            </a:lvl3pPr>
            <a:lvl4pPr>
              <a:defRPr sz="1350">
                <a:solidFill>
                  <a:srgbClr val="DDE9E4"/>
                </a:solidFill>
                <a:latin typeface="Arial"/>
                <a:ea typeface="Arial"/>
                <a:cs typeface="Arial"/>
              </a:defRPr>
            </a:lvl4pPr>
            <a:lvl5pPr>
              <a:defRPr sz="1350">
                <a:solidFill>
                  <a:srgbClr val="DDE9E4"/>
                </a:solidFill>
                <a:latin typeface="Arial"/>
                <a:ea typeface="Arial"/>
                <a:cs typeface="Arial"/>
              </a:defRPr>
            </a:lvl5pPr>
            <a:lvl6pPr>
              <a:defRPr sz="1350">
                <a:solidFill>
                  <a:srgbClr val="DDE9E4"/>
                </a:solidFill>
                <a:latin typeface="Arial"/>
                <a:ea typeface="Arial"/>
                <a:cs typeface="Arial"/>
              </a:defRPr>
            </a:lvl6pPr>
            <a:lvl7pPr>
              <a:defRPr sz="1350">
                <a:solidFill>
                  <a:srgbClr val="DDE9E4"/>
                </a:solidFill>
                <a:latin typeface="Arial"/>
                <a:ea typeface="Arial"/>
                <a:cs typeface="Arial"/>
              </a:defRPr>
            </a:lvl7pPr>
            <a:lvl8pPr>
              <a:defRPr sz="1350">
                <a:solidFill>
                  <a:srgbClr val="DDE9E4"/>
                </a:solidFill>
                <a:latin typeface="Arial"/>
                <a:ea typeface="Arial"/>
                <a:cs typeface="Arial"/>
              </a:defRPr>
            </a:lvl8pPr>
            <a:lvl9pPr>
              <a:defRPr sz="1350">
                <a:solidFill>
                  <a:srgbClr val="DDE9E4"/>
                </a:solidFill>
                <a:latin typeface="Arial"/>
                <a:ea typeface="Arial"/>
                <a:cs typeface="Arial"/>
              </a:defRPr>
            </a:lvl9pPr>
          </a:lstStyle>
          <a:p xmlns:a="http://schemas.openxmlformats.org/drawingml/2006/main">
            <a:pPr>
              <a:defRPr sz="1350">
                <a:solidFill>
                  <a:srgbClr val="DDE9E4"/>
                </a:solidFill>
                <a:latin typeface="Arial"/>
                <a:ea typeface="Arial"/>
                <a:cs typeface="Arial"/>
              </a:defRPr>
            </a:pPr>
            <a:r>
              <a:rPr sz="1350">
                <a:solidFill>
                  <a:srgbClr val="DDE9E4"/>
                </a:solidFill>
                <a:latin typeface="Arial"/>
                <a:ea typeface="Arial"/>
                <a:cs typeface="Arial"/>
              </a:rPr>
              <a:t>Approve the model hierarchy and limits; decide whether the 44.1% stress loss and 19.9% TSLA ES share require hedging, reduction, or explicit risk acceptance.</a:t>
            </a:r>
          </a:p>
        </p:txBody>
      </p:sp>
      <p:sp>
        <p:nvSpPr>
          <p:cNvPr id="21" name="">
            <a:extLst xmlns:a="http://schemas.openxmlformats.org/drawingml/2006/main">
              <a:ext uri="{FF2B5EF4-FFF2-40B4-BE49-F238E27FC236}">
                <a16:creationId xmlns:a16="http://schemas.microsoft.com/office/drawing/2014/main" id="{5A771EFD-06EA-47B6-840E-F686AE6FCBBD}"/>
              </a:ext>
            </a:extLst>
          </p:cNvPr>
          <p:cNvSpPr>
            <a:spLocks xmlns:a="http://schemas.openxmlformats.org/drawingml/2006/main" noGrp="1"/>
          </p:cNvSpPr>
          <p:nvPr/>
        </p:nvSpPr>
        <p:spPr>
          <a:xfrm xmlns:a="http://schemas.openxmlformats.org/drawingml/2006/main">
            <a:off x="685800" y="6362700"/>
            <a:ext cx="10972800" cy="9525"/>
          </a:xfrm>
          <a:prstGeom xmlns:a="http://schemas.openxmlformats.org/drawingml/2006/main" prst="rect">
            <a:avLst/>
          </a:prstGeom>
          <a:solidFill xmlns:a="http://schemas.openxmlformats.org/drawingml/2006/main">
            <a:srgbClr val="33444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C3189BB-D420-43B7-869E-D99F09DC96B5}"/>
              </a:ext>
            </a:extLst>
          </p:cNvPr>
          <p:cNvSpPr>
            <a:spLocks xmlns:a="http://schemas.openxmlformats.org/drawingml/2006/main" noGrp="1"/>
          </p:cNvSpPr>
          <p:nvPr/>
        </p:nvSpPr>
        <p:spPr>
          <a:xfrm xmlns:a="http://schemas.openxmlformats.org/drawingml/2006/main">
            <a:off x="685800" y="6429375"/>
            <a:ext cx="990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75">
                <a:solidFill>
                  <a:srgbClr val="A9B7B2"/>
                </a:solidFill>
                <a:latin typeface="Arial"/>
                <a:ea typeface="Arial"/>
                <a:cs typeface="Arial"/>
              </a:defRPr>
            </a:defPPr>
            <a:lvl1pPr>
              <a:defRPr sz="675">
                <a:solidFill>
                  <a:srgbClr val="A9B7B2"/>
                </a:solidFill>
                <a:latin typeface="Arial"/>
                <a:ea typeface="Arial"/>
                <a:cs typeface="Arial"/>
              </a:defRPr>
            </a:lvl1pPr>
            <a:lvl2pPr>
              <a:defRPr sz="675">
                <a:solidFill>
                  <a:srgbClr val="A9B7B2"/>
                </a:solidFill>
                <a:latin typeface="Arial"/>
                <a:ea typeface="Arial"/>
                <a:cs typeface="Arial"/>
              </a:defRPr>
            </a:lvl2pPr>
            <a:lvl3pPr>
              <a:defRPr sz="675">
                <a:solidFill>
                  <a:srgbClr val="A9B7B2"/>
                </a:solidFill>
                <a:latin typeface="Arial"/>
                <a:ea typeface="Arial"/>
                <a:cs typeface="Arial"/>
              </a:defRPr>
            </a:lvl3pPr>
            <a:lvl4pPr>
              <a:defRPr sz="675">
                <a:solidFill>
                  <a:srgbClr val="A9B7B2"/>
                </a:solidFill>
                <a:latin typeface="Arial"/>
                <a:ea typeface="Arial"/>
                <a:cs typeface="Arial"/>
              </a:defRPr>
            </a:lvl4pPr>
            <a:lvl5pPr>
              <a:defRPr sz="675">
                <a:solidFill>
                  <a:srgbClr val="A9B7B2"/>
                </a:solidFill>
                <a:latin typeface="Arial"/>
                <a:ea typeface="Arial"/>
                <a:cs typeface="Arial"/>
              </a:defRPr>
            </a:lvl5pPr>
            <a:lvl6pPr>
              <a:defRPr sz="675">
                <a:solidFill>
                  <a:srgbClr val="A9B7B2"/>
                </a:solidFill>
                <a:latin typeface="Arial"/>
                <a:ea typeface="Arial"/>
                <a:cs typeface="Arial"/>
              </a:defRPr>
            </a:lvl6pPr>
            <a:lvl7pPr>
              <a:defRPr sz="675">
                <a:solidFill>
                  <a:srgbClr val="A9B7B2"/>
                </a:solidFill>
                <a:latin typeface="Arial"/>
                <a:ea typeface="Arial"/>
                <a:cs typeface="Arial"/>
              </a:defRPr>
            </a:lvl7pPr>
            <a:lvl8pPr>
              <a:defRPr sz="675">
                <a:solidFill>
                  <a:srgbClr val="A9B7B2"/>
                </a:solidFill>
                <a:latin typeface="Arial"/>
                <a:ea typeface="Arial"/>
                <a:cs typeface="Arial"/>
              </a:defRPr>
            </a:lvl8pPr>
            <a:lvl9pPr>
              <a:defRPr sz="675">
                <a:solidFill>
                  <a:srgbClr val="A9B7B2"/>
                </a:solidFill>
                <a:latin typeface="Arial"/>
                <a:ea typeface="Arial"/>
                <a:cs typeface="Arial"/>
              </a:defRPr>
            </a:lvl9pPr>
          </a:lstStyle>
          <a:p xmlns:a="http://schemas.openxmlformats.org/drawingml/2006/main">
            <a:pPr>
              <a:defRPr sz="675">
                <a:solidFill>
                  <a:srgbClr val="A9B7B2"/>
                </a:solidFill>
                <a:latin typeface="Arial"/>
                <a:ea typeface="Arial"/>
                <a:cs typeface="Arial"/>
              </a:defRPr>
            </a:pPr>
            <a:r>
              <a:rPr sz="675">
                <a:solidFill>
                  <a:srgbClr val="A9B7B2"/>
                </a:solidFill>
                <a:latin typeface="Arial"/>
                <a:ea typeface="Arial"/>
                <a:cs typeface="Arial"/>
              </a:rPr>
              <a:t>Source: QFI_V2_report.docx; Advanced Equity Portfolio Risk Management brief; report_assets/results.json and presentation_backtest.json, as of 16 October 2026.</a:t>
            </a:r>
          </a:p>
        </p:txBody>
      </p:sp>
      <p:sp>
        <p:nvSpPr>
          <p:cNvPr id="23" name="">
            <a:extLst xmlns:a="http://schemas.openxmlformats.org/drawingml/2006/main">
              <a:ext uri="{FF2B5EF4-FFF2-40B4-BE49-F238E27FC236}">
                <a16:creationId xmlns:a16="http://schemas.microsoft.com/office/drawing/2014/main" id="{624A402A-0094-4657-80B5-385D535E4EE1}"/>
              </a:ext>
            </a:extLst>
          </p:cNvPr>
          <p:cNvSpPr>
            <a:spLocks xmlns:a="http://schemas.openxmlformats.org/drawingml/2006/main" noGrp="1"/>
          </p:cNvSpPr>
          <p:nvPr/>
        </p:nvSpPr>
        <p:spPr>
          <a:xfrm xmlns:a="http://schemas.openxmlformats.org/drawingml/2006/main">
            <a:off x="10839450" y="6400800"/>
            <a:ext cx="704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825" b="1">
                <a:solidFill>
                  <a:srgbClr val="F1E2BE"/>
                </a:solidFill>
                <a:latin typeface="Arial"/>
                <a:ea typeface="Arial"/>
                <a:cs typeface="Arial"/>
              </a:defRPr>
            </a:defPPr>
            <a:lvl1pPr algn="r">
              <a:defRPr sz="825" b="1">
                <a:solidFill>
                  <a:srgbClr val="F1E2BE"/>
                </a:solidFill>
                <a:latin typeface="Arial"/>
                <a:ea typeface="Arial"/>
                <a:cs typeface="Arial"/>
              </a:defRPr>
            </a:lvl1pPr>
            <a:lvl2pPr algn="r">
              <a:defRPr sz="825" b="1">
                <a:solidFill>
                  <a:srgbClr val="F1E2BE"/>
                </a:solidFill>
                <a:latin typeface="Arial"/>
                <a:ea typeface="Arial"/>
                <a:cs typeface="Arial"/>
              </a:defRPr>
            </a:lvl2pPr>
            <a:lvl3pPr algn="r">
              <a:defRPr sz="825" b="1">
                <a:solidFill>
                  <a:srgbClr val="F1E2BE"/>
                </a:solidFill>
                <a:latin typeface="Arial"/>
                <a:ea typeface="Arial"/>
                <a:cs typeface="Arial"/>
              </a:defRPr>
            </a:lvl3pPr>
            <a:lvl4pPr algn="r">
              <a:defRPr sz="825" b="1">
                <a:solidFill>
                  <a:srgbClr val="F1E2BE"/>
                </a:solidFill>
                <a:latin typeface="Arial"/>
                <a:ea typeface="Arial"/>
                <a:cs typeface="Arial"/>
              </a:defRPr>
            </a:lvl4pPr>
            <a:lvl5pPr algn="r">
              <a:defRPr sz="825" b="1">
                <a:solidFill>
                  <a:srgbClr val="F1E2BE"/>
                </a:solidFill>
                <a:latin typeface="Arial"/>
                <a:ea typeface="Arial"/>
                <a:cs typeface="Arial"/>
              </a:defRPr>
            </a:lvl5pPr>
            <a:lvl6pPr algn="r">
              <a:defRPr sz="825" b="1">
                <a:solidFill>
                  <a:srgbClr val="F1E2BE"/>
                </a:solidFill>
                <a:latin typeface="Arial"/>
                <a:ea typeface="Arial"/>
                <a:cs typeface="Arial"/>
              </a:defRPr>
            </a:lvl6pPr>
            <a:lvl7pPr algn="r">
              <a:defRPr sz="825" b="1">
                <a:solidFill>
                  <a:srgbClr val="F1E2BE"/>
                </a:solidFill>
                <a:latin typeface="Arial"/>
                <a:ea typeface="Arial"/>
                <a:cs typeface="Arial"/>
              </a:defRPr>
            </a:lvl7pPr>
            <a:lvl8pPr algn="r">
              <a:defRPr sz="825" b="1">
                <a:solidFill>
                  <a:srgbClr val="F1E2BE"/>
                </a:solidFill>
                <a:latin typeface="Arial"/>
                <a:ea typeface="Arial"/>
                <a:cs typeface="Arial"/>
              </a:defRPr>
            </a:lvl8pPr>
            <a:lvl9pPr algn="r">
              <a:defRPr sz="825" b="1">
                <a:solidFill>
                  <a:srgbClr val="F1E2BE"/>
                </a:solidFill>
                <a:latin typeface="Arial"/>
                <a:ea typeface="Arial"/>
                <a:cs typeface="Arial"/>
              </a:defRPr>
            </a:lvl9pPr>
          </a:lstStyle>
          <a:p xmlns:a="http://schemas.openxmlformats.org/drawingml/2006/main">
            <a:pPr algn="r">
              <a:defRPr sz="825" b="1">
                <a:solidFill>
                  <a:srgbClr val="F1E2BE"/>
                </a:solidFill>
                <a:latin typeface="Arial"/>
                <a:ea typeface="Arial"/>
                <a:cs typeface="Arial"/>
              </a:defRPr>
            </a:pPr>
            <a:r>
              <a:rPr sz="825" b="1">
                <a:solidFill>
                  <a:srgbClr val="F1E2BE"/>
                </a:solidFill>
                <a:latin typeface="Arial"/>
                <a:ea typeface="Arial"/>
                <a:cs typeface="Arial"/>
              </a:rPr>
              <a:t>15</a:t>
            </a:r>
          </a:p>
        </p:txBody>
      </p:sp>
    </p:spTree>
    <p:extLst>
      <p:ext uri="{BB962C8B-B14F-4D97-AF65-F5344CB8AC3E}">
        <p14:creationId xmlns:p14="http://schemas.microsoft.com/office/powerpoint/2010/main" val="51749535"/>
      </p:ext>
    </p:extLst>
  </p:cSld>
</p:sld>
</file>

<file path=ppt/theme/theme1.xml><?xml version="1.0" encoding="utf-8"?>
<a:theme xmlns:a="http://schemas.openxmlformats.org/drawingml/2006/main" name="ChatGPT">
  <a:themeElements>
    <a:clrScheme name="QFI Editorial">
      <a:dk1>
        <a:srgbClr val="1B2928"/>
      </a:dk1>
      <a:lt1>
        <a:srgbClr val="FFFEFB"/>
      </a:lt1>
      <a:dk2>
        <a:srgbClr val="174C4F"/>
      </a:dk2>
      <a:lt2>
        <a:srgbClr val="F6F1E8"/>
      </a:lt2>
      <a:accent1>
        <a:srgbClr val="174C4F"/>
      </a:accent1>
      <a:accent2>
        <a:srgbClr val="C9973A"/>
      </a:accent2>
      <a:accent3>
        <a:srgbClr val="B84A3A"/>
      </a:accent3>
      <a:accent4>
        <a:srgbClr val="477F8F"/>
      </a:accent4>
      <a:accent5>
        <a:srgbClr val="2E6A68"/>
      </a:accent5>
      <a:accent6>
        <a:srgbClr val="8E7446"/>
      </a:accent6>
      <a:hlink>
        <a:srgbClr val="477F8F"/>
      </a:hlink>
      <a:folHlink>
        <a:srgbClr val="B84A3A"/>
      </a:folHlink>
    </a:clrScheme>
    <a:fontScheme name="">
      <a:majorFont>
        <a:latin typeface="Arial"/>
        <a:ea typeface=""/>
        <a:cs typeface=""/>
      </a:majorFont>
      <a:minorFont>
        <a:latin typeface="Arial"/>
        <a:ea typeface=""/>
        <a:cs typeface=""/>
      </a:minorFont>
    </a:fontScheme>
    <a:fmtScheme name="QFI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2026-10-20T17:39:22.0390000Z</dcterms:created>
  <dcterms:modified xsi:type="dcterms:W3CDTF">2026-10-20T17:39:22.0390000Z</dcterms:modified>
</coreProperties>
</file>