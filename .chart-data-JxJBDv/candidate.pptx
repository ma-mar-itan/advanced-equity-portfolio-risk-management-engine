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1e1a7d0c1a4185" /><Relationship Type="http://schemas.openxmlformats.org/officeDocument/2006/relationships/extended-properties" Target="/docProps/app.xml" Id="R7be01b6bf3374946" /><Relationship Type="http://schemas.openxmlformats.org/officeDocument/2006/relationships/officeDocument" Target="/ppt/presentation.xml" Id="Ra71cdc0c028b49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83b04f5ddd4c36"/>
  </p:sldMasterIdLst>
  <p:notesMasterIdLst>
    <p:notesMasterId xmlns:r="http://schemas.openxmlformats.org/officeDocument/2006/relationships" r:id="Rcdfa866bd5ce4e58"/>
  </p:notesMasterIdLst>
  <p:sldIdLst>
    <p:sldId xmlns:r="http://schemas.openxmlformats.org/officeDocument/2006/relationships" id="256" r:id="Rb6b86abcadd445a4"/>
    <p:sldId xmlns:r="http://schemas.openxmlformats.org/officeDocument/2006/relationships" id="257" r:id="R5142fbd67ef14a16"/>
    <p:sldId xmlns:r="http://schemas.openxmlformats.org/officeDocument/2006/relationships" id="258" r:id="Rcc392dcabbb34553"/>
    <p:sldId xmlns:r="http://schemas.openxmlformats.org/officeDocument/2006/relationships" id="259" r:id="R5a9bff6967974443"/>
    <p:sldId xmlns:r="http://schemas.openxmlformats.org/officeDocument/2006/relationships" id="260" r:id="R14d17ca352f84683"/>
    <p:sldId xmlns:r="http://schemas.openxmlformats.org/officeDocument/2006/relationships" id="261" r:id="R359729d929bb49ed"/>
    <p:sldId xmlns:r="http://schemas.openxmlformats.org/officeDocument/2006/relationships" id="262" r:id="Rb0a3c2f47e384182"/>
    <p:sldId xmlns:r="http://schemas.openxmlformats.org/officeDocument/2006/relationships" id="263" r:id="Rf6b7decc402d4af1"/>
    <p:sldId xmlns:r="http://schemas.openxmlformats.org/officeDocument/2006/relationships" id="264" r:id="R3ab0076778bc4e0c"/>
    <p:sldId xmlns:r="http://schemas.openxmlformats.org/officeDocument/2006/relationships" id="265" r:id="Rc45549811aac4e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42348040be4781" /><Relationship Type="http://schemas.openxmlformats.org/officeDocument/2006/relationships/slideMaster" Target="/ppt/slideMasters/slideMaster1.xml" Id="R7d83b04f5ddd4c36" /><Relationship Type="http://schemas.openxmlformats.org/officeDocument/2006/relationships/notesMaster" Target="/ppt/notesMasters/notesMaster1.xml" Id="Rcdfa866bd5ce4e58" /><Relationship Type="http://schemas.openxmlformats.org/officeDocument/2006/relationships/presProps" Target="/ppt/presProps.xml" Id="R3362342281ca4c6f" /><Relationship Type="http://schemas.openxmlformats.org/officeDocument/2006/relationships/tableStyles" Target="/ppt/tableStyles.xml" Id="R384ded88727641af" /><Relationship Type="http://schemas.openxmlformats.org/officeDocument/2006/relationships/slide" Target="/ppt/slides/slide1.xml" Id="Rb6b86abcadd445a4" /><Relationship Type="http://schemas.openxmlformats.org/officeDocument/2006/relationships/slide" Target="/ppt/slides/slide2.xml" Id="R5142fbd67ef14a16" /><Relationship Type="http://schemas.openxmlformats.org/officeDocument/2006/relationships/slide" Target="/ppt/slides/slide3.xml" Id="Rcc392dcabbb34553" /><Relationship Type="http://schemas.openxmlformats.org/officeDocument/2006/relationships/slide" Target="/ppt/slides/slide4.xml" Id="R5a9bff6967974443" /><Relationship Type="http://schemas.openxmlformats.org/officeDocument/2006/relationships/slide" Target="/ppt/slides/slide5.xml" Id="R14d17ca352f84683" /><Relationship Type="http://schemas.openxmlformats.org/officeDocument/2006/relationships/slide" Target="/ppt/slides/slide6.xml" Id="R359729d929bb49ed" /><Relationship Type="http://schemas.openxmlformats.org/officeDocument/2006/relationships/slide" Target="/ppt/slides/slide7.xml" Id="Rb0a3c2f47e384182" /><Relationship Type="http://schemas.openxmlformats.org/officeDocument/2006/relationships/slide" Target="/ppt/slides/slide8.xml" Id="Rf6b7decc402d4af1" /><Relationship Type="http://schemas.openxmlformats.org/officeDocument/2006/relationships/slide" Target="/ppt/slides/slide9.xml" Id="R3ab0076778bc4e0c" /><Relationship Type="http://schemas.openxmlformats.org/officeDocument/2006/relationships/slide" Target="/ppt/slides/slide10.xml" Id="Rc45549811aac4e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e09673b444b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dfc11397447c2" /><Relationship Type="http://schemas.openxmlformats.org/officeDocument/2006/relationships/notesMaster" Target="/ppt/notesMasters/notesMaster1.xml" Id="R2b8f2dbdc89643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4a42e555284451" /><Relationship Type="http://schemas.openxmlformats.org/officeDocument/2006/relationships/notesMaster" Target="/ppt/notesMasters/notesMaster1.xml" Id="Ra2718f217c96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7fc93bf3e46f5" /><Relationship Type="http://schemas.openxmlformats.org/officeDocument/2006/relationships/notesMaster" Target="/ppt/notesMasters/notesMaster1.xml" Id="Rbf50602d55594c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d9e8fcca74d34" /><Relationship Type="http://schemas.openxmlformats.org/officeDocument/2006/relationships/notesMaster" Target="/ppt/notesMasters/notesMaster1.xml" Id="R2e799cb13f754c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cc68cf8a549f9" /><Relationship Type="http://schemas.openxmlformats.org/officeDocument/2006/relationships/notesMaster" Target="/ppt/notesMasters/notesMaster1.xml" Id="R9a50e86c7d4d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3dc4d6cd2a41ec" /><Relationship Type="http://schemas.openxmlformats.org/officeDocument/2006/relationships/notesMaster" Target="/ppt/notesMasters/notesMaster1.xml" Id="R48db39ad0139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a10998ee749c2" /><Relationship Type="http://schemas.openxmlformats.org/officeDocument/2006/relationships/notesMaster" Target="/ppt/notesMasters/notesMaster1.xml" Id="Rf74c1557736846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c649261f1048c4" /><Relationship Type="http://schemas.openxmlformats.org/officeDocument/2006/relationships/notesMaster" Target="/ppt/notesMasters/notesMaster1.xml" Id="R4e2617f168e6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d244e06cb746ee" /><Relationship Type="http://schemas.openxmlformats.org/officeDocument/2006/relationships/notesMaster" Target="/ppt/notesMasters/notesMaster1.xml" Id="R9083bf2ec6034d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9f8d83664b4de8" /><Relationship Type="http://schemas.openxmlformats.org/officeDocument/2006/relationships/notesMaster" Target="/ppt/notesMasters/notesMaster1.xml" Id="Rb418dbc4a8a442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d16e7ef6064a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d920ae65743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13365cb9d4f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9db6ccc624d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36989955b746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d262eef6a42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BC6CA9-20F8-4551-B3C2-EBC7A3D59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033B11-17C4-4BCE-B769-83E1A22E31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594760-3D6A-48D1-9CC2-75B6BBD94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FC509F-7DCF-46F7-9FE5-5499B1D68C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E7291B9-A339-41F8-988C-A002E16C68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2F1E7C-F368-4351-BA0F-57A8F3532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3063BF-DF6D-4A88-A5CF-27D79C437F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52F749-E83F-408C-97F5-5BC22AABCD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2832AB-CB8F-4CBC-BE02-70065F44FB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9B56B4-AF11-4CEC-A1E3-B3A1F79091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f790911cde4628" /><Relationship Type="http://schemas.openxmlformats.org/officeDocument/2006/relationships/slideLayout" Target="/ppt/slideLayouts/slideLayout1.xml" Id="Rb863af5f3f724f5b" /><Relationship Type="http://schemas.openxmlformats.org/officeDocument/2006/relationships/slideLayout" Target="/ppt/slideLayouts/slideLayout2.xml" Id="R96c080ed9ae84663" /><Relationship Type="http://schemas.openxmlformats.org/officeDocument/2006/relationships/slideLayout" Target="/ppt/slideLayouts/slideLayout3.xml" Id="Rc2028d2ebfe648fc" /><Relationship Type="http://schemas.openxmlformats.org/officeDocument/2006/relationships/slideLayout" Target="/ppt/slideLayouts/slideLayout4.xml" Id="R7d62c372d61b44f1" /><Relationship Type="http://schemas.openxmlformats.org/officeDocument/2006/relationships/slideLayout" Target="/ppt/slideLayouts/slideLayout5.xml" Id="Rcf3509da52424638" /><Relationship Type="http://schemas.openxmlformats.org/officeDocument/2006/relationships/slideLayout" Target="/ppt/slideLayouts/slideLayout6.xml" Id="R7619f42780fe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63af5f3f724f5b"/>
    <p:sldLayoutId xmlns:r="http://schemas.openxmlformats.org/officeDocument/2006/relationships" id="2147483650" r:id="R96c080ed9ae84663"/>
    <p:sldLayoutId xmlns:r="http://schemas.openxmlformats.org/officeDocument/2006/relationships" id="2147483651" r:id="Rc2028d2ebfe648fc"/>
    <p:sldLayoutId xmlns:r="http://schemas.openxmlformats.org/officeDocument/2006/relationships" id="2147483652" r:id="R7d62c372d61b44f1"/>
    <p:sldLayoutId xmlns:r="http://schemas.openxmlformats.org/officeDocument/2006/relationships" id="2147483653" r:id="Rcf3509da52424638"/>
    <p:sldLayoutId xmlns:r="http://schemas.openxmlformats.org/officeDocument/2006/relationships" id="2147483654" r:id="R7619f42780fe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6108265d1044cf" /><Relationship Type="http://schemas.openxmlformats.org/officeDocument/2006/relationships/chart" Target="/ppt/slides/charts/chart1.xml" Id="R6a058acac3544b12" /><Relationship Type="http://schemas.openxmlformats.org/officeDocument/2006/relationships/notesSlide" Target="/ppt/notesSlides/notesSlide1.xml" Id="Rfe522e069c044d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1bf436d99442c" /><Relationship Type="http://schemas.openxmlformats.org/officeDocument/2006/relationships/chart" Target="/ppt/slides/charts/chart2.xml" Id="Rdde8452aa20644c5" /><Relationship Type="http://schemas.openxmlformats.org/officeDocument/2006/relationships/notesSlide" Target="/ppt/notesSlides/notesSlide2.xml" Id="R577d4c887ec346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d2bdfa3394800" /><Relationship Type="http://schemas.openxmlformats.org/officeDocument/2006/relationships/notesSlide" Target="/ppt/notesSlides/notesSlide3.xml" Id="R5f2c7832fa304f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72062986c458e" /><Relationship Type="http://schemas.openxmlformats.org/officeDocument/2006/relationships/notesSlide" Target="/ppt/notesSlides/notesSlide4.xml" Id="Rf2d61d59eb874a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fd0a612e284921" /><Relationship Type="http://schemas.openxmlformats.org/officeDocument/2006/relationships/chart" Target="/ppt/slides/charts/chart3.xml" Id="R1f51685200454da7" /><Relationship Type="http://schemas.openxmlformats.org/officeDocument/2006/relationships/notesSlide" Target="/ppt/notesSlides/notesSlide5.xml" Id="Raf749b1ba2874e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eedb7ecf374915" /><Relationship Type="http://schemas.openxmlformats.org/officeDocument/2006/relationships/notesSlide" Target="/ppt/notesSlides/notesSlide6.xml" Id="R74acb2419baf4a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19aad43b04164" /><Relationship Type="http://schemas.openxmlformats.org/officeDocument/2006/relationships/chart" Target="/ppt/slides/charts/chart4.xml" Id="Re96dc897626b4d62" /><Relationship Type="http://schemas.openxmlformats.org/officeDocument/2006/relationships/notesSlide" Target="/ppt/notesSlides/notesSlide7.xml" Id="Ra6976068a5af48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1e34475ab4b66" /><Relationship Type="http://schemas.openxmlformats.org/officeDocument/2006/relationships/chart" Target="/ppt/slides/charts/chart5.xml" Id="R58f76c1855fd4d04" /><Relationship Type="http://schemas.openxmlformats.org/officeDocument/2006/relationships/notesSlide" Target="/ppt/notesSlides/notesSlide8.xml" Id="R43b5b3832f6243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c84ba6e1a46f6" /><Relationship Type="http://schemas.openxmlformats.org/officeDocument/2006/relationships/notesSlide" Target="/ppt/notesSlides/notesSlide9.xml" Id="Rd97fabd937a449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79d36f2b9347df" /><Relationship Type="http://schemas.openxmlformats.org/officeDocument/2006/relationships/notesSlide" Target="/ppt/notesSlides/notesSlide10.xml" Id="Rcb32f58c9f324a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0B6B75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8FA3B7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4ADE80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64748B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1-day VaR</c:v>
          </c:tx>
          <c:spPr>
            <a:solidFill xmlns:a="http://schemas.openxmlformats.org/drawingml/2006/main">
              <a:srgbClr val="0F766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HS</c:v>
                </c:pt>
                <c:pt idx="1">
                  <c:v>EWMA</c:v>
                </c:pt>
                <c:pt idx="2">
                  <c:v>GARCH</c:v>
                </c:pt>
                <c:pt idx="3">
                  <c:v>GJR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3.37</c:v>
                </c:pt>
                <c:pt idx="1">
                  <c:v>2.36</c:v>
                </c:pt>
                <c:pt idx="2">
                  <c:v>2.65</c:v>
                </c:pt>
                <c:pt idx="3">
                  <c:v>2.82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BEF264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F87171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Portfolio</c:v>
          </c:tx>
          <c:spPr>
            <a:solidFill xmlns:a="http://schemas.openxmlformats.org/drawingml/2006/main">
              <a:srgbClr val="C084FC"/>
            </a:solidFill>
          </c:spPr>
          <c:marker>
            <c:symbol val="none"/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92</c:v>
                </c:pt>
                <c:pt idx="2">
                  <c:v>126</c:v>
                </c:pt>
                <c:pt idx="3">
                  <c:v>119</c:v>
                </c:pt>
                <c:pt idx="4">
                  <c:v>151</c:v>
                </c:pt>
                <c:pt idx="5">
                  <c:v>184</c:v>
                </c:pt>
              </c:numCache>
            </c:numRef>
          </c:val>
        </c:ser>
        <c:ser>
          <c:idx val="1"/>
          <c:order val="1"/>
          <c:tx>
            <c:v>Benchmark</c:v>
          </c:tx>
          <c:spPr>
            <a:solidFill xmlns:a="http://schemas.openxmlformats.org/drawingml/2006/main">
              <a:srgbClr val="67E8F9"/>
            </a:solidFill>
          </c:spPr>
          <c:marker>
            <c:symbol val="none"/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100</c:v>
                </c:pt>
                <c:pt idx="1">
                  <c:v>95</c:v>
                </c:pt>
                <c:pt idx="2">
                  <c:v>117</c:v>
                </c:pt>
                <c:pt idx="3">
                  <c:v>109</c:v>
                </c:pt>
                <c:pt idx="4">
                  <c:v>128</c:v>
                </c:pt>
                <c:pt idx="5">
                  <c:v>149</c:v>
                </c:pt>
              </c:numCache>
            </c:numRef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3415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2DA70-8659-4D20-A55D-21AFC68E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A"/>
          </a:solidFill>
          <a:ln xmlns:a="http://schemas.openxmlformats.org/drawingml/2006/main" w="0">
            <a:solidFill>
              <a:srgbClr val="0B2A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F43AA-0C0F-4102-B271-C26655F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B2A4A"/>
                </a:solidFill>
              </a:defRPr>
            </a:defPPr>
            <a:lvl1pPr>
              <a:defRPr sz="900" b="1">
                <a:solidFill>
                  <a:srgbClr val="0B2A4A"/>
                </a:solidFill>
              </a:defRPr>
            </a:lvl1pPr>
            <a:lvl2pPr>
              <a:defRPr sz="900" b="1">
                <a:solidFill>
                  <a:srgbClr val="0B2A4A"/>
                </a:solidFill>
              </a:defRPr>
            </a:lvl2pPr>
            <a:lvl3pPr>
              <a:defRPr sz="900" b="1">
                <a:solidFill>
                  <a:srgbClr val="0B2A4A"/>
                </a:solidFill>
              </a:defRPr>
            </a:lvl3pPr>
            <a:lvl4pPr>
              <a:defRPr sz="900" b="1">
                <a:solidFill>
                  <a:srgbClr val="0B2A4A"/>
                </a:solidFill>
              </a:defRPr>
            </a:lvl4pPr>
            <a:lvl5pPr>
              <a:defRPr sz="900" b="1">
                <a:solidFill>
                  <a:srgbClr val="0B2A4A"/>
                </a:solidFill>
              </a:defRPr>
            </a:lvl5pPr>
            <a:lvl6pPr>
              <a:defRPr sz="900" b="1">
                <a:solidFill>
                  <a:srgbClr val="0B2A4A"/>
                </a:solidFill>
              </a:defRPr>
            </a:lvl6pPr>
            <a:lvl7pPr>
              <a:defRPr sz="900" b="1">
                <a:solidFill>
                  <a:srgbClr val="0B2A4A"/>
                </a:solidFill>
              </a:defRPr>
            </a:lvl7pPr>
            <a:lvl8pPr>
              <a:defRPr sz="900" b="1">
                <a:solidFill>
                  <a:srgbClr val="0B2A4A"/>
                </a:solidFill>
              </a:defRPr>
            </a:lvl8pPr>
            <a:lvl9pPr>
              <a:defRPr sz="900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B2A4A"/>
                </a:solidFill>
              </a:defRPr>
            </a:pPr>
            <a:r>
              <a:rPr sz="900" b="1">
                <a:solidFill>
                  <a:srgbClr val="0B2A4A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2E39E-7BE5-4064-9545-F897CDA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INSTITUTIONAL NAVY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42F8A-6146-4422-A281-9BFFBC13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857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0B2A4A"/>
                </a:solidFill>
              </a:defRPr>
            </a:defPPr>
            <a:lvl1pPr>
              <a:defRPr sz="3300" b="1">
                <a:solidFill>
                  <a:srgbClr val="0B2A4A"/>
                </a:solidFill>
              </a:defRPr>
            </a:lvl1pPr>
            <a:lvl2pPr>
              <a:defRPr sz="3300" b="1">
                <a:solidFill>
                  <a:srgbClr val="0B2A4A"/>
                </a:solidFill>
              </a:defRPr>
            </a:lvl2pPr>
            <a:lvl3pPr>
              <a:defRPr sz="3300" b="1">
                <a:solidFill>
                  <a:srgbClr val="0B2A4A"/>
                </a:solidFill>
              </a:defRPr>
            </a:lvl3pPr>
            <a:lvl4pPr>
              <a:defRPr sz="3300" b="1">
                <a:solidFill>
                  <a:srgbClr val="0B2A4A"/>
                </a:solidFill>
              </a:defRPr>
            </a:lvl4pPr>
            <a:lvl5pPr>
              <a:defRPr sz="3300" b="1">
                <a:solidFill>
                  <a:srgbClr val="0B2A4A"/>
                </a:solidFill>
              </a:defRPr>
            </a:lvl5pPr>
            <a:lvl6pPr>
              <a:defRPr sz="3300" b="1">
                <a:solidFill>
                  <a:srgbClr val="0B2A4A"/>
                </a:solidFill>
              </a:defRPr>
            </a:lvl6pPr>
            <a:lvl7pPr>
              <a:defRPr sz="3300" b="1">
                <a:solidFill>
                  <a:srgbClr val="0B2A4A"/>
                </a:solidFill>
              </a:defRPr>
            </a:lvl7pPr>
            <a:lvl8pPr>
              <a:defRPr sz="3300" b="1">
                <a:solidFill>
                  <a:srgbClr val="0B2A4A"/>
                </a:solidFill>
              </a:defRPr>
            </a:lvl8pPr>
            <a:lvl9pPr>
              <a:defRPr sz="3300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0B2A4A"/>
                </a:solidFill>
              </a:defRPr>
            </a:pPr>
            <a:r>
              <a:rPr sz="3300" b="1">
                <a:solidFill>
                  <a:srgbClr val="0B2A4A"/>
                </a:solidFill>
              </a:rPr>
              <a:t>Advanced Equity Portfolio</a:t>
            </a:r>
          </a:p>
          <a:p xmlns:a="http://schemas.openxmlformats.org/drawingml/2006/main">
            <a:pPr>
              <a:defRPr sz="3300" b="1">
                <a:solidFill>
                  <a:srgbClr val="0B2A4A"/>
                </a:solidFill>
              </a:defRPr>
            </a:pPr>
            <a:r>
              <a:rPr sz="3300" b="1">
                <a:solidFill>
                  <a:srgbClr val="0B2A4A"/>
                </a:solidFill>
              </a:rPr>
              <a:t>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B0DA-EB72-4D20-AEF2-6C008736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57A"/>
                </a:solidFill>
              </a:defRPr>
            </a:defPPr>
            <a:lvl1pPr>
              <a:defRPr sz="1425" b="0">
                <a:solidFill>
                  <a:srgbClr val="52657A"/>
                </a:solidFill>
              </a:defRPr>
            </a:lvl1pPr>
            <a:lvl2pPr>
              <a:defRPr sz="1425" b="0">
                <a:solidFill>
                  <a:srgbClr val="52657A"/>
                </a:solidFill>
              </a:defRPr>
            </a:lvl2pPr>
            <a:lvl3pPr>
              <a:defRPr sz="1425" b="0">
                <a:solidFill>
                  <a:srgbClr val="52657A"/>
                </a:solidFill>
              </a:defRPr>
            </a:lvl3pPr>
            <a:lvl4pPr>
              <a:defRPr sz="1425" b="0">
                <a:solidFill>
                  <a:srgbClr val="52657A"/>
                </a:solidFill>
              </a:defRPr>
            </a:lvl4pPr>
            <a:lvl5pPr>
              <a:defRPr sz="1425" b="0">
                <a:solidFill>
                  <a:srgbClr val="52657A"/>
                </a:solidFill>
              </a:defRPr>
            </a:lvl5pPr>
            <a:lvl6pPr>
              <a:defRPr sz="1425" b="0">
                <a:solidFill>
                  <a:srgbClr val="52657A"/>
                </a:solidFill>
              </a:defRPr>
            </a:lvl6pPr>
            <a:lvl7pPr>
              <a:defRPr sz="1425" b="0">
                <a:solidFill>
                  <a:srgbClr val="52657A"/>
                </a:solidFill>
              </a:defRPr>
            </a:lvl7pPr>
            <a:lvl8pPr>
              <a:defRPr sz="1425" b="0">
                <a:solidFill>
                  <a:srgbClr val="52657A"/>
                </a:solidFill>
              </a:defRPr>
            </a:lvl8pPr>
            <a:lvl9pPr>
              <a:defRPr sz="1425" b="0">
                <a:solidFill>
                  <a:srgbClr val="52657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Portfolio construction, volatility models, VaR backtesting and stress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78EA4-254A-4F7A-BBFD-F1649DD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8763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21D362C-7C38-48A4-9CA8-D525AF9BD977}"/>
              </a:ext>
            </a:extLst>
          </p:cNvPr>
          <p:cNvGraphicFramePr/>
          <p:nvPr/>
        </p:nvGraphicFramePr>
        <p:xfrm>
          <a:off xmlns:a="http://schemas.openxmlformats.org/drawingml/2006/main" x="6286500" y="1562100"/>
          <a:ext xmlns:a="http://schemas.openxmlformats.org/drawingml/2006/main" cx="4762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058acac3544b1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B72B6-8256-4528-9E73-99B858B5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04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2A4A"/>
                </a:solidFill>
              </a:defRPr>
            </a:defPPr>
            <a:lvl1pPr>
              <a:defRPr sz="1425" b="1">
                <a:solidFill>
                  <a:srgbClr val="0B2A4A"/>
                </a:solidFill>
              </a:defRPr>
            </a:lvl1pPr>
            <a:lvl2pPr>
              <a:defRPr sz="1425" b="1">
                <a:solidFill>
                  <a:srgbClr val="0B2A4A"/>
                </a:solidFill>
              </a:defRPr>
            </a:lvl2pPr>
            <a:lvl3pPr>
              <a:defRPr sz="1425" b="1">
                <a:solidFill>
                  <a:srgbClr val="0B2A4A"/>
                </a:solidFill>
              </a:defRPr>
            </a:lvl3pPr>
            <a:lvl4pPr>
              <a:defRPr sz="1425" b="1">
                <a:solidFill>
                  <a:srgbClr val="0B2A4A"/>
                </a:solidFill>
              </a:defRPr>
            </a:lvl4pPr>
            <a:lvl5pPr>
              <a:defRPr sz="1425" b="1">
                <a:solidFill>
                  <a:srgbClr val="0B2A4A"/>
                </a:solidFill>
              </a:defRPr>
            </a:lvl5pPr>
            <a:lvl6pPr>
              <a:defRPr sz="1425" b="1">
                <a:solidFill>
                  <a:srgbClr val="0B2A4A"/>
                </a:solidFill>
              </a:defRPr>
            </a:lvl6pPr>
            <a:lvl7pPr>
              <a:defRPr sz="1425" b="1">
                <a:solidFill>
                  <a:srgbClr val="0B2A4A"/>
                </a:solidFill>
              </a:defRPr>
            </a:lvl7pPr>
            <a:lvl8pPr>
              <a:defRPr sz="1425" b="1">
                <a:solidFill>
                  <a:srgbClr val="0B2A4A"/>
                </a:solidFill>
              </a:defRPr>
            </a:lvl8pPr>
            <a:lvl9pPr>
              <a:defRPr sz="1425" b="1">
                <a:solidFill>
                  <a:srgbClr val="0B2A4A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2A4A"/>
                </a:solidFill>
              </a:defRPr>
            </a:pPr>
            <a:r>
              <a:rPr sz="1425" b="1">
                <a:solidFill>
                  <a:srgbClr val="0B2A4A"/>
                </a:solidFill>
              </a:rPr>
              <a:t>Portfolio growth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79035-B57C-4D3A-8E72-CA9CFAF3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B7C8F"/>
                </a:solidFill>
              </a:defRPr>
            </a:defPPr>
            <a:lvl1pPr>
              <a:defRPr sz="1050" b="0">
                <a:solidFill>
                  <a:srgbClr val="6B7C8F"/>
                </a:solidFill>
              </a:defRPr>
            </a:lvl1pPr>
            <a:lvl2pPr>
              <a:defRPr sz="1050" b="0">
                <a:solidFill>
                  <a:srgbClr val="6B7C8F"/>
                </a:solidFill>
              </a:defRPr>
            </a:lvl2pPr>
            <a:lvl3pPr>
              <a:defRPr sz="1050" b="0">
                <a:solidFill>
                  <a:srgbClr val="6B7C8F"/>
                </a:solidFill>
              </a:defRPr>
            </a:lvl3pPr>
            <a:lvl4pPr>
              <a:defRPr sz="1050" b="0">
                <a:solidFill>
                  <a:srgbClr val="6B7C8F"/>
                </a:solidFill>
              </a:defRPr>
            </a:lvl4pPr>
            <a:lvl5pPr>
              <a:defRPr sz="1050" b="0">
                <a:solidFill>
                  <a:srgbClr val="6B7C8F"/>
                </a:solidFill>
              </a:defRPr>
            </a:lvl5pPr>
            <a:lvl6pPr>
              <a:defRPr sz="1050" b="0">
                <a:solidFill>
                  <a:srgbClr val="6B7C8F"/>
                </a:solidFill>
              </a:defRPr>
            </a:lvl6pPr>
            <a:lvl7pPr>
              <a:defRPr sz="1050" b="0">
                <a:solidFill>
                  <a:srgbClr val="6B7C8F"/>
                </a:solidFill>
              </a:defRPr>
            </a:lvl7pPr>
            <a:lvl8pPr>
              <a:defRPr sz="1050" b="0">
                <a:solidFill>
                  <a:srgbClr val="6B7C8F"/>
                </a:solidFill>
              </a:defRPr>
            </a:lvl8pPr>
            <a:lvl9pPr>
              <a:defRPr sz="1050" b="0">
                <a:solidFill>
                  <a:srgbClr val="6B7C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B7C8F"/>
                </a:solidFill>
              </a:defRPr>
            </a:pPr>
            <a:r>
              <a:rPr sz="1050" b="0">
                <a:solidFill>
                  <a:srgbClr val="6B7C8F"/>
                </a:solidFill>
              </a:rPr>
              <a:t>Quantitative Finance Project</a:t>
            </a:r>
          </a:p>
        </p:txBody>
      </p:sp>
    </p:spTree>
    <p:extLst>
      <p:ext uri="{BB962C8B-B14F-4D97-AF65-F5344CB8AC3E}">
        <p14:creationId xmlns:p14="http://schemas.microsoft.com/office/powerpoint/2010/main" val="1156623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D33B0-F5D7-4DE5-926F-262B50F8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ADE80"/>
                </a:solidFill>
              </a:defRPr>
            </a:defPPr>
            <a:lvl1pPr>
              <a:defRPr sz="900" b="1">
                <a:solidFill>
                  <a:srgbClr val="4ADE80"/>
                </a:solidFill>
              </a:defRPr>
            </a:lvl1pPr>
            <a:lvl2pPr>
              <a:defRPr sz="900" b="1">
                <a:solidFill>
                  <a:srgbClr val="4ADE80"/>
                </a:solidFill>
              </a:defRPr>
            </a:lvl2pPr>
            <a:lvl3pPr>
              <a:defRPr sz="900" b="1">
                <a:solidFill>
                  <a:srgbClr val="4ADE80"/>
                </a:solidFill>
              </a:defRPr>
            </a:lvl3pPr>
            <a:lvl4pPr>
              <a:defRPr sz="900" b="1">
                <a:solidFill>
                  <a:srgbClr val="4ADE80"/>
                </a:solidFill>
              </a:defRPr>
            </a:lvl4pPr>
            <a:lvl5pPr>
              <a:defRPr sz="900" b="1">
                <a:solidFill>
                  <a:srgbClr val="4ADE80"/>
                </a:solidFill>
              </a:defRPr>
            </a:lvl5pPr>
            <a:lvl6pPr>
              <a:defRPr sz="900" b="1">
                <a:solidFill>
                  <a:srgbClr val="4ADE80"/>
                </a:solidFill>
              </a:defRPr>
            </a:lvl6pPr>
            <a:lvl7pPr>
              <a:defRPr sz="900" b="1">
                <a:solidFill>
                  <a:srgbClr val="4ADE80"/>
                </a:solidFill>
              </a:defRPr>
            </a:lvl7pPr>
            <a:lvl8pPr>
              <a:defRPr sz="900" b="1">
                <a:solidFill>
                  <a:srgbClr val="4ADE80"/>
                </a:solidFill>
              </a:defRPr>
            </a:lvl8pPr>
            <a:lvl9pPr>
              <a:defRPr sz="900" b="1">
                <a:solidFill>
                  <a:srgbClr val="4ADE80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ADE80"/>
                </a:solidFill>
              </a:defRPr>
            </a:pPr>
            <a:r>
              <a:rPr sz="900" b="1">
                <a:solidFill>
                  <a:srgbClr val="4ADE8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D2EC8-9AE1-4CD6-8CF7-9B00E76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TERMINAL DARK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2D539-D248-47E6-9D0A-5A97B13C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0FDF4"/>
                </a:solidFill>
              </a:defRPr>
            </a:defPPr>
            <a:lvl1pPr>
              <a:defRPr sz="3750" b="1">
                <a:solidFill>
                  <a:srgbClr val="F0FDF4"/>
                </a:solidFill>
              </a:defRPr>
            </a:lvl1pPr>
            <a:lvl2pPr>
              <a:defRPr sz="3750" b="1">
                <a:solidFill>
                  <a:srgbClr val="F0FDF4"/>
                </a:solidFill>
              </a:defRPr>
            </a:lvl2pPr>
            <a:lvl3pPr>
              <a:defRPr sz="3750" b="1">
                <a:solidFill>
                  <a:srgbClr val="F0FDF4"/>
                </a:solidFill>
              </a:defRPr>
            </a:lvl3pPr>
            <a:lvl4pPr>
              <a:defRPr sz="3750" b="1">
                <a:solidFill>
                  <a:srgbClr val="F0FDF4"/>
                </a:solidFill>
              </a:defRPr>
            </a:lvl4pPr>
            <a:lvl5pPr>
              <a:defRPr sz="3750" b="1">
                <a:solidFill>
                  <a:srgbClr val="F0FDF4"/>
                </a:solidFill>
              </a:defRPr>
            </a:lvl5pPr>
            <a:lvl6pPr>
              <a:defRPr sz="3750" b="1">
                <a:solidFill>
                  <a:srgbClr val="F0FDF4"/>
                </a:solidFill>
              </a:defRPr>
            </a:lvl6pPr>
            <a:lvl7pPr>
              <a:defRPr sz="3750" b="1">
                <a:solidFill>
                  <a:srgbClr val="F0FDF4"/>
                </a:solidFill>
              </a:defRPr>
            </a:lvl7pPr>
            <a:lvl8pPr>
              <a:defRPr sz="3750" b="1">
                <a:solidFill>
                  <a:srgbClr val="F0FDF4"/>
                </a:solidFill>
              </a:defRPr>
            </a:lvl8pPr>
            <a:lvl9pPr>
              <a:defRPr sz="37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0FDF4"/>
                </a:solidFill>
              </a:defRPr>
            </a:pPr>
            <a:r>
              <a:rPr sz="3750" b="1">
                <a:solidFill>
                  <a:srgbClr val="F0FDF4"/>
                </a:solidFill>
              </a:rPr>
              <a:t>Risk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C5773-FE58-4C1E-AD43-F5BE091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86EFAC"/>
                </a:solidFill>
              </a:defRPr>
            </a:defPPr>
            <a:lvl1pPr>
              <a:defRPr sz="1350" b="0">
                <a:solidFill>
                  <a:srgbClr val="86EFAC"/>
                </a:solidFill>
              </a:defRPr>
            </a:lvl1pPr>
            <a:lvl2pPr>
              <a:defRPr sz="1350" b="0">
                <a:solidFill>
                  <a:srgbClr val="86EFAC"/>
                </a:solidFill>
              </a:defRPr>
            </a:lvl2pPr>
            <a:lvl3pPr>
              <a:defRPr sz="1350" b="0">
                <a:solidFill>
                  <a:srgbClr val="86EFAC"/>
                </a:solidFill>
              </a:defRPr>
            </a:lvl3pPr>
            <a:lvl4pPr>
              <a:defRPr sz="1350" b="0">
                <a:solidFill>
                  <a:srgbClr val="86EFAC"/>
                </a:solidFill>
              </a:defRPr>
            </a:lvl4pPr>
            <a:lvl5pPr>
              <a:defRPr sz="1350" b="0">
                <a:solidFill>
                  <a:srgbClr val="86EFAC"/>
                </a:solidFill>
              </a:defRPr>
            </a:lvl5pPr>
            <a:lvl6pPr>
              <a:defRPr sz="1350" b="0">
                <a:solidFill>
                  <a:srgbClr val="86EFAC"/>
                </a:solidFill>
              </a:defRPr>
            </a:lvl6pPr>
            <a:lvl7pPr>
              <a:defRPr sz="1350" b="0">
                <a:solidFill>
                  <a:srgbClr val="86EFAC"/>
                </a:solidFill>
              </a:defRPr>
            </a:lvl7pPr>
            <a:lvl8pPr>
              <a:defRPr sz="1350" b="0">
                <a:solidFill>
                  <a:srgbClr val="86EFAC"/>
                </a:solidFill>
              </a:defRPr>
            </a:lvl8pPr>
            <a:lvl9pPr>
              <a:defRPr sz="1350" b="0">
                <a:solidFill>
                  <a:srgbClr val="86EFA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86EFAC"/>
                </a:solidFill>
              </a:defRPr>
            </a:pPr>
            <a:r>
              <a:rPr sz="1350" b="0">
                <a:solidFill>
                  <a:srgbClr val="86EFAC"/>
                </a:solidFill>
              </a:rPr>
              <a:t>Live portfolio diagnostics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E26B4-C4B3-4203-8BA9-225949BC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3A"/>
          </a:solidFill>
          <a:ln xmlns:a="http://schemas.openxmlformats.org/drawingml/2006/main" w="0">
            <a:solidFill>
              <a:srgbClr val="2444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91C67-EBFB-40FC-BF4D-CAFAB1A6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DF4"/>
                </a:solidFill>
              </a:defRPr>
            </a:defPPr>
            <a:lvl1pPr>
              <a:defRPr sz="2850" b="1">
                <a:solidFill>
                  <a:srgbClr val="F0FDF4"/>
                </a:solidFill>
              </a:defRPr>
            </a:lvl1pPr>
            <a:lvl2pPr>
              <a:defRPr sz="2850" b="1">
                <a:solidFill>
                  <a:srgbClr val="F0FDF4"/>
                </a:solidFill>
              </a:defRPr>
            </a:lvl2pPr>
            <a:lvl3pPr>
              <a:defRPr sz="2850" b="1">
                <a:solidFill>
                  <a:srgbClr val="F0FDF4"/>
                </a:solidFill>
              </a:defRPr>
            </a:lvl3pPr>
            <a:lvl4pPr>
              <a:defRPr sz="2850" b="1">
                <a:solidFill>
                  <a:srgbClr val="F0FDF4"/>
                </a:solidFill>
              </a:defRPr>
            </a:lvl4pPr>
            <a:lvl5pPr>
              <a:defRPr sz="2850" b="1">
                <a:solidFill>
                  <a:srgbClr val="F0FDF4"/>
                </a:solidFill>
              </a:defRPr>
            </a:lvl5pPr>
            <a:lvl6pPr>
              <a:defRPr sz="2850" b="1">
                <a:solidFill>
                  <a:srgbClr val="F0FDF4"/>
                </a:solidFill>
              </a:defRPr>
            </a:lvl6pPr>
            <a:lvl7pPr>
              <a:defRPr sz="2850" b="1">
                <a:solidFill>
                  <a:srgbClr val="F0FDF4"/>
                </a:solidFill>
              </a:defRPr>
            </a:lvl7pPr>
            <a:lvl8pPr>
              <a:defRPr sz="2850" b="1">
                <a:solidFill>
                  <a:srgbClr val="F0FDF4"/>
                </a:solidFill>
              </a:defRPr>
            </a:lvl8pPr>
            <a:lvl9pPr>
              <a:defRPr sz="28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DF4"/>
                </a:solidFill>
              </a:defRPr>
            </a:pPr>
            <a:r>
              <a:rPr sz="2850" b="1">
                <a:solidFill>
                  <a:srgbClr val="F0FDF4"/>
                </a:solidFill>
              </a:rPr>
              <a:t>31.6%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D4CCC2-ADEE-4A07-8970-DFF3A51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annual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7857F-BBB3-4356-9D58-CF2EAA4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0FDF4"/>
                </a:solidFill>
              </a:defRPr>
            </a:defPPr>
            <a:lvl1pPr>
              <a:defRPr sz="2850" b="1">
                <a:solidFill>
                  <a:srgbClr val="F0FDF4"/>
                </a:solidFill>
              </a:defRPr>
            </a:lvl1pPr>
            <a:lvl2pPr>
              <a:defRPr sz="2850" b="1">
                <a:solidFill>
                  <a:srgbClr val="F0FDF4"/>
                </a:solidFill>
              </a:defRPr>
            </a:lvl2pPr>
            <a:lvl3pPr>
              <a:defRPr sz="2850" b="1">
                <a:solidFill>
                  <a:srgbClr val="F0FDF4"/>
                </a:solidFill>
              </a:defRPr>
            </a:lvl3pPr>
            <a:lvl4pPr>
              <a:defRPr sz="2850" b="1">
                <a:solidFill>
                  <a:srgbClr val="F0FDF4"/>
                </a:solidFill>
              </a:defRPr>
            </a:lvl4pPr>
            <a:lvl5pPr>
              <a:defRPr sz="2850" b="1">
                <a:solidFill>
                  <a:srgbClr val="F0FDF4"/>
                </a:solidFill>
              </a:defRPr>
            </a:lvl5pPr>
            <a:lvl6pPr>
              <a:defRPr sz="2850" b="1">
                <a:solidFill>
                  <a:srgbClr val="F0FDF4"/>
                </a:solidFill>
              </a:defRPr>
            </a:lvl6pPr>
            <a:lvl7pPr>
              <a:defRPr sz="2850" b="1">
                <a:solidFill>
                  <a:srgbClr val="F0FDF4"/>
                </a:solidFill>
              </a:defRPr>
            </a:lvl7pPr>
            <a:lvl8pPr>
              <a:defRPr sz="2850" b="1">
                <a:solidFill>
                  <a:srgbClr val="F0FDF4"/>
                </a:solidFill>
              </a:defRPr>
            </a:lvl8pPr>
            <a:lvl9pPr>
              <a:defRPr sz="2850" b="1">
                <a:solidFill>
                  <a:srgbClr val="F0FDF4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0FDF4"/>
                </a:solidFill>
              </a:defRPr>
            </a:pPr>
            <a:r>
              <a:rPr sz="2850" b="1">
                <a:solidFill>
                  <a:srgbClr val="F0FDF4"/>
                </a:solidFill>
              </a:rPr>
              <a:t>21.9%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09CD9-2FBA-4321-8F65-8E2C3C12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annual volatility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690C7-58BF-49D3-BF31-3A8FEA2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4ADE80"/>
                </a:solidFill>
              </a:defRPr>
            </a:defPPr>
            <a:lvl1pPr>
              <a:defRPr sz="2850" b="1">
                <a:solidFill>
                  <a:srgbClr val="4ADE80"/>
                </a:solidFill>
              </a:defRPr>
            </a:lvl1pPr>
            <a:lvl2pPr>
              <a:defRPr sz="2850" b="1">
                <a:solidFill>
                  <a:srgbClr val="4ADE80"/>
                </a:solidFill>
              </a:defRPr>
            </a:lvl2pPr>
            <a:lvl3pPr>
              <a:defRPr sz="2850" b="1">
                <a:solidFill>
                  <a:srgbClr val="4ADE80"/>
                </a:solidFill>
              </a:defRPr>
            </a:lvl3pPr>
            <a:lvl4pPr>
              <a:defRPr sz="2850" b="1">
                <a:solidFill>
                  <a:srgbClr val="4ADE80"/>
                </a:solidFill>
              </a:defRPr>
            </a:lvl4pPr>
            <a:lvl5pPr>
              <a:defRPr sz="2850" b="1">
                <a:solidFill>
                  <a:srgbClr val="4ADE80"/>
                </a:solidFill>
              </a:defRPr>
            </a:lvl5pPr>
            <a:lvl6pPr>
              <a:defRPr sz="2850" b="1">
                <a:solidFill>
                  <a:srgbClr val="4ADE80"/>
                </a:solidFill>
              </a:defRPr>
            </a:lvl6pPr>
            <a:lvl7pPr>
              <a:defRPr sz="2850" b="1">
                <a:solidFill>
                  <a:srgbClr val="4ADE80"/>
                </a:solidFill>
              </a:defRPr>
            </a:lvl7pPr>
            <a:lvl8pPr>
              <a:defRPr sz="2850" b="1">
                <a:solidFill>
                  <a:srgbClr val="4ADE80"/>
                </a:solidFill>
              </a:defRPr>
            </a:lvl8pPr>
            <a:lvl9pPr>
              <a:defRPr sz="2850" b="1">
                <a:solidFill>
                  <a:srgbClr val="4ADE80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4ADE80"/>
                </a:solidFill>
              </a:defRPr>
            </a:pPr>
            <a:r>
              <a:rPr sz="2850" b="1">
                <a:solidFill>
                  <a:srgbClr val="4ADE80"/>
                </a:solidFill>
              </a:rPr>
              <a:t>1.28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2C6C3-2880-4451-AD95-25E8A20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Sharpe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A6523-B2D0-48D9-AD10-99C74BDA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B7185"/>
                </a:solidFill>
              </a:defRPr>
            </a:defPPr>
            <a:lvl1pPr>
              <a:defRPr sz="2850" b="1">
                <a:solidFill>
                  <a:srgbClr val="FB7185"/>
                </a:solidFill>
              </a:defRPr>
            </a:lvl1pPr>
            <a:lvl2pPr>
              <a:defRPr sz="2850" b="1">
                <a:solidFill>
                  <a:srgbClr val="FB7185"/>
                </a:solidFill>
              </a:defRPr>
            </a:lvl2pPr>
            <a:lvl3pPr>
              <a:defRPr sz="2850" b="1">
                <a:solidFill>
                  <a:srgbClr val="FB7185"/>
                </a:solidFill>
              </a:defRPr>
            </a:lvl3pPr>
            <a:lvl4pPr>
              <a:defRPr sz="2850" b="1">
                <a:solidFill>
                  <a:srgbClr val="FB7185"/>
                </a:solidFill>
              </a:defRPr>
            </a:lvl4pPr>
            <a:lvl5pPr>
              <a:defRPr sz="2850" b="1">
                <a:solidFill>
                  <a:srgbClr val="FB7185"/>
                </a:solidFill>
              </a:defRPr>
            </a:lvl5pPr>
            <a:lvl6pPr>
              <a:defRPr sz="2850" b="1">
                <a:solidFill>
                  <a:srgbClr val="FB7185"/>
                </a:solidFill>
              </a:defRPr>
            </a:lvl6pPr>
            <a:lvl7pPr>
              <a:defRPr sz="2850" b="1">
                <a:solidFill>
                  <a:srgbClr val="FB7185"/>
                </a:solidFill>
              </a:defRPr>
            </a:lvl7pPr>
            <a:lvl8pPr>
              <a:defRPr sz="2850" b="1">
                <a:solidFill>
                  <a:srgbClr val="FB7185"/>
                </a:solidFill>
              </a:defRPr>
            </a:lvl8pPr>
            <a:lvl9pPr>
              <a:defRPr sz="2850" b="1">
                <a:solidFill>
                  <a:srgbClr val="FB718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B7185"/>
                </a:solidFill>
              </a:defRPr>
            </a:pPr>
            <a:r>
              <a:rPr sz="2850" b="1">
                <a:solidFill>
                  <a:srgbClr val="FB7185"/>
                </a:solidFill>
              </a:rPr>
              <a:t>−34.9%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6585D-21C6-4663-899F-92E443A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7C9A8F"/>
                </a:solidFill>
              </a:defRPr>
            </a:defPPr>
            <a:lvl1pPr>
              <a:defRPr sz="1050" b="0">
                <a:solidFill>
                  <a:srgbClr val="7C9A8F"/>
                </a:solidFill>
              </a:defRPr>
            </a:lvl1pPr>
            <a:lvl2pPr>
              <a:defRPr sz="1050" b="0">
                <a:solidFill>
                  <a:srgbClr val="7C9A8F"/>
                </a:solidFill>
              </a:defRPr>
            </a:lvl2pPr>
            <a:lvl3pPr>
              <a:defRPr sz="1050" b="0">
                <a:solidFill>
                  <a:srgbClr val="7C9A8F"/>
                </a:solidFill>
              </a:defRPr>
            </a:lvl3pPr>
            <a:lvl4pPr>
              <a:defRPr sz="1050" b="0">
                <a:solidFill>
                  <a:srgbClr val="7C9A8F"/>
                </a:solidFill>
              </a:defRPr>
            </a:lvl4pPr>
            <a:lvl5pPr>
              <a:defRPr sz="1050" b="0">
                <a:solidFill>
                  <a:srgbClr val="7C9A8F"/>
                </a:solidFill>
              </a:defRPr>
            </a:lvl5pPr>
            <a:lvl6pPr>
              <a:defRPr sz="1050" b="0">
                <a:solidFill>
                  <a:srgbClr val="7C9A8F"/>
                </a:solidFill>
              </a:defRPr>
            </a:lvl6pPr>
            <a:lvl7pPr>
              <a:defRPr sz="1050" b="0">
                <a:solidFill>
                  <a:srgbClr val="7C9A8F"/>
                </a:solidFill>
              </a:defRPr>
            </a:lvl7pPr>
            <a:lvl8pPr>
              <a:defRPr sz="1050" b="0">
                <a:solidFill>
                  <a:srgbClr val="7C9A8F"/>
                </a:solidFill>
              </a:defRPr>
            </a:lvl8pPr>
            <a:lvl9pPr>
              <a:defRPr sz="1050" b="0">
                <a:solidFill>
                  <a:srgbClr val="7C9A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7C9A8F"/>
                </a:solidFill>
              </a:defRPr>
            </a:pPr>
            <a:r>
              <a:rPr sz="1050" b="0">
                <a:solidFill>
                  <a:srgbClr val="7C9A8F"/>
                </a:solidFill>
              </a:rPr>
              <a:t>maximum drawdown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6C32114B-DCAA-4B04-8742-208858E30660}"/>
              </a:ext>
            </a:extLst>
          </p:cNvPr>
          <p:cNvGraphicFramePr/>
          <p:nvPr/>
        </p:nvGraphicFramePr>
        <p:xfrm>
          <a:off xmlns:a="http://schemas.openxmlformats.org/drawingml/2006/main" x="647700" y="4191000"/>
          <a:ext xmlns:a="http://schemas.openxmlformats.org/drawingml/2006/main" cx="10096500" cy="2038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e8452aa20644c5"/>
          </a:graphicData>
        </a:graphic>
      </p:graphicFrame>
    </p:spTree>
    <p:extLst>
      <p:ext uri="{BB962C8B-B14F-4D97-AF65-F5344CB8AC3E}">
        <p14:creationId xmlns:p14="http://schemas.microsoft.com/office/powerpoint/2010/main" val="1180119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EB08-D384-4894-8CDF-EE091FF8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9A3412"/>
                </a:solidFill>
              </a:defRPr>
            </a:defPPr>
            <a:lvl1pPr>
              <a:defRPr sz="900" b="1">
                <a:solidFill>
                  <a:srgbClr val="9A3412"/>
                </a:solidFill>
              </a:defRPr>
            </a:lvl1pPr>
            <a:lvl2pPr>
              <a:defRPr sz="900" b="1">
                <a:solidFill>
                  <a:srgbClr val="9A3412"/>
                </a:solidFill>
              </a:defRPr>
            </a:lvl2pPr>
            <a:lvl3pPr>
              <a:defRPr sz="900" b="1">
                <a:solidFill>
                  <a:srgbClr val="9A3412"/>
                </a:solidFill>
              </a:defRPr>
            </a:lvl3pPr>
            <a:lvl4pPr>
              <a:defRPr sz="900" b="1">
                <a:solidFill>
                  <a:srgbClr val="9A3412"/>
                </a:solidFill>
              </a:defRPr>
            </a:lvl4pPr>
            <a:lvl5pPr>
              <a:defRPr sz="900" b="1">
                <a:solidFill>
                  <a:srgbClr val="9A3412"/>
                </a:solidFill>
              </a:defRPr>
            </a:lvl5pPr>
            <a:lvl6pPr>
              <a:defRPr sz="900" b="1">
                <a:solidFill>
                  <a:srgbClr val="9A3412"/>
                </a:solidFill>
              </a:defRPr>
            </a:lvl6pPr>
            <a:lvl7pPr>
              <a:defRPr sz="900" b="1">
                <a:solidFill>
                  <a:srgbClr val="9A3412"/>
                </a:solidFill>
              </a:defRPr>
            </a:lvl7pPr>
            <a:lvl8pPr>
              <a:defRPr sz="900" b="1">
                <a:solidFill>
                  <a:srgbClr val="9A3412"/>
                </a:solidFill>
              </a:defRPr>
            </a:lvl8pPr>
            <a:lvl9pPr>
              <a:defRPr sz="900" b="1">
                <a:solidFill>
                  <a:srgbClr val="9A3412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9A3412"/>
                </a:solidFill>
              </a:defRPr>
            </a:pPr>
            <a:r>
              <a:rPr sz="900" b="1">
                <a:solidFill>
                  <a:srgbClr val="9A3412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9DF3A-1C1F-46AE-818D-F7A0EB9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EDITORIAL IVORY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2F1D5-8283-4400-ABD0-B909B88C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F2933"/>
                </a:solidFill>
              </a:defRPr>
            </a:defPPr>
            <a:lvl1pPr>
              <a:defRPr sz="3225" b="1">
                <a:solidFill>
                  <a:srgbClr val="1F2933"/>
                </a:solidFill>
              </a:defRPr>
            </a:lvl1pPr>
            <a:lvl2pPr>
              <a:defRPr sz="3225" b="1">
                <a:solidFill>
                  <a:srgbClr val="1F2933"/>
                </a:solidFill>
              </a:defRPr>
            </a:lvl2pPr>
            <a:lvl3pPr>
              <a:defRPr sz="3225" b="1">
                <a:solidFill>
                  <a:srgbClr val="1F2933"/>
                </a:solidFill>
              </a:defRPr>
            </a:lvl3pPr>
            <a:lvl4pPr>
              <a:defRPr sz="3225" b="1">
                <a:solidFill>
                  <a:srgbClr val="1F2933"/>
                </a:solidFill>
              </a:defRPr>
            </a:lvl4pPr>
            <a:lvl5pPr>
              <a:defRPr sz="3225" b="1">
                <a:solidFill>
                  <a:srgbClr val="1F2933"/>
                </a:solidFill>
              </a:defRPr>
            </a:lvl5pPr>
            <a:lvl6pPr>
              <a:defRPr sz="3225" b="1">
                <a:solidFill>
                  <a:srgbClr val="1F2933"/>
                </a:solidFill>
              </a:defRPr>
            </a:lvl6pPr>
            <a:lvl7pPr>
              <a:defRPr sz="3225" b="1">
                <a:solidFill>
                  <a:srgbClr val="1F2933"/>
                </a:solidFill>
              </a:defRPr>
            </a:lvl7pPr>
            <a:lvl8pPr>
              <a:defRPr sz="3225" b="1">
                <a:solidFill>
                  <a:srgbClr val="1F2933"/>
                </a:solidFill>
              </a:defRPr>
            </a:lvl8pPr>
            <a:lvl9pPr>
              <a:defRPr sz="3225" b="1">
                <a:solidFill>
                  <a:srgbClr val="1F2933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F2933"/>
                </a:solidFill>
              </a:defRPr>
            </a:pPr>
            <a:r>
              <a:rPr sz="3225" b="1">
                <a:solidFill>
                  <a:srgbClr val="1F2933"/>
                </a:solidFill>
              </a:rPr>
              <a:t>How much can the portfolio lose</a:t>
            </a:r>
          </a:p>
          <a:p xmlns:a="http://schemas.openxmlformats.org/drawingml/2006/main">
            <a:pPr>
              <a:defRPr sz="3225" b="1">
                <a:solidFill>
                  <a:srgbClr val="1F2933"/>
                </a:solidFill>
              </a:defRPr>
            </a:pPr>
            <a:r>
              <a:rPr sz="3225" b="1">
                <a:solidFill>
                  <a:srgbClr val="1F2933"/>
                </a:solidFill>
              </a:rPr>
              <a:t>on a difficult trading day?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CB20B-3621-476C-870B-5143D116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C6C2B-9E1C-43DC-9D71-D8F894DA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14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3F4A54"/>
                </a:solidFill>
              </a:defRPr>
            </a:defPPr>
            <a:lvl1pPr>
              <a:defRPr sz="1650" b="0">
                <a:solidFill>
                  <a:srgbClr val="3F4A54"/>
                </a:solidFill>
              </a:defRPr>
            </a:lvl1pPr>
            <a:lvl2pPr>
              <a:defRPr sz="1650" b="0">
                <a:solidFill>
                  <a:srgbClr val="3F4A54"/>
                </a:solidFill>
              </a:defRPr>
            </a:lvl2pPr>
            <a:lvl3pPr>
              <a:defRPr sz="1650" b="0">
                <a:solidFill>
                  <a:srgbClr val="3F4A54"/>
                </a:solidFill>
              </a:defRPr>
            </a:lvl3pPr>
            <a:lvl4pPr>
              <a:defRPr sz="1650" b="0">
                <a:solidFill>
                  <a:srgbClr val="3F4A54"/>
                </a:solidFill>
              </a:defRPr>
            </a:lvl4pPr>
            <a:lvl5pPr>
              <a:defRPr sz="1650" b="0">
                <a:solidFill>
                  <a:srgbClr val="3F4A54"/>
                </a:solidFill>
              </a:defRPr>
            </a:lvl5pPr>
            <a:lvl6pPr>
              <a:defRPr sz="1650" b="0">
                <a:solidFill>
                  <a:srgbClr val="3F4A54"/>
                </a:solidFill>
              </a:defRPr>
            </a:lvl6pPr>
            <a:lvl7pPr>
              <a:defRPr sz="1650" b="0">
                <a:solidFill>
                  <a:srgbClr val="3F4A54"/>
                </a:solidFill>
              </a:defRPr>
            </a:lvl7pPr>
            <a:lvl8pPr>
              <a:defRPr sz="1650" b="0">
                <a:solidFill>
                  <a:srgbClr val="3F4A54"/>
                </a:solidFill>
              </a:defRPr>
            </a:lvl8pPr>
            <a:lvl9pPr>
              <a:defRPr sz="1650" b="0">
                <a:solidFill>
                  <a:srgbClr val="3F4A54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3F4A54"/>
                </a:solidFill>
              </a:defRPr>
            </a:pPr>
            <a:r>
              <a:rPr sz="1650" b="0">
                <a:solidFill>
                  <a:srgbClr val="3F4A54"/>
                </a:solidFill>
              </a:rPr>
              <a:t>The models place one-day loss at risk between 2.36% and 3.37% at the selected confidence level.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011D2-753A-4833-A273-603B97C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146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9A3412"/>
                </a:solidFill>
              </a:defRPr>
            </a:defPPr>
            <a:lvl1pPr>
              <a:defRPr sz="4950" b="1">
                <a:solidFill>
                  <a:srgbClr val="9A3412"/>
                </a:solidFill>
              </a:defRPr>
            </a:lvl1pPr>
            <a:lvl2pPr>
              <a:defRPr sz="4950" b="1">
                <a:solidFill>
                  <a:srgbClr val="9A3412"/>
                </a:solidFill>
              </a:defRPr>
            </a:lvl2pPr>
            <a:lvl3pPr>
              <a:defRPr sz="4950" b="1">
                <a:solidFill>
                  <a:srgbClr val="9A3412"/>
                </a:solidFill>
              </a:defRPr>
            </a:lvl3pPr>
            <a:lvl4pPr>
              <a:defRPr sz="4950" b="1">
                <a:solidFill>
                  <a:srgbClr val="9A3412"/>
                </a:solidFill>
              </a:defRPr>
            </a:lvl4pPr>
            <a:lvl5pPr>
              <a:defRPr sz="4950" b="1">
                <a:solidFill>
                  <a:srgbClr val="9A3412"/>
                </a:solidFill>
              </a:defRPr>
            </a:lvl5pPr>
            <a:lvl6pPr>
              <a:defRPr sz="4950" b="1">
                <a:solidFill>
                  <a:srgbClr val="9A3412"/>
                </a:solidFill>
              </a:defRPr>
            </a:lvl6pPr>
            <a:lvl7pPr>
              <a:defRPr sz="4950" b="1">
                <a:solidFill>
                  <a:srgbClr val="9A3412"/>
                </a:solidFill>
              </a:defRPr>
            </a:lvl7pPr>
            <a:lvl8pPr>
              <a:defRPr sz="4950" b="1">
                <a:solidFill>
                  <a:srgbClr val="9A3412"/>
                </a:solidFill>
              </a:defRPr>
            </a:lvl8pPr>
            <a:lvl9pPr>
              <a:defRPr sz="4950" b="1">
                <a:solidFill>
                  <a:srgbClr val="9A3412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9A3412"/>
                </a:solidFill>
              </a:defRPr>
            </a:pPr>
            <a:r>
              <a:rPr sz="4950" b="1">
                <a:solidFill>
                  <a:srgbClr val="9A3412"/>
                </a:solidFill>
              </a:rPr>
              <a:t>3.37%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DAA68-3F75-4CAB-83A1-CD51FFC5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B6258"/>
                </a:solidFill>
              </a:defRPr>
            </a:defPPr>
            <a:lvl1pPr>
              <a:defRPr sz="1200" b="0">
                <a:solidFill>
                  <a:srgbClr val="6B6258"/>
                </a:solidFill>
              </a:defRPr>
            </a:lvl1pPr>
            <a:lvl2pPr>
              <a:defRPr sz="1200" b="0">
                <a:solidFill>
                  <a:srgbClr val="6B6258"/>
                </a:solidFill>
              </a:defRPr>
            </a:lvl2pPr>
            <a:lvl3pPr>
              <a:defRPr sz="1200" b="0">
                <a:solidFill>
                  <a:srgbClr val="6B6258"/>
                </a:solidFill>
              </a:defRPr>
            </a:lvl3pPr>
            <a:lvl4pPr>
              <a:defRPr sz="1200" b="0">
                <a:solidFill>
                  <a:srgbClr val="6B6258"/>
                </a:solidFill>
              </a:defRPr>
            </a:lvl4pPr>
            <a:lvl5pPr>
              <a:defRPr sz="1200" b="0">
                <a:solidFill>
                  <a:srgbClr val="6B6258"/>
                </a:solidFill>
              </a:defRPr>
            </a:lvl5pPr>
            <a:lvl6pPr>
              <a:defRPr sz="1200" b="0">
                <a:solidFill>
                  <a:srgbClr val="6B6258"/>
                </a:solidFill>
              </a:defRPr>
            </a:lvl6pPr>
            <a:lvl7pPr>
              <a:defRPr sz="1200" b="0">
                <a:solidFill>
                  <a:srgbClr val="6B6258"/>
                </a:solidFill>
              </a:defRPr>
            </a:lvl7pPr>
            <a:lvl8pPr>
              <a:defRPr sz="1200" b="0">
                <a:solidFill>
                  <a:srgbClr val="6B6258"/>
                </a:solidFill>
              </a:defRPr>
            </a:lvl8pPr>
            <a:lvl9pPr>
              <a:defRPr sz="1200" b="0">
                <a:solidFill>
                  <a:srgbClr val="6B625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B6258"/>
                </a:solidFill>
              </a:defRPr>
            </a:pPr>
            <a:r>
              <a:rPr sz="1200" b="0">
                <a:solidFill>
                  <a:srgbClr val="6B6258"/>
                </a:solidFill>
              </a:rPr>
              <a:t>Historical Simulation VaR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D5D76-E5D2-4169-9533-9BF2C2E0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 i="1">
                <a:solidFill>
                  <a:srgbClr val="6B6258"/>
                </a:solidFill>
              </a:defRPr>
            </a:defPPr>
            <a:lvl1pPr>
              <a:defRPr sz="1125" b="0" i="1">
                <a:solidFill>
                  <a:srgbClr val="6B6258"/>
                </a:solidFill>
              </a:defRPr>
            </a:lvl1pPr>
            <a:lvl2pPr>
              <a:defRPr sz="1125" b="0" i="1">
                <a:solidFill>
                  <a:srgbClr val="6B6258"/>
                </a:solidFill>
              </a:defRPr>
            </a:lvl2pPr>
            <a:lvl3pPr>
              <a:defRPr sz="1125" b="0" i="1">
                <a:solidFill>
                  <a:srgbClr val="6B6258"/>
                </a:solidFill>
              </a:defRPr>
            </a:lvl3pPr>
            <a:lvl4pPr>
              <a:defRPr sz="1125" b="0" i="1">
                <a:solidFill>
                  <a:srgbClr val="6B6258"/>
                </a:solidFill>
              </a:defRPr>
            </a:lvl4pPr>
            <a:lvl5pPr>
              <a:defRPr sz="1125" b="0" i="1">
                <a:solidFill>
                  <a:srgbClr val="6B6258"/>
                </a:solidFill>
              </a:defRPr>
            </a:lvl5pPr>
            <a:lvl6pPr>
              <a:defRPr sz="1125" b="0" i="1">
                <a:solidFill>
                  <a:srgbClr val="6B6258"/>
                </a:solidFill>
              </a:defRPr>
            </a:lvl6pPr>
            <a:lvl7pPr>
              <a:defRPr sz="1125" b="0" i="1">
                <a:solidFill>
                  <a:srgbClr val="6B6258"/>
                </a:solidFill>
              </a:defRPr>
            </a:lvl7pPr>
            <a:lvl8pPr>
              <a:defRPr sz="1125" b="0" i="1">
                <a:solidFill>
                  <a:srgbClr val="6B6258"/>
                </a:solidFill>
              </a:defRPr>
            </a:lvl8pPr>
            <a:lvl9pPr>
              <a:defRPr sz="1125" b="0" i="1">
                <a:solidFill>
                  <a:srgbClr val="6B6258"/>
                </a:solidFill>
              </a:defRPr>
            </a:lvl9pPr>
          </a:lstStyle>
          <a:p xmlns:a="http://schemas.openxmlformats.org/drawingml/2006/main">
            <a:pPr>
              <a:defRPr sz="1125" b="0" i="1">
                <a:solidFill>
                  <a:srgbClr val="6B6258"/>
                </a:solidFill>
              </a:defRPr>
            </a:pPr>
            <a:r>
              <a:rPr sz="1125" b="0" i="1">
                <a:solidFill>
                  <a:srgbClr val="6B6258"/>
                </a:solidFill>
              </a:rPr>
              <a:t>A restrained report style for an academic panel or investment committee.</a:t>
            </a:r>
          </a:p>
        </p:txBody>
      </p:sp>
    </p:spTree>
    <p:extLst>
      <p:ext uri="{BB962C8B-B14F-4D97-AF65-F5344CB8AC3E}">
        <p14:creationId xmlns:p14="http://schemas.microsoft.com/office/powerpoint/2010/main" val="1883660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343D5-D1F2-414E-8A56-BBD5618C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9F1239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FD503-312A-4D25-A16B-3F23974A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6"/>
          </a:solidFill>
          <a:ln xmlns:a="http://schemas.openxmlformats.org/drawingml/2006/main" w="0">
            <a:solidFill>
              <a:srgbClr val="FFF8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2CC58-F591-4B59-859D-F5FE2E65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ECDD3"/>
                </a:solidFill>
              </a:defRPr>
            </a:defPPr>
            <a:lvl1pPr>
              <a:defRPr sz="900" b="1">
                <a:solidFill>
                  <a:srgbClr val="FECDD3"/>
                </a:solidFill>
              </a:defRPr>
            </a:lvl1pPr>
            <a:lvl2pPr>
              <a:defRPr sz="900" b="1">
                <a:solidFill>
                  <a:srgbClr val="FECDD3"/>
                </a:solidFill>
              </a:defRPr>
            </a:lvl2pPr>
            <a:lvl3pPr>
              <a:defRPr sz="900" b="1">
                <a:solidFill>
                  <a:srgbClr val="FECDD3"/>
                </a:solidFill>
              </a:defRPr>
            </a:lvl3pPr>
            <a:lvl4pPr>
              <a:defRPr sz="900" b="1">
                <a:solidFill>
                  <a:srgbClr val="FECDD3"/>
                </a:solidFill>
              </a:defRPr>
            </a:lvl4pPr>
            <a:lvl5pPr>
              <a:defRPr sz="900" b="1">
                <a:solidFill>
                  <a:srgbClr val="FECDD3"/>
                </a:solidFill>
              </a:defRPr>
            </a:lvl5pPr>
            <a:lvl6pPr>
              <a:defRPr sz="900" b="1">
                <a:solidFill>
                  <a:srgbClr val="FECDD3"/>
                </a:solidFill>
              </a:defRPr>
            </a:lvl6pPr>
            <a:lvl7pPr>
              <a:defRPr sz="900" b="1">
                <a:solidFill>
                  <a:srgbClr val="FECDD3"/>
                </a:solidFill>
              </a:defRPr>
            </a:lvl7pPr>
            <a:lvl8pPr>
              <a:defRPr sz="900" b="1">
                <a:solidFill>
                  <a:srgbClr val="FECDD3"/>
                </a:solidFill>
              </a:defRPr>
            </a:lvl8pPr>
            <a:lvl9pPr>
              <a:defRPr sz="900" b="1">
                <a:solidFill>
                  <a:srgbClr val="FECDD3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ECDD3"/>
                </a:solidFill>
              </a:defRPr>
            </a:pPr>
            <a:r>
              <a:rPr sz="900" b="1">
                <a:solidFill>
                  <a:srgbClr val="FECDD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86A84-53F9-473F-A2C6-AF9CD39D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RISK SIGNAL 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659D3-EA77-44F9-8C5E-FB407D88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STRESS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293AE-386E-4B76-8868-09A8885B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E4E6"/>
                </a:solidFill>
              </a:defRPr>
            </a:defPPr>
            <a:lvl1pPr>
              <a:defRPr sz="1350" b="0">
                <a:solidFill>
                  <a:srgbClr val="FFE4E6"/>
                </a:solidFill>
              </a:defRPr>
            </a:lvl1pPr>
            <a:lvl2pPr>
              <a:defRPr sz="1350" b="0">
                <a:solidFill>
                  <a:srgbClr val="FFE4E6"/>
                </a:solidFill>
              </a:defRPr>
            </a:lvl2pPr>
            <a:lvl3pPr>
              <a:defRPr sz="1350" b="0">
                <a:solidFill>
                  <a:srgbClr val="FFE4E6"/>
                </a:solidFill>
              </a:defRPr>
            </a:lvl3pPr>
            <a:lvl4pPr>
              <a:defRPr sz="1350" b="0">
                <a:solidFill>
                  <a:srgbClr val="FFE4E6"/>
                </a:solidFill>
              </a:defRPr>
            </a:lvl4pPr>
            <a:lvl5pPr>
              <a:defRPr sz="1350" b="0">
                <a:solidFill>
                  <a:srgbClr val="FFE4E6"/>
                </a:solidFill>
              </a:defRPr>
            </a:lvl5pPr>
            <a:lvl6pPr>
              <a:defRPr sz="1350" b="0">
                <a:solidFill>
                  <a:srgbClr val="FFE4E6"/>
                </a:solidFill>
              </a:defRPr>
            </a:lvl6pPr>
            <a:lvl7pPr>
              <a:defRPr sz="1350" b="0">
                <a:solidFill>
                  <a:srgbClr val="FFE4E6"/>
                </a:solidFill>
              </a:defRPr>
            </a:lvl7pPr>
            <a:lvl8pPr>
              <a:defRPr sz="1350" b="0">
                <a:solidFill>
                  <a:srgbClr val="FFE4E6"/>
                </a:solidFill>
              </a:defRPr>
            </a:lvl8pPr>
            <a:lvl9pPr>
              <a:defRPr sz="1350" b="0">
                <a:solidFill>
                  <a:srgbClr val="FFE4E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FE4E6"/>
                </a:solidFill>
              </a:defRPr>
            </a:pPr>
            <a:r>
              <a:rPr sz="1350" b="0">
                <a:solidFill>
                  <a:srgbClr val="FFE4E6"/>
                </a:solidFill>
              </a:rPr>
              <a:t>Historical crises replayed on today’s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5D8D7-FF0F-419A-8339-B97D9BF8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19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7F1D1D"/>
                </a:solidFill>
              </a:defRPr>
            </a:defPPr>
            <a:lvl1pPr>
              <a:defRPr sz="1275" b="0">
                <a:solidFill>
                  <a:srgbClr val="7F1D1D"/>
                </a:solidFill>
              </a:defRPr>
            </a:lvl1pPr>
            <a:lvl2pPr>
              <a:defRPr sz="1275" b="0">
                <a:solidFill>
                  <a:srgbClr val="7F1D1D"/>
                </a:solidFill>
              </a:defRPr>
            </a:lvl2pPr>
            <a:lvl3pPr>
              <a:defRPr sz="1275" b="0">
                <a:solidFill>
                  <a:srgbClr val="7F1D1D"/>
                </a:solidFill>
              </a:defRPr>
            </a:lvl3pPr>
            <a:lvl4pPr>
              <a:defRPr sz="1275" b="0">
                <a:solidFill>
                  <a:srgbClr val="7F1D1D"/>
                </a:solidFill>
              </a:defRPr>
            </a:lvl4pPr>
            <a:lvl5pPr>
              <a:defRPr sz="1275" b="0">
                <a:solidFill>
                  <a:srgbClr val="7F1D1D"/>
                </a:solidFill>
              </a:defRPr>
            </a:lvl5pPr>
            <a:lvl6pPr>
              <a:defRPr sz="1275" b="0">
                <a:solidFill>
                  <a:srgbClr val="7F1D1D"/>
                </a:solidFill>
              </a:defRPr>
            </a:lvl6pPr>
            <a:lvl7pPr>
              <a:defRPr sz="1275" b="0">
                <a:solidFill>
                  <a:srgbClr val="7F1D1D"/>
                </a:solidFill>
              </a:defRPr>
            </a:lvl7pPr>
            <a:lvl8pPr>
              <a:defRPr sz="1275" b="0">
                <a:solidFill>
                  <a:srgbClr val="7F1D1D"/>
                </a:solidFill>
              </a:defRPr>
            </a:lvl8pPr>
            <a:lvl9pPr>
              <a:defRPr sz="1275" b="0">
                <a:solidFill>
                  <a:srgbClr val="7F1D1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7F1D1D"/>
                </a:solidFill>
              </a:defRPr>
            </a:pPr>
            <a:r>
              <a:rPr sz="1275" b="0">
                <a:solidFill>
                  <a:srgbClr val="7F1D1D"/>
                </a:solidFill>
              </a:rPr>
              <a:t>Worst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56B3D-1592-42EB-B10D-D9183C9C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6205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9F1239"/>
                </a:solidFill>
              </a:defRPr>
            </a:defPPr>
            <a:lvl1pPr>
              <a:defRPr sz="4200" b="1">
                <a:solidFill>
                  <a:srgbClr val="9F1239"/>
                </a:solidFill>
              </a:defRPr>
            </a:lvl1pPr>
            <a:lvl2pPr>
              <a:defRPr sz="4200" b="1">
                <a:solidFill>
                  <a:srgbClr val="9F1239"/>
                </a:solidFill>
              </a:defRPr>
            </a:lvl2pPr>
            <a:lvl3pPr>
              <a:defRPr sz="4200" b="1">
                <a:solidFill>
                  <a:srgbClr val="9F1239"/>
                </a:solidFill>
              </a:defRPr>
            </a:lvl3pPr>
            <a:lvl4pPr>
              <a:defRPr sz="4200" b="1">
                <a:solidFill>
                  <a:srgbClr val="9F1239"/>
                </a:solidFill>
              </a:defRPr>
            </a:lvl4pPr>
            <a:lvl5pPr>
              <a:defRPr sz="4200" b="1">
                <a:solidFill>
                  <a:srgbClr val="9F1239"/>
                </a:solidFill>
              </a:defRPr>
            </a:lvl5pPr>
            <a:lvl6pPr>
              <a:defRPr sz="4200" b="1">
                <a:solidFill>
                  <a:srgbClr val="9F1239"/>
                </a:solidFill>
              </a:defRPr>
            </a:lvl6pPr>
            <a:lvl7pPr>
              <a:defRPr sz="4200" b="1">
                <a:solidFill>
                  <a:srgbClr val="9F1239"/>
                </a:solidFill>
              </a:defRPr>
            </a:lvl7pPr>
            <a:lvl8pPr>
              <a:defRPr sz="4200" b="1">
                <a:solidFill>
                  <a:srgbClr val="9F1239"/>
                </a:solidFill>
              </a:defRPr>
            </a:lvl8pPr>
            <a:lvl9pPr>
              <a:defRPr sz="4200" b="1">
                <a:solidFill>
                  <a:srgbClr val="9F1239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9F1239"/>
                </a:solidFill>
              </a:defRPr>
            </a:pPr>
            <a:r>
              <a:rPr sz="4200" b="1">
                <a:solidFill>
                  <a:srgbClr val="9F1239"/>
                </a:solidFill>
              </a:rPr>
              <a:t>$4.40M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628D3-B7C6-40B0-869F-42FA36BD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B2937"/>
                </a:solidFill>
              </a:defRPr>
            </a:defPPr>
            <a:lvl1pPr>
              <a:defRPr sz="1275" b="0">
                <a:solidFill>
                  <a:srgbClr val="6B2937"/>
                </a:solidFill>
              </a:defRPr>
            </a:lvl1pPr>
            <a:lvl2pPr>
              <a:defRPr sz="1275" b="0">
                <a:solidFill>
                  <a:srgbClr val="6B2937"/>
                </a:solidFill>
              </a:defRPr>
            </a:lvl2pPr>
            <a:lvl3pPr>
              <a:defRPr sz="1275" b="0">
                <a:solidFill>
                  <a:srgbClr val="6B2937"/>
                </a:solidFill>
              </a:defRPr>
            </a:lvl3pPr>
            <a:lvl4pPr>
              <a:defRPr sz="1275" b="0">
                <a:solidFill>
                  <a:srgbClr val="6B2937"/>
                </a:solidFill>
              </a:defRPr>
            </a:lvl4pPr>
            <a:lvl5pPr>
              <a:defRPr sz="1275" b="0">
                <a:solidFill>
                  <a:srgbClr val="6B2937"/>
                </a:solidFill>
              </a:defRPr>
            </a:lvl5pPr>
            <a:lvl6pPr>
              <a:defRPr sz="1275" b="0">
                <a:solidFill>
                  <a:srgbClr val="6B2937"/>
                </a:solidFill>
              </a:defRPr>
            </a:lvl6pPr>
            <a:lvl7pPr>
              <a:defRPr sz="1275" b="0">
                <a:solidFill>
                  <a:srgbClr val="6B2937"/>
                </a:solidFill>
              </a:defRPr>
            </a:lvl7pPr>
            <a:lvl8pPr>
              <a:defRPr sz="1275" b="0">
                <a:solidFill>
                  <a:srgbClr val="6B2937"/>
                </a:solidFill>
              </a:defRPr>
            </a:lvl8pPr>
            <a:lvl9pPr>
              <a:defRPr sz="1275" b="0">
                <a:solidFill>
                  <a:srgbClr val="6B293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B2937"/>
                </a:solidFill>
              </a:defRPr>
            </a:pPr>
            <a:r>
              <a:rPr sz="1275" b="0">
                <a:solidFill>
                  <a:srgbClr val="6B2937"/>
                </a:solidFill>
              </a:rPr>
              <a:t>2008 financial crisis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67A9B-1520-471D-A26B-9FCAD1D7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2008 crisis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CF5AF-4098-4757-988F-B80B11F2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1239"/>
          </a:solidFill>
          <a:ln xmlns:a="http://schemas.openxmlformats.org/drawingml/2006/main" w="0">
            <a:solidFill>
              <a:srgbClr val="9F123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77D8D-D153-4F47-B471-D390D8A5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COVID crash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0CF2F-67EE-4683-A688-641068EF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7C9EAC-EBD1-4C1A-96AF-83FEC62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Inflation 2022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6A7D4-20C5-49A7-A623-30E1E14F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325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A39F2-43BB-4377-8668-B8328337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958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F2833"/>
                </a:solidFill>
              </a:defRPr>
            </a:defPPr>
            <a:lvl1pPr>
              <a:defRPr sz="1050" b="0">
                <a:solidFill>
                  <a:srgbClr val="5F2833"/>
                </a:solidFill>
              </a:defRPr>
            </a:lvl1pPr>
            <a:lvl2pPr>
              <a:defRPr sz="1050" b="0">
                <a:solidFill>
                  <a:srgbClr val="5F2833"/>
                </a:solidFill>
              </a:defRPr>
            </a:lvl2pPr>
            <a:lvl3pPr>
              <a:defRPr sz="1050" b="0">
                <a:solidFill>
                  <a:srgbClr val="5F2833"/>
                </a:solidFill>
              </a:defRPr>
            </a:lvl3pPr>
            <a:lvl4pPr>
              <a:defRPr sz="1050" b="0">
                <a:solidFill>
                  <a:srgbClr val="5F2833"/>
                </a:solidFill>
              </a:defRPr>
            </a:lvl4pPr>
            <a:lvl5pPr>
              <a:defRPr sz="1050" b="0">
                <a:solidFill>
                  <a:srgbClr val="5F2833"/>
                </a:solidFill>
              </a:defRPr>
            </a:lvl5pPr>
            <a:lvl6pPr>
              <a:defRPr sz="1050" b="0">
                <a:solidFill>
                  <a:srgbClr val="5F2833"/>
                </a:solidFill>
              </a:defRPr>
            </a:lvl6pPr>
            <a:lvl7pPr>
              <a:defRPr sz="1050" b="0">
                <a:solidFill>
                  <a:srgbClr val="5F2833"/>
                </a:solidFill>
              </a:defRPr>
            </a:lvl7pPr>
            <a:lvl8pPr>
              <a:defRPr sz="1050" b="0">
                <a:solidFill>
                  <a:srgbClr val="5F2833"/>
                </a:solidFill>
              </a:defRPr>
            </a:lvl8pPr>
            <a:lvl9pPr>
              <a:defRPr sz="1050" b="0">
                <a:solidFill>
                  <a:srgbClr val="5F283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F2833"/>
                </a:solidFill>
              </a:defRPr>
            </a:pPr>
            <a:r>
              <a:rPr sz="1050" b="0">
                <a:solidFill>
                  <a:srgbClr val="5F2833"/>
                </a:solidFill>
              </a:rPr>
              <a:t>Tech selloff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2DEDD-C231-4A25-BAEF-0B64F2F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solidFill>
              <a:srgbClr val="FDA4A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6050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1E9B2-A72D-42C6-A551-E223198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F766E"/>
                </a:solidFill>
              </a:defRPr>
            </a:defPPr>
            <a:lvl1pPr>
              <a:defRPr sz="900" b="1">
                <a:solidFill>
                  <a:srgbClr val="0F766E"/>
                </a:solidFill>
              </a:defRPr>
            </a:lvl1pPr>
            <a:lvl2pPr>
              <a:defRPr sz="900" b="1">
                <a:solidFill>
                  <a:srgbClr val="0F766E"/>
                </a:solidFill>
              </a:defRPr>
            </a:lvl2pPr>
            <a:lvl3pPr>
              <a:defRPr sz="900" b="1">
                <a:solidFill>
                  <a:srgbClr val="0F766E"/>
                </a:solidFill>
              </a:defRPr>
            </a:lvl3pPr>
            <a:lvl4pPr>
              <a:defRPr sz="900" b="1">
                <a:solidFill>
                  <a:srgbClr val="0F766E"/>
                </a:solidFill>
              </a:defRPr>
            </a:lvl4pPr>
            <a:lvl5pPr>
              <a:defRPr sz="900" b="1">
                <a:solidFill>
                  <a:srgbClr val="0F766E"/>
                </a:solidFill>
              </a:defRPr>
            </a:lvl5pPr>
            <a:lvl6pPr>
              <a:defRPr sz="900" b="1">
                <a:solidFill>
                  <a:srgbClr val="0F766E"/>
                </a:solidFill>
              </a:defRPr>
            </a:lvl6pPr>
            <a:lvl7pPr>
              <a:defRPr sz="900" b="1">
                <a:solidFill>
                  <a:srgbClr val="0F766E"/>
                </a:solidFill>
              </a:defRPr>
            </a:lvl7pPr>
            <a:lvl8pPr>
              <a:defRPr sz="900" b="1">
                <a:solidFill>
                  <a:srgbClr val="0F766E"/>
                </a:solidFill>
              </a:defRPr>
            </a:lvl8pPr>
            <a:lvl9pPr>
              <a:defRPr sz="9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C686E-E8E8-4950-B12C-B36F3D0B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TEAL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FC675-A022-40E2-BDD2-AD4F6839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4E4A"/>
                </a:solidFill>
              </a:defRPr>
            </a:defPPr>
            <a:lvl1pPr>
              <a:defRPr sz="2850" b="1">
                <a:solidFill>
                  <a:srgbClr val="134E4A"/>
                </a:solidFill>
              </a:defRPr>
            </a:lvl1pPr>
            <a:lvl2pPr>
              <a:defRPr sz="2850" b="1">
                <a:solidFill>
                  <a:srgbClr val="134E4A"/>
                </a:solidFill>
              </a:defRPr>
            </a:lvl2pPr>
            <a:lvl3pPr>
              <a:defRPr sz="2850" b="1">
                <a:solidFill>
                  <a:srgbClr val="134E4A"/>
                </a:solidFill>
              </a:defRPr>
            </a:lvl3pPr>
            <a:lvl4pPr>
              <a:defRPr sz="2850" b="1">
                <a:solidFill>
                  <a:srgbClr val="134E4A"/>
                </a:solidFill>
              </a:defRPr>
            </a:lvl4pPr>
            <a:lvl5pPr>
              <a:defRPr sz="2850" b="1">
                <a:solidFill>
                  <a:srgbClr val="134E4A"/>
                </a:solidFill>
              </a:defRPr>
            </a:lvl5pPr>
            <a:lvl6pPr>
              <a:defRPr sz="2850" b="1">
                <a:solidFill>
                  <a:srgbClr val="134E4A"/>
                </a:solidFill>
              </a:defRPr>
            </a:lvl6pPr>
            <a:lvl7pPr>
              <a:defRPr sz="2850" b="1">
                <a:solidFill>
                  <a:srgbClr val="134E4A"/>
                </a:solidFill>
              </a:defRPr>
            </a:lvl7pPr>
            <a:lvl8pPr>
              <a:defRPr sz="2850" b="1">
                <a:solidFill>
                  <a:srgbClr val="134E4A"/>
                </a:solidFill>
              </a:defRPr>
            </a:lvl8pPr>
            <a:lvl9pPr>
              <a:defRPr sz="2850" b="1">
                <a:solidFill>
                  <a:srgbClr val="134E4A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4E4A"/>
                </a:solidFill>
              </a:defRPr>
            </a:pPr>
            <a:r>
              <a:rPr sz="2850" b="1">
                <a:solidFill>
                  <a:srgbClr val="134E4A"/>
                </a:solidFill>
              </a:rPr>
              <a:t>VaR model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2442-6C12-4C66-891E-A38C6418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85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477774"/>
                </a:solidFill>
              </a:defRPr>
            </a:defPPr>
            <a:lvl1pPr>
              <a:defRPr sz="1275" b="0">
                <a:solidFill>
                  <a:srgbClr val="477774"/>
                </a:solidFill>
              </a:defRPr>
            </a:lvl1pPr>
            <a:lvl2pPr>
              <a:defRPr sz="1275" b="0">
                <a:solidFill>
                  <a:srgbClr val="477774"/>
                </a:solidFill>
              </a:defRPr>
            </a:lvl2pPr>
            <a:lvl3pPr>
              <a:defRPr sz="1275" b="0">
                <a:solidFill>
                  <a:srgbClr val="477774"/>
                </a:solidFill>
              </a:defRPr>
            </a:lvl3pPr>
            <a:lvl4pPr>
              <a:defRPr sz="1275" b="0">
                <a:solidFill>
                  <a:srgbClr val="477774"/>
                </a:solidFill>
              </a:defRPr>
            </a:lvl4pPr>
            <a:lvl5pPr>
              <a:defRPr sz="1275" b="0">
                <a:solidFill>
                  <a:srgbClr val="477774"/>
                </a:solidFill>
              </a:defRPr>
            </a:lvl5pPr>
            <a:lvl6pPr>
              <a:defRPr sz="1275" b="0">
                <a:solidFill>
                  <a:srgbClr val="477774"/>
                </a:solidFill>
              </a:defRPr>
            </a:lvl6pPr>
            <a:lvl7pPr>
              <a:defRPr sz="1275" b="0">
                <a:solidFill>
                  <a:srgbClr val="477774"/>
                </a:solidFill>
              </a:defRPr>
            </a:lvl7pPr>
            <a:lvl8pPr>
              <a:defRPr sz="1275" b="0">
                <a:solidFill>
                  <a:srgbClr val="477774"/>
                </a:solidFill>
              </a:defRPr>
            </a:lvl8pPr>
            <a:lvl9pPr>
              <a:defRPr sz="1275" b="0">
                <a:solidFill>
                  <a:srgbClr val="477774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477774"/>
                </a:solidFill>
              </a:defRPr>
            </a:pPr>
            <a:r>
              <a:rPr sz="1275" b="0">
                <a:solidFill>
                  <a:srgbClr val="477774"/>
                </a:solidFill>
              </a:rPr>
              <a:t>One-day loss threshold by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31C1B-026F-4B3E-AEFA-0967BD0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3152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E6DF"/>
            </a:solidFill>
            <a:prstDash val="solid"/>
          </a:ln>
        </p:spPr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AC38569-EABE-4E93-A3B7-254BB1092066}"/>
              </a:ext>
            </a:extLst>
          </p:cNvPr>
          <p:cNvGraphicFramePr/>
          <p:nvPr/>
        </p:nvGraphicFramePr>
        <p:xfrm>
          <a:off xmlns:a="http://schemas.openxmlformats.org/drawingml/2006/main" x="952500" y="2476500"/>
          <a:ext xmlns:a="http://schemas.openxmlformats.org/drawingml/2006/main" cx="661035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51685200454da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5412A-6C71-4853-997E-E2961212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76450"/>
            <a:ext cx="32194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4E4A"/>
          </a:solidFill>
          <a:ln xmlns:a="http://schemas.openxmlformats.org/drawingml/2006/main" w="0">
            <a:solidFill>
              <a:srgbClr val="134E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A1E6F-3B9A-48C9-AF9F-A76A4B94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CFBF1"/>
                </a:solidFill>
              </a:defRPr>
            </a:defPPr>
            <a:lvl1pPr>
              <a:defRPr sz="1500" b="1">
                <a:solidFill>
                  <a:srgbClr val="CCFBF1"/>
                </a:solidFill>
              </a:defRPr>
            </a:lvl1pPr>
            <a:lvl2pPr>
              <a:defRPr sz="1500" b="1">
                <a:solidFill>
                  <a:srgbClr val="CCFBF1"/>
                </a:solidFill>
              </a:defRPr>
            </a:lvl2pPr>
            <a:lvl3pPr>
              <a:defRPr sz="1500" b="1">
                <a:solidFill>
                  <a:srgbClr val="CCFBF1"/>
                </a:solidFill>
              </a:defRPr>
            </a:lvl3pPr>
            <a:lvl4pPr>
              <a:defRPr sz="1500" b="1">
                <a:solidFill>
                  <a:srgbClr val="CCFBF1"/>
                </a:solidFill>
              </a:defRPr>
            </a:lvl4pPr>
            <a:lvl5pPr>
              <a:defRPr sz="1500" b="1">
                <a:solidFill>
                  <a:srgbClr val="CCFBF1"/>
                </a:solidFill>
              </a:defRPr>
            </a:lvl5pPr>
            <a:lvl6pPr>
              <a:defRPr sz="1500" b="1">
                <a:solidFill>
                  <a:srgbClr val="CCFBF1"/>
                </a:solidFill>
              </a:defRPr>
            </a:lvl6pPr>
            <a:lvl7pPr>
              <a:defRPr sz="1500" b="1">
                <a:solidFill>
                  <a:srgbClr val="CCFBF1"/>
                </a:solidFill>
              </a:defRPr>
            </a:lvl7pPr>
            <a:lvl8pPr>
              <a:defRPr sz="1500" b="1">
                <a:solidFill>
                  <a:srgbClr val="CCFBF1"/>
                </a:solidFill>
              </a:defRPr>
            </a:lvl8pPr>
            <a:lvl9pPr>
              <a:defRPr sz="1500" b="1">
                <a:solidFill>
                  <a:srgbClr val="CCFBF1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CFBF1"/>
                </a:solidFill>
              </a:defRPr>
            </a:pPr>
            <a:r>
              <a:rPr sz="1500" b="1">
                <a:solidFill>
                  <a:srgbClr val="CCFBF1"/>
                </a:solidFill>
              </a:rPr>
              <a:t>Model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03066-664A-4F7C-89A2-44F06F11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28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E6FFFB"/>
                </a:solidFill>
              </a:defRPr>
            </a:defPPr>
            <a:lvl1pPr>
              <a:defRPr sz="1275" b="0">
                <a:solidFill>
                  <a:srgbClr val="E6FFFB"/>
                </a:solidFill>
              </a:defRPr>
            </a:lvl1pPr>
            <a:lvl2pPr>
              <a:defRPr sz="1275" b="0">
                <a:solidFill>
                  <a:srgbClr val="E6FFFB"/>
                </a:solidFill>
              </a:defRPr>
            </a:lvl2pPr>
            <a:lvl3pPr>
              <a:defRPr sz="1275" b="0">
                <a:solidFill>
                  <a:srgbClr val="E6FFFB"/>
                </a:solidFill>
              </a:defRPr>
            </a:lvl3pPr>
            <a:lvl4pPr>
              <a:defRPr sz="1275" b="0">
                <a:solidFill>
                  <a:srgbClr val="E6FFFB"/>
                </a:solidFill>
              </a:defRPr>
            </a:lvl4pPr>
            <a:lvl5pPr>
              <a:defRPr sz="1275" b="0">
                <a:solidFill>
                  <a:srgbClr val="E6FFFB"/>
                </a:solidFill>
              </a:defRPr>
            </a:lvl5pPr>
            <a:lvl6pPr>
              <a:defRPr sz="1275" b="0">
                <a:solidFill>
                  <a:srgbClr val="E6FFFB"/>
                </a:solidFill>
              </a:defRPr>
            </a:lvl6pPr>
            <a:lvl7pPr>
              <a:defRPr sz="1275" b="0">
                <a:solidFill>
                  <a:srgbClr val="E6FFFB"/>
                </a:solidFill>
              </a:defRPr>
            </a:lvl7pPr>
            <a:lvl8pPr>
              <a:defRPr sz="1275" b="0">
                <a:solidFill>
                  <a:srgbClr val="E6FFFB"/>
                </a:solidFill>
              </a:defRPr>
            </a:lvl8pPr>
            <a:lvl9pPr>
              <a:defRPr sz="1275" b="0">
                <a:solidFill>
                  <a:srgbClr val="E6FFF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EWMA produces the lowest current 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GJR retains the equity leverage effect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E6FFFB"/>
                </a:solidFill>
              </a:defRPr>
            </a:pPr>
            <a:r>
              <a:rPr sz="1275" b="0">
                <a:solidFill>
                  <a:srgbClr val="E6FFFB"/>
                </a:solidFill>
              </a:rPr>
              <a:t>Expected Shortfall remains above VaR</a:t>
            </a:r>
          </a:p>
        </p:txBody>
      </p:sp>
    </p:spTree>
    <p:extLst>
      <p:ext uri="{BB962C8B-B14F-4D97-AF65-F5344CB8AC3E}">
        <p14:creationId xmlns:p14="http://schemas.microsoft.com/office/powerpoint/2010/main" val="149556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3A6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62F8D2-E5D1-47DD-9A5F-56C2A7D7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7DD3FC"/>
                </a:solidFill>
              </a:defRPr>
            </a:defPPr>
            <a:lvl1pPr>
              <a:defRPr sz="900" b="1">
                <a:solidFill>
                  <a:srgbClr val="7DD3FC"/>
                </a:solidFill>
              </a:defRPr>
            </a:lvl1pPr>
            <a:lvl2pPr>
              <a:defRPr sz="900" b="1">
                <a:solidFill>
                  <a:srgbClr val="7DD3FC"/>
                </a:solidFill>
              </a:defRPr>
            </a:lvl2pPr>
            <a:lvl3pPr>
              <a:defRPr sz="900" b="1">
                <a:solidFill>
                  <a:srgbClr val="7DD3FC"/>
                </a:solidFill>
              </a:defRPr>
            </a:lvl3pPr>
            <a:lvl4pPr>
              <a:defRPr sz="900" b="1">
                <a:solidFill>
                  <a:srgbClr val="7DD3FC"/>
                </a:solidFill>
              </a:defRPr>
            </a:lvl4pPr>
            <a:lvl5pPr>
              <a:defRPr sz="900" b="1">
                <a:solidFill>
                  <a:srgbClr val="7DD3FC"/>
                </a:solidFill>
              </a:defRPr>
            </a:lvl5pPr>
            <a:lvl6pPr>
              <a:defRPr sz="900" b="1">
                <a:solidFill>
                  <a:srgbClr val="7DD3FC"/>
                </a:solidFill>
              </a:defRPr>
            </a:lvl6pPr>
            <a:lvl7pPr>
              <a:defRPr sz="900" b="1">
                <a:solidFill>
                  <a:srgbClr val="7DD3FC"/>
                </a:solidFill>
              </a:defRPr>
            </a:lvl7pPr>
            <a:lvl8pPr>
              <a:defRPr sz="900" b="1">
                <a:solidFill>
                  <a:srgbClr val="7DD3FC"/>
                </a:solidFill>
              </a:defRPr>
            </a:lvl8pPr>
            <a:lvl9pPr>
              <a:defRPr sz="900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7DD3FC"/>
                </a:solidFill>
              </a:defRPr>
            </a:pPr>
            <a:r>
              <a:rPr sz="900" b="1">
                <a:solidFill>
                  <a:srgbClr val="7DD3FC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B61CA-30DB-4956-BE59-EDB232A8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TECHNICAL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22D0D-0778-46DD-B08B-EF70D6A4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E0F2FE"/>
                </a:solidFill>
              </a:defRPr>
            </a:defPPr>
            <a:lvl1pPr>
              <a:defRPr sz="2250" b="1">
                <a:solidFill>
                  <a:srgbClr val="E0F2FE"/>
                </a:solidFill>
              </a:defRPr>
            </a:lvl1pPr>
            <a:lvl2pPr>
              <a:defRPr sz="2250" b="1">
                <a:solidFill>
                  <a:srgbClr val="E0F2FE"/>
                </a:solidFill>
              </a:defRPr>
            </a:lvl2pPr>
            <a:lvl3pPr>
              <a:defRPr sz="2250" b="1">
                <a:solidFill>
                  <a:srgbClr val="E0F2FE"/>
                </a:solidFill>
              </a:defRPr>
            </a:lvl3pPr>
            <a:lvl4pPr>
              <a:defRPr sz="2250" b="1">
                <a:solidFill>
                  <a:srgbClr val="E0F2FE"/>
                </a:solidFill>
              </a:defRPr>
            </a:lvl4pPr>
            <a:lvl5pPr>
              <a:defRPr sz="2250" b="1">
                <a:solidFill>
                  <a:srgbClr val="E0F2FE"/>
                </a:solidFill>
              </a:defRPr>
            </a:lvl5pPr>
            <a:lvl6pPr>
              <a:defRPr sz="2250" b="1">
                <a:solidFill>
                  <a:srgbClr val="E0F2FE"/>
                </a:solidFill>
              </a:defRPr>
            </a:lvl6pPr>
            <a:lvl7pPr>
              <a:defRPr sz="2250" b="1">
                <a:solidFill>
                  <a:srgbClr val="E0F2FE"/>
                </a:solidFill>
              </a:defRPr>
            </a:lvl7pPr>
            <a:lvl8pPr>
              <a:defRPr sz="2250" b="1">
                <a:solidFill>
                  <a:srgbClr val="E0F2FE"/>
                </a:solidFill>
              </a:defRPr>
            </a:lvl8pPr>
            <a:lvl9pPr>
              <a:defRPr sz="2250" b="1">
                <a:solidFill>
                  <a:srgbClr val="E0F2FE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0F2FE"/>
                </a:solidFill>
              </a:defRPr>
            </a:pPr>
            <a:r>
              <a:rPr sz="2250" b="1">
                <a:solidFill>
                  <a:srgbClr val="E0F2FE"/>
                </a:solidFill>
              </a:rPr>
              <a:t>MODEL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56B53-0603-49A5-BDC5-D6CA539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AE6FD"/>
                </a:solidFill>
              </a:defRPr>
            </a:defPPr>
            <a:lvl1pPr>
              <a:defRPr sz="1275" b="0">
                <a:solidFill>
                  <a:srgbClr val="BAE6FD"/>
                </a:solidFill>
              </a:defRPr>
            </a:lvl1pPr>
            <a:lvl2pPr>
              <a:defRPr sz="1275" b="0">
                <a:solidFill>
                  <a:srgbClr val="BAE6FD"/>
                </a:solidFill>
              </a:defRPr>
            </a:lvl2pPr>
            <a:lvl3pPr>
              <a:defRPr sz="1275" b="0">
                <a:solidFill>
                  <a:srgbClr val="BAE6FD"/>
                </a:solidFill>
              </a:defRPr>
            </a:lvl3pPr>
            <a:lvl4pPr>
              <a:defRPr sz="1275" b="0">
                <a:solidFill>
                  <a:srgbClr val="BAE6FD"/>
                </a:solidFill>
              </a:defRPr>
            </a:lvl4pPr>
            <a:lvl5pPr>
              <a:defRPr sz="1275" b="0">
                <a:solidFill>
                  <a:srgbClr val="BAE6FD"/>
                </a:solidFill>
              </a:defRPr>
            </a:lvl5pPr>
            <a:lvl6pPr>
              <a:defRPr sz="1275" b="0">
                <a:solidFill>
                  <a:srgbClr val="BAE6FD"/>
                </a:solidFill>
              </a:defRPr>
            </a:lvl6pPr>
            <a:lvl7pPr>
              <a:defRPr sz="1275" b="0">
                <a:solidFill>
                  <a:srgbClr val="BAE6FD"/>
                </a:solidFill>
              </a:defRPr>
            </a:lvl7pPr>
            <a:lvl8pPr>
              <a:defRPr sz="1275" b="0">
                <a:solidFill>
                  <a:srgbClr val="BAE6FD"/>
                </a:solidFill>
              </a:defRPr>
            </a:lvl8pPr>
            <a:lvl9pPr>
              <a:defRPr sz="1275" b="0">
                <a:solidFill>
                  <a:srgbClr val="BAE6F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AE6FD"/>
                </a:solidFill>
              </a:defRPr>
            </a:pPr>
            <a:r>
              <a:rPr sz="1275" b="0">
                <a:solidFill>
                  <a:srgbClr val="BAE6FD"/>
                </a:solidFill>
              </a:rPr>
              <a:t>A transparent path from market data to a validated risk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66E47-3A1D-4DEF-BFEF-0D44003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F74A56-203F-4766-AF4E-04EEAC1E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80268-B886-415C-9B62-923560C8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Market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39371-BAFA-4D69-90DB-A10BFB72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9DEB9-5693-4A73-AF65-0060B462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FF9C9-2150-41EE-B52D-B9A9C5A0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Clean returns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6AB50-44D5-4EFE-B6E7-5236657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4CF50-B35B-4C69-A08C-7DC714C0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30A61-D655-439A-B049-100953A9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Volatility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28E27-AC39-413B-B541-970AD7AD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E5931-ACBB-4ECC-97A6-C759A70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B826C-13CC-4AB3-921F-95490A7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VaR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E857F-C783-4C22-ABA4-DBE2EC5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8677F-B0D3-4B0F-9B04-84ACD935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B5B8A-130C-411B-B19C-CC4DEE17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Backtesting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8BA8A0-DE7B-4D8D-AB47-80B365D6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3BA2A-FFF0-43B2-81CC-9BE4717F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7DD3FC"/>
                </a:solidFill>
              </a:defRPr>
            </a:defPPr>
            <a:lvl1pPr>
              <a:defRPr sz="975" b="1">
                <a:solidFill>
                  <a:srgbClr val="7DD3FC"/>
                </a:solidFill>
              </a:defRPr>
            </a:lvl1pPr>
            <a:lvl2pPr>
              <a:defRPr sz="975" b="1">
                <a:solidFill>
                  <a:srgbClr val="7DD3FC"/>
                </a:solidFill>
              </a:defRPr>
            </a:lvl2pPr>
            <a:lvl3pPr>
              <a:defRPr sz="975" b="1">
                <a:solidFill>
                  <a:srgbClr val="7DD3FC"/>
                </a:solidFill>
              </a:defRPr>
            </a:lvl3pPr>
            <a:lvl4pPr>
              <a:defRPr sz="975" b="1">
                <a:solidFill>
                  <a:srgbClr val="7DD3FC"/>
                </a:solidFill>
              </a:defRPr>
            </a:lvl4pPr>
            <a:lvl5pPr>
              <a:defRPr sz="975" b="1">
                <a:solidFill>
                  <a:srgbClr val="7DD3FC"/>
                </a:solidFill>
              </a:defRPr>
            </a:lvl5pPr>
            <a:lvl6pPr>
              <a:defRPr sz="975" b="1">
                <a:solidFill>
                  <a:srgbClr val="7DD3FC"/>
                </a:solidFill>
              </a:defRPr>
            </a:lvl6pPr>
            <a:lvl7pPr>
              <a:defRPr sz="975" b="1">
                <a:solidFill>
                  <a:srgbClr val="7DD3FC"/>
                </a:solidFill>
              </a:defRPr>
            </a:lvl7pPr>
            <a:lvl8pPr>
              <a:defRPr sz="975" b="1">
                <a:solidFill>
                  <a:srgbClr val="7DD3FC"/>
                </a:solidFill>
              </a:defRPr>
            </a:lvl8pPr>
            <a:lvl9pPr>
              <a:defRPr sz="975" b="1">
                <a:solidFill>
                  <a:srgbClr val="7DD3FC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7DD3FC"/>
                </a:solidFill>
              </a:defRPr>
            </a:pPr>
            <a:r>
              <a:rPr sz="975" b="1">
                <a:solidFill>
                  <a:srgbClr val="7DD3FC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2E67C-2360-47BE-BF18-B8608DD6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0F9FF"/>
                </a:solidFill>
              </a:defRPr>
            </a:defPPr>
            <a:lvl1pPr>
              <a:defRPr sz="1500" b="1">
                <a:solidFill>
                  <a:srgbClr val="F0F9FF"/>
                </a:solidFill>
              </a:defRPr>
            </a:lvl1pPr>
            <a:lvl2pPr>
              <a:defRPr sz="1500" b="1">
                <a:solidFill>
                  <a:srgbClr val="F0F9FF"/>
                </a:solidFill>
              </a:defRPr>
            </a:lvl2pPr>
            <a:lvl3pPr>
              <a:defRPr sz="1500" b="1">
                <a:solidFill>
                  <a:srgbClr val="F0F9FF"/>
                </a:solidFill>
              </a:defRPr>
            </a:lvl3pPr>
            <a:lvl4pPr>
              <a:defRPr sz="1500" b="1">
                <a:solidFill>
                  <a:srgbClr val="F0F9FF"/>
                </a:solidFill>
              </a:defRPr>
            </a:lvl4pPr>
            <a:lvl5pPr>
              <a:defRPr sz="1500" b="1">
                <a:solidFill>
                  <a:srgbClr val="F0F9FF"/>
                </a:solidFill>
              </a:defRPr>
            </a:lvl5pPr>
            <a:lvl6pPr>
              <a:defRPr sz="1500" b="1">
                <a:solidFill>
                  <a:srgbClr val="F0F9FF"/>
                </a:solidFill>
              </a:defRPr>
            </a:lvl6pPr>
            <a:lvl7pPr>
              <a:defRPr sz="1500" b="1">
                <a:solidFill>
                  <a:srgbClr val="F0F9FF"/>
                </a:solidFill>
              </a:defRPr>
            </a:lvl7pPr>
            <a:lvl8pPr>
              <a:defRPr sz="1500" b="1">
                <a:solidFill>
                  <a:srgbClr val="F0F9FF"/>
                </a:solidFill>
              </a:defRPr>
            </a:lvl8pPr>
            <a:lvl9pPr>
              <a:defRPr sz="1500" b="1">
                <a:solidFill>
                  <a:srgbClr val="F0F9F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0F9FF"/>
                </a:solidFill>
              </a:defRPr>
            </a:pPr>
            <a:r>
              <a:rPr sz="1500" b="1">
                <a:solidFill>
                  <a:srgbClr val="F0F9FF"/>
                </a:solidFill>
              </a:rPr>
              <a:t>Stress loss</a:t>
            </a:r>
          </a:p>
        </p:txBody>
      </p:sp>
    </p:spTree>
    <p:extLst>
      <p:ext uri="{BB962C8B-B14F-4D97-AF65-F5344CB8AC3E}">
        <p14:creationId xmlns:p14="http://schemas.microsoft.com/office/powerpoint/2010/main" val="1663167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BFE7C-DA4F-4B5F-AF72-C97FB226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F264"/>
          </a:solidFill>
          <a:ln xmlns:a="http://schemas.openxmlformats.org/drawingml/2006/main" w="0">
            <a:solidFill>
              <a:srgbClr val="BEF26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BCBDD-40E2-4C15-B911-69E1851D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EF264"/>
                </a:solidFill>
              </a:defRPr>
            </a:defPPr>
            <a:lvl1pPr>
              <a:defRPr sz="900" b="1">
                <a:solidFill>
                  <a:srgbClr val="BEF264"/>
                </a:solidFill>
              </a:defRPr>
            </a:lvl1pPr>
            <a:lvl2pPr>
              <a:defRPr sz="900" b="1">
                <a:solidFill>
                  <a:srgbClr val="BEF264"/>
                </a:solidFill>
              </a:defRPr>
            </a:lvl2pPr>
            <a:lvl3pPr>
              <a:defRPr sz="900" b="1">
                <a:solidFill>
                  <a:srgbClr val="BEF264"/>
                </a:solidFill>
              </a:defRPr>
            </a:lvl3pPr>
            <a:lvl4pPr>
              <a:defRPr sz="900" b="1">
                <a:solidFill>
                  <a:srgbClr val="BEF264"/>
                </a:solidFill>
              </a:defRPr>
            </a:lvl4pPr>
            <a:lvl5pPr>
              <a:defRPr sz="900" b="1">
                <a:solidFill>
                  <a:srgbClr val="BEF264"/>
                </a:solidFill>
              </a:defRPr>
            </a:lvl5pPr>
            <a:lvl6pPr>
              <a:defRPr sz="900" b="1">
                <a:solidFill>
                  <a:srgbClr val="BEF264"/>
                </a:solidFill>
              </a:defRPr>
            </a:lvl6pPr>
            <a:lvl7pPr>
              <a:defRPr sz="900" b="1">
                <a:solidFill>
                  <a:srgbClr val="BEF264"/>
                </a:solidFill>
              </a:defRPr>
            </a:lvl7pPr>
            <a:lvl8pPr>
              <a:defRPr sz="900" b="1">
                <a:solidFill>
                  <a:srgbClr val="BEF264"/>
                </a:solidFill>
              </a:defRPr>
            </a:lvl8pPr>
            <a:lvl9pPr>
              <a:defRPr sz="900" b="1">
                <a:solidFill>
                  <a:srgbClr val="BEF264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EF264"/>
                </a:solidFill>
              </a:defRPr>
            </a:pPr>
            <a:r>
              <a:rPr sz="900" b="1">
                <a:solidFill>
                  <a:srgbClr val="BEF264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806BD-AC53-4C02-A619-D5DA18C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CHARCOAL AND LIME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001CC-DEA2-4E6C-97AC-07282430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5143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AFAFA"/>
                </a:solidFill>
              </a:defRPr>
            </a:defPPr>
            <a:lvl1pPr>
              <a:defRPr sz="3450" b="1">
                <a:solidFill>
                  <a:srgbClr val="FAFAFA"/>
                </a:solidFill>
              </a:defRPr>
            </a:lvl1pPr>
            <a:lvl2pPr>
              <a:defRPr sz="3450" b="1">
                <a:solidFill>
                  <a:srgbClr val="FAFAFA"/>
                </a:solidFill>
              </a:defRPr>
            </a:lvl2pPr>
            <a:lvl3pPr>
              <a:defRPr sz="3450" b="1">
                <a:solidFill>
                  <a:srgbClr val="FAFAFA"/>
                </a:solidFill>
              </a:defRPr>
            </a:lvl3pPr>
            <a:lvl4pPr>
              <a:defRPr sz="3450" b="1">
                <a:solidFill>
                  <a:srgbClr val="FAFAFA"/>
                </a:solidFill>
              </a:defRPr>
            </a:lvl4pPr>
            <a:lvl5pPr>
              <a:defRPr sz="3450" b="1">
                <a:solidFill>
                  <a:srgbClr val="FAFAFA"/>
                </a:solidFill>
              </a:defRPr>
            </a:lvl5pPr>
            <a:lvl6pPr>
              <a:defRPr sz="3450" b="1">
                <a:solidFill>
                  <a:srgbClr val="FAFAFA"/>
                </a:solidFill>
              </a:defRPr>
            </a:lvl6pPr>
            <a:lvl7pPr>
              <a:defRPr sz="3450" b="1">
                <a:solidFill>
                  <a:srgbClr val="FAFAFA"/>
                </a:solidFill>
              </a:defRPr>
            </a:lvl7pPr>
            <a:lvl8pPr>
              <a:defRPr sz="3450" b="1">
                <a:solidFill>
                  <a:srgbClr val="FAFAFA"/>
                </a:solidFill>
              </a:defRPr>
            </a:lvl8pPr>
            <a:lvl9pPr>
              <a:defRPr sz="3450" b="1">
                <a:solidFill>
                  <a:srgbClr val="FAFAFA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AFAFA"/>
                </a:solidFill>
              </a:defRPr>
            </a:pPr>
            <a:r>
              <a:rPr sz="3450" b="1">
                <a:solidFill>
                  <a:srgbClr val="FAFAFA"/>
                </a:solidFill>
              </a:rPr>
              <a:t>Backtesting</a:t>
            </a:r>
          </a:p>
          <a:p xmlns:a="http://schemas.openxmlformats.org/drawingml/2006/main">
            <a:pPr>
              <a:defRPr sz="3450" b="1">
                <a:solidFill>
                  <a:srgbClr val="FAFAFA"/>
                </a:solidFill>
              </a:defRPr>
            </a:pPr>
            <a:r>
              <a:rPr sz="3450" b="1">
                <a:solidFill>
                  <a:srgbClr val="FAFAFA"/>
                </a:solidFill>
              </a:rPr>
              <a:t>that exposes failure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8443A-87E5-459D-AF92-206A5AA0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A3A3A3"/>
                </a:solidFill>
              </a:defRPr>
            </a:defPPr>
            <a:lvl1pPr>
              <a:defRPr sz="1350" b="0">
                <a:solidFill>
                  <a:srgbClr val="A3A3A3"/>
                </a:solidFill>
              </a:defRPr>
            </a:lvl1pPr>
            <a:lvl2pPr>
              <a:defRPr sz="1350" b="0">
                <a:solidFill>
                  <a:srgbClr val="A3A3A3"/>
                </a:solidFill>
              </a:defRPr>
            </a:lvl2pPr>
            <a:lvl3pPr>
              <a:defRPr sz="1350" b="0">
                <a:solidFill>
                  <a:srgbClr val="A3A3A3"/>
                </a:solidFill>
              </a:defRPr>
            </a:lvl3pPr>
            <a:lvl4pPr>
              <a:defRPr sz="1350" b="0">
                <a:solidFill>
                  <a:srgbClr val="A3A3A3"/>
                </a:solidFill>
              </a:defRPr>
            </a:lvl4pPr>
            <a:lvl5pPr>
              <a:defRPr sz="1350" b="0">
                <a:solidFill>
                  <a:srgbClr val="A3A3A3"/>
                </a:solidFill>
              </a:defRPr>
            </a:lvl5pPr>
            <a:lvl6pPr>
              <a:defRPr sz="1350" b="0">
                <a:solidFill>
                  <a:srgbClr val="A3A3A3"/>
                </a:solidFill>
              </a:defRPr>
            </a:lvl6pPr>
            <a:lvl7pPr>
              <a:defRPr sz="1350" b="0">
                <a:solidFill>
                  <a:srgbClr val="A3A3A3"/>
                </a:solidFill>
              </a:defRPr>
            </a:lvl7pPr>
            <a:lvl8pPr>
              <a:defRPr sz="1350" b="0">
                <a:solidFill>
                  <a:srgbClr val="A3A3A3"/>
                </a:solidFill>
              </a:defRPr>
            </a:lvl8pPr>
            <a:lvl9pPr>
              <a:defRPr sz="1350" b="0">
                <a:solidFill>
                  <a:srgbClr val="A3A3A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A3A3A3"/>
                </a:solidFill>
              </a:defRPr>
            </a:pPr>
            <a:r>
              <a:rPr sz="1350" b="0">
                <a:solidFill>
                  <a:srgbClr val="A3A3A3"/>
                </a:solidFill>
              </a:rPr>
              <a:t>Actual loss against forecast VaR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E68ED-3473-4AD0-85D5-3E66B384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8105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404040"/>
            </a:solidFill>
            <a:prstDash val="solid"/>
          </a:ln>
        </p:spPr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86ED71E-9232-403A-A6E3-6F0E2FC3245A}"/>
              </a:ext>
            </a:extLst>
          </p:cNvPr>
          <p:cNvGraphicFramePr/>
          <p:nvPr/>
        </p:nvGraphicFramePr>
        <p:xfrm>
          <a:off xmlns:a="http://schemas.openxmlformats.org/drawingml/2006/main" x="6477000" y="1371600"/>
          <a:ext xmlns:a="http://schemas.openxmlformats.org/drawingml/2006/main" cx="41719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6dc897626b4d6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B3C18-5A65-4659-87EA-078E424F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BEF264"/>
                </a:solidFill>
              </a:defRPr>
            </a:defPPr>
            <a:lvl1pPr>
              <a:defRPr sz="4050" b="1">
                <a:solidFill>
                  <a:srgbClr val="BEF264"/>
                </a:solidFill>
              </a:defRPr>
            </a:lvl1pPr>
            <a:lvl2pPr>
              <a:defRPr sz="4050" b="1">
                <a:solidFill>
                  <a:srgbClr val="BEF264"/>
                </a:solidFill>
              </a:defRPr>
            </a:lvl2pPr>
            <a:lvl3pPr>
              <a:defRPr sz="4050" b="1">
                <a:solidFill>
                  <a:srgbClr val="BEF264"/>
                </a:solidFill>
              </a:defRPr>
            </a:lvl3pPr>
            <a:lvl4pPr>
              <a:defRPr sz="4050" b="1">
                <a:solidFill>
                  <a:srgbClr val="BEF264"/>
                </a:solidFill>
              </a:defRPr>
            </a:lvl4pPr>
            <a:lvl5pPr>
              <a:defRPr sz="4050" b="1">
                <a:solidFill>
                  <a:srgbClr val="BEF264"/>
                </a:solidFill>
              </a:defRPr>
            </a:lvl5pPr>
            <a:lvl6pPr>
              <a:defRPr sz="4050" b="1">
                <a:solidFill>
                  <a:srgbClr val="BEF264"/>
                </a:solidFill>
              </a:defRPr>
            </a:lvl6pPr>
            <a:lvl7pPr>
              <a:defRPr sz="4050" b="1">
                <a:solidFill>
                  <a:srgbClr val="BEF264"/>
                </a:solidFill>
              </a:defRPr>
            </a:lvl7pPr>
            <a:lvl8pPr>
              <a:defRPr sz="4050" b="1">
                <a:solidFill>
                  <a:srgbClr val="BEF264"/>
                </a:solidFill>
              </a:defRPr>
            </a:lvl8pPr>
            <a:lvl9pPr>
              <a:defRPr sz="4050" b="1">
                <a:solidFill>
                  <a:srgbClr val="BEF264"/>
                </a:solidFill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BEF264"/>
                </a:solidFill>
              </a:defRPr>
            </a:pPr>
            <a:r>
              <a:rPr sz="4050" b="1">
                <a:solidFill>
                  <a:srgbClr val="BEF264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B7C6E-FCD0-4889-AA31-D0DBBEDE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4D4D4"/>
                </a:solidFill>
              </a:defRPr>
            </a:defPPr>
            <a:lvl1pPr>
              <a:defRPr sz="1200" b="0">
                <a:solidFill>
                  <a:srgbClr val="D4D4D4"/>
                </a:solidFill>
              </a:defRPr>
            </a:lvl1pPr>
            <a:lvl2pPr>
              <a:defRPr sz="1200" b="0">
                <a:solidFill>
                  <a:srgbClr val="D4D4D4"/>
                </a:solidFill>
              </a:defRPr>
            </a:lvl2pPr>
            <a:lvl3pPr>
              <a:defRPr sz="1200" b="0">
                <a:solidFill>
                  <a:srgbClr val="D4D4D4"/>
                </a:solidFill>
              </a:defRPr>
            </a:lvl3pPr>
            <a:lvl4pPr>
              <a:defRPr sz="1200" b="0">
                <a:solidFill>
                  <a:srgbClr val="D4D4D4"/>
                </a:solidFill>
              </a:defRPr>
            </a:lvl4pPr>
            <a:lvl5pPr>
              <a:defRPr sz="1200" b="0">
                <a:solidFill>
                  <a:srgbClr val="D4D4D4"/>
                </a:solidFill>
              </a:defRPr>
            </a:lvl5pPr>
            <a:lvl6pPr>
              <a:defRPr sz="1200" b="0">
                <a:solidFill>
                  <a:srgbClr val="D4D4D4"/>
                </a:solidFill>
              </a:defRPr>
            </a:lvl6pPr>
            <a:lvl7pPr>
              <a:defRPr sz="1200" b="0">
                <a:solidFill>
                  <a:srgbClr val="D4D4D4"/>
                </a:solidFill>
              </a:defRPr>
            </a:lvl7pPr>
            <a:lvl8pPr>
              <a:defRPr sz="1200" b="0">
                <a:solidFill>
                  <a:srgbClr val="D4D4D4"/>
                </a:solidFill>
              </a:defRPr>
            </a:lvl8pPr>
            <a:lvl9pPr>
              <a:defRPr sz="1200" b="0">
                <a:solidFill>
                  <a:srgbClr val="D4D4D4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4D4D4"/>
                </a:solidFill>
              </a:defRPr>
            </a:pPr>
            <a:r>
              <a:rPr sz="1200" b="0">
                <a:solidFill>
                  <a:srgbClr val="D4D4D4"/>
                </a:solidFill>
              </a:rPr>
              <a:t>Kupiec coverage test</a:t>
            </a:r>
          </a:p>
        </p:txBody>
      </p:sp>
    </p:spTree>
    <p:extLst>
      <p:ext uri="{BB962C8B-B14F-4D97-AF65-F5344CB8AC3E}">
        <p14:creationId xmlns:p14="http://schemas.microsoft.com/office/powerpoint/2010/main" val="401549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E10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39E2F-543F-4663-93B3-F5F683E6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1065"/>
          </a:solidFill>
          <a:ln xmlns:a="http://schemas.openxmlformats.org/drawingml/2006/main" w="0">
            <a:solidFill>
              <a:srgbClr val="2E106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BBAD0-3471-4882-92CC-313F6526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1D95"/>
          </a:solidFill>
          <a:ln xmlns:a="http://schemas.openxmlformats.org/drawingml/2006/main" w="0">
            <a:solidFill>
              <a:srgbClr val="4C1D9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53EB5-0B74-44A5-992B-F4DCDBA5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D8B4FE"/>
                </a:solidFill>
              </a:defRPr>
            </a:defPPr>
            <a:lvl1pPr>
              <a:defRPr sz="900" b="1">
                <a:solidFill>
                  <a:srgbClr val="D8B4FE"/>
                </a:solidFill>
              </a:defRPr>
            </a:lvl1pPr>
            <a:lvl2pPr>
              <a:defRPr sz="900" b="1">
                <a:solidFill>
                  <a:srgbClr val="D8B4FE"/>
                </a:solidFill>
              </a:defRPr>
            </a:lvl2pPr>
            <a:lvl3pPr>
              <a:defRPr sz="900" b="1">
                <a:solidFill>
                  <a:srgbClr val="D8B4FE"/>
                </a:solidFill>
              </a:defRPr>
            </a:lvl3pPr>
            <a:lvl4pPr>
              <a:defRPr sz="900" b="1">
                <a:solidFill>
                  <a:srgbClr val="D8B4FE"/>
                </a:solidFill>
              </a:defRPr>
            </a:lvl4pPr>
            <a:lvl5pPr>
              <a:defRPr sz="900" b="1">
                <a:solidFill>
                  <a:srgbClr val="D8B4FE"/>
                </a:solidFill>
              </a:defRPr>
            </a:lvl5pPr>
            <a:lvl6pPr>
              <a:defRPr sz="900" b="1">
                <a:solidFill>
                  <a:srgbClr val="D8B4FE"/>
                </a:solidFill>
              </a:defRPr>
            </a:lvl6pPr>
            <a:lvl7pPr>
              <a:defRPr sz="900" b="1">
                <a:solidFill>
                  <a:srgbClr val="D8B4FE"/>
                </a:solidFill>
              </a:defRPr>
            </a:lvl7pPr>
            <a:lvl8pPr>
              <a:defRPr sz="900" b="1">
                <a:solidFill>
                  <a:srgbClr val="D8B4FE"/>
                </a:solidFill>
              </a:defRPr>
            </a:lvl8pPr>
            <a:lvl9pPr>
              <a:defRPr sz="900" b="1">
                <a:solidFill>
                  <a:srgbClr val="D8B4F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D8B4FE"/>
                </a:solidFill>
              </a:defRPr>
            </a:pPr>
            <a:r>
              <a:rPr sz="900" b="1">
                <a:solidFill>
                  <a:srgbClr val="D8B4F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1C5E2-A148-4D9E-BD5B-C85AACEC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BD5E1"/>
                </a:solidFill>
              </a:defRPr>
            </a:defPPr>
            <a:lvl1pPr>
              <a:defRPr sz="900" b="1">
                <a:solidFill>
                  <a:srgbClr val="CBD5E1"/>
                </a:solidFill>
              </a:defRPr>
            </a:lvl1pPr>
            <a:lvl2pPr>
              <a:defRPr sz="900" b="1">
                <a:solidFill>
                  <a:srgbClr val="CBD5E1"/>
                </a:solidFill>
              </a:defRPr>
            </a:lvl2pPr>
            <a:lvl3pPr>
              <a:defRPr sz="900" b="1">
                <a:solidFill>
                  <a:srgbClr val="CBD5E1"/>
                </a:solidFill>
              </a:defRPr>
            </a:lvl3pPr>
            <a:lvl4pPr>
              <a:defRPr sz="900" b="1">
                <a:solidFill>
                  <a:srgbClr val="CBD5E1"/>
                </a:solidFill>
              </a:defRPr>
            </a:lvl4pPr>
            <a:lvl5pPr>
              <a:defRPr sz="900" b="1">
                <a:solidFill>
                  <a:srgbClr val="CBD5E1"/>
                </a:solidFill>
              </a:defRPr>
            </a:lvl5pPr>
            <a:lvl6pPr>
              <a:defRPr sz="900" b="1">
                <a:solidFill>
                  <a:srgbClr val="CBD5E1"/>
                </a:solidFill>
              </a:defRPr>
            </a:lvl6pPr>
            <a:lvl7pPr>
              <a:defRPr sz="900" b="1">
                <a:solidFill>
                  <a:srgbClr val="CBD5E1"/>
                </a:solidFill>
              </a:defRPr>
            </a:lvl7pPr>
            <a:lvl8pPr>
              <a:defRPr sz="900" b="1">
                <a:solidFill>
                  <a:srgbClr val="CBD5E1"/>
                </a:solidFill>
              </a:defRPr>
            </a:lvl8pPr>
            <a:lvl9pPr>
              <a:defRPr sz="900" b="1">
                <a:solidFill>
                  <a:srgbClr val="CBD5E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CBD5E1"/>
                </a:solidFill>
              </a:defRPr>
            </a:pPr>
            <a:r>
              <a:rPr sz="900" b="1">
                <a:solidFill>
                  <a:srgbClr val="CBD5E1"/>
                </a:solidFill>
              </a:rPr>
              <a:t>QUANTITATIVE PURPLE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51150-901E-47C3-8331-CBD9798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819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AF5FF"/>
                </a:solidFill>
              </a:defRPr>
            </a:defPPr>
            <a:lvl1pPr>
              <a:defRPr sz="3300" b="1">
                <a:solidFill>
                  <a:srgbClr val="FAF5FF"/>
                </a:solidFill>
              </a:defRPr>
            </a:lvl1pPr>
            <a:lvl2pPr>
              <a:defRPr sz="3300" b="1">
                <a:solidFill>
                  <a:srgbClr val="FAF5FF"/>
                </a:solidFill>
              </a:defRPr>
            </a:lvl2pPr>
            <a:lvl3pPr>
              <a:defRPr sz="3300" b="1">
                <a:solidFill>
                  <a:srgbClr val="FAF5FF"/>
                </a:solidFill>
              </a:defRPr>
            </a:lvl3pPr>
            <a:lvl4pPr>
              <a:defRPr sz="3300" b="1">
                <a:solidFill>
                  <a:srgbClr val="FAF5FF"/>
                </a:solidFill>
              </a:defRPr>
            </a:lvl4pPr>
            <a:lvl5pPr>
              <a:defRPr sz="3300" b="1">
                <a:solidFill>
                  <a:srgbClr val="FAF5FF"/>
                </a:solidFill>
              </a:defRPr>
            </a:lvl5pPr>
            <a:lvl6pPr>
              <a:defRPr sz="3300" b="1">
                <a:solidFill>
                  <a:srgbClr val="FAF5FF"/>
                </a:solidFill>
              </a:defRPr>
            </a:lvl6pPr>
            <a:lvl7pPr>
              <a:defRPr sz="3300" b="1">
                <a:solidFill>
                  <a:srgbClr val="FAF5FF"/>
                </a:solidFill>
              </a:defRPr>
            </a:lvl7pPr>
            <a:lvl8pPr>
              <a:defRPr sz="3300" b="1">
                <a:solidFill>
                  <a:srgbClr val="FAF5FF"/>
                </a:solidFill>
              </a:defRPr>
            </a:lvl8pPr>
            <a:lvl9pPr>
              <a:defRPr sz="3300" b="1">
                <a:solidFill>
                  <a:srgbClr val="FAF5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AF5FF"/>
                </a:solidFill>
              </a:defRPr>
            </a:pPr>
            <a:r>
              <a:rPr sz="3300" b="1">
                <a:solidFill>
                  <a:srgbClr val="FAF5FF"/>
                </a:solidFill>
              </a:rPr>
              <a:t>Volatility changes the meaning of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32073-53EF-4443-B9F3-AF56F656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E9D5FF"/>
                </a:solidFill>
              </a:defRPr>
            </a:defPPr>
            <a:lvl1pPr>
              <a:defRPr sz="1500" b="0">
                <a:solidFill>
                  <a:srgbClr val="E9D5FF"/>
                </a:solidFill>
              </a:defRPr>
            </a:lvl1pPr>
            <a:lvl2pPr>
              <a:defRPr sz="1500" b="0">
                <a:solidFill>
                  <a:srgbClr val="E9D5FF"/>
                </a:solidFill>
              </a:defRPr>
            </a:lvl2pPr>
            <a:lvl3pPr>
              <a:defRPr sz="1500" b="0">
                <a:solidFill>
                  <a:srgbClr val="E9D5FF"/>
                </a:solidFill>
              </a:defRPr>
            </a:lvl3pPr>
            <a:lvl4pPr>
              <a:defRPr sz="1500" b="0">
                <a:solidFill>
                  <a:srgbClr val="E9D5FF"/>
                </a:solidFill>
              </a:defRPr>
            </a:lvl4pPr>
            <a:lvl5pPr>
              <a:defRPr sz="1500" b="0">
                <a:solidFill>
                  <a:srgbClr val="E9D5FF"/>
                </a:solidFill>
              </a:defRPr>
            </a:lvl5pPr>
            <a:lvl6pPr>
              <a:defRPr sz="1500" b="0">
                <a:solidFill>
                  <a:srgbClr val="E9D5FF"/>
                </a:solidFill>
              </a:defRPr>
            </a:lvl6pPr>
            <a:lvl7pPr>
              <a:defRPr sz="1500" b="0">
                <a:solidFill>
                  <a:srgbClr val="E9D5FF"/>
                </a:solidFill>
              </a:defRPr>
            </a:lvl7pPr>
            <a:lvl8pPr>
              <a:defRPr sz="1500" b="0">
                <a:solidFill>
                  <a:srgbClr val="E9D5FF"/>
                </a:solidFill>
              </a:defRPr>
            </a:lvl8pPr>
            <a:lvl9pPr>
              <a:defRPr sz="1500" b="0">
                <a:solidFill>
                  <a:srgbClr val="E9D5F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E9D5FF"/>
                </a:solidFill>
              </a:defRPr>
            </a:pPr>
            <a:r>
              <a:rPr sz="1500" b="0">
                <a:solidFill>
                  <a:srgbClr val="E9D5FF"/>
                </a:solidFill>
              </a:rPr>
              <a:t>EWMA, GARCH and GJR-GARCH rescale past returns to the current market regime.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36BA8319-F08E-4735-BB51-0D4E022C49E6}"/>
              </a:ext>
            </a:extLst>
          </p:cNvPr>
          <p:cNvGraphicFramePr/>
          <p:nvPr/>
        </p:nvGraphicFramePr>
        <p:xfrm>
          <a:off xmlns:a="http://schemas.openxmlformats.org/drawingml/2006/main" x="609600" y="3143250"/>
          <a:ext xmlns:a="http://schemas.openxmlformats.org/drawingml/2006/main" cx="109347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76c1855fd4d04"/>
          </a:graphicData>
        </a:graphic>
      </p:graphicFrame>
    </p:spTree>
    <p:extLst>
      <p:ext uri="{BB962C8B-B14F-4D97-AF65-F5344CB8AC3E}">
        <p14:creationId xmlns:p14="http://schemas.microsoft.com/office/powerpoint/2010/main" val="134929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948E3-920C-4780-874C-F53101E0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11111"/>
                </a:solidFill>
              </a:defRPr>
            </a:defPPr>
            <a:lvl1pPr>
              <a:defRPr sz="900" b="1">
                <a:solidFill>
                  <a:srgbClr val="111111"/>
                </a:solidFill>
              </a:defRPr>
            </a:lvl1pPr>
            <a:lvl2pPr>
              <a:defRPr sz="900" b="1">
                <a:solidFill>
                  <a:srgbClr val="111111"/>
                </a:solidFill>
              </a:defRPr>
            </a:lvl2pPr>
            <a:lvl3pPr>
              <a:defRPr sz="900" b="1">
                <a:solidFill>
                  <a:srgbClr val="111111"/>
                </a:solidFill>
              </a:defRPr>
            </a:lvl3pPr>
            <a:lvl4pPr>
              <a:defRPr sz="900" b="1">
                <a:solidFill>
                  <a:srgbClr val="111111"/>
                </a:solidFill>
              </a:defRPr>
            </a:lvl4pPr>
            <a:lvl5pPr>
              <a:defRPr sz="900" b="1">
                <a:solidFill>
                  <a:srgbClr val="111111"/>
                </a:solidFill>
              </a:defRPr>
            </a:lvl5pPr>
            <a:lvl6pPr>
              <a:defRPr sz="900" b="1">
                <a:solidFill>
                  <a:srgbClr val="111111"/>
                </a:solidFill>
              </a:defRPr>
            </a:lvl6pPr>
            <a:lvl7pPr>
              <a:defRPr sz="900" b="1">
                <a:solidFill>
                  <a:srgbClr val="111111"/>
                </a:solidFill>
              </a:defRPr>
            </a:lvl7pPr>
            <a:lvl8pPr>
              <a:defRPr sz="900" b="1">
                <a:solidFill>
                  <a:srgbClr val="111111"/>
                </a:solidFill>
              </a:defRPr>
            </a:lvl8pPr>
            <a:lvl9pPr>
              <a:defRPr sz="90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E1661-B598-4AEB-BA54-E28F3CF8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SWISS MONOCHROME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517A0-1B54-4625-8857-BCA4DD63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11111"/>
                </a:solidFill>
              </a:defRPr>
            </a:defPPr>
            <a:lvl1pPr>
              <a:defRPr sz="4650" b="1">
                <a:solidFill>
                  <a:srgbClr val="111111"/>
                </a:solidFill>
              </a:defRPr>
            </a:lvl1pPr>
            <a:lvl2pPr>
              <a:defRPr sz="4650" b="1">
                <a:solidFill>
                  <a:srgbClr val="111111"/>
                </a:solidFill>
              </a:defRPr>
            </a:lvl2pPr>
            <a:lvl3pPr>
              <a:defRPr sz="4650" b="1">
                <a:solidFill>
                  <a:srgbClr val="111111"/>
                </a:solidFill>
              </a:defRPr>
            </a:lvl3pPr>
            <a:lvl4pPr>
              <a:defRPr sz="4650" b="1">
                <a:solidFill>
                  <a:srgbClr val="111111"/>
                </a:solidFill>
              </a:defRPr>
            </a:lvl4pPr>
            <a:lvl5pPr>
              <a:defRPr sz="4650" b="1">
                <a:solidFill>
                  <a:srgbClr val="111111"/>
                </a:solidFill>
              </a:defRPr>
            </a:lvl5pPr>
            <a:lvl6pPr>
              <a:defRPr sz="4650" b="1">
                <a:solidFill>
                  <a:srgbClr val="111111"/>
                </a:solidFill>
              </a:defRPr>
            </a:lvl6pPr>
            <a:lvl7pPr>
              <a:defRPr sz="4650" b="1">
                <a:solidFill>
                  <a:srgbClr val="111111"/>
                </a:solidFill>
              </a:defRPr>
            </a:lvl7pPr>
            <a:lvl8pPr>
              <a:defRPr sz="4650" b="1">
                <a:solidFill>
                  <a:srgbClr val="111111"/>
                </a:solidFill>
              </a:defRPr>
            </a:lvl8pPr>
            <a:lvl9pPr>
              <a:defRPr sz="46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PORTFOLIO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D50B0-FC59-4D5C-8415-5B5136C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3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2DE1C-AED4-4C87-B700-146B807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31.6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028DA-250D-447D-AC49-854DB3C1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% ANNUAL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787D1-87DA-440F-BFAA-BDCD2487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21.9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A4908-0376-45BF-8132-4C5302F2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% ANNUAL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1CA62-53EC-4835-8593-530AFF5E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550" b="1">
                <a:solidFill>
                  <a:srgbClr val="111111"/>
                </a:solidFill>
              </a:defRPr>
            </a:defPPr>
            <a:lvl1pPr>
              <a:defRPr sz="5550" b="1">
                <a:solidFill>
                  <a:srgbClr val="111111"/>
                </a:solidFill>
              </a:defRPr>
            </a:lvl1pPr>
            <a:lvl2pPr>
              <a:defRPr sz="5550" b="1">
                <a:solidFill>
                  <a:srgbClr val="111111"/>
                </a:solidFill>
              </a:defRPr>
            </a:lvl2pPr>
            <a:lvl3pPr>
              <a:defRPr sz="5550" b="1">
                <a:solidFill>
                  <a:srgbClr val="111111"/>
                </a:solidFill>
              </a:defRPr>
            </a:lvl3pPr>
            <a:lvl4pPr>
              <a:defRPr sz="5550" b="1">
                <a:solidFill>
                  <a:srgbClr val="111111"/>
                </a:solidFill>
              </a:defRPr>
            </a:lvl4pPr>
            <a:lvl5pPr>
              <a:defRPr sz="5550" b="1">
                <a:solidFill>
                  <a:srgbClr val="111111"/>
                </a:solidFill>
              </a:defRPr>
            </a:lvl5pPr>
            <a:lvl6pPr>
              <a:defRPr sz="5550" b="1">
                <a:solidFill>
                  <a:srgbClr val="111111"/>
                </a:solidFill>
              </a:defRPr>
            </a:lvl6pPr>
            <a:lvl7pPr>
              <a:defRPr sz="5550" b="1">
                <a:solidFill>
                  <a:srgbClr val="111111"/>
                </a:solidFill>
              </a:defRPr>
            </a:lvl7pPr>
            <a:lvl8pPr>
              <a:defRPr sz="5550" b="1">
                <a:solidFill>
                  <a:srgbClr val="111111"/>
                </a:solidFill>
              </a:defRPr>
            </a:lvl8pPr>
            <a:lvl9pPr>
              <a:defRPr sz="55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111111"/>
                </a:solidFill>
              </a:defRPr>
            </a:pPr>
            <a:r>
              <a:rPr sz="5550" b="1">
                <a:solidFill>
                  <a:srgbClr val="111111"/>
                </a:solidFill>
              </a:rPr>
              <a:t>1.28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E47A8-32C0-47B0-960B-D8A4F95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11111"/>
                </a:solidFill>
              </a:defRPr>
            </a:defPPr>
            <a:lvl1pPr>
              <a:defRPr sz="1050" b="1">
                <a:solidFill>
                  <a:srgbClr val="111111"/>
                </a:solidFill>
              </a:defRPr>
            </a:lvl1pPr>
            <a:lvl2pPr>
              <a:defRPr sz="1050" b="1">
                <a:solidFill>
                  <a:srgbClr val="111111"/>
                </a:solidFill>
              </a:defRPr>
            </a:lvl2pPr>
            <a:lvl3pPr>
              <a:defRPr sz="1050" b="1">
                <a:solidFill>
                  <a:srgbClr val="111111"/>
                </a:solidFill>
              </a:defRPr>
            </a:lvl3pPr>
            <a:lvl4pPr>
              <a:defRPr sz="1050" b="1">
                <a:solidFill>
                  <a:srgbClr val="111111"/>
                </a:solidFill>
              </a:defRPr>
            </a:lvl4pPr>
            <a:lvl5pPr>
              <a:defRPr sz="1050" b="1">
                <a:solidFill>
                  <a:srgbClr val="111111"/>
                </a:solidFill>
              </a:defRPr>
            </a:lvl5pPr>
            <a:lvl6pPr>
              <a:defRPr sz="1050" b="1">
                <a:solidFill>
                  <a:srgbClr val="111111"/>
                </a:solidFill>
              </a:defRPr>
            </a:lvl6pPr>
            <a:lvl7pPr>
              <a:defRPr sz="1050" b="1">
                <a:solidFill>
                  <a:srgbClr val="111111"/>
                </a:solidFill>
              </a:defRPr>
            </a:lvl7pPr>
            <a:lvl8pPr>
              <a:defRPr sz="1050" b="1">
                <a:solidFill>
                  <a:srgbClr val="111111"/>
                </a:solidFill>
              </a:defRPr>
            </a:lvl8pPr>
            <a:lvl9pPr>
              <a:defRPr sz="1050" b="1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SHARPE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0515B-BD52-40B9-BA6F-E9132F3C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EEA53-7080-47C0-B691-2D793488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333333"/>
                </a:solidFill>
              </a:defRPr>
            </a:defPPr>
            <a:lvl1pPr>
              <a:defRPr sz="1500" b="0">
                <a:solidFill>
                  <a:srgbClr val="333333"/>
                </a:solidFill>
              </a:defRPr>
            </a:lvl1pPr>
            <a:lvl2pPr>
              <a:defRPr sz="1500" b="0">
                <a:solidFill>
                  <a:srgbClr val="333333"/>
                </a:solidFill>
              </a:defRPr>
            </a:lvl2pPr>
            <a:lvl3pPr>
              <a:defRPr sz="1500" b="0">
                <a:solidFill>
                  <a:srgbClr val="333333"/>
                </a:solidFill>
              </a:defRPr>
            </a:lvl3pPr>
            <a:lvl4pPr>
              <a:defRPr sz="1500" b="0">
                <a:solidFill>
                  <a:srgbClr val="333333"/>
                </a:solidFill>
              </a:defRPr>
            </a:lvl4pPr>
            <a:lvl5pPr>
              <a:defRPr sz="1500" b="0">
                <a:solidFill>
                  <a:srgbClr val="333333"/>
                </a:solidFill>
              </a:defRPr>
            </a:lvl5pPr>
            <a:lvl6pPr>
              <a:defRPr sz="1500" b="0">
                <a:solidFill>
                  <a:srgbClr val="333333"/>
                </a:solidFill>
              </a:defRPr>
            </a:lvl6pPr>
            <a:lvl7pPr>
              <a:defRPr sz="1500" b="0">
                <a:solidFill>
                  <a:srgbClr val="333333"/>
                </a:solidFill>
              </a:defRPr>
            </a:lvl7pPr>
            <a:lvl8pPr>
              <a:defRPr sz="1500" b="0">
                <a:solidFill>
                  <a:srgbClr val="333333"/>
                </a:solidFill>
              </a:defRPr>
            </a:lvl8pPr>
            <a:lvl9pPr>
              <a:defRPr sz="1500" b="0">
                <a:solidFill>
                  <a:srgbClr val="33333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333333"/>
                </a:solidFill>
              </a:defRPr>
            </a:pPr>
            <a:r>
              <a:rPr sz="1500" b="0">
                <a:solidFill>
                  <a:srgbClr val="333333"/>
                </a:solidFill>
              </a:rPr>
              <a:t>A typographic direction for a concise academic defense.</a:t>
            </a:r>
          </a:p>
        </p:txBody>
      </p:sp>
    </p:spTree>
    <p:extLst>
      <p:ext uri="{BB962C8B-B14F-4D97-AF65-F5344CB8AC3E}">
        <p14:creationId xmlns:p14="http://schemas.microsoft.com/office/powerpoint/2010/main" val="13044276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23AFC-5C87-423E-8DB6-171C33BC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3925C-4074-46DD-A295-FAAD13FF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075985"/>
                </a:solidFill>
              </a:defRPr>
            </a:defPPr>
            <a:lvl1pPr>
              <a:defRPr sz="900" b="1">
                <a:solidFill>
                  <a:srgbClr val="075985"/>
                </a:solidFill>
              </a:defRPr>
            </a:lvl1pPr>
            <a:lvl2pPr>
              <a:defRPr sz="900" b="1">
                <a:solidFill>
                  <a:srgbClr val="075985"/>
                </a:solidFill>
              </a:defRPr>
            </a:lvl2pPr>
            <a:lvl3pPr>
              <a:defRPr sz="900" b="1">
                <a:solidFill>
                  <a:srgbClr val="075985"/>
                </a:solidFill>
              </a:defRPr>
            </a:lvl3pPr>
            <a:lvl4pPr>
              <a:defRPr sz="900" b="1">
                <a:solidFill>
                  <a:srgbClr val="075985"/>
                </a:solidFill>
              </a:defRPr>
            </a:lvl4pPr>
            <a:lvl5pPr>
              <a:defRPr sz="900" b="1">
                <a:solidFill>
                  <a:srgbClr val="075985"/>
                </a:solidFill>
              </a:defRPr>
            </a:lvl5pPr>
            <a:lvl6pPr>
              <a:defRPr sz="900" b="1">
                <a:solidFill>
                  <a:srgbClr val="075985"/>
                </a:solidFill>
              </a:defRPr>
            </a:lvl6pPr>
            <a:lvl7pPr>
              <a:defRPr sz="900" b="1">
                <a:solidFill>
                  <a:srgbClr val="075985"/>
                </a:solidFill>
              </a:defRPr>
            </a:lvl7pPr>
            <a:lvl8pPr>
              <a:defRPr sz="900" b="1">
                <a:solidFill>
                  <a:srgbClr val="075985"/>
                </a:solidFill>
              </a:defRPr>
            </a:lvl8pPr>
            <a:lvl9pPr>
              <a:defRPr sz="900" b="1">
                <a:solidFill>
                  <a:srgbClr val="075985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1FFB9-BD21-433F-9270-FF85F0A2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475569"/>
                </a:solidFill>
              </a:defRPr>
            </a:defPPr>
            <a:lvl1pPr>
              <a:defRPr sz="900" b="1">
                <a:solidFill>
                  <a:srgbClr val="475569"/>
                </a:solidFill>
              </a:defRPr>
            </a:lvl1pPr>
            <a:lvl2pPr>
              <a:defRPr sz="900" b="1">
                <a:solidFill>
                  <a:srgbClr val="475569"/>
                </a:solidFill>
              </a:defRPr>
            </a:lvl2pPr>
            <a:lvl3pPr>
              <a:defRPr sz="900" b="1">
                <a:solidFill>
                  <a:srgbClr val="475569"/>
                </a:solidFill>
              </a:defRPr>
            </a:lvl3pPr>
            <a:lvl4pPr>
              <a:defRPr sz="900" b="1">
                <a:solidFill>
                  <a:srgbClr val="475569"/>
                </a:solidFill>
              </a:defRPr>
            </a:lvl4pPr>
            <a:lvl5pPr>
              <a:defRPr sz="900" b="1">
                <a:solidFill>
                  <a:srgbClr val="475569"/>
                </a:solidFill>
              </a:defRPr>
            </a:lvl5pPr>
            <a:lvl6pPr>
              <a:defRPr sz="900" b="1">
                <a:solidFill>
                  <a:srgbClr val="475569"/>
                </a:solidFill>
              </a:defRPr>
            </a:lvl6pPr>
            <a:lvl7pPr>
              <a:defRPr sz="900" b="1">
                <a:solidFill>
                  <a:srgbClr val="475569"/>
                </a:solidFill>
              </a:defRPr>
            </a:lvl7pPr>
            <a:lvl8pPr>
              <a:defRPr sz="900" b="1">
                <a:solidFill>
                  <a:srgbClr val="475569"/>
                </a:solidFill>
              </a:defRPr>
            </a:lvl8pPr>
            <a:lvl9pPr>
              <a:defRPr sz="900" b="1">
                <a:solidFill>
                  <a:srgbClr val="475569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475569"/>
                </a:solidFill>
              </a:defRPr>
            </a:pPr>
            <a:r>
              <a:rPr sz="900" b="1">
                <a:solidFill>
                  <a:srgbClr val="475569"/>
                </a:solidFill>
              </a:rPr>
              <a:t>EXECUTIVE SKY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5F172-479D-4901-AF23-6952926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C4A6E"/>
                </a:solidFill>
              </a:defRPr>
            </a:defPPr>
            <a:lvl1pPr>
              <a:defRPr sz="3000" b="1">
                <a:solidFill>
                  <a:srgbClr val="0C4A6E"/>
                </a:solidFill>
              </a:defRPr>
            </a:lvl1pPr>
            <a:lvl2pPr>
              <a:defRPr sz="3000" b="1">
                <a:solidFill>
                  <a:srgbClr val="0C4A6E"/>
                </a:solidFill>
              </a:defRPr>
            </a:lvl2pPr>
            <a:lvl3pPr>
              <a:defRPr sz="3000" b="1">
                <a:solidFill>
                  <a:srgbClr val="0C4A6E"/>
                </a:solidFill>
              </a:defRPr>
            </a:lvl3pPr>
            <a:lvl4pPr>
              <a:defRPr sz="3000" b="1">
                <a:solidFill>
                  <a:srgbClr val="0C4A6E"/>
                </a:solidFill>
              </a:defRPr>
            </a:lvl4pPr>
            <a:lvl5pPr>
              <a:defRPr sz="3000" b="1">
                <a:solidFill>
                  <a:srgbClr val="0C4A6E"/>
                </a:solidFill>
              </a:defRPr>
            </a:lvl5pPr>
            <a:lvl6pPr>
              <a:defRPr sz="3000" b="1">
                <a:solidFill>
                  <a:srgbClr val="0C4A6E"/>
                </a:solidFill>
              </a:defRPr>
            </a:lvl6pPr>
            <a:lvl7pPr>
              <a:defRPr sz="3000" b="1">
                <a:solidFill>
                  <a:srgbClr val="0C4A6E"/>
                </a:solidFill>
              </a:defRPr>
            </a:lvl7pPr>
            <a:lvl8pPr>
              <a:defRPr sz="3000" b="1">
                <a:solidFill>
                  <a:srgbClr val="0C4A6E"/>
                </a:solidFill>
              </a:defRPr>
            </a:lvl8pPr>
            <a:lvl9pPr>
              <a:defRPr sz="3000" b="1">
                <a:solidFill>
                  <a:srgbClr val="0C4A6E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C4A6E"/>
                </a:solidFill>
              </a:defRPr>
            </a:pPr>
            <a:r>
              <a:rPr sz="3000" b="1">
                <a:solidFill>
                  <a:srgbClr val="0C4A6E"/>
                </a:solidFill>
              </a:rPr>
              <a:t>Risk conclusions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4BF6A-6BC7-4FBB-986F-78821AA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3F6F8A"/>
                </a:solidFill>
              </a:defRPr>
            </a:defPPr>
            <a:lvl1pPr>
              <a:defRPr sz="1275" b="0">
                <a:solidFill>
                  <a:srgbClr val="3F6F8A"/>
                </a:solidFill>
              </a:defRPr>
            </a:lvl1pPr>
            <a:lvl2pPr>
              <a:defRPr sz="1275" b="0">
                <a:solidFill>
                  <a:srgbClr val="3F6F8A"/>
                </a:solidFill>
              </a:defRPr>
            </a:lvl2pPr>
            <a:lvl3pPr>
              <a:defRPr sz="1275" b="0">
                <a:solidFill>
                  <a:srgbClr val="3F6F8A"/>
                </a:solidFill>
              </a:defRPr>
            </a:lvl3pPr>
            <a:lvl4pPr>
              <a:defRPr sz="1275" b="0">
                <a:solidFill>
                  <a:srgbClr val="3F6F8A"/>
                </a:solidFill>
              </a:defRPr>
            </a:lvl4pPr>
            <a:lvl5pPr>
              <a:defRPr sz="1275" b="0">
                <a:solidFill>
                  <a:srgbClr val="3F6F8A"/>
                </a:solidFill>
              </a:defRPr>
            </a:lvl5pPr>
            <a:lvl6pPr>
              <a:defRPr sz="1275" b="0">
                <a:solidFill>
                  <a:srgbClr val="3F6F8A"/>
                </a:solidFill>
              </a:defRPr>
            </a:lvl6pPr>
            <a:lvl7pPr>
              <a:defRPr sz="1275" b="0">
                <a:solidFill>
                  <a:srgbClr val="3F6F8A"/>
                </a:solidFill>
              </a:defRPr>
            </a:lvl7pPr>
            <a:lvl8pPr>
              <a:defRPr sz="1275" b="0">
                <a:solidFill>
                  <a:srgbClr val="3F6F8A"/>
                </a:solidFill>
              </a:defRPr>
            </a:lvl8pPr>
            <a:lvl9pPr>
              <a:defRPr sz="1275" b="0">
                <a:solidFill>
                  <a:srgbClr val="3F6F8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3F6F8A"/>
                </a:solidFill>
              </a:defRPr>
            </a:pPr>
            <a:r>
              <a:rPr sz="1275" b="0">
                <a:solidFill>
                  <a:srgbClr val="3F6F8A"/>
                </a:solidFill>
              </a:rPr>
              <a:t>What the analysis supports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CE42B-22D5-4B8D-82AB-0DF65A28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A015D-9CA9-4863-B1F7-3F058CEF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Current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1465B-8470-452E-A8E3-3A21E45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GJR-HS 1-day 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622B9-A5DE-4CF5-B1AD-92AEA1A0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2.82%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2D5A2-1496-4952-9431-35D92418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E1EB7-B5E2-486F-AABE-64BE987F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Tail severity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C1A80-1955-4E37-9A54-E0069BA1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62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GJR-HS Expected Shortfall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DB688-D01E-449B-95D3-EB332386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3.22%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61C0E-28C3-46FC-B20C-4555D1A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A5108-4860-47B7-A191-738F0A50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Historical stress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F56A53-47F7-4B8A-AFDA-4D69B175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2008 crisis 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DF533-48DE-45FE-BCAB-9BB2382E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43.98%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A48DB-509D-4542-838E-86EC75EA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8D005-E86A-4670-B169-2CDA9F7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527083"/>
                </a:solidFill>
              </a:defRPr>
            </a:defPPr>
            <a:lvl1pPr>
              <a:defRPr sz="1125" b="1">
                <a:solidFill>
                  <a:srgbClr val="527083"/>
                </a:solidFill>
              </a:defRPr>
            </a:lvl1pPr>
            <a:lvl2pPr>
              <a:defRPr sz="1125" b="1">
                <a:solidFill>
                  <a:srgbClr val="527083"/>
                </a:solidFill>
              </a:defRPr>
            </a:lvl2pPr>
            <a:lvl3pPr>
              <a:defRPr sz="1125" b="1">
                <a:solidFill>
                  <a:srgbClr val="527083"/>
                </a:solidFill>
              </a:defRPr>
            </a:lvl3pPr>
            <a:lvl4pPr>
              <a:defRPr sz="1125" b="1">
                <a:solidFill>
                  <a:srgbClr val="527083"/>
                </a:solidFill>
              </a:defRPr>
            </a:lvl4pPr>
            <a:lvl5pPr>
              <a:defRPr sz="1125" b="1">
                <a:solidFill>
                  <a:srgbClr val="527083"/>
                </a:solidFill>
              </a:defRPr>
            </a:lvl5pPr>
            <a:lvl6pPr>
              <a:defRPr sz="1125" b="1">
                <a:solidFill>
                  <a:srgbClr val="527083"/>
                </a:solidFill>
              </a:defRPr>
            </a:lvl6pPr>
            <a:lvl7pPr>
              <a:defRPr sz="1125" b="1">
                <a:solidFill>
                  <a:srgbClr val="527083"/>
                </a:solidFill>
              </a:defRPr>
            </a:lvl7pPr>
            <a:lvl8pPr>
              <a:defRPr sz="1125" b="1">
                <a:solidFill>
                  <a:srgbClr val="527083"/>
                </a:solidFill>
              </a:defRPr>
            </a:lvl8pPr>
            <a:lvl9pPr>
              <a:defRPr sz="1125" b="1">
                <a:solidFill>
                  <a:srgbClr val="52708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527083"/>
                </a:solidFill>
              </a:defRPr>
            </a:pPr>
            <a:r>
              <a:rPr sz="1125" b="1">
                <a:solidFill>
                  <a:srgbClr val="527083"/>
                </a:solidFill>
              </a:rPr>
              <a:t>Portfolio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54FAE-487B-432B-9D89-0981A256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38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6384D"/>
                </a:solidFill>
              </a:defRPr>
            </a:defPPr>
            <a:lvl1pPr>
              <a:defRPr sz="1500" b="0">
                <a:solidFill>
                  <a:srgbClr val="16384D"/>
                </a:solidFill>
              </a:defRPr>
            </a:lvl1pPr>
            <a:lvl2pPr>
              <a:defRPr sz="1500" b="0">
                <a:solidFill>
                  <a:srgbClr val="16384D"/>
                </a:solidFill>
              </a:defRPr>
            </a:lvl2pPr>
            <a:lvl3pPr>
              <a:defRPr sz="1500" b="0">
                <a:solidFill>
                  <a:srgbClr val="16384D"/>
                </a:solidFill>
              </a:defRPr>
            </a:lvl3pPr>
            <a:lvl4pPr>
              <a:defRPr sz="1500" b="0">
                <a:solidFill>
                  <a:srgbClr val="16384D"/>
                </a:solidFill>
              </a:defRPr>
            </a:lvl4pPr>
            <a:lvl5pPr>
              <a:defRPr sz="1500" b="0">
                <a:solidFill>
                  <a:srgbClr val="16384D"/>
                </a:solidFill>
              </a:defRPr>
            </a:lvl5pPr>
            <a:lvl6pPr>
              <a:defRPr sz="1500" b="0">
                <a:solidFill>
                  <a:srgbClr val="16384D"/>
                </a:solidFill>
              </a:defRPr>
            </a:lvl6pPr>
            <a:lvl7pPr>
              <a:defRPr sz="1500" b="0">
                <a:solidFill>
                  <a:srgbClr val="16384D"/>
                </a:solidFill>
              </a:defRPr>
            </a:lvl7pPr>
            <a:lvl8pPr>
              <a:defRPr sz="1500" b="0">
                <a:solidFill>
                  <a:srgbClr val="16384D"/>
                </a:solidFill>
              </a:defRPr>
            </a:lvl8pPr>
            <a:lvl9pPr>
              <a:defRPr sz="1500" b="0">
                <a:solidFill>
                  <a:srgbClr val="16384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6384D"/>
                </a:solidFill>
              </a:defRPr>
            </a:pPr>
            <a:r>
              <a:rPr sz="1500" b="0">
                <a:solidFill>
                  <a:srgbClr val="16384D"/>
                </a:solidFill>
              </a:rPr>
              <a:t>Annualized Sharpe ratio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444C8-4621-41C6-B222-A5271ACF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006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0369A1"/>
                </a:solidFill>
              </a:defRPr>
            </a:defPPr>
            <a:lvl1pPr algn="r">
              <a:defRPr sz="2100" b="1">
                <a:solidFill>
                  <a:srgbClr val="0369A1"/>
                </a:solidFill>
              </a:defRPr>
            </a:lvl1pPr>
            <a:lvl2pPr algn="r">
              <a:defRPr sz="2100" b="1">
                <a:solidFill>
                  <a:srgbClr val="0369A1"/>
                </a:solidFill>
              </a:defRPr>
            </a:lvl2pPr>
            <a:lvl3pPr algn="r">
              <a:defRPr sz="2100" b="1">
                <a:solidFill>
                  <a:srgbClr val="0369A1"/>
                </a:solidFill>
              </a:defRPr>
            </a:lvl3pPr>
            <a:lvl4pPr algn="r">
              <a:defRPr sz="2100" b="1">
                <a:solidFill>
                  <a:srgbClr val="0369A1"/>
                </a:solidFill>
              </a:defRPr>
            </a:lvl4pPr>
            <a:lvl5pPr algn="r">
              <a:defRPr sz="2100" b="1">
                <a:solidFill>
                  <a:srgbClr val="0369A1"/>
                </a:solidFill>
              </a:defRPr>
            </a:lvl5pPr>
            <a:lvl6pPr algn="r">
              <a:defRPr sz="2100" b="1">
                <a:solidFill>
                  <a:srgbClr val="0369A1"/>
                </a:solidFill>
              </a:defRPr>
            </a:lvl6pPr>
            <a:lvl7pPr algn="r">
              <a:defRPr sz="2100" b="1">
                <a:solidFill>
                  <a:srgbClr val="0369A1"/>
                </a:solidFill>
              </a:defRPr>
            </a:lvl7pPr>
            <a:lvl8pPr algn="r">
              <a:defRPr sz="2100" b="1">
                <a:solidFill>
                  <a:srgbClr val="0369A1"/>
                </a:solidFill>
              </a:defRPr>
            </a:lvl8pPr>
            <a:lvl9pPr algn="r">
              <a:defRPr sz="2100" b="1">
                <a:solidFill>
                  <a:srgbClr val="0369A1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369A1"/>
                </a:solidFill>
              </a:defRPr>
            </a:pPr>
            <a:r>
              <a:rPr sz="2100" b="1">
                <a:solidFill>
                  <a:srgbClr val="0369A1"/>
                </a:solidFill>
              </a:rPr>
              <a:t>1.28</a:t>
            </a:r>
          </a:p>
        </p:txBody>
      </p:sp>
    </p:spTree>
    <p:extLst>
      <p:ext uri="{BB962C8B-B14F-4D97-AF65-F5344CB8AC3E}">
        <p14:creationId xmlns:p14="http://schemas.microsoft.com/office/powerpoint/2010/main" val="1740167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2026-10-26T04:47:12.2110000Z</dcterms:created>
  <dcterms:modified xsi:type="dcterms:W3CDTF">2026-10-26T04:47:12.2120000Z</dcterms:modified>
</coreProperties>
</file>